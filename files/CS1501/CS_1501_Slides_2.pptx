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4"/>
  </p:sldMasterIdLst>
  <p:notesMasterIdLst>
    <p:notesMasterId r:id="rId51"/>
  </p:notesMasterIdLst>
  <p:sldIdLst>
    <p:sldId id="256" r:id="rId5"/>
    <p:sldId id="297" r:id="rId6"/>
    <p:sldId id="257" r:id="rId7"/>
    <p:sldId id="258" r:id="rId8"/>
    <p:sldId id="259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6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5" r:id="rId45"/>
    <p:sldId id="313" r:id="rId46"/>
    <p:sldId id="314" r:id="rId47"/>
    <p:sldId id="316" r:id="rId48"/>
    <p:sldId id="317" r:id="rId49"/>
    <p:sldId id="318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F90C36-0215-48FF-A7C5-D8B677D970B4}" v="1742" dt="2020-08-01T18:46:54.7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58CCA-429F-458E-9D04-1CD0B5AE7013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524AD-880F-4018-8BFC-9A5A6F83D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55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93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813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8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83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5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27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DA4C203-3353-45B6-92C6-78F0A2901DB5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03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53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C203-3353-45B6-92C6-78F0A2901DB5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0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DA4C203-3353-45B6-92C6-78F0A2901DB5}" type="datetimeFigureOut">
              <a:rPr lang="en-US" smtClean="0"/>
              <a:t>9/27/2020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934023E-3638-40F3-8A7D-79E3C4E8D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8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hade val="98000"/>
                <a:satMod val="150000"/>
                <a:lumMod val="102000"/>
              </a:schemeClr>
            </a:gs>
            <a:gs pos="50000">
              <a:schemeClr val="bg2">
                <a:tint val="98000"/>
                <a:shade val="90000"/>
                <a:satMod val="13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25ED-CE20-4260-A723-6C559CEE0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3" y="821265"/>
            <a:ext cx="6098705" cy="5222117"/>
          </a:xfrm>
        </p:spPr>
        <p:txBody>
          <a:bodyPr anchor="ctr">
            <a:normAutofit/>
          </a:bodyPr>
          <a:lstStyle/>
          <a:p>
            <a:pPr algn="r"/>
            <a:r>
              <a:rPr lang="en-US" sz="5400" dirty="0">
                <a:solidFill>
                  <a:schemeClr val="tx1"/>
                </a:solidFill>
              </a:rPr>
              <a:t>CS 1501: Searching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DA9EAE-84EA-4695-84F8-F9D368569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3028" y="821265"/>
            <a:ext cx="3265713" cy="5222117"/>
          </a:xfrm>
        </p:spPr>
        <p:txBody>
          <a:bodyPr anchor="ctr">
            <a:normAutofit/>
          </a:bodyPr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1852448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2559-7F14-4F93-96B0-9F4F08270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note on these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27C56-47D1-4ECC-83E5-5345C34C4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Visually, slides don’t look the most appealing….</a:t>
            </a:r>
          </a:p>
          <a:p>
            <a:r>
              <a:rPr lang="en-US" dirty="0"/>
              <a:t>Work best in present mode! </a:t>
            </a:r>
          </a:p>
        </p:txBody>
      </p:sp>
    </p:spTree>
    <p:extLst>
      <p:ext uri="{BB962C8B-B14F-4D97-AF65-F5344CB8AC3E}">
        <p14:creationId xmlns:p14="http://schemas.microsoft.com/office/powerpoint/2010/main" val="3196868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3D7A-3E58-4BF0-94DF-7F84B7530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classic Search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57FAE-A409-443C-8ABD-D9F712965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collection of items, how do we search for a value, with a given key?</a:t>
            </a:r>
          </a:p>
        </p:txBody>
      </p:sp>
    </p:spTree>
    <p:extLst>
      <p:ext uri="{BB962C8B-B14F-4D97-AF65-F5344CB8AC3E}">
        <p14:creationId xmlns:p14="http://schemas.microsoft.com/office/powerpoint/2010/main" val="394729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D400-607A-4B3A-9DF7-2291C9D0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 recap of Operations on some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78EAF-0FE9-4217-8DD1-B132B20FC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be considering the operations: </a:t>
            </a:r>
            <a:r>
              <a:rPr lang="en-US" b="1" dirty="0"/>
              <a:t>Insert </a:t>
            </a:r>
            <a:r>
              <a:rPr lang="en-US" dirty="0"/>
              <a:t>and </a:t>
            </a:r>
            <a:r>
              <a:rPr lang="en-US" b="1" dirty="0"/>
              <a:t>Search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571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231F-A5E6-4627-AA5E-303E194F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Unsorted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7EFB2-CDE8-401B-A34E-13FCC02DAE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1" y="2547434"/>
                <a:ext cx="9905998" cy="312420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Insert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Why? We simply put the item at the end of the array.</a:t>
                </a:r>
              </a:p>
              <a:p>
                <a:pPr marL="0" indent="0">
                  <a:buNone/>
                </a:pPr>
                <a:r>
                  <a:rPr lang="en-US" b="1" dirty="0"/>
                  <a:t>Search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Why? Iterate through array until the item is found. (</a:t>
                </a:r>
                <a:r>
                  <a:rPr lang="en-US" b="1" dirty="0"/>
                  <a:t>Brute Force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7EFB2-CDE8-401B-A34E-13FCC02DA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1" y="2547434"/>
                <a:ext cx="9905998" cy="3124201"/>
              </a:xfrm>
              <a:blipFill>
                <a:blip r:embed="rId2"/>
                <a:stretch>
                  <a:fillRect l="-554" t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719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231F-A5E6-4627-AA5E-303E194F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sorted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7EFB2-CDE8-401B-A34E-13FCC02DAE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1" y="2600461"/>
                <a:ext cx="9905998" cy="31242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Insert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Why? We need to maintain the relative ordering, so potentially need to shift items over.</a:t>
                </a:r>
              </a:p>
              <a:p>
                <a:r>
                  <a:rPr lang="en-US" dirty="0"/>
                  <a:t>Using binary search doesn’t help, since we need to shift elements over to make room for the new element anyway.</a:t>
                </a:r>
              </a:p>
              <a:p>
                <a:pPr marL="0" indent="0">
                  <a:buNone/>
                </a:pPr>
                <a:r>
                  <a:rPr lang="en-US" b="1" dirty="0"/>
                  <a:t>Search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Why? Rather than sticking with Brute Force, using Binary Search improves runtime, since binary search requires data to be sorted.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7EFB2-CDE8-401B-A34E-13FCC02DA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1" y="2600461"/>
                <a:ext cx="9905998" cy="3124201"/>
              </a:xfrm>
              <a:blipFill>
                <a:blip r:embed="rId2"/>
                <a:stretch>
                  <a:fillRect l="-554" t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142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231F-A5E6-4627-AA5E-303E194F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Unsorted Linked list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7EFB2-CDE8-401B-A34E-13FCC02DAE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1" y="2563516"/>
                <a:ext cx="9905998" cy="312420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Insert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Why? Just switch some pointers around.</a:t>
                </a:r>
              </a:p>
              <a:p>
                <a:pPr marL="0" indent="0">
                  <a:buNone/>
                </a:pPr>
                <a:r>
                  <a:rPr lang="en-US" b="1" dirty="0"/>
                  <a:t>Search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Why? Iterate through linked list until the item is found.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7EFB2-CDE8-401B-A34E-13FCC02DA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1" y="2563516"/>
                <a:ext cx="9905998" cy="3124201"/>
              </a:xfrm>
              <a:blipFill>
                <a:blip r:embed="rId2"/>
                <a:stretch>
                  <a:fillRect l="-554" t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072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231F-A5E6-4627-AA5E-303E194F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sorted Linked list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7EFB2-CDE8-401B-A34E-13FCC02DAE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1" y="2508098"/>
                <a:ext cx="9905998" cy="312420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Insert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Why? We don’t have random access with a linked list, so we need to iterate to find the location to insert at.</a:t>
                </a:r>
              </a:p>
              <a:p>
                <a:pPr marL="0" indent="0">
                  <a:buNone/>
                </a:pPr>
                <a:r>
                  <a:rPr lang="en-US" b="1" dirty="0"/>
                  <a:t>Search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Why? Iterate until item is found.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7EFB2-CDE8-401B-A34E-13FCC02DA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1" y="2508098"/>
                <a:ext cx="9905998" cy="3124201"/>
              </a:xfrm>
              <a:blipFill>
                <a:blip r:embed="rId2"/>
                <a:stretch>
                  <a:fillRect l="-554" t="-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013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231F-A5E6-4627-AA5E-303E194F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 (BST)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7EFB2-CDE8-401B-A34E-13FCC02DAE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4467" y="2332607"/>
                <a:ext cx="10506090" cy="40267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It boils down to if we consider a </a:t>
                </a:r>
                <a:r>
                  <a:rPr lang="en-US" b="1" dirty="0"/>
                  <a:t>Self-Balancing BST </a:t>
                </a:r>
                <a:r>
                  <a:rPr lang="en-US" dirty="0"/>
                  <a:t>or just a </a:t>
                </a:r>
                <a:r>
                  <a:rPr lang="en-US" b="1" dirty="0"/>
                  <a:t>regular BST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/>
                  <a:t>Insert: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[Unbalanced]</a:t>
                </a:r>
              </a:p>
              <a:p>
                <a:r>
                  <a:rPr lang="en-US" b="1" dirty="0"/>
                  <a:t>Why</a:t>
                </a:r>
                <a:r>
                  <a:rPr lang="en-US" dirty="0"/>
                  <a:t>? Tree ends up looking like a linked list.</a:t>
                </a:r>
              </a:p>
              <a:p>
                <a:pPr marL="0" indent="0">
                  <a:buNone/>
                </a:pPr>
                <a:r>
                  <a:rPr lang="en-US" b="1" dirty="0"/>
                  <a:t>Insert: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func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[Balanced]</a:t>
                </a:r>
              </a:p>
              <a:p>
                <a:r>
                  <a:rPr lang="en-US" b="1" dirty="0"/>
                  <a:t>Why</a:t>
                </a:r>
                <a:r>
                  <a:rPr lang="en-US" dirty="0"/>
                  <a:t>? Balanced tree guarantees our height will be relatively level on both sides.</a:t>
                </a:r>
              </a:p>
              <a:p>
                <a:pPr marL="0" indent="0">
                  <a:buNone/>
                </a:pPr>
                <a:r>
                  <a:rPr lang="en-US" b="1" dirty="0"/>
                  <a:t>Search: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[Unbalanced]</a:t>
                </a:r>
              </a:p>
              <a:p>
                <a:r>
                  <a:rPr lang="en-US" b="1" dirty="0"/>
                  <a:t>Why</a:t>
                </a:r>
                <a:r>
                  <a:rPr lang="en-US" dirty="0"/>
                  <a:t>? Same reason as Unbalanced BST insert.</a:t>
                </a:r>
              </a:p>
              <a:p>
                <a:pPr marL="0" indent="0">
                  <a:buNone/>
                </a:pPr>
                <a:r>
                  <a:rPr lang="en-US" b="1" dirty="0"/>
                  <a:t>Search: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e>
                        </m:d>
                      </m:e>
                    </m:func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[Balanced]</a:t>
                </a:r>
              </a:p>
              <a:p>
                <a:r>
                  <a:rPr lang="en-US" b="1" dirty="0"/>
                  <a:t>Why</a:t>
                </a:r>
                <a:r>
                  <a:rPr lang="en-US" dirty="0"/>
                  <a:t>? Same reason as Balanced BST search.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7EFB2-CDE8-401B-A34E-13FCC02DA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467" y="2332607"/>
                <a:ext cx="10506090" cy="4026764"/>
              </a:xfrm>
              <a:blipFill>
                <a:blip r:embed="rId2"/>
                <a:stretch>
                  <a:fillRect l="-464" t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0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88C3-277A-469E-8F35-7DA7271A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New… Symbol Tables!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1EB0A-14EA-4F82-8205-8290867C3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Symbol Table </a:t>
            </a:r>
            <a:r>
              <a:rPr lang="en-US" dirty="0"/>
              <a:t>is an Abstract Data Type that links </a:t>
            </a:r>
            <a:r>
              <a:rPr lang="en-US" b="1" dirty="0"/>
              <a:t>keys </a:t>
            </a:r>
            <a:r>
              <a:rPr lang="en-US" dirty="0"/>
              <a:t>to </a:t>
            </a:r>
            <a:r>
              <a:rPr lang="en-US" b="1" dirty="0"/>
              <a:t>values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(In java, this is a Map!!!)</a:t>
            </a:r>
          </a:p>
          <a:p>
            <a:pPr marL="457200" indent="-457200">
              <a:buAutoNum type="arabicParenR"/>
            </a:pPr>
            <a:r>
              <a:rPr lang="en-US" dirty="0"/>
              <a:t>The</a:t>
            </a:r>
            <a:r>
              <a:rPr lang="en-US" b="1" dirty="0"/>
              <a:t> Key </a:t>
            </a:r>
            <a:r>
              <a:rPr lang="en-US" dirty="0"/>
              <a:t>is used to search for a </a:t>
            </a:r>
            <a:r>
              <a:rPr lang="en-US" b="1" dirty="0"/>
              <a:t>Value!</a:t>
            </a:r>
          </a:p>
          <a:p>
            <a:r>
              <a:rPr lang="en-US" dirty="0"/>
              <a:t>It’s like the index in an array!!</a:t>
            </a:r>
          </a:p>
          <a:p>
            <a:pPr marL="457200" indent="-457200">
              <a:buFont typeface="+mj-lt"/>
              <a:buAutoNum type="arabicParenR" startAt="2"/>
            </a:pPr>
            <a:r>
              <a:rPr lang="en-US" dirty="0"/>
              <a:t> A </a:t>
            </a:r>
            <a:r>
              <a:rPr lang="en-US" b="1" dirty="0"/>
              <a:t>Symbol Table </a:t>
            </a:r>
            <a:r>
              <a:rPr lang="en-US" dirty="0"/>
              <a:t>is like an </a:t>
            </a:r>
            <a:r>
              <a:rPr lang="en-US" b="1" dirty="0"/>
              <a:t>Interface</a:t>
            </a:r>
            <a:r>
              <a:rPr lang="en-US" dirty="0"/>
              <a:t>!!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Applications:</a:t>
            </a:r>
          </a:p>
          <a:p>
            <a:pPr marL="457200" indent="-457200">
              <a:buAutoNum type="arabicParenR"/>
            </a:pPr>
            <a:r>
              <a:rPr lang="en-US" dirty="0"/>
              <a:t>Dictionaries!</a:t>
            </a:r>
          </a:p>
          <a:p>
            <a:pPr marL="457200" indent="-457200">
              <a:buAutoNum type="arabicParenR"/>
            </a:pPr>
            <a:r>
              <a:rPr lang="en-US" dirty="0"/>
              <a:t>Histograms!</a:t>
            </a:r>
          </a:p>
          <a:p>
            <a:pPr marL="457200" indent="-457200"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43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6D70-C5EE-4D37-B8BE-3908406C9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 Tables: Key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AE0D6-23AA-4A65-B0BE-B48D9CDF0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put()</a:t>
            </a:r>
            <a:r>
              <a:rPr lang="en-US" dirty="0"/>
              <a:t>: Adds a new key-value pair </a:t>
            </a:r>
          </a:p>
          <a:p>
            <a:r>
              <a:rPr lang="en-US" b="1" dirty="0"/>
              <a:t>contains(): </a:t>
            </a:r>
            <a:r>
              <a:rPr lang="en-US" dirty="0"/>
              <a:t>Membership operation, checks if there is a key in the symbol table. If so, what value is associated with it?</a:t>
            </a:r>
          </a:p>
          <a:p>
            <a:endParaRPr lang="en-US" b="1" dirty="0"/>
          </a:p>
          <a:p>
            <a:r>
              <a:rPr lang="en-US" b="1" dirty="0"/>
              <a:t>Any solution to the search problem can be solved using a Symbol Table!</a:t>
            </a:r>
          </a:p>
          <a:p>
            <a:r>
              <a:rPr lang="en-US" dirty="0"/>
              <a:t>So.. an Array, Linked List, BST, </a:t>
            </a:r>
            <a:r>
              <a:rPr lang="en-US" dirty="0" err="1"/>
              <a:t>etc</a:t>
            </a:r>
            <a:r>
              <a:rPr lang="en-US" dirty="0"/>
              <a:t>… can be represented using a Symbol Table!</a:t>
            </a:r>
          </a:p>
        </p:txBody>
      </p:sp>
    </p:spTree>
    <p:extLst>
      <p:ext uri="{BB962C8B-B14F-4D97-AF65-F5344CB8AC3E}">
        <p14:creationId xmlns:p14="http://schemas.microsoft.com/office/powerpoint/2010/main" val="363655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6D70-C5EE-4D37-B8BE-3908406C9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AE0D6-23AA-4A65-B0BE-B48D9CDF0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every node we traverse to in a BST, we have the following decisions:</a:t>
            </a:r>
          </a:p>
          <a:p>
            <a:pPr marL="457200" indent="-457200">
              <a:buAutoNum type="arabicParenR"/>
            </a:pPr>
            <a:r>
              <a:rPr lang="en-US" dirty="0"/>
              <a:t>If the node traversed to is </a:t>
            </a:r>
            <a:r>
              <a:rPr lang="en-US" b="1" dirty="0"/>
              <a:t>NULL</a:t>
            </a:r>
            <a:r>
              <a:rPr lang="en-US" dirty="0"/>
              <a:t>, the key is not found.</a:t>
            </a:r>
          </a:p>
          <a:p>
            <a:pPr marL="457200" indent="-457200">
              <a:buAutoNum type="arabicParenR"/>
            </a:pPr>
            <a:r>
              <a:rPr lang="en-US" dirty="0"/>
              <a:t>If the key is equal to the current node’s key, we found the key.</a:t>
            </a:r>
          </a:p>
          <a:p>
            <a:pPr marL="457200" indent="-457200">
              <a:buAutoNum type="arabicParenR"/>
            </a:pPr>
            <a:r>
              <a:rPr lang="en-US" dirty="0"/>
              <a:t>If the key is less than the current node’s key, go to the left child.</a:t>
            </a:r>
          </a:p>
          <a:p>
            <a:pPr marL="457200" indent="-457200">
              <a:buFont typeface="Arial"/>
              <a:buAutoNum type="arabicParenR"/>
            </a:pPr>
            <a:r>
              <a:rPr lang="en-US" dirty="0"/>
              <a:t>If the key is greater than the current node’s key, go to the right child.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23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3203-D752-44BA-B847-1EA120A3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Remember the discussion of Comparison vs. Non-comparison?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F8E17-D9A3-4C70-AC1D-E117DBB5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So… it turns out all the data structures presented so far revolve around direct comparisons against keys...</a:t>
            </a:r>
          </a:p>
          <a:p>
            <a:r>
              <a:rPr lang="en-US" dirty="0"/>
              <a:t>Is there a way we could make searching faster by using a method like </a:t>
            </a:r>
            <a:r>
              <a:rPr lang="en-US" b="1" dirty="0"/>
              <a:t>Radix Sort?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95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A31D0-D40B-43E9-B192-A7C49DB84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Enter: Digital Search Trees (</a:t>
            </a:r>
            <a:r>
              <a:rPr lang="en-US" dirty="0" err="1"/>
              <a:t>Dst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B5A3B-E8B2-4494-934D-6B881D97B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So, instead of comparing with less than/greater </a:t>
            </a:r>
            <a:r>
              <a:rPr lang="en-US" dirty="0" err="1"/>
              <a:t>thans</a:t>
            </a:r>
            <a:r>
              <a:rPr lang="en-US" dirty="0"/>
              <a:t>, let’s decide based on the current bit of the key…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So, we’ll have the following options: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First two options are the same as BST…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If current bit of key == 0, go left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If current bit of key == 1, go right</a:t>
            </a:r>
          </a:p>
        </p:txBody>
      </p:sp>
    </p:spTree>
    <p:extLst>
      <p:ext uri="{BB962C8B-B14F-4D97-AF65-F5344CB8AC3E}">
        <p14:creationId xmlns:p14="http://schemas.microsoft.com/office/powerpoint/2010/main" val="147189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0FE63-ABE6-4874-BE24-441E35CC3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D23B2-3377-4F87-8B4F-4F7603C2C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564" y="2492025"/>
            <a:ext cx="10425974" cy="391801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Let’s assume we have 4-bit integers and going from MSB to LSB</a:t>
            </a:r>
          </a:p>
          <a:p>
            <a:pPr marL="0" indent="0">
              <a:buNone/>
            </a:pPr>
            <a:r>
              <a:rPr lang="en-US" dirty="0"/>
              <a:t>Let’s try to insert the following numbers:</a:t>
            </a:r>
          </a:p>
          <a:p>
            <a:pPr marL="0" indent="0">
              <a:buNone/>
            </a:pPr>
            <a:r>
              <a:rPr lang="en-US" dirty="0"/>
              <a:t>4</a:t>
            </a:r>
          </a:p>
          <a:p>
            <a:r>
              <a:rPr lang="en-US" dirty="0"/>
              <a:t>4-bit representation: 0100</a:t>
            </a:r>
          </a:p>
          <a:p>
            <a:pPr marL="0" indent="0">
              <a:buNone/>
            </a:pPr>
            <a:r>
              <a:rPr lang="en-US" dirty="0"/>
              <a:t>3 </a:t>
            </a:r>
          </a:p>
          <a:p>
            <a:r>
              <a:rPr lang="en-US" dirty="0"/>
              <a:t>4-bit representation: 0011</a:t>
            </a:r>
          </a:p>
          <a:p>
            <a:pPr marL="0" indent="0">
              <a:buNone/>
            </a:pPr>
            <a:r>
              <a:rPr lang="en-US" dirty="0"/>
              <a:t>2</a:t>
            </a:r>
          </a:p>
          <a:p>
            <a:r>
              <a:rPr lang="en-US" dirty="0"/>
              <a:t>4-bit representation: 0010</a:t>
            </a:r>
          </a:p>
          <a:p>
            <a:pPr marL="0" indent="0">
              <a:buNone/>
            </a:pPr>
            <a:r>
              <a:rPr lang="en-US" dirty="0"/>
              <a:t>6</a:t>
            </a:r>
          </a:p>
          <a:p>
            <a:r>
              <a:rPr lang="en-US" dirty="0"/>
              <a:t>4-bit representation: 0110</a:t>
            </a:r>
          </a:p>
          <a:p>
            <a:pPr marL="0" indent="0">
              <a:buNone/>
            </a:pPr>
            <a:r>
              <a:rPr lang="en-US" dirty="0"/>
              <a:t>5</a:t>
            </a:r>
          </a:p>
          <a:p>
            <a:r>
              <a:rPr lang="en-US" dirty="0"/>
              <a:t>4-bit representation: 0101</a:t>
            </a:r>
          </a:p>
        </p:txBody>
      </p:sp>
    </p:spTree>
    <p:extLst>
      <p:ext uri="{BB962C8B-B14F-4D97-AF65-F5344CB8AC3E}">
        <p14:creationId xmlns:p14="http://schemas.microsoft.com/office/powerpoint/2010/main" val="1844197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703A3-A015-43B2-8053-345F05003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62711"/>
            <a:ext cx="7729728" cy="1188720"/>
          </a:xfrm>
        </p:spPr>
        <p:txBody>
          <a:bodyPr/>
          <a:lstStyle/>
          <a:p>
            <a:r>
              <a:rPr lang="en-US" dirty="0"/>
              <a:t>DST: Insertion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DF6FE-099D-4961-8AA4-DE123FAB5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4: 0100</a:t>
            </a:r>
          </a:p>
          <a:p>
            <a:r>
              <a:rPr lang="en-US" dirty="0"/>
              <a:t>Insert 3: 0011</a:t>
            </a:r>
          </a:p>
          <a:p>
            <a:r>
              <a:rPr lang="en-US" dirty="0"/>
              <a:t>Insert 2: 0010 </a:t>
            </a:r>
          </a:p>
          <a:p>
            <a:r>
              <a:rPr lang="en-US" dirty="0"/>
              <a:t>Insert 6: 0110</a:t>
            </a:r>
          </a:p>
          <a:p>
            <a:r>
              <a:rPr lang="en-US" dirty="0"/>
              <a:t>Insert 5: 0101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86C9304-D86D-4E05-94B7-BE2375DB6525}"/>
              </a:ext>
            </a:extLst>
          </p:cNvPr>
          <p:cNvSpPr/>
          <p:nvPr/>
        </p:nvSpPr>
        <p:spPr>
          <a:xfrm>
            <a:off x="8261929" y="1840789"/>
            <a:ext cx="982740" cy="472008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9E31F5-F126-43E7-9B29-8C6188934FBD}"/>
              </a:ext>
            </a:extLst>
          </p:cNvPr>
          <p:cNvCxnSpPr>
            <a:cxnSpLocks/>
          </p:cNvCxnSpPr>
          <p:nvPr/>
        </p:nvCxnSpPr>
        <p:spPr>
          <a:xfrm flipH="1">
            <a:off x="8261928" y="2428948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8352DB3-975A-469F-91C4-4CF2B2085B10}"/>
              </a:ext>
            </a:extLst>
          </p:cNvPr>
          <p:cNvCxnSpPr>
            <a:cxnSpLocks/>
          </p:cNvCxnSpPr>
          <p:nvPr/>
        </p:nvCxnSpPr>
        <p:spPr>
          <a:xfrm>
            <a:off x="9037639" y="2465196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2ABB095-E0A3-49A4-9DCB-B90B3AF58A28}"/>
              </a:ext>
            </a:extLst>
          </p:cNvPr>
          <p:cNvSpPr txBox="1"/>
          <p:nvPr/>
        </p:nvSpPr>
        <p:spPr>
          <a:xfrm>
            <a:off x="9133727" y="2411931"/>
            <a:ext cx="27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666328-A6FC-4345-AA6F-60232AA3D54D}"/>
              </a:ext>
            </a:extLst>
          </p:cNvPr>
          <p:cNvSpPr txBox="1"/>
          <p:nvPr/>
        </p:nvSpPr>
        <p:spPr>
          <a:xfrm>
            <a:off x="8133675" y="2416749"/>
            <a:ext cx="27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CA110D-28A1-4216-A57C-769D6CFEB085}"/>
              </a:ext>
            </a:extLst>
          </p:cNvPr>
          <p:cNvSpPr/>
          <p:nvPr/>
        </p:nvSpPr>
        <p:spPr>
          <a:xfrm>
            <a:off x="7555958" y="3112640"/>
            <a:ext cx="982740" cy="472008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8CDB0F-8E55-4597-92E2-2B8166881FCA}"/>
              </a:ext>
            </a:extLst>
          </p:cNvPr>
          <p:cNvCxnSpPr>
            <a:cxnSpLocks/>
          </p:cNvCxnSpPr>
          <p:nvPr/>
        </p:nvCxnSpPr>
        <p:spPr>
          <a:xfrm flipH="1">
            <a:off x="7479608" y="3651721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158FDE4-AE42-41ED-9492-A4709245DDCB}"/>
              </a:ext>
            </a:extLst>
          </p:cNvPr>
          <p:cNvCxnSpPr>
            <a:cxnSpLocks/>
          </p:cNvCxnSpPr>
          <p:nvPr/>
        </p:nvCxnSpPr>
        <p:spPr>
          <a:xfrm>
            <a:off x="8296798" y="3669846"/>
            <a:ext cx="359092" cy="4585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B91AB1E-BDFE-4B0A-958D-2E6790E45CA9}"/>
              </a:ext>
            </a:extLst>
          </p:cNvPr>
          <p:cNvSpPr txBox="1"/>
          <p:nvPr/>
        </p:nvSpPr>
        <p:spPr>
          <a:xfrm>
            <a:off x="7356722" y="3607618"/>
            <a:ext cx="27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DF7AA7-F522-4036-8895-B6A4A7C7C845}"/>
              </a:ext>
            </a:extLst>
          </p:cNvPr>
          <p:cNvSpPr txBox="1"/>
          <p:nvPr/>
        </p:nvSpPr>
        <p:spPr>
          <a:xfrm>
            <a:off x="8490219" y="3603139"/>
            <a:ext cx="27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C5E03B-D2C8-43B3-83CB-F17EC12B332E}"/>
              </a:ext>
            </a:extLst>
          </p:cNvPr>
          <p:cNvSpPr/>
          <p:nvPr/>
        </p:nvSpPr>
        <p:spPr>
          <a:xfrm>
            <a:off x="6768270" y="4206328"/>
            <a:ext cx="982740" cy="472008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4EA119-3505-4076-9A9F-CB12AD656F2C}"/>
              </a:ext>
            </a:extLst>
          </p:cNvPr>
          <p:cNvCxnSpPr>
            <a:cxnSpLocks/>
          </p:cNvCxnSpPr>
          <p:nvPr/>
        </p:nvCxnSpPr>
        <p:spPr>
          <a:xfrm flipH="1">
            <a:off x="6768269" y="4772662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0D70F8-88AD-4161-81CF-106C20E51DCC}"/>
              </a:ext>
            </a:extLst>
          </p:cNvPr>
          <p:cNvCxnSpPr>
            <a:cxnSpLocks/>
          </p:cNvCxnSpPr>
          <p:nvPr/>
        </p:nvCxnSpPr>
        <p:spPr>
          <a:xfrm>
            <a:off x="7543082" y="4803613"/>
            <a:ext cx="325120" cy="4101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C3DFC95-2B9B-4D07-9D87-525FBA942610}"/>
              </a:ext>
            </a:extLst>
          </p:cNvPr>
          <p:cNvSpPr txBox="1"/>
          <p:nvPr/>
        </p:nvSpPr>
        <p:spPr>
          <a:xfrm>
            <a:off x="6661994" y="4739225"/>
            <a:ext cx="27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E187D3-B4D5-43AE-8BE5-4071107F935E}"/>
              </a:ext>
            </a:extLst>
          </p:cNvPr>
          <p:cNvSpPr txBox="1"/>
          <p:nvPr/>
        </p:nvSpPr>
        <p:spPr>
          <a:xfrm>
            <a:off x="7663548" y="4739225"/>
            <a:ext cx="27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23A6185-CF3B-40B3-B89D-CC107A80183C}"/>
              </a:ext>
            </a:extLst>
          </p:cNvPr>
          <p:cNvSpPr/>
          <p:nvPr/>
        </p:nvSpPr>
        <p:spPr>
          <a:xfrm>
            <a:off x="8413014" y="4205877"/>
            <a:ext cx="982740" cy="472008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FADD960-7345-4C96-8F8F-3CBEB8DE3FFB}"/>
              </a:ext>
            </a:extLst>
          </p:cNvPr>
          <p:cNvCxnSpPr>
            <a:cxnSpLocks/>
          </p:cNvCxnSpPr>
          <p:nvPr/>
        </p:nvCxnSpPr>
        <p:spPr>
          <a:xfrm flipH="1">
            <a:off x="8366626" y="4785488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5C1F09-5DE2-4BE0-9637-DE464921CC2A}"/>
              </a:ext>
            </a:extLst>
          </p:cNvPr>
          <p:cNvCxnSpPr>
            <a:cxnSpLocks/>
          </p:cNvCxnSpPr>
          <p:nvPr/>
        </p:nvCxnSpPr>
        <p:spPr>
          <a:xfrm>
            <a:off x="9228152" y="4799460"/>
            <a:ext cx="359092" cy="4585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ABFB821-4ED1-4178-B581-BC309A7D2350}"/>
              </a:ext>
            </a:extLst>
          </p:cNvPr>
          <p:cNvSpPr txBox="1"/>
          <p:nvPr/>
        </p:nvSpPr>
        <p:spPr>
          <a:xfrm>
            <a:off x="8253991" y="4739225"/>
            <a:ext cx="27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359A46-72FE-4019-85C5-74CA64B3B924}"/>
              </a:ext>
            </a:extLst>
          </p:cNvPr>
          <p:cNvSpPr txBox="1"/>
          <p:nvPr/>
        </p:nvSpPr>
        <p:spPr>
          <a:xfrm>
            <a:off x="9407698" y="4739225"/>
            <a:ext cx="27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6495B0F-3302-4372-95E7-F22B20A67825}"/>
              </a:ext>
            </a:extLst>
          </p:cNvPr>
          <p:cNvSpPr/>
          <p:nvPr/>
        </p:nvSpPr>
        <p:spPr>
          <a:xfrm>
            <a:off x="7762621" y="5334338"/>
            <a:ext cx="982740" cy="472008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5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D1189E6-95B6-4DA5-BC5F-D541BFABF113}"/>
              </a:ext>
            </a:extLst>
          </p:cNvPr>
          <p:cNvCxnSpPr>
            <a:cxnSpLocks/>
          </p:cNvCxnSpPr>
          <p:nvPr/>
        </p:nvCxnSpPr>
        <p:spPr>
          <a:xfrm flipH="1">
            <a:off x="7686556" y="5941978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C3E0332-AC7C-4AA5-98FD-64B06704DFE5}"/>
              </a:ext>
            </a:extLst>
          </p:cNvPr>
          <p:cNvCxnSpPr>
            <a:cxnSpLocks/>
          </p:cNvCxnSpPr>
          <p:nvPr/>
        </p:nvCxnSpPr>
        <p:spPr>
          <a:xfrm>
            <a:off x="8453337" y="5901766"/>
            <a:ext cx="298535" cy="5089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73B914D-D84B-4467-9780-3A6E977C61B5}"/>
              </a:ext>
            </a:extLst>
          </p:cNvPr>
          <p:cNvSpPr txBox="1"/>
          <p:nvPr/>
        </p:nvSpPr>
        <p:spPr>
          <a:xfrm>
            <a:off x="7546887" y="5906840"/>
            <a:ext cx="27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445EA3-E8A4-4903-86B7-4B027E50F2E5}"/>
              </a:ext>
            </a:extLst>
          </p:cNvPr>
          <p:cNvSpPr txBox="1"/>
          <p:nvPr/>
        </p:nvSpPr>
        <p:spPr>
          <a:xfrm>
            <a:off x="8605691" y="5901766"/>
            <a:ext cx="27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CBFE38A-BB0C-4024-9C6B-B273737600BA}"/>
              </a:ext>
            </a:extLst>
          </p:cNvPr>
          <p:cNvCxnSpPr>
            <a:cxnSpLocks/>
          </p:cNvCxnSpPr>
          <p:nvPr/>
        </p:nvCxnSpPr>
        <p:spPr>
          <a:xfrm flipH="1">
            <a:off x="8260919" y="2428642"/>
            <a:ext cx="394860" cy="4463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4CBD157-18FE-4182-94DE-F92C7C7210E8}"/>
              </a:ext>
            </a:extLst>
          </p:cNvPr>
          <p:cNvCxnSpPr>
            <a:cxnSpLocks/>
          </p:cNvCxnSpPr>
          <p:nvPr/>
        </p:nvCxnSpPr>
        <p:spPr>
          <a:xfrm flipH="1">
            <a:off x="8266570" y="2425185"/>
            <a:ext cx="394860" cy="4463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D6B633E-D836-4DFE-B126-57B21506621A}"/>
              </a:ext>
            </a:extLst>
          </p:cNvPr>
          <p:cNvCxnSpPr>
            <a:cxnSpLocks/>
          </p:cNvCxnSpPr>
          <p:nvPr/>
        </p:nvCxnSpPr>
        <p:spPr>
          <a:xfrm flipH="1">
            <a:off x="7479608" y="3653164"/>
            <a:ext cx="394860" cy="4463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F245CD6-742A-407B-8DB3-2D0840B29694}"/>
              </a:ext>
            </a:extLst>
          </p:cNvPr>
          <p:cNvCxnSpPr>
            <a:cxnSpLocks/>
          </p:cNvCxnSpPr>
          <p:nvPr/>
        </p:nvCxnSpPr>
        <p:spPr>
          <a:xfrm flipH="1">
            <a:off x="8268508" y="2421366"/>
            <a:ext cx="394860" cy="4463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9723BAE-61BD-402A-8956-EF07150A558D}"/>
              </a:ext>
            </a:extLst>
          </p:cNvPr>
          <p:cNvCxnSpPr>
            <a:cxnSpLocks/>
          </p:cNvCxnSpPr>
          <p:nvPr/>
        </p:nvCxnSpPr>
        <p:spPr>
          <a:xfrm>
            <a:off x="8288190" y="3668030"/>
            <a:ext cx="367022" cy="4605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11861B8-E5C8-421C-BE00-E5D6E7D815AD}"/>
              </a:ext>
            </a:extLst>
          </p:cNvPr>
          <p:cNvCxnSpPr>
            <a:cxnSpLocks/>
          </p:cNvCxnSpPr>
          <p:nvPr/>
        </p:nvCxnSpPr>
        <p:spPr>
          <a:xfrm flipH="1">
            <a:off x="8273345" y="2428947"/>
            <a:ext cx="394860" cy="4463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548A1C7-67E9-47B2-909B-DDB769C9111C}"/>
              </a:ext>
            </a:extLst>
          </p:cNvPr>
          <p:cNvCxnSpPr>
            <a:cxnSpLocks/>
          </p:cNvCxnSpPr>
          <p:nvPr/>
        </p:nvCxnSpPr>
        <p:spPr>
          <a:xfrm flipH="1">
            <a:off x="8368920" y="4782936"/>
            <a:ext cx="394860" cy="4463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D1BB972-9A42-4188-BDEF-BA6B7230D00D}"/>
              </a:ext>
            </a:extLst>
          </p:cNvPr>
          <p:cNvCxnSpPr>
            <a:cxnSpLocks/>
          </p:cNvCxnSpPr>
          <p:nvPr/>
        </p:nvCxnSpPr>
        <p:spPr>
          <a:xfrm>
            <a:off x="8288757" y="3668031"/>
            <a:ext cx="367022" cy="4605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12" name="Picture 111">
            <a:extLst>
              <a:ext uri="{FF2B5EF4-FFF2-40B4-BE49-F238E27FC236}">
                <a16:creationId xmlns:a16="http://schemas.microsoft.com/office/drawing/2014/main" id="{EC00064D-1262-479A-B23B-52079AEDA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688"/>
            <a:ext cx="12192000" cy="670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40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0" grpId="0"/>
      <p:bldP spid="11" grpId="0"/>
      <p:bldP spid="12" grpId="0" animBg="1"/>
      <p:bldP spid="15" grpId="0"/>
      <p:bldP spid="16" grpId="0"/>
      <p:bldP spid="17" grpId="0" animBg="1"/>
      <p:bldP spid="20" grpId="0"/>
      <p:bldP spid="22" grpId="0"/>
      <p:bldP spid="23" grpId="0" animBg="1"/>
      <p:bldP spid="28" grpId="0"/>
      <p:bldP spid="29" grpId="0"/>
      <p:bldP spid="30" grpId="0" animBg="1"/>
      <p:bldP spid="33" grpId="0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D6F88-99A1-4292-AD3F-C6ABE1671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DST Search: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4F7C1-C578-46D8-802C-3EF83C653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suppose we want to search for the following:</a:t>
            </a:r>
          </a:p>
          <a:p>
            <a:pPr marL="0" indent="0">
              <a:buNone/>
            </a:pPr>
            <a:r>
              <a:rPr lang="en-US" dirty="0"/>
              <a:t>3</a:t>
            </a:r>
          </a:p>
          <a:p>
            <a:r>
              <a:rPr lang="en-US" dirty="0"/>
              <a:t>4-bit representation: 0011</a:t>
            </a:r>
          </a:p>
          <a:p>
            <a:pPr marL="0" indent="0">
              <a:buNone/>
            </a:pPr>
            <a:r>
              <a:rPr lang="en-US" dirty="0"/>
              <a:t>7</a:t>
            </a:r>
          </a:p>
          <a:p>
            <a:r>
              <a:rPr lang="en-US" dirty="0"/>
              <a:t>4-bit representation: 0111</a:t>
            </a:r>
          </a:p>
        </p:txBody>
      </p:sp>
    </p:spTree>
    <p:extLst>
      <p:ext uri="{BB962C8B-B14F-4D97-AF65-F5344CB8AC3E}">
        <p14:creationId xmlns:p14="http://schemas.microsoft.com/office/powerpoint/2010/main" val="2595237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E1DB-FD07-465B-91FF-C1F7CB5E0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157" y="449220"/>
            <a:ext cx="7729728" cy="1188720"/>
          </a:xfrm>
        </p:spPr>
        <p:txBody>
          <a:bodyPr/>
          <a:lstStyle/>
          <a:p>
            <a:r>
              <a:rPr lang="en-US" dirty="0"/>
              <a:t>DST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58305-FFD6-469A-BB33-BD4CFA238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for 3: 0011</a:t>
            </a:r>
          </a:p>
          <a:p>
            <a:r>
              <a:rPr lang="en-US" dirty="0"/>
              <a:t>Search for 7: 0111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DFEEC4-9BE8-4A58-ACA2-26061D56CEDB}"/>
              </a:ext>
            </a:extLst>
          </p:cNvPr>
          <p:cNvSpPr/>
          <p:nvPr/>
        </p:nvSpPr>
        <p:spPr>
          <a:xfrm>
            <a:off x="8371316" y="1728391"/>
            <a:ext cx="1083146" cy="551908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4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8DD9D08-6253-4008-8079-05731C82FB89}"/>
              </a:ext>
            </a:extLst>
          </p:cNvPr>
          <p:cNvCxnSpPr>
            <a:cxnSpLocks/>
          </p:cNvCxnSpPr>
          <p:nvPr/>
        </p:nvCxnSpPr>
        <p:spPr>
          <a:xfrm flipH="1">
            <a:off x="8371315" y="2396450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F8BBB1-0E00-483B-94B7-05C2C214FD84}"/>
              </a:ext>
            </a:extLst>
          </p:cNvPr>
          <p:cNvCxnSpPr>
            <a:cxnSpLocks/>
          </p:cNvCxnSpPr>
          <p:nvPr/>
        </p:nvCxnSpPr>
        <p:spPr>
          <a:xfrm>
            <a:off x="9147026" y="2432698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9ABEB86-2BB1-4200-9004-FC7D8B822A8B}"/>
              </a:ext>
            </a:extLst>
          </p:cNvPr>
          <p:cNvSpPr txBox="1"/>
          <p:nvPr/>
        </p:nvSpPr>
        <p:spPr>
          <a:xfrm>
            <a:off x="9315693" y="2405613"/>
            <a:ext cx="30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A5466-0BF0-44E6-BD64-940CEBB36894}"/>
              </a:ext>
            </a:extLst>
          </p:cNvPr>
          <p:cNvSpPr txBox="1"/>
          <p:nvPr/>
        </p:nvSpPr>
        <p:spPr>
          <a:xfrm>
            <a:off x="8214862" y="2405613"/>
            <a:ext cx="30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CCA7FD-C5BB-4121-B1B9-51B70EAAE40F}"/>
              </a:ext>
            </a:extLst>
          </p:cNvPr>
          <p:cNvSpPr/>
          <p:nvPr/>
        </p:nvSpPr>
        <p:spPr>
          <a:xfrm>
            <a:off x="7665345" y="3000242"/>
            <a:ext cx="1083146" cy="551908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05346E-073D-4F7A-B56C-9EC25E6C814F}"/>
              </a:ext>
            </a:extLst>
          </p:cNvPr>
          <p:cNvCxnSpPr>
            <a:cxnSpLocks/>
          </p:cNvCxnSpPr>
          <p:nvPr/>
        </p:nvCxnSpPr>
        <p:spPr>
          <a:xfrm flipH="1">
            <a:off x="7588995" y="3619223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FCA0E0-EAD6-48C1-941C-49D023D9F701}"/>
              </a:ext>
            </a:extLst>
          </p:cNvPr>
          <p:cNvCxnSpPr>
            <a:cxnSpLocks/>
          </p:cNvCxnSpPr>
          <p:nvPr/>
        </p:nvCxnSpPr>
        <p:spPr>
          <a:xfrm>
            <a:off x="8406185" y="3637348"/>
            <a:ext cx="359092" cy="4585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E17B2D2-3473-4CB3-BECE-87B22087F1F8}"/>
              </a:ext>
            </a:extLst>
          </p:cNvPr>
          <p:cNvSpPr txBox="1"/>
          <p:nvPr/>
        </p:nvSpPr>
        <p:spPr>
          <a:xfrm>
            <a:off x="7432542" y="3606279"/>
            <a:ext cx="30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ACAECD-2ADE-4EAD-82A7-BC7403E95974}"/>
              </a:ext>
            </a:extLst>
          </p:cNvPr>
          <p:cNvSpPr txBox="1"/>
          <p:nvPr/>
        </p:nvSpPr>
        <p:spPr>
          <a:xfrm>
            <a:off x="8608824" y="3606279"/>
            <a:ext cx="30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3B6C3F6-62A1-4254-9437-BB78CD59039C}"/>
              </a:ext>
            </a:extLst>
          </p:cNvPr>
          <p:cNvSpPr/>
          <p:nvPr/>
        </p:nvSpPr>
        <p:spPr>
          <a:xfrm>
            <a:off x="6883025" y="4311915"/>
            <a:ext cx="1083146" cy="551908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D0C58E-27DE-4147-83B5-9445F918B679}"/>
              </a:ext>
            </a:extLst>
          </p:cNvPr>
          <p:cNvCxnSpPr>
            <a:cxnSpLocks/>
          </p:cNvCxnSpPr>
          <p:nvPr/>
        </p:nvCxnSpPr>
        <p:spPr>
          <a:xfrm flipH="1">
            <a:off x="6883024" y="4958149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18679C-7766-4F2C-A0B0-90E50A579FDB}"/>
              </a:ext>
            </a:extLst>
          </p:cNvPr>
          <p:cNvCxnSpPr>
            <a:cxnSpLocks/>
          </p:cNvCxnSpPr>
          <p:nvPr/>
        </p:nvCxnSpPr>
        <p:spPr>
          <a:xfrm>
            <a:off x="7657837" y="4989100"/>
            <a:ext cx="325120" cy="4101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2976A4C-838C-4291-AE8D-01FAD0141E74}"/>
              </a:ext>
            </a:extLst>
          </p:cNvPr>
          <p:cNvSpPr txBox="1"/>
          <p:nvPr/>
        </p:nvSpPr>
        <p:spPr>
          <a:xfrm>
            <a:off x="6726571" y="4949316"/>
            <a:ext cx="30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B155CD-BA9F-47E6-A3D6-BDC4D7E26281}"/>
              </a:ext>
            </a:extLst>
          </p:cNvPr>
          <p:cNvSpPr txBox="1"/>
          <p:nvPr/>
        </p:nvSpPr>
        <p:spPr>
          <a:xfrm>
            <a:off x="7826504" y="4946884"/>
            <a:ext cx="30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4C3D8E6-1701-4649-B65F-578FDCC94EDB}"/>
              </a:ext>
            </a:extLst>
          </p:cNvPr>
          <p:cNvSpPr/>
          <p:nvPr/>
        </p:nvSpPr>
        <p:spPr>
          <a:xfrm>
            <a:off x="8527769" y="4311464"/>
            <a:ext cx="1083146" cy="551908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6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3BAAF9-200F-474B-ACDC-ECFD00B06254}"/>
              </a:ext>
            </a:extLst>
          </p:cNvPr>
          <p:cNvCxnSpPr>
            <a:cxnSpLocks/>
          </p:cNvCxnSpPr>
          <p:nvPr/>
        </p:nvCxnSpPr>
        <p:spPr>
          <a:xfrm flipH="1">
            <a:off x="8481381" y="4970975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E77B65-802D-4BE2-A125-060159DD4651}"/>
              </a:ext>
            </a:extLst>
          </p:cNvPr>
          <p:cNvCxnSpPr>
            <a:cxnSpLocks/>
          </p:cNvCxnSpPr>
          <p:nvPr/>
        </p:nvCxnSpPr>
        <p:spPr>
          <a:xfrm>
            <a:off x="9342907" y="4984947"/>
            <a:ext cx="359092" cy="4585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91723DF-F8C8-461C-9815-E694D49C1417}"/>
              </a:ext>
            </a:extLst>
          </p:cNvPr>
          <p:cNvSpPr txBox="1"/>
          <p:nvPr/>
        </p:nvSpPr>
        <p:spPr>
          <a:xfrm>
            <a:off x="8368343" y="4983865"/>
            <a:ext cx="30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5B404C-3D37-49D3-8EF0-45A6FBDE911A}"/>
              </a:ext>
            </a:extLst>
          </p:cNvPr>
          <p:cNvSpPr txBox="1"/>
          <p:nvPr/>
        </p:nvSpPr>
        <p:spPr>
          <a:xfrm>
            <a:off x="9522453" y="4983865"/>
            <a:ext cx="30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424F14D-B6FD-4D1C-832C-87D47A16D1F5}"/>
              </a:ext>
            </a:extLst>
          </p:cNvPr>
          <p:cNvSpPr/>
          <p:nvPr/>
        </p:nvSpPr>
        <p:spPr>
          <a:xfrm>
            <a:off x="7930966" y="5623719"/>
            <a:ext cx="1083146" cy="551908"/>
          </a:xfrm>
          <a:prstGeom prst="round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5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9556D4-D979-40EC-AC39-8A2A05BB2BC7}"/>
              </a:ext>
            </a:extLst>
          </p:cNvPr>
          <p:cNvCxnSpPr>
            <a:cxnSpLocks/>
          </p:cNvCxnSpPr>
          <p:nvPr/>
        </p:nvCxnSpPr>
        <p:spPr>
          <a:xfrm flipH="1">
            <a:off x="7820397" y="6328758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2D3734-CD3D-40F4-89CB-76078BFFB13B}"/>
              </a:ext>
            </a:extLst>
          </p:cNvPr>
          <p:cNvCxnSpPr>
            <a:cxnSpLocks/>
          </p:cNvCxnSpPr>
          <p:nvPr/>
        </p:nvCxnSpPr>
        <p:spPr>
          <a:xfrm>
            <a:off x="8672704" y="6316510"/>
            <a:ext cx="359092" cy="4585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FBA2EA1-C212-4A84-B76B-95786AB355F5}"/>
              </a:ext>
            </a:extLst>
          </p:cNvPr>
          <p:cNvSpPr txBox="1"/>
          <p:nvPr/>
        </p:nvSpPr>
        <p:spPr>
          <a:xfrm>
            <a:off x="7745448" y="6230197"/>
            <a:ext cx="30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CF585C-A01B-48E8-8F05-08B958544E42}"/>
              </a:ext>
            </a:extLst>
          </p:cNvPr>
          <p:cNvSpPr txBox="1"/>
          <p:nvPr/>
        </p:nvSpPr>
        <p:spPr>
          <a:xfrm>
            <a:off x="8773207" y="6234986"/>
            <a:ext cx="30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E1D55C-9324-475A-9F8B-77B364E314D2}"/>
              </a:ext>
            </a:extLst>
          </p:cNvPr>
          <p:cNvSpPr txBox="1"/>
          <p:nvPr/>
        </p:nvSpPr>
        <p:spPr>
          <a:xfrm>
            <a:off x="8401190" y="1732623"/>
            <a:ext cx="1065448" cy="51741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556F93-1677-40EE-99A6-373D35031F0F}"/>
              </a:ext>
            </a:extLst>
          </p:cNvPr>
          <p:cNvSpPr txBox="1"/>
          <p:nvPr/>
        </p:nvSpPr>
        <p:spPr>
          <a:xfrm>
            <a:off x="6507481" y="1817837"/>
            <a:ext cx="151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= 4? NOPE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B5CD51C-BEDF-41DE-BA72-3C240576A3B2}"/>
              </a:ext>
            </a:extLst>
          </p:cNvPr>
          <p:cNvCxnSpPr>
            <a:cxnSpLocks/>
          </p:cNvCxnSpPr>
          <p:nvPr/>
        </p:nvCxnSpPr>
        <p:spPr>
          <a:xfrm flipV="1">
            <a:off x="7479561" y="2135580"/>
            <a:ext cx="680596" cy="89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5330FFA-8EF2-47E6-BE9B-38284AD06236}"/>
              </a:ext>
            </a:extLst>
          </p:cNvPr>
          <p:cNvCxnSpPr>
            <a:cxnSpLocks/>
          </p:cNvCxnSpPr>
          <p:nvPr/>
        </p:nvCxnSpPr>
        <p:spPr>
          <a:xfrm flipH="1">
            <a:off x="8376571" y="2386369"/>
            <a:ext cx="394860" cy="4463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F6B2A49-69A1-46A3-9687-CF049B4B6F51}"/>
              </a:ext>
            </a:extLst>
          </p:cNvPr>
          <p:cNvSpPr txBox="1"/>
          <p:nvPr/>
        </p:nvSpPr>
        <p:spPr>
          <a:xfrm>
            <a:off x="7669815" y="2991375"/>
            <a:ext cx="1058749" cy="54297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35ECD81-2AF8-4965-807A-40FE7597EFA5}"/>
              </a:ext>
            </a:extLst>
          </p:cNvPr>
          <p:cNvCxnSpPr>
            <a:cxnSpLocks/>
          </p:cNvCxnSpPr>
          <p:nvPr/>
        </p:nvCxnSpPr>
        <p:spPr>
          <a:xfrm flipV="1">
            <a:off x="6849229" y="3252781"/>
            <a:ext cx="680596" cy="89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2A42E16-BAE3-4506-88C0-447A761979EB}"/>
              </a:ext>
            </a:extLst>
          </p:cNvPr>
          <p:cNvSpPr txBox="1"/>
          <p:nvPr/>
        </p:nvSpPr>
        <p:spPr>
          <a:xfrm>
            <a:off x="6183021" y="2898413"/>
            <a:ext cx="1311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= 3? YUP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8F2450-0945-4A9E-909B-025FC6A2CCC4}"/>
              </a:ext>
            </a:extLst>
          </p:cNvPr>
          <p:cNvSpPr txBox="1"/>
          <p:nvPr/>
        </p:nvSpPr>
        <p:spPr>
          <a:xfrm>
            <a:off x="8394838" y="1750198"/>
            <a:ext cx="1042488" cy="50024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347E7F-1CF7-4EF4-A61B-2F2603C8CD19}"/>
              </a:ext>
            </a:extLst>
          </p:cNvPr>
          <p:cNvSpPr txBox="1"/>
          <p:nvPr/>
        </p:nvSpPr>
        <p:spPr>
          <a:xfrm>
            <a:off x="6525180" y="1817837"/>
            <a:ext cx="151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 = 4? NOPE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5BB0E2E-B151-47DF-9D3F-105453C84E15}"/>
              </a:ext>
            </a:extLst>
          </p:cNvPr>
          <p:cNvCxnSpPr>
            <a:cxnSpLocks/>
          </p:cNvCxnSpPr>
          <p:nvPr/>
        </p:nvCxnSpPr>
        <p:spPr>
          <a:xfrm flipH="1">
            <a:off x="8365718" y="2398619"/>
            <a:ext cx="394860" cy="4463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57F9D36-3B6F-4AD3-BCBB-77AFDBBB0AF3}"/>
              </a:ext>
            </a:extLst>
          </p:cNvPr>
          <p:cNvSpPr txBox="1"/>
          <p:nvPr/>
        </p:nvSpPr>
        <p:spPr>
          <a:xfrm>
            <a:off x="7657915" y="2996596"/>
            <a:ext cx="1083146" cy="5519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AED2BF-6AF7-4648-ACD1-2383925936BD}"/>
              </a:ext>
            </a:extLst>
          </p:cNvPr>
          <p:cNvCxnSpPr>
            <a:cxnSpLocks/>
          </p:cNvCxnSpPr>
          <p:nvPr/>
        </p:nvCxnSpPr>
        <p:spPr>
          <a:xfrm flipV="1">
            <a:off x="7474299" y="2124729"/>
            <a:ext cx="680596" cy="89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7A4E969-A145-4B89-89E7-BF34545B078D}"/>
              </a:ext>
            </a:extLst>
          </p:cNvPr>
          <p:cNvCxnSpPr>
            <a:cxnSpLocks/>
          </p:cNvCxnSpPr>
          <p:nvPr/>
        </p:nvCxnSpPr>
        <p:spPr>
          <a:xfrm flipH="1" flipV="1">
            <a:off x="8919410" y="3190678"/>
            <a:ext cx="827447" cy="80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40BD4F4-59EB-44A5-9E3F-56E72CB1B85A}"/>
              </a:ext>
            </a:extLst>
          </p:cNvPr>
          <p:cNvSpPr txBox="1"/>
          <p:nvPr/>
        </p:nvSpPr>
        <p:spPr>
          <a:xfrm>
            <a:off x="8955776" y="2841182"/>
            <a:ext cx="151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 = 3? NOPE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535364A-4BB8-4457-9E01-CAF3A47B1D4A}"/>
              </a:ext>
            </a:extLst>
          </p:cNvPr>
          <p:cNvCxnSpPr>
            <a:cxnSpLocks/>
          </p:cNvCxnSpPr>
          <p:nvPr/>
        </p:nvCxnSpPr>
        <p:spPr>
          <a:xfrm>
            <a:off x="8404409" y="3635370"/>
            <a:ext cx="367022" cy="4605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772B0B6-9813-4984-B7B3-1164DCF582A2}"/>
              </a:ext>
            </a:extLst>
          </p:cNvPr>
          <p:cNvSpPr txBox="1"/>
          <p:nvPr/>
        </p:nvSpPr>
        <p:spPr>
          <a:xfrm>
            <a:off x="8529532" y="4315628"/>
            <a:ext cx="1054617" cy="571245"/>
          </a:xfrm>
          <a:prstGeom prst="roundRect">
            <a:avLst>
              <a:gd name="adj" fmla="val 20929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7045F99-6FE6-4906-B22A-D3211BB1C3CC}"/>
              </a:ext>
            </a:extLst>
          </p:cNvPr>
          <p:cNvCxnSpPr>
            <a:cxnSpLocks/>
          </p:cNvCxnSpPr>
          <p:nvPr/>
        </p:nvCxnSpPr>
        <p:spPr>
          <a:xfrm flipH="1" flipV="1">
            <a:off x="9756369" y="4546515"/>
            <a:ext cx="932818" cy="17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1C1705B-859C-4584-8B7D-87DB40E3CB63}"/>
              </a:ext>
            </a:extLst>
          </p:cNvPr>
          <p:cNvSpPr txBox="1"/>
          <p:nvPr/>
        </p:nvSpPr>
        <p:spPr>
          <a:xfrm>
            <a:off x="9653293" y="4165364"/>
            <a:ext cx="151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 = 6? NOPE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089EF1F-26F8-41C2-97FF-3FB841B29585}"/>
              </a:ext>
            </a:extLst>
          </p:cNvPr>
          <p:cNvCxnSpPr>
            <a:cxnSpLocks/>
          </p:cNvCxnSpPr>
          <p:nvPr/>
        </p:nvCxnSpPr>
        <p:spPr>
          <a:xfrm>
            <a:off x="9334977" y="4982969"/>
            <a:ext cx="367022" cy="4605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8044414-7055-4CA0-A433-AB5C2E8FBBD8}"/>
              </a:ext>
            </a:extLst>
          </p:cNvPr>
          <p:cNvCxnSpPr>
            <a:cxnSpLocks/>
            <a:stCxn id="60" idx="2"/>
          </p:cNvCxnSpPr>
          <p:nvPr/>
        </p:nvCxnSpPr>
        <p:spPr>
          <a:xfrm flipH="1" flipV="1">
            <a:off x="9890342" y="5605898"/>
            <a:ext cx="940996" cy="316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79053BB-AF4B-49ED-861C-E920A9A6BCD9}"/>
              </a:ext>
            </a:extLst>
          </p:cNvPr>
          <p:cNvSpPr txBox="1"/>
          <p:nvPr/>
        </p:nvSpPr>
        <p:spPr>
          <a:xfrm>
            <a:off x="9873001" y="5268256"/>
            <a:ext cx="1916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NULL, not found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9B2C1E86-25F2-4C49-83EE-D7F3FB269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3" y="0"/>
            <a:ext cx="121585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5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42" grpId="0" animBg="1"/>
      <p:bldP spid="44" grpId="0"/>
      <p:bldP spid="45" grpId="0" animBg="1"/>
      <p:bldP spid="46" grpId="0"/>
      <p:bldP spid="48" grpId="0" animBg="1"/>
      <p:bldP spid="53" grpId="0"/>
      <p:bldP spid="55" grpId="0" animBg="1"/>
      <p:bldP spid="57" grpId="0"/>
      <p:bldP spid="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BA2D7-1406-4F29-8CEC-0F4FBEB4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DST Analysis: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0A6A5-1043-452C-9D82-D3FDBBACE7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Worst Case: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US" dirty="0"/>
                  <a:t> bound by max height of tree</a:t>
                </a:r>
              </a:p>
              <a:p>
                <a:r>
                  <a:rPr lang="en-US" dirty="0"/>
                  <a:t>w: width of keys (max height for tree with 4-bit integers is 4)</a:t>
                </a:r>
              </a:p>
              <a:p>
                <a:pPr marL="0" indent="0">
                  <a:buNone/>
                </a:pPr>
                <a:r>
                  <a:rPr lang="en-US" dirty="0"/>
                  <a:t>Average Case: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same reasoning as BST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0A6A5-1043-452C-9D82-D3FDBBACE7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33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3EBB2-E4D3-44AE-A5EB-72B26E379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a second…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CAF0BD-8858-497F-B889-D0A1B41A7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6000" y="2418081"/>
                <a:ext cx="10031411" cy="3657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Why does the worst case look like it’s better than the average case?</a:t>
                </a:r>
              </a:p>
              <a:p>
                <a:r>
                  <a:rPr lang="en-US" dirty="0"/>
                  <a:t>It depends on “n”</a:t>
                </a:r>
              </a:p>
              <a:p>
                <a:pPr marL="457200" indent="-457200">
                  <a:buAutoNum type="arabicParenR"/>
                </a:pPr>
                <a:r>
                  <a:rPr lang="en-US" dirty="0"/>
                  <a:t>Practically speaking, log(n)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w.</a:t>
                </a:r>
              </a:p>
              <a:p>
                <a:r>
                  <a:rPr lang="en-US" dirty="0"/>
                  <a:t>log(n) = w, if we have the max number of distinct items in the collection.</a:t>
                </a:r>
              </a:p>
              <a:p>
                <a:r>
                  <a:rPr lang="en-US" dirty="0"/>
                  <a:t>log(n) &lt; w if there are &lt; n items.</a:t>
                </a:r>
              </a:p>
              <a:p>
                <a:pPr marL="457200" indent="-457200">
                  <a:buFont typeface="+mj-lt"/>
                  <a:buAutoNum type="arabicParenR" startAt="2"/>
                </a:pPr>
                <a:r>
                  <a:rPr lang="en-US" dirty="0"/>
                  <a:t>For log(n) &gt; w, we need to allow duplicates…</a:t>
                </a:r>
              </a:p>
              <a:p>
                <a:pPr marL="0" indent="0">
                  <a:buNone/>
                </a:pPr>
                <a:r>
                  <a:rPr lang="en-US" dirty="0"/>
                  <a:t>Doesn’t this argument sound familiar??? </a:t>
                </a:r>
              </a:p>
              <a:p>
                <a:r>
                  <a:rPr lang="en-US" dirty="0"/>
                  <a:t>It’s the same one we used for Radix Sort’s </a:t>
                </a:r>
                <a:r>
                  <a:rPr lang="en-US" b="1" dirty="0"/>
                  <a:t>w </a:t>
                </a:r>
                <a:r>
                  <a:rPr lang="en-US" dirty="0"/>
                  <a:t>vs. </a:t>
                </a:r>
                <a:r>
                  <a:rPr lang="en-US" b="1" dirty="0"/>
                  <a:t>log(n)</a:t>
                </a:r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indent="-457200">
                  <a:buFont typeface="+mj-lt"/>
                  <a:buAutoNum type="arabicParenR" startAt="2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CAF0BD-8858-497F-B889-D0A1B41A7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6000" y="2418081"/>
                <a:ext cx="10031411" cy="3657600"/>
              </a:xfrm>
              <a:blipFill>
                <a:blip r:embed="rId2"/>
                <a:stretch>
                  <a:fillRect l="-547" t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52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E523F-248D-49AF-A65E-EAC9CACB7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Something’s Still troubling…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6D2D-5392-4F96-AF25-6D9D344D5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still end up doing a lot of comparisons against the full key… </a:t>
            </a:r>
          </a:p>
          <a:p>
            <a:pPr marL="0" indent="0" algn="ctr">
              <a:buNone/>
            </a:pPr>
            <a:r>
              <a:rPr lang="en-US" b="1" dirty="0"/>
              <a:t>Can we do better?</a:t>
            </a:r>
          </a:p>
        </p:txBody>
      </p:sp>
    </p:spTree>
    <p:extLst>
      <p:ext uri="{BB962C8B-B14F-4D97-AF65-F5344CB8AC3E}">
        <p14:creationId xmlns:p14="http://schemas.microsoft.com/office/powerpoint/2010/main" val="2549011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567C-25C9-4F18-B0D9-2A3F39F5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Enter: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FD129-7F83-4C7A-B141-A02BFC2E9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Trie</a:t>
            </a:r>
            <a:r>
              <a:rPr lang="en-US" dirty="0"/>
              <a:t> as in </a:t>
            </a:r>
            <a:r>
              <a:rPr lang="en-US" dirty="0" err="1"/>
              <a:t>re</a:t>
            </a:r>
            <a:r>
              <a:rPr lang="en-US" b="1" dirty="0" err="1"/>
              <a:t>TRIE</a:t>
            </a:r>
            <a:r>
              <a:rPr lang="en-US" dirty="0" err="1"/>
              <a:t>ve</a:t>
            </a:r>
            <a:r>
              <a:rPr lang="en-US" dirty="0"/>
              <a:t> (pronounced “try”)</a:t>
            </a:r>
          </a:p>
          <a:p>
            <a:pPr marL="0" indent="0">
              <a:buNone/>
            </a:pPr>
            <a:r>
              <a:rPr lang="en-US" dirty="0"/>
              <a:t>Here’s the idea: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Rather than storing keys as nodes in the tree, we store them implicitly as paths down the tree!</a:t>
            </a:r>
          </a:p>
          <a:p>
            <a:r>
              <a:rPr lang="en-US" dirty="0"/>
              <a:t>Interior nodes of the tree serve to navigate us based on the characters of the key</a:t>
            </a:r>
          </a:p>
          <a:p>
            <a:r>
              <a:rPr lang="en-US" dirty="0"/>
              <a:t>Values are then stored at the end of the key’s bit string path</a:t>
            </a:r>
          </a:p>
          <a:p>
            <a:pPr marL="0" indent="0">
              <a:buNone/>
            </a:pPr>
            <a:r>
              <a:rPr lang="en-US" dirty="0"/>
              <a:t>What’s an Interior node?</a:t>
            </a:r>
          </a:p>
          <a:p>
            <a:r>
              <a:rPr lang="en-US" dirty="0"/>
              <a:t>Nodes that aren’t the root or leaves. </a:t>
            </a:r>
          </a:p>
        </p:txBody>
      </p:sp>
    </p:spTree>
    <p:extLst>
      <p:ext uri="{BB962C8B-B14F-4D97-AF65-F5344CB8AC3E}">
        <p14:creationId xmlns:p14="http://schemas.microsoft.com/office/powerpoint/2010/main" val="134252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58F5-BFFC-4DC5-B4FC-1428C473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Search Tries (RST)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DD125-4AD4-4AFD-9225-E51C61821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Keys are </a:t>
            </a:r>
            <a:r>
              <a:rPr lang="en-US" dirty="0" err="1"/>
              <a:t>bitstrings</a:t>
            </a:r>
            <a:r>
              <a:rPr lang="en-US" dirty="0"/>
              <a:t> and are directed down a path based on the current bit of the key!</a:t>
            </a:r>
          </a:p>
          <a:p>
            <a:r>
              <a:rPr lang="en-US" dirty="0"/>
              <a:t>Same decisions are DST, but store values at the end of the path.</a:t>
            </a:r>
          </a:p>
        </p:txBody>
      </p:sp>
    </p:spTree>
    <p:extLst>
      <p:ext uri="{BB962C8B-B14F-4D97-AF65-F5344CB8AC3E}">
        <p14:creationId xmlns:p14="http://schemas.microsoft.com/office/powerpoint/2010/main" val="902571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9145-7C0D-4FFB-AFCD-419FC651E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EB262-5AF7-4DD2-9E62-F7EC9CCAD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950" y="2415541"/>
            <a:ext cx="10285411" cy="387096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Let’s assume we have 4-bit integers and going from MSB to LSB</a:t>
            </a:r>
          </a:p>
          <a:p>
            <a:pPr marL="0" indent="0">
              <a:buNone/>
            </a:pPr>
            <a:r>
              <a:rPr lang="en-US" dirty="0"/>
              <a:t>Let’s try to insert the following numbers:</a:t>
            </a:r>
          </a:p>
          <a:p>
            <a:pPr marL="0" indent="0">
              <a:buNone/>
            </a:pPr>
            <a:r>
              <a:rPr lang="en-US" dirty="0"/>
              <a:t>4</a:t>
            </a:r>
          </a:p>
          <a:p>
            <a:r>
              <a:rPr lang="en-US" dirty="0"/>
              <a:t>4-bit representation: 0100</a:t>
            </a:r>
          </a:p>
          <a:p>
            <a:pPr marL="0" indent="0">
              <a:buNone/>
            </a:pPr>
            <a:r>
              <a:rPr lang="en-US" dirty="0"/>
              <a:t>3 </a:t>
            </a:r>
          </a:p>
          <a:p>
            <a:r>
              <a:rPr lang="en-US" dirty="0"/>
              <a:t>4-bit representation: 0011</a:t>
            </a:r>
          </a:p>
          <a:p>
            <a:pPr marL="0" indent="0">
              <a:buNone/>
            </a:pPr>
            <a:r>
              <a:rPr lang="en-US" dirty="0"/>
              <a:t>2</a:t>
            </a:r>
          </a:p>
          <a:p>
            <a:r>
              <a:rPr lang="en-US" dirty="0"/>
              <a:t>4-bit representation: 0010</a:t>
            </a:r>
          </a:p>
          <a:p>
            <a:pPr marL="0" indent="0">
              <a:buNone/>
            </a:pPr>
            <a:r>
              <a:rPr lang="en-US" dirty="0"/>
              <a:t>6</a:t>
            </a:r>
          </a:p>
          <a:p>
            <a:r>
              <a:rPr lang="en-US" dirty="0"/>
              <a:t>4-bit representation: 0110</a:t>
            </a:r>
          </a:p>
          <a:p>
            <a:pPr marL="0" indent="0">
              <a:buNone/>
            </a:pPr>
            <a:r>
              <a:rPr lang="en-US" dirty="0"/>
              <a:t>5</a:t>
            </a:r>
          </a:p>
          <a:p>
            <a:r>
              <a:rPr lang="en-US" dirty="0"/>
              <a:t>4-bit representation: 0101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152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E1FC0-B339-4F43-948D-7E92E9D9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314" y="194060"/>
            <a:ext cx="7442083" cy="819492"/>
          </a:xfrm>
        </p:spPr>
        <p:txBody>
          <a:bodyPr/>
          <a:lstStyle/>
          <a:p>
            <a:r>
              <a:rPr lang="en-US" dirty="0"/>
              <a:t>RST Insertion: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36F5D-23C1-4384-8187-4F1251D81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576" y="2243540"/>
            <a:ext cx="7729728" cy="3101983"/>
          </a:xfrm>
        </p:spPr>
        <p:txBody>
          <a:bodyPr/>
          <a:lstStyle/>
          <a:p>
            <a:r>
              <a:rPr lang="en-US" dirty="0"/>
              <a:t>Insert 4: 0100</a:t>
            </a:r>
          </a:p>
          <a:p>
            <a:r>
              <a:rPr lang="en-US" dirty="0"/>
              <a:t>Insert 3: 0011</a:t>
            </a:r>
          </a:p>
          <a:p>
            <a:r>
              <a:rPr lang="en-US" dirty="0"/>
              <a:t>Insert 2: 0010</a:t>
            </a:r>
          </a:p>
          <a:p>
            <a:r>
              <a:rPr lang="en-US" dirty="0"/>
              <a:t>Insert 6: 0110</a:t>
            </a:r>
          </a:p>
          <a:p>
            <a:r>
              <a:rPr lang="en-US" dirty="0"/>
              <a:t>Insert 5: 0101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993F6CA-81CC-4406-A9F9-AE2D4B201FAF}"/>
              </a:ext>
            </a:extLst>
          </p:cNvPr>
          <p:cNvSpPr/>
          <p:nvPr/>
        </p:nvSpPr>
        <p:spPr>
          <a:xfrm>
            <a:off x="7612171" y="1071780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2FDCD89-EB98-4C6F-9CCD-58C86C7562E9}"/>
              </a:ext>
            </a:extLst>
          </p:cNvPr>
          <p:cNvCxnSpPr>
            <a:cxnSpLocks/>
          </p:cNvCxnSpPr>
          <p:nvPr/>
        </p:nvCxnSpPr>
        <p:spPr>
          <a:xfrm flipH="1">
            <a:off x="7288431" y="1654128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F30D19D-E689-4CBB-AC1A-1FB3D8B7832F}"/>
              </a:ext>
            </a:extLst>
          </p:cNvPr>
          <p:cNvCxnSpPr>
            <a:cxnSpLocks/>
          </p:cNvCxnSpPr>
          <p:nvPr/>
        </p:nvCxnSpPr>
        <p:spPr>
          <a:xfrm>
            <a:off x="8110011" y="1641717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15F3B04-27E0-4F43-A9C9-ED2F70CD0EA1}"/>
              </a:ext>
            </a:extLst>
          </p:cNvPr>
          <p:cNvSpPr txBox="1"/>
          <p:nvPr/>
        </p:nvSpPr>
        <p:spPr>
          <a:xfrm>
            <a:off x="7185451" y="1508382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64E408-4D86-45A7-AB3C-70EB4435611B}"/>
              </a:ext>
            </a:extLst>
          </p:cNvPr>
          <p:cNvSpPr txBox="1"/>
          <p:nvPr/>
        </p:nvSpPr>
        <p:spPr>
          <a:xfrm>
            <a:off x="8272571" y="1508382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4190658-9286-4E4C-86EB-DFF366EB4EBB}"/>
              </a:ext>
            </a:extLst>
          </p:cNvPr>
          <p:cNvSpPr/>
          <p:nvPr/>
        </p:nvSpPr>
        <p:spPr>
          <a:xfrm>
            <a:off x="6911131" y="2100479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BE9E1D4-99C8-4F10-942D-65DE8D63370B}"/>
              </a:ext>
            </a:extLst>
          </p:cNvPr>
          <p:cNvCxnSpPr>
            <a:cxnSpLocks/>
          </p:cNvCxnSpPr>
          <p:nvPr/>
        </p:nvCxnSpPr>
        <p:spPr>
          <a:xfrm flipH="1">
            <a:off x="5768191" y="2745506"/>
            <a:ext cx="1203173" cy="7273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37B05F1-B720-4739-BC37-25B06275864F}"/>
              </a:ext>
            </a:extLst>
          </p:cNvPr>
          <p:cNvCxnSpPr>
            <a:cxnSpLocks/>
          </p:cNvCxnSpPr>
          <p:nvPr/>
        </p:nvCxnSpPr>
        <p:spPr>
          <a:xfrm>
            <a:off x="7392704" y="2747399"/>
            <a:ext cx="1036320" cy="5081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ACD8705-84BB-4127-8F26-43CE8D201773}"/>
              </a:ext>
            </a:extLst>
          </p:cNvPr>
          <p:cNvSpPr txBox="1"/>
          <p:nvPr/>
        </p:nvSpPr>
        <p:spPr>
          <a:xfrm>
            <a:off x="6293183" y="2698208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F8BF36-49BA-4A28-ABBF-1C73929303AB}"/>
              </a:ext>
            </a:extLst>
          </p:cNvPr>
          <p:cNvSpPr txBox="1"/>
          <p:nvPr/>
        </p:nvSpPr>
        <p:spPr>
          <a:xfrm>
            <a:off x="7975139" y="2698208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A2F814E-9513-4B07-8AA6-6628EE49D24F}"/>
              </a:ext>
            </a:extLst>
          </p:cNvPr>
          <p:cNvSpPr/>
          <p:nvPr/>
        </p:nvSpPr>
        <p:spPr>
          <a:xfrm>
            <a:off x="8446121" y="3191857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36161B1-EB71-4A36-BB90-0795D07066BC}"/>
              </a:ext>
            </a:extLst>
          </p:cNvPr>
          <p:cNvCxnSpPr>
            <a:cxnSpLocks/>
          </p:cNvCxnSpPr>
          <p:nvPr/>
        </p:nvCxnSpPr>
        <p:spPr>
          <a:xfrm flipH="1">
            <a:off x="5060012" y="4125318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7497284-7400-4A54-905A-3D43EE0116BC}"/>
              </a:ext>
            </a:extLst>
          </p:cNvPr>
          <p:cNvCxnSpPr>
            <a:cxnSpLocks/>
          </p:cNvCxnSpPr>
          <p:nvPr/>
        </p:nvCxnSpPr>
        <p:spPr>
          <a:xfrm>
            <a:off x="5790152" y="4150472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D760159-C5DD-4C09-8990-FB9372038E96}"/>
              </a:ext>
            </a:extLst>
          </p:cNvPr>
          <p:cNvSpPr txBox="1"/>
          <p:nvPr/>
        </p:nvSpPr>
        <p:spPr>
          <a:xfrm>
            <a:off x="5074225" y="3940126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E87E96-B744-4086-AEAE-91EF5925B166}"/>
              </a:ext>
            </a:extLst>
          </p:cNvPr>
          <p:cNvSpPr txBox="1"/>
          <p:nvPr/>
        </p:nvSpPr>
        <p:spPr>
          <a:xfrm>
            <a:off x="5918593" y="4010521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77C4C845-7FCB-48B5-81ED-E9B294260335}"/>
              </a:ext>
            </a:extLst>
          </p:cNvPr>
          <p:cNvSpPr/>
          <p:nvPr/>
        </p:nvSpPr>
        <p:spPr>
          <a:xfrm>
            <a:off x="7799160" y="4298080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241AE7D-A909-4D0E-890D-84B7F902E770}"/>
              </a:ext>
            </a:extLst>
          </p:cNvPr>
          <p:cNvCxnSpPr>
            <a:cxnSpLocks/>
          </p:cNvCxnSpPr>
          <p:nvPr/>
        </p:nvCxnSpPr>
        <p:spPr>
          <a:xfrm flipH="1">
            <a:off x="7496596" y="4918690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CF2C977-9460-4F67-873D-48589E390952}"/>
              </a:ext>
            </a:extLst>
          </p:cNvPr>
          <p:cNvCxnSpPr>
            <a:cxnSpLocks/>
          </p:cNvCxnSpPr>
          <p:nvPr/>
        </p:nvCxnSpPr>
        <p:spPr>
          <a:xfrm>
            <a:off x="8210937" y="4920365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EA76F8-E473-402C-B1CC-39A48240F9F7}"/>
              </a:ext>
            </a:extLst>
          </p:cNvPr>
          <p:cNvSpPr txBox="1"/>
          <p:nvPr/>
        </p:nvSpPr>
        <p:spPr>
          <a:xfrm>
            <a:off x="7392704" y="4841858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4DE181A-68A0-4038-8B43-DD8D4FD8DC68}"/>
              </a:ext>
            </a:extLst>
          </p:cNvPr>
          <p:cNvSpPr txBox="1"/>
          <p:nvPr/>
        </p:nvSpPr>
        <p:spPr>
          <a:xfrm>
            <a:off x="8358434" y="4818985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EFD0215-91CE-456F-BFBB-411C050CA6F1}"/>
              </a:ext>
            </a:extLst>
          </p:cNvPr>
          <p:cNvSpPr/>
          <p:nvPr/>
        </p:nvSpPr>
        <p:spPr>
          <a:xfrm>
            <a:off x="7228678" y="5402838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EF3909-3EC4-4DF6-A933-D53347F390B1}"/>
              </a:ext>
            </a:extLst>
          </p:cNvPr>
          <p:cNvSpPr txBox="1"/>
          <p:nvPr/>
        </p:nvSpPr>
        <p:spPr>
          <a:xfrm>
            <a:off x="7329713" y="5495478"/>
            <a:ext cx="34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EDFAEC6-D1B2-45AF-8D14-C09679CEC36D}"/>
              </a:ext>
            </a:extLst>
          </p:cNvPr>
          <p:cNvSpPr/>
          <p:nvPr/>
        </p:nvSpPr>
        <p:spPr>
          <a:xfrm>
            <a:off x="5387131" y="3492826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0D590E8-1681-471C-9685-0D0676FABA87}"/>
              </a:ext>
            </a:extLst>
          </p:cNvPr>
          <p:cNvSpPr/>
          <p:nvPr/>
        </p:nvSpPr>
        <p:spPr>
          <a:xfrm>
            <a:off x="5935771" y="4639690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824E187-78E7-4040-AF2E-D4FD0C212639}"/>
              </a:ext>
            </a:extLst>
          </p:cNvPr>
          <p:cNvCxnSpPr>
            <a:cxnSpLocks/>
          </p:cNvCxnSpPr>
          <p:nvPr/>
        </p:nvCxnSpPr>
        <p:spPr>
          <a:xfrm flipH="1">
            <a:off x="8213721" y="3828940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202B2DA-A46E-4EAD-BB30-02720293516D}"/>
              </a:ext>
            </a:extLst>
          </p:cNvPr>
          <p:cNvCxnSpPr>
            <a:cxnSpLocks/>
          </p:cNvCxnSpPr>
          <p:nvPr/>
        </p:nvCxnSpPr>
        <p:spPr>
          <a:xfrm>
            <a:off x="9060088" y="3816529"/>
            <a:ext cx="363324" cy="4435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9611495E-F842-474A-A88B-D7197B9AF345}"/>
              </a:ext>
            </a:extLst>
          </p:cNvPr>
          <p:cNvSpPr txBox="1"/>
          <p:nvPr/>
        </p:nvSpPr>
        <p:spPr>
          <a:xfrm>
            <a:off x="8227934" y="3643748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A46D146-F0CB-40E9-9E5A-A9CB18DEBC97}"/>
              </a:ext>
            </a:extLst>
          </p:cNvPr>
          <p:cNvSpPr txBox="1"/>
          <p:nvPr/>
        </p:nvSpPr>
        <p:spPr>
          <a:xfrm>
            <a:off x="9123344" y="3643748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0486A3E-C31A-4566-8E5A-3BC9C6AF9E7B}"/>
              </a:ext>
            </a:extLst>
          </p:cNvPr>
          <p:cNvCxnSpPr>
            <a:cxnSpLocks/>
          </p:cNvCxnSpPr>
          <p:nvPr/>
        </p:nvCxnSpPr>
        <p:spPr>
          <a:xfrm flipH="1">
            <a:off x="5662689" y="5296440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11105F3-8BD8-4D48-ADDB-B039617B56EF}"/>
              </a:ext>
            </a:extLst>
          </p:cNvPr>
          <p:cNvCxnSpPr>
            <a:cxnSpLocks/>
          </p:cNvCxnSpPr>
          <p:nvPr/>
        </p:nvCxnSpPr>
        <p:spPr>
          <a:xfrm>
            <a:off x="6392829" y="5321594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8D04DFF-12E5-425C-B429-0AFC9AAEDAC3}"/>
              </a:ext>
            </a:extLst>
          </p:cNvPr>
          <p:cNvSpPr txBox="1"/>
          <p:nvPr/>
        </p:nvSpPr>
        <p:spPr>
          <a:xfrm>
            <a:off x="5676902" y="5111248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A03FF3D-8A78-4AE4-9EF8-B5C45F6B5F33}"/>
              </a:ext>
            </a:extLst>
          </p:cNvPr>
          <p:cNvSpPr txBox="1"/>
          <p:nvPr/>
        </p:nvSpPr>
        <p:spPr>
          <a:xfrm>
            <a:off x="6521270" y="5181643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09B090B-D3DF-4ABE-A5B3-1E1BE7DE6D59}"/>
              </a:ext>
            </a:extLst>
          </p:cNvPr>
          <p:cNvSpPr/>
          <p:nvPr/>
        </p:nvSpPr>
        <p:spPr>
          <a:xfrm>
            <a:off x="6525553" y="5821191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307C220-E9CE-4410-BD27-13DAF06FC6FA}"/>
              </a:ext>
            </a:extLst>
          </p:cNvPr>
          <p:cNvSpPr txBox="1"/>
          <p:nvPr/>
        </p:nvSpPr>
        <p:spPr>
          <a:xfrm>
            <a:off x="6624794" y="5945687"/>
            <a:ext cx="34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3D3E9CE5-6150-47DD-B185-419688DEBC29}"/>
              </a:ext>
            </a:extLst>
          </p:cNvPr>
          <p:cNvSpPr/>
          <p:nvPr/>
        </p:nvSpPr>
        <p:spPr>
          <a:xfrm>
            <a:off x="5369953" y="5782016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072BF1C-49AD-4002-A173-B34349FE6A5C}"/>
              </a:ext>
            </a:extLst>
          </p:cNvPr>
          <p:cNvSpPr txBox="1"/>
          <p:nvPr/>
        </p:nvSpPr>
        <p:spPr>
          <a:xfrm>
            <a:off x="5470988" y="5914544"/>
            <a:ext cx="34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5F5FA9D2-CC81-49E1-80B8-CA8F552B92F4}"/>
              </a:ext>
            </a:extLst>
          </p:cNvPr>
          <p:cNvSpPr/>
          <p:nvPr/>
        </p:nvSpPr>
        <p:spPr>
          <a:xfrm>
            <a:off x="9423412" y="4238015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7505E75-E831-4E74-8F82-C6E12C7BFC63}"/>
              </a:ext>
            </a:extLst>
          </p:cNvPr>
          <p:cNvCxnSpPr>
            <a:cxnSpLocks/>
          </p:cNvCxnSpPr>
          <p:nvPr/>
        </p:nvCxnSpPr>
        <p:spPr>
          <a:xfrm flipH="1">
            <a:off x="9162715" y="4907851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B8BA60E-751F-40D3-953D-0F4AD55C8DD3}"/>
              </a:ext>
            </a:extLst>
          </p:cNvPr>
          <p:cNvCxnSpPr>
            <a:cxnSpLocks/>
          </p:cNvCxnSpPr>
          <p:nvPr/>
        </p:nvCxnSpPr>
        <p:spPr>
          <a:xfrm>
            <a:off x="9892855" y="4933005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33CAAACC-951D-4CF4-81E0-977E4CA119D9}"/>
              </a:ext>
            </a:extLst>
          </p:cNvPr>
          <p:cNvSpPr txBox="1"/>
          <p:nvPr/>
        </p:nvSpPr>
        <p:spPr>
          <a:xfrm>
            <a:off x="9176928" y="4722659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A2D845A-0D43-428A-BBDC-61AACC5330A9}"/>
              </a:ext>
            </a:extLst>
          </p:cNvPr>
          <p:cNvSpPr txBox="1"/>
          <p:nvPr/>
        </p:nvSpPr>
        <p:spPr>
          <a:xfrm>
            <a:off x="10021296" y="4793054"/>
            <a:ext cx="31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ACD9617B-0F17-4880-A435-9B8402A396F1}"/>
              </a:ext>
            </a:extLst>
          </p:cNvPr>
          <p:cNvSpPr/>
          <p:nvPr/>
        </p:nvSpPr>
        <p:spPr>
          <a:xfrm>
            <a:off x="8861139" y="5374187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2BDDD45F-B2E0-415C-9F7E-6EAF8D06A704}"/>
              </a:ext>
            </a:extLst>
          </p:cNvPr>
          <p:cNvSpPr/>
          <p:nvPr/>
        </p:nvSpPr>
        <p:spPr>
          <a:xfrm>
            <a:off x="8261737" y="5402838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1608B72-3DC5-40AD-9439-63F119F5457F}"/>
              </a:ext>
            </a:extLst>
          </p:cNvPr>
          <p:cNvSpPr txBox="1"/>
          <p:nvPr/>
        </p:nvSpPr>
        <p:spPr>
          <a:xfrm>
            <a:off x="8368768" y="5495478"/>
            <a:ext cx="34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38541F2-E5A3-4BF8-804E-957DBD33ABF5}"/>
              </a:ext>
            </a:extLst>
          </p:cNvPr>
          <p:cNvSpPr txBox="1"/>
          <p:nvPr/>
        </p:nvSpPr>
        <p:spPr>
          <a:xfrm>
            <a:off x="8962174" y="5456015"/>
            <a:ext cx="34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0F2F0F5E-B705-4B7D-B0E0-D9A450F586CD}"/>
              </a:ext>
            </a:extLst>
          </p:cNvPr>
          <p:cNvCxnSpPr>
            <a:cxnSpLocks/>
          </p:cNvCxnSpPr>
          <p:nvPr/>
        </p:nvCxnSpPr>
        <p:spPr>
          <a:xfrm flipV="1">
            <a:off x="6164241" y="2358288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13437323-5369-4E43-8D42-2A06F6A00D35}"/>
              </a:ext>
            </a:extLst>
          </p:cNvPr>
          <p:cNvSpPr txBox="1"/>
          <p:nvPr/>
        </p:nvSpPr>
        <p:spPr>
          <a:xfrm>
            <a:off x="5006488" y="1339398"/>
            <a:ext cx="1965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bit 0: go left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F34682A-EA57-40B7-8906-427DAFA72FFC}"/>
              </a:ext>
            </a:extLst>
          </p:cNvPr>
          <p:cNvSpPr txBox="1"/>
          <p:nvPr/>
        </p:nvSpPr>
        <p:spPr>
          <a:xfrm>
            <a:off x="3840218" y="2339540"/>
            <a:ext cx="2957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 value, create node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16D9ED4-02D7-4CC4-9A5F-57BF14FF2078}"/>
              </a:ext>
            </a:extLst>
          </p:cNvPr>
          <p:cNvCxnSpPr>
            <a:cxnSpLocks/>
          </p:cNvCxnSpPr>
          <p:nvPr/>
        </p:nvCxnSpPr>
        <p:spPr>
          <a:xfrm flipH="1">
            <a:off x="7311161" y="1654127"/>
            <a:ext cx="372130" cy="43731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DDC7DC2-9D59-4E8F-9D80-0A3F1ACB72BD}"/>
              </a:ext>
            </a:extLst>
          </p:cNvPr>
          <p:cNvCxnSpPr>
            <a:cxnSpLocks/>
          </p:cNvCxnSpPr>
          <p:nvPr/>
        </p:nvCxnSpPr>
        <p:spPr>
          <a:xfrm>
            <a:off x="7406004" y="2740359"/>
            <a:ext cx="995093" cy="5137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5256ABA-08A6-4EEE-9AC1-7F6A5D1BF6F7}"/>
              </a:ext>
            </a:extLst>
          </p:cNvPr>
          <p:cNvSpPr txBox="1"/>
          <p:nvPr/>
        </p:nvSpPr>
        <p:spPr>
          <a:xfrm>
            <a:off x="8146939" y="2396560"/>
            <a:ext cx="214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2nd bit 1: go right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2BC7636-68FE-4E74-A445-F1EF29AFBAA0}"/>
              </a:ext>
            </a:extLst>
          </p:cNvPr>
          <p:cNvCxnSpPr>
            <a:cxnSpLocks/>
          </p:cNvCxnSpPr>
          <p:nvPr/>
        </p:nvCxnSpPr>
        <p:spPr>
          <a:xfrm flipH="1" flipV="1">
            <a:off x="8994761" y="3307331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6B835575-24F1-42F1-B8C2-788AA553FF25}"/>
              </a:ext>
            </a:extLst>
          </p:cNvPr>
          <p:cNvSpPr txBox="1"/>
          <p:nvPr/>
        </p:nvSpPr>
        <p:spPr>
          <a:xfrm>
            <a:off x="8714160" y="2826448"/>
            <a:ext cx="2957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 value, create node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DB3C8246-824C-4931-BBBD-E58037502AF2}"/>
              </a:ext>
            </a:extLst>
          </p:cNvPr>
          <p:cNvCxnSpPr>
            <a:cxnSpLocks/>
          </p:cNvCxnSpPr>
          <p:nvPr/>
        </p:nvCxnSpPr>
        <p:spPr>
          <a:xfrm flipH="1">
            <a:off x="8205335" y="3802652"/>
            <a:ext cx="424754" cy="4614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1AFD74E7-DB86-47D7-94D2-A95827FC8D1F}"/>
              </a:ext>
            </a:extLst>
          </p:cNvPr>
          <p:cNvSpPr txBox="1"/>
          <p:nvPr/>
        </p:nvSpPr>
        <p:spPr>
          <a:xfrm>
            <a:off x="6488966" y="3748042"/>
            <a:ext cx="192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3rd bit 0: go left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8D783D90-81AE-484D-874D-BE43D9C351B6}"/>
              </a:ext>
            </a:extLst>
          </p:cNvPr>
          <p:cNvCxnSpPr>
            <a:cxnSpLocks/>
          </p:cNvCxnSpPr>
          <p:nvPr/>
        </p:nvCxnSpPr>
        <p:spPr>
          <a:xfrm flipV="1">
            <a:off x="7105874" y="4500187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151F606B-9D5E-4764-9B9C-579FAD65043F}"/>
              </a:ext>
            </a:extLst>
          </p:cNvPr>
          <p:cNvSpPr txBox="1"/>
          <p:nvPr/>
        </p:nvSpPr>
        <p:spPr>
          <a:xfrm>
            <a:off x="6175209" y="4093406"/>
            <a:ext cx="233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NULL value, create node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AA932ADE-683E-41B8-99C5-6E668BBC2D80}"/>
              </a:ext>
            </a:extLst>
          </p:cNvPr>
          <p:cNvCxnSpPr>
            <a:cxnSpLocks/>
          </p:cNvCxnSpPr>
          <p:nvPr/>
        </p:nvCxnSpPr>
        <p:spPr>
          <a:xfrm flipH="1">
            <a:off x="7502998" y="4893873"/>
            <a:ext cx="424754" cy="4614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3C15A763-96B4-4990-8D63-B201DB55B17A}"/>
              </a:ext>
            </a:extLst>
          </p:cNvPr>
          <p:cNvSpPr txBox="1"/>
          <p:nvPr/>
        </p:nvSpPr>
        <p:spPr>
          <a:xfrm>
            <a:off x="6443241" y="4670653"/>
            <a:ext cx="1925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4th bit 0: go left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C9388518-BA1F-4D61-9521-D5D1EF057018}"/>
              </a:ext>
            </a:extLst>
          </p:cNvPr>
          <p:cNvCxnSpPr>
            <a:cxnSpLocks/>
          </p:cNvCxnSpPr>
          <p:nvPr/>
        </p:nvCxnSpPr>
        <p:spPr>
          <a:xfrm flipH="1" flipV="1">
            <a:off x="7549157" y="6091098"/>
            <a:ext cx="178468" cy="5737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E0EA7719-555A-4A4D-A5CC-CC1344D4A7D2}"/>
              </a:ext>
            </a:extLst>
          </p:cNvPr>
          <p:cNvSpPr txBox="1"/>
          <p:nvPr/>
        </p:nvSpPr>
        <p:spPr>
          <a:xfrm>
            <a:off x="6716940" y="6613095"/>
            <a:ext cx="233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NULL value, create node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38DCC54-F059-4324-8DC1-B72930C5DC6D}"/>
              </a:ext>
            </a:extLst>
          </p:cNvPr>
          <p:cNvSpPr txBox="1"/>
          <p:nvPr/>
        </p:nvSpPr>
        <p:spPr>
          <a:xfrm>
            <a:off x="6855950" y="6173369"/>
            <a:ext cx="2287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End of path, store </a:t>
            </a:r>
            <a:r>
              <a:rPr lang="en-US" sz="1600" dirty="0" err="1"/>
              <a:t>val</a:t>
            </a:r>
            <a:endParaRPr lang="en-US" sz="16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5F5D28C-3AFB-4745-9392-A78807EA2471}"/>
              </a:ext>
            </a:extLst>
          </p:cNvPr>
          <p:cNvSpPr txBox="1"/>
          <p:nvPr/>
        </p:nvSpPr>
        <p:spPr>
          <a:xfrm>
            <a:off x="5015516" y="1329370"/>
            <a:ext cx="1965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bit 0: go left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19152B1C-4DA4-4CE4-883A-ED6174DB2B5C}"/>
              </a:ext>
            </a:extLst>
          </p:cNvPr>
          <p:cNvCxnSpPr>
            <a:cxnSpLocks/>
          </p:cNvCxnSpPr>
          <p:nvPr/>
        </p:nvCxnSpPr>
        <p:spPr>
          <a:xfrm flipH="1">
            <a:off x="7311161" y="1666815"/>
            <a:ext cx="365122" cy="4221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40215277-8EB2-4FC3-A831-42F58ECD37C5}"/>
              </a:ext>
            </a:extLst>
          </p:cNvPr>
          <p:cNvCxnSpPr>
            <a:cxnSpLocks/>
          </p:cNvCxnSpPr>
          <p:nvPr/>
        </p:nvCxnSpPr>
        <p:spPr>
          <a:xfrm flipV="1">
            <a:off x="6156176" y="2348260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A9465F7B-11A7-4DEC-AA5F-37640C4C726C}"/>
              </a:ext>
            </a:extLst>
          </p:cNvPr>
          <p:cNvSpPr txBox="1"/>
          <p:nvPr/>
        </p:nvSpPr>
        <p:spPr>
          <a:xfrm>
            <a:off x="3832153" y="2329512"/>
            <a:ext cx="266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Non-NULL, do nothing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C2DCEBA-F6E8-4965-A203-5C86E05B474A}"/>
              </a:ext>
            </a:extLst>
          </p:cNvPr>
          <p:cNvSpPr txBox="1"/>
          <p:nvPr/>
        </p:nvSpPr>
        <p:spPr>
          <a:xfrm>
            <a:off x="4420666" y="2827007"/>
            <a:ext cx="1997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2nd bit 0: go left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49BEF901-F125-4C59-BE55-4B58F9C7D2E6}"/>
              </a:ext>
            </a:extLst>
          </p:cNvPr>
          <p:cNvCxnSpPr>
            <a:cxnSpLocks/>
          </p:cNvCxnSpPr>
          <p:nvPr/>
        </p:nvCxnSpPr>
        <p:spPr>
          <a:xfrm flipH="1">
            <a:off x="5785093" y="2745072"/>
            <a:ext cx="1184786" cy="7295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57547A78-74B7-4B3B-BA71-AF491F1E4FA8}"/>
              </a:ext>
            </a:extLst>
          </p:cNvPr>
          <p:cNvCxnSpPr>
            <a:cxnSpLocks/>
          </p:cNvCxnSpPr>
          <p:nvPr/>
        </p:nvCxnSpPr>
        <p:spPr>
          <a:xfrm flipV="1">
            <a:off x="4581838" y="3646079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E9371249-5E67-43DA-A5C2-B1377CD7954D}"/>
              </a:ext>
            </a:extLst>
          </p:cNvPr>
          <p:cNvSpPr txBox="1"/>
          <p:nvPr/>
        </p:nvSpPr>
        <p:spPr>
          <a:xfrm>
            <a:off x="3824546" y="3245157"/>
            <a:ext cx="233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NULL value, create node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363CFBD-4C1A-4283-8758-D034C79E771E}"/>
              </a:ext>
            </a:extLst>
          </p:cNvPr>
          <p:cNvSpPr txBox="1"/>
          <p:nvPr/>
        </p:nvSpPr>
        <p:spPr>
          <a:xfrm>
            <a:off x="6021364" y="3889947"/>
            <a:ext cx="2068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3rd bit 1: go right</a:t>
            </a:r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5C2C6672-A884-4E12-8216-786D782F3913}"/>
              </a:ext>
            </a:extLst>
          </p:cNvPr>
          <p:cNvCxnSpPr>
            <a:cxnSpLocks/>
          </p:cNvCxnSpPr>
          <p:nvPr/>
        </p:nvCxnSpPr>
        <p:spPr>
          <a:xfrm>
            <a:off x="5809834" y="4162615"/>
            <a:ext cx="293840" cy="4434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4A5B4F0C-BDE2-449E-A31A-514E77EC99BB}"/>
              </a:ext>
            </a:extLst>
          </p:cNvPr>
          <p:cNvCxnSpPr>
            <a:cxnSpLocks/>
          </p:cNvCxnSpPr>
          <p:nvPr/>
        </p:nvCxnSpPr>
        <p:spPr>
          <a:xfrm flipV="1">
            <a:off x="5143420" y="4926624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E9DC7E48-FBB0-497B-B696-2127F7785337}"/>
              </a:ext>
            </a:extLst>
          </p:cNvPr>
          <p:cNvSpPr txBox="1"/>
          <p:nvPr/>
        </p:nvSpPr>
        <p:spPr>
          <a:xfrm>
            <a:off x="3575701" y="4635500"/>
            <a:ext cx="233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NULL value, create node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2DBE312-09A9-4DBB-9000-61E9A1DA2D15}"/>
              </a:ext>
            </a:extLst>
          </p:cNvPr>
          <p:cNvSpPr txBox="1"/>
          <p:nvPr/>
        </p:nvSpPr>
        <p:spPr>
          <a:xfrm>
            <a:off x="6293183" y="5100266"/>
            <a:ext cx="1636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4th bit 1: go right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3419C60F-1BCE-4351-9048-EC0F9E63D323}"/>
              </a:ext>
            </a:extLst>
          </p:cNvPr>
          <p:cNvCxnSpPr>
            <a:cxnSpLocks/>
          </p:cNvCxnSpPr>
          <p:nvPr/>
        </p:nvCxnSpPr>
        <p:spPr>
          <a:xfrm>
            <a:off x="6400224" y="5322170"/>
            <a:ext cx="309528" cy="4499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51C7164-DDFA-4DDD-93FC-B0237BA17BD3}"/>
              </a:ext>
            </a:extLst>
          </p:cNvPr>
          <p:cNvCxnSpPr>
            <a:cxnSpLocks/>
          </p:cNvCxnSpPr>
          <p:nvPr/>
        </p:nvCxnSpPr>
        <p:spPr>
          <a:xfrm flipV="1">
            <a:off x="6321851" y="6233082"/>
            <a:ext cx="162560" cy="3894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58FDAC38-5581-43F5-A3B1-ACFC8B7B97C9}"/>
              </a:ext>
            </a:extLst>
          </p:cNvPr>
          <p:cNvSpPr txBox="1"/>
          <p:nvPr/>
        </p:nvSpPr>
        <p:spPr>
          <a:xfrm>
            <a:off x="4663804" y="6622516"/>
            <a:ext cx="233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NULL value, create node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16845EF-3F23-46A9-88EE-0C045B43B3A0}"/>
              </a:ext>
            </a:extLst>
          </p:cNvPr>
          <p:cNvSpPr txBox="1"/>
          <p:nvPr/>
        </p:nvSpPr>
        <p:spPr>
          <a:xfrm>
            <a:off x="5041907" y="6325386"/>
            <a:ext cx="2287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End of path, store </a:t>
            </a:r>
            <a:r>
              <a:rPr lang="en-US" sz="1600" dirty="0" err="1"/>
              <a:t>val</a:t>
            </a:r>
            <a:endParaRPr lang="en-US" sz="1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0617598-A7ED-4894-BD98-33CE150FA6A9}"/>
              </a:ext>
            </a:extLst>
          </p:cNvPr>
          <p:cNvSpPr txBox="1"/>
          <p:nvPr/>
        </p:nvSpPr>
        <p:spPr>
          <a:xfrm>
            <a:off x="5005761" y="1329699"/>
            <a:ext cx="1965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bit 0: go left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0DC02B74-4BAE-407C-842B-21EA976A552A}"/>
              </a:ext>
            </a:extLst>
          </p:cNvPr>
          <p:cNvCxnSpPr>
            <a:cxnSpLocks/>
          </p:cNvCxnSpPr>
          <p:nvPr/>
        </p:nvCxnSpPr>
        <p:spPr>
          <a:xfrm flipH="1">
            <a:off x="7317883" y="1666815"/>
            <a:ext cx="376143" cy="4276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FAB8E07-51C6-43A8-BDCE-FAD68B5A12C2}"/>
              </a:ext>
            </a:extLst>
          </p:cNvPr>
          <p:cNvCxnSpPr>
            <a:cxnSpLocks/>
          </p:cNvCxnSpPr>
          <p:nvPr/>
        </p:nvCxnSpPr>
        <p:spPr>
          <a:xfrm flipV="1">
            <a:off x="6175754" y="2348260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8FDEC697-2973-40EE-B820-9AAB313F74A5}"/>
              </a:ext>
            </a:extLst>
          </p:cNvPr>
          <p:cNvSpPr txBox="1"/>
          <p:nvPr/>
        </p:nvSpPr>
        <p:spPr>
          <a:xfrm>
            <a:off x="3841942" y="2328362"/>
            <a:ext cx="266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Non-NULL, do nothing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D203CFB1-84AF-4A04-B3F6-0A8B8DA406EB}"/>
              </a:ext>
            </a:extLst>
          </p:cNvPr>
          <p:cNvSpPr txBox="1"/>
          <p:nvPr/>
        </p:nvSpPr>
        <p:spPr>
          <a:xfrm>
            <a:off x="4420665" y="2831048"/>
            <a:ext cx="1997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2nd bit 0: go left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4BDC161E-E624-40BF-8B3E-69714BF277C8}"/>
              </a:ext>
            </a:extLst>
          </p:cNvPr>
          <p:cNvCxnSpPr>
            <a:cxnSpLocks/>
          </p:cNvCxnSpPr>
          <p:nvPr/>
        </p:nvCxnSpPr>
        <p:spPr>
          <a:xfrm flipH="1">
            <a:off x="5773607" y="2752305"/>
            <a:ext cx="1196272" cy="7223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B198047B-7267-45F1-9E65-8B2EBDC6BBC6}"/>
              </a:ext>
            </a:extLst>
          </p:cNvPr>
          <p:cNvSpPr txBox="1"/>
          <p:nvPr/>
        </p:nvSpPr>
        <p:spPr>
          <a:xfrm>
            <a:off x="3825149" y="3240834"/>
            <a:ext cx="1941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Non-null, do nothing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C0F48B27-00A9-4EA8-B904-C4AA1FFF231B}"/>
              </a:ext>
            </a:extLst>
          </p:cNvPr>
          <p:cNvCxnSpPr>
            <a:cxnSpLocks/>
          </p:cNvCxnSpPr>
          <p:nvPr/>
        </p:nvCxnSpPr>
        <p:spPr>
          <a:xfrm flipV="1">
            <a:off x="4565733" y="3638903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3FD8379B-CEDF-49E6-8127-CBC86B1DB843}"/>
              </a:ext>
            </a:extLst>
          </p:cNvPr>
          <p:cNvCxnSpPr>
            <a:cxnSpLocks/>
          </p:cNvCxnSpPr>
          <p:nvPr/>
        </p:nvCxnSpPr>
        <p:spPr>
          <a:xfrm>
            <a:off x="5794441" y="4150599"/>
            <a:ext cx="320831" cy="4554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224A5154-586A-42D6-B69E-A46E16E13BCB}"/>
              </a:ext>
            </a:extLst>
          </p:cNvPr>
          <p:cNvCxnSpPr>
            <a:cxnSpLocks/>
          </p:cNvCxnSpPr>
          <p:nvPr/>
        </p:nvCxnSpPr>
        <p:spPr>
          <a:xfrm flipV="1">
            <a:off x="5152448" y="4926624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B8FC096E-8C32-420F-925B-9DA34B048332}"/>
              </a:ext>
            </a:extLst>
          </p:cNvPr>
          <p:cNvSpPr txBox="1"/>
          <p:nvPr/>
        </p:nvSpPr>
        <p:spPr>
          <a:xfrm>
            <a:off x="3562263" y="4632385"/>
            <a:ext cx="1941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Non-null, do nothing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DE2C40F9-7C4C-4303-82AC-8037C95BDA46}"/>
              </a:ext>
            </a:extLst>
          </p:cNvPr>
          <p:cNvSpPr txBox="1"/>
          <p:nvPr/>
        </p:nvSpPr>
        <p:spPr>
          <a:xfrm>
            <a:off x="6010612" y="3888867"/>
            <a:ext cx="2068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3rd bit 1: go right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E87AB39-0688-4A61-9822-BFBBA53527EB}"/>
              </a:ext>
            </a:extLst>
          </p:cNvPr>
          <p:cNvSpPr txBox="1"/>
          <p:nvPr/>
        </p:nvSpPr>
        <p:spPr>
          <a:xfrm>
            <a:off x="3547209" y="5310812"/>
            <a:ext cx="191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4th bit 0: go left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B2795BE8-3414-40C7-A874-91E527B72890}"/>
              </a:ext>
            </a:extLst>
          </p:cNvPr>
          <p:cNvCxnSpPr>
            <a:cxnSpLocks/>
          </p:cNvCxnSpPr>
          <p:nvPr/>
        </p:nvCxnSpPr>
        <p:spPr>
          <a:xfrm flipH="1">
            <a:off x="5675619" y="5261062"/>
            <a:ext cx="402111" cy="4825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11AFF8ED-9EDE-406F-AE0D-8396EB4FE81D}"/>
              </a:ext>
            </a:extLst>
          </p:cNvPr>
          <p:cNvCxnSpPr>
            <a:cxnSpLocks/>
          </p:cNvCxnSpPr>
          <p:nvPr/>
        </p:nvCxnSpPr>
        <p:spPr>
          <a:xfrm flipV="1">
            <a:off x="4604668" y="6099210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B734529E-4A81-49A7-9641-674F4C89EC5C}"/>
              </a:ext>
            </a:extLst>
          </p:cNvPr>
          <p:cNvSpPr txBox="1"/>
          <p:nvPr/>
        </p:nvSpPr>
        <p:spPr>
          <a:xfrm>
            <a:off x="3071924" y="5735788"/>
            <a:ext cx="233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NULL value, create node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5B58926-8C7C-48D4-833C-67F3D77432F4}"/>
              </a:ext>
            </a:extLst>
          </p:cNvPr>
          <p:cNvSpPr txBox="1"/>
          <p:nvPr/>
        </p:nvSpPr>
        <p:spPr>
          <a:xfrm>
            <a:off x="3181783" y="6120955"/>
            <a:ext cx="2287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End of path, store </a:t>
            </a:r>
            <a:r>
              <a:rPr lang="en-US" sz="1600" dirty="0" err="1"/>
              <a:t>val</a:t>
            </a:r>
            <a:endParaRPr lang="en-US" sz="1600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9343482-164B-4EE0-BEF9-C6F5E3335C6A}"/>
              </a:ext>
            </a:extLst>
          </p:cNvPr>
          <p:cNvSpPr txBox="1"/>
          <p:nvPr/>
        </p:nvSpPr>
        <p:spPr>
          <a:xfrm>
            <a:off x="5005761" y="1338248"/>
            <a:ext cx="1965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bit 0: go left</a:t>
            </a: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73C29A2A-F1E3-4718-94AE-F98979F12305}"/>
              </a:ext>
            </a:extLst>
          </p:cNvPr>
          <p:cNvCxnSpPr>
            <a:cxnSpLocks/>
          </p:cNvCxnSpPr>
          <p:nvPr/>
        </p:nvCxnSpPr>
        <p:spPr>
          <a:xfrm flipH="1">
            <a:off x="7299873" y="1679286"/>
            <a:ext cx="373321" cy="4175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F1EAF818-7F27-4176-956F-D8C3152DC10B}"/>
              </a:ext>
            </a:extLst>
          </p:cNvPr>
          <p:cNvCxnSpPr>
            <a:cxnSpLocks/>
          </p:cNvCxnSpPr>
          <p:nvPr/>
        </p:nvCxnSpPr>
        <p:spPr>
          <a:xfrm flipV="1">
            <a:off x="6163648" y="2339533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BF6AA73F-3188-4EDC-92E3-362F658BFA54}"/>
              </a:ext>
            </a:extLst>
          </p:cNvPr>
          <p:cNvSpPr txBox="1"/>
          <p:nvPr/>
        </p:nvSpPr>
        <p:spPr>
          <a:xfrm>
            <a:off x="3851731" y="2328488"/>
            <a:ext cx="266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Non-NULL, do nothing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951787D-ED69-4353-B754-298195877F61}"/>
              </a:ext>
            </a:extLst>
          </p:cNvPr>
          <p:cNvSpPr txBox="1"/>
          <p:nvPr/>
        </p:nvSpPr>
        <p:spPr>
          <a:xfrm>
            <a:off x="8160811" y="2396738"/>
            <a:ext cx="214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2nd bit 1: go right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BF1788AE-64B3-41DC-8889-DE727E38324A}"/>
              </a:ext>
            </a:extLst>
          </p:cNvPr>
          <p:cNvCxnSpPr>
            <a:cxnSpLocks/>
          </p:cNvCxnSpPr>
          <p:nvPr/>
        </p:nvCxnSpPr>
        <p:spPr>
          <a:xfrm>
            <a:off x="7417709" y="2739936"/>
            <a:ext cx="995093" cy="5137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FD774EB-835B-43BF-BBC6-A4104EF793F2}"/>
              </a:ext>
            </a:extLst>
          </p:cNvPr>
          <p:cNvCxnSpPr>
            <a:cxnSpLocks/>
          </p:cNvCxnSpPr>
          <p:nvPr/>
        </p:nvCxnSpPr>
        <p:spPr>
          <a:xfrm flipH="1" flipV="1">
            <a:off x="9006023" y="3296952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C14A629B-5953-4543-A81A-F628CCCBFEDD}"/>
              </a:ext>
            </a:extLst>
          </p:cNvPr>
          <p:cNvSpPr txBox="1"/>
          <p:nvPr/>
        </p:nvSpPr>
        <p:spPr>
          <a:xfrm>
            <a:off x="8720469" y="2816528"/>
            <a:ext cx="266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Non-NULL, do nothing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7B6D3AB-A801-44B9-AE52-035C022297EE}"/>
              </a:ext>
            </a:extLst>
          </p:cNvPr>
          <p:cNvSpPr txBox="1"/>
          <p:nvPr/>
        </p:nvSpPr>
        <p:spPr>
          <a:xfrm>
            <a:off x="9436250" y="3606472"/>
            <a:ext cx="2068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3rd bit 1: go right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2E5CA8C3-A6EE-4D48-A5FE-7D14B1A43AFE}"/>
              </a:ext>
            </a:extLst>
          </p:cNvPr>
          <p:cNvCxnSpPr>
            <a:cxnSpLocks/>
          </p:cNvCxnSpPr>
          <p:nvPr/>
        </p:nvCxnSpPr>
        <p:spPr>
          <a:xfrm>
            <a:off x="9061123" y="3815336"/>
            <a:ext cx="347367" cy="4390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48C7976A-77F8-4A87-83A1-234F2821E685}"/>
              </a:ext>
            </a:extLst>
          </p:cNvPr>
          <p:cNvCxnSpPr>
            <a:cxnSpLocks/>
          </p:cNvCxnSpPr>
          <p:nvPr/>
        </p:nvCxnSpPr>
        <p:spPr>
          <a:xfrm flipH="1" flipV="1">
            <a:off x="10039265" y="4505399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DC5A7788-407D-48EE-B7D7-6FB683208F79}"/>
              </a:ext>
            </a:extLst>
          </p:cNvPr>
          <p:cNvSpPr txBox="1"/>
          <p:nvPr/>
        </p:nvSpPr>
        <p:spPr>
          <a:xfrm>
            <a:off x="9351877" y="3906444"/>
            <a:ext cx="2957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 value, create node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75E9037F-DBB6-4683-9E92-15609A175788}"/>
              </a:ext>
            </a:extLst>
          </p:cNvPr>
          <p:cNvSpPr txBox="1"/>
          <p:nvPr/>
        </p:nvSpPr>
        <p:spPr>
          <a:xfrm>
            <a:off x="8278986" y="4550223"/>
            <a:ext cx="1925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4th bit 0: go left</a:t>
            </a: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B0732F17-9D31-47C2-9E51-C375060301B3}"/>
              </a:ext>
            </a:extLst>
          </p:cNvPr>
          <p:cNvCxnSpPr>
            <a:cxnSpLocks/>
          </p:cNvCxnSpPr>
          <p:nvPr/>
        </p:nvCxnSpPr>
        <p:spPr>
          <a:xfrm flipH="1">
            <a:off x="9172990" y="4881699"/>
            <a:ext cx="424754" cy="4614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31D7A855-DD3D-434D-B1F2-F5CCD9097379}"/>
              </a:ext>
            </a:extLst>
          </p:cNvPr>
          <p:cNvCxnSpPr>
            <a:cxnSpLocks/>
          </p:cNvCxnSpPr>
          <p:nvPr/>
        </p:nvCxnSpPr>
        <p:spPr>
          <a:xfrm flipH="1" flipV="1">
            <a:off x="9498820" y="5749019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AD584ECD-28DE-402C-8865-425751F479F9}"/>
              </a:ext>
            </a:extLst>
          </p:cNvPr>
          <p:cNvSpPr txBox="1"/>
          <p:nvPr/>
        </p:nvSpPr>
        <p:spPr>
          <a:xfrm>
            <a:off x="9360145" y="5369222"/>
            <a:ext cx="2957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NULL value, create node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A6384742-E45C-45B7-821F-D7E58D740BB3}"/>
              </a:ext>
            </a:extLst>
          </p:cNvPr>
          <p:cNvSpPr txBox="1"/>
          <p:nvPr/>
        </p:nvSpPr>
        <p:spPr>
          <a:xfrm>
            <a:off x="8966527" y="5960753"/>
            <a:ext cx="2287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End of path, store </a:t>
            </a:r>
            <a:r>
              <a:rPr lang="en-US" sz="1600" dirty="0" err="1"/>
              <a:t>val</a:t>
            </a:r>
            <a:endParaRPr lang="en-US" sz="16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FB519C0E-DC98-4DE9-B29D-7FE110D4DD32}"/>
              </a:ext>
            </a:extLst>
          </p:cNvPr>
          <p:cNvSpPr txBox="1"/>
          <p:nvPr/>
        </p:nvSpPr>
        <p:spPr>
          <a:xfrm>
            <a:off x="5015516" y="1348819"/>
            <a:ext cx="1965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bit 0: go left</a:t>
            </a:r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F743E790-2A9C-444C-82D7-A00DCD200D81}"/>
              </a:ext>
            </a:extLst>
          </p:cNvPr>
          <p:cNvCxnSpPr>
            <a:cxnSpLocks/>
          </p:cNvCxnSpPr>
          <p:nvPr/>
        </p:nvCxnSpPr>
        <p:spPr>
          <a:xfrm flipH="1">
            <a:off x="7299873" y="1657148"/>
            <a:ext cx="376410" cy="4410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9D343E7C-D252-4086-9FAC-E36E4E7D5625}"/>
              </a:ext>
            </a:extLst>
          </p:cNvPr>
          <p:cNvCxnSpPr>
            <a:cxnSpLocks/>
          </p:cNvCxnSpPr>
          <p:nvPr/>
        </p:nvCxnSpPr>
        <p:spPr>
          <a:xfrm flipV="1">
            <a:off x="6173014" y="2339533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C4488A34-B230-4C53-B76B-9578B7F43636}"/>
              </a:ext>
            </a:extLst>
          </p:cNvPr>
          <p:cNvSpPr txBox="1"/>
          <p:nvPr/>
        </p:nvSpPr>
        <p:spPr>
          <a:xfrm>
            <a:off x="3820640" y="2328794"/>
            <a:ext cx="266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Non-NULL, do nothing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C69EA62D-3414-4AEE-AA06-1F616F0A316A}"/>
              </a:ext>
            </a:extLst>
          </p:cNvPr>
          <p:cNvSpPr txBox="1"/>
          <p:nvPr/>
        </p:nvSpPr>
        <p:spPr>
          <a:xfrm>
            <a:off x="8160811" y="2386106"/>
            <a:ext cx="214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2nd bit 1: go right</a:t>
            </a:r>
          </a:p>
        </p:txBody>
      </p: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DE7E96B8-8312-4972-9257-29513F1BBF10}"/>
              </a:ext>
            </a:extLst>
          </p:cNvPr>
          <p:cNvCxnSpPr>
            <a:cxnSpLocks/>
          </p:cNvCxnSpPr>
          <p:nvPr/>
        </p:nvCxnSpPr>
        <p:spPr>
          <a:xfrm>
            <a:off x="7412174" y="2739937"/>
            <a:ext cx="995093" cy="5137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F0A2C276-F229-4ED4-AAD9-ED4CBFC6255F}"/>
              </a:ext>
            </a:extLst>
          </p:cNvPr>
          <p:cNvCxnSpPr>
            <a:cxnSpLocks/>
          </p:cNvCxnSpPr>
          <p:nvPr/>
        </p:nvCxnSpPr>
        <p:spPr>
          <a:xfrm flipH="1" flipV="1">
            <a:off x="9006023" y="3296866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ADA66E75-1E7C-4BEE-949B-6180F9380E81}"/>
              </a:ext>
            </a:extLst>
          </p:cNvPr>
          <p:cNvSpPr txBox="1"/>
          <p:nvPr/>
        </p:nvSpPr>
        <p:spPr>
          <a:xfrm>
            <a:off x="8707009" y="2805684"/>
            <a:ext cx="266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Non-NULL, do nothing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C7E3237F-0363-49F3-A2A1-C7E6BE5388C3}"/>
              </a:ext>
            </a:extLst>
          </p:cNvPr>
          <p:cNvSpPr txBox="1"/>
          <p:nvPr/>
        </p:nvSpPr>
        <p:spPr>
          <a:xfrm>
            <a:off x="6475333" y="3749323"/>
            <a:ext cx="1925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3rd bit 0: go left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1F561477-7E4F-4948-A3A7-6D2BCB219C0A}"/>
              </a:ext>
            </a:extLst>
          </p:cNvPr>
          <p:cNvCxnSpPr>
            <a:cxnSpLocks/>
          </p:cNvCxnSpPr>
          <p:nvPr/>
        </p:nvCxnSpPr>
        <p:spPr>
          <a:xfrm flipH="1">
            <a:off x="8204142" y="3816522"/>
            <a:ext cx="424754" cy="4614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DF802DCC-8EED-4F69-B4E5-F88610B16632}"/>
              </a:ext>
            </a:extLst>
          </p:cNvPr>
          <p:cNvCxnSpPr>
            <a:cxnSpLocks/>
          </p:cNvCxnSpPr>
          <p:nvPr/>
        </p:nvCxnSpPr>
        <p:spPr>
          <a:xfrm flipV="1">
            <a:off x="7105874" y="4500187"/>
            <a:ext cx="691709" cy="10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C4727520-6F49-44E4-8D73-89B239A16B2C}"/>
              </a:ext>
            </a:extLst>
          </p:cNvPr>
          <p:cNvSpPr txBox="1"/>
          <p:nvPr/>
        </p:nvSpPr>
        <p:spPr>
          <a:xfrm>
            <a:off x="6171007" y="4091952"/>
            <a:ext cx="1941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Non-null, do nothing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75223466-2D14-4BAA-A013-7306D16ECC9D}"/>
              </a:ext>
            </a:extLst>
          </p:cNvPr>
          <p:cNvSpPr txBox="1"/>
          <p:nvPr/>
        </p:nvSpPr>
        <p:spPr>
          <a:xfrm>
            <a:off x="8278986" y="4540624"/>
            <a:ext cx="1925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4th bit 1: go right</a:t>
            </a: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B38033B8-EC40-462B-8216-AFAA0E001D3B}"/>
              </a:ext>
            </a:extLst>
          </p:cNvPr>
          <p:cNvCxnSpPr>
            <a:cxnSpLocks/>
            <a:endCxn id="119" idx="0"/>
          </p:cNvCxnSpPr>
          <p:nvPr/>
        </p:nvCxnSpPr>
        <p:spPr>
          <a:xfrm>
            <a:off x="8212429" y="4919124"/>
            <a:ext cx="323628" cy="4837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210ECF07-FEBB-4F73-96E2-A495FBF5DCEC}"/>
              </a:ext>
            </a:extLst>
          </p:cNvPr>
          <p:cNvCxnSpPr>
            <a:cxnSpLocks/>
          </p:cNvCxnSpPr>
          <p:nvPr/>
        </p:nvCxnSpPr>
        <p:spPr>
          <a:xfrm flipH="1" flipV="1">
            <a:off x="8668007" y="5976259"/>
            <a:ext cx="178468" cy="5737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F1633C66-95CA-46E2-AE9D-73B2F57186C1}"/>
              </a:ext>
            </a:extLst>
          </p:cNvPr>
          <p:cNvSpPr txBox="1"/>
          <p:nvPr/>
        </p:nvSpPr>
        <p:spPr>
          <a:xfrm>
            <a:off x="7950046" y="6460204"/>
            <a:ext cx="2339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NULL value, create node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45A40C95-A27C-4930-A108-614EF4FCA9F1}"/>
              </a:ext>
            </a:extLst>
          </p:cNvPr>
          <p:cNvSpPr txBox="1"/>
          <p:nvPr/>
        </p:nvSpPr>
        <p:spPr>
          <a:xfrm>
            <a:off x="7969079" y="6257129"/>
            <a:ext cx="2287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End of path, store </a:t>
            </a:r>
            <a:r>
              <a:rPr lang="en-US" sz="1600" dirty="0" err="1"/>
              <a:t>val</a:t>
            </a:r>
            <a:endParaRPr lang="en-US" sz="1600" dirty="0"/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AD364CD3-4DD3-432E-9DC2-933F55B5A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35"/>
            <a:ext cx="12192000" cy="682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4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1" grpId="0"/>
      <p:bldP spid="52" grpId="0"/>
      <p:bldP spid="55" grpId="0" animBg="1"/>
      <p:bldP spid="58" grpId="0"/>
      <p:bldP spid="59" grpId="0"/>
      <p:bldP spid="62" grpId="0" animBg="1"/>
      <p:bldP spid="65" grpId="0"/>
      <p:bldP spid="66" grpId="0"/>
      <p:bldP spid="70" grpId="0" animBg="1"/>
      <p:bldP spid="75" grpId="0"/>
      <p:bldP spid="76" grpId="0"/>
      <p:bldP spid="80" grpId="0" animBg="1"/>
      <p:bldP spid="82" grpId="0"/>
      <p:bldP spid="84" grpId="0" animBg="1"/>
      <p:bldP spid="89" grpId="0" animBg="1"/>
      <p:bldP spid="93" grpId="0"/>
      <p:bldP spid="94" grpId="0"/>
      <p:bldP spid="97" grpId="0"/>
      <p:bldP spid="98" grpId="0"/>
      <p:bldP spid="99" grpId="0" animBg="1"/>
      <p:bldP spid="100" grpId="0"/>
      <p:bldP spid="109" grpId="0" animBg="1"/>
      <p:bldP spid="110" grpId="0"/>
      <p:bldP spid="111" grpId="0" animBg="1"/>
      <p:bldP spid="114" grpId="0"/>
      <p:bldP spid="115" grpId="0"/>
      <p:bldP spid="118" grpId="0" animBg="1"/>
      <p:bldP spid="119" grpId="0" animBg="1"/>
      <p:bldP spid="120" grpId="0"/>
      <p:bldP spid="121" grpId="0"/>
      <p:bldP spid="123" grpId="0"/>
      <p:bldP spid="124" grpId="0"/>
      <p:bldP spid="130" grpId="0"/>
      <p:bldP spid="132" grpId="0"/>
      <p:bldP spid="136" grpId="0"/>
      <p:bldP spid="138" grpId="0"/>
      <p:bldP spid="140" grpId="0"/>
      <p:bldP spid="143" grpId="0"/>
      <p:bldP spid="144" grpId="0"/>
      <p:bldP spid="145" grpId="0"/>
      <p:bldP spid="148" grpId="0"/>
      <p:bldP spid="149" grpId="0"/>
      <p:bldP spid="153" grpId="0"/>
      <p:bldP spid="155" grpId="0"/>
      <p:bldP spid="160" grpId="0"/>
      <p:bldP spid="161" grpId="0"/>
      <p:bldP spid="164" grpId="0"/>
      <p:bldP spid="167" grpId="0"/>
      <p:bldP spid="169" grpId="0"/>
      <p:bldP spid="172" grpId="0"/>
      <p:bldP spid="173" grpId="0"/>
      <p:bldP spid="176" grpId="0"/>
      <p:bldP spid="181" grpId="0"/>
      <p:bldP spid="182" grpId="0"/>
      <p:bldP spid="183" grpId="0"/>
      <p:bldP spid="188" grpId="0"/>
      <p:bldP spid="190" grpId="0"/>
      <p:bldP spid="191" grpId="0"/>
      <p:bldP spid="194" grpId="0"/>
      <p:bldP spid="195" grpId="0"/>
      <p:bldP spid="198" grpId="0"/>
      <p:bldP spid="199" grpId="0"/>
      <p:bldP spid="204" grpId="0"/>
      <p:bldP spid="205" grpId="0"/>
      <p:bldP spid="209" grpId="0"/>
      <p:bldP spid="210" grpId="0"/>
      <p:bldP spid="212" grpId="0"/>
      <p:bldP spid="215" grpId="0"/>
      <p:bldP spid="216" grpId="0"/>
      <p:bldP spid="219" grpId="0"/>
      <p:bldP spid="220" grpId="0"/>
      <p:bldP spid="223" grpId="0"/>
      <p:bldP spid="224" grpId="0"/>
      <p:bldP spid="228" grpId="0"/>
      <p:bldP spid="2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EFBD-AEF3-4466-B4D1-F8CF1AAD7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88854"/>
            <a:ext cx="7726178" cy="1079283"/>
          </a:xfrm>
        </p:spPr>
        <p:txBody>
          <a:bodyPr/>
          <a:lstStyle/>
          <a:p>
            <a:r>
              <a:rPr lang="en-US" dirty="0"/>
              <a:t>RST Search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8435E-E453-44CB-A7F8-F0AB6DC41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for 3: 0011</a:t>
            </a:r>
          </a:p>
          <a:p>
            <a:r>
              <a:rPr lang="en-US" dirty="0"/>
              <a:t>Search for 7: 0111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C377BFF-0B8C-4AF8-9C21-696AAB967708}"/>
              </a:ext>
            </a:extLst>
          </p:cNvPr>
          <p:cNvSpPr/>
          <p:nvPr/>
        </p:nvSpPr>
        <p:spPr>
          <a:xfrm>
            <a:off x="8049899" y="1300738"/>
            <a:ext cx="607904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393311-8369-4EA3-82B1-40A84A1BCA2B}"/>
              </a:ext>
            </a:extLst>
          </p:cNvPr>
          <p:cNvCxnSpPr>
            <a:cxnSpLocks/>
          </p:cNvCxnSpPr>
          <p:nvPr/>
        </p:nvCxnSpPr>
        <p:spPr>
          <a:xfrm flipH="1">
            <a:off x="7745631" y="1859922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702C0B-2ABC-478D-9C2B-BCF37D4BB04D}"/>
              </a:ext>
            </a:extLst>
          </p:cNvPr>
          <p:cNvCxnSpPr>
            <a:cxnSpLocks/>
          </p:cNvCxnSpPr>
          <p:nvPr/>
        </p:nvCxnSpPr>
        <p:spPr>
          <a:xfrm>
            <a:off x="8567211" y="1847511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43B2E7-AD25-4548-AD43-2E59F15E4392}"/>
              </a:ext>
            </a:extLst>
          </p:cNvPr>
          <p:cNvSpPr txBox="1"/>
          <p:nvPr/>
        </p:nvSpPr>
        <p:spPr>
          <a:xfrm>
            <a:off x="7642651" y="1714176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194E5D-9819-41BF-BE5C-9E2D0D210F08}"/>
              </a:ext>
            </a:extLst>
          </p:cNvPr>
          <p:cNvSpPr txBox="1"/>
          <p:nvPr/>
        </p:nvSpPr>
        <p:spPr>
          <a:xfrm>
            <a:off x="8729771" y="1714176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72340A-1F07-406D-B185-341FB9651959}"/>
              </a:ext>
            </a:extLst>
          </p:cNvPr>
          <p:cNvSpPr/>
          <p:nvPr/>
        </p:nvSpPr>
        <p:spPr>
          <a:xfrm>
            <a:off x="7368331" y="2306273"/>
            <a:ext cx="607904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AFFB682-2A64-47CC-A89E-6FFA940CADCC}"/>
              </a:ext>
            </a:extLst>
          </p:cNvPr>
          <p:cNvCxnSpPr>
            <a:cxnSpLocks/>
          </p:cNvCxnSpPr>
          <p:nvPr/>
        </p:nvCxnSpPr>
        <p:spPr>
          <a:xfrm flipH="1">
            <a:off x="6225392" y="2951300"/>
            <a:ext cx="1203173" cy="7273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F6B618-BCF7-4A74-9B13-BA3BC16F43BB}"/>
              </a:ext>
            </a:extLst>
          </p:cNvPr>
          <p:cNvCxnSpPr>
            <a:cxnSpLocks/>
          </p:cNvCxnSpPr>
          <p:nvPr/>
        </p:nvCxnSpPr>
        <p:spPr>
          <a:xfrm>
            <a:off x="7849904" y="2953193"/>
            <a:ext cx="1036320" cy="5081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2E8DF4-F059-43DE-A686-9C4B980C7586}"/>
              </a:ext>
            </a:extLst>
          </p:cNvPr>
          <p:cNvSpPr txBox="1"/>
          <p:nvPr/>
        </p:nvSpPr>
        <p:spPr>
          <a:xfrm>
            <a:off x="6750383" y="2904002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C37F76-AC92-412F-ACA6-0DB90EE327B2}"/>
              </a:ext>
            </a:extLst>
          </p:cNvPr>
          <p:cNvSpPr txBox="1"/>
          <p:nvPr/>
        </p:nvSpPr>
        <p:spPr>
          <a:xfrm>
            <a:off x="8432339" y="2904002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D9F7A7-A97F-4984-A802-C5CEBBC67BDB}"/>
              </a:ext>
            </a:extLst>
          </p:cNvPr>
          <p:cNvSpPr/>
          <p:nvPr/>
        </p:nvSpPr>
        <p:spPr>
          <a:xfrm>
            <a:off x="8903321" y="3397651"/>
            <a:ext cx="607904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384A00-6988-4DED-B86A-58B86848262D}"/>
              </a:ext>
            </a:extLst>
          </p:cNvPr>
          <p:cNvCxnSpPr>
            <a:cxnSpLocks/>
          </p:cNvCxnSpPr>
          <p:nvPr/>
        </p:nvCxnSpPr>
        <p:spPr>
          <a:xfrm flipH="1">
            <a:off x="5517212" y="4331112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9B107B-6C17-460E-8CB3-4477FAAFF6EB}"/>
              </a:ext>
            </a:extLst>
          </p:cNvPr>
          <p:cNvCxnSpPr>
            <a:cxnSpLocks/>
          </p:cNvCxnSpPr>
          <p:nvPr/>
        </p:nvCxnSpPr>
        <p:spPr>
          <a:xfrm>
            <a:off x="6247352" y="4356266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7136328-691F-4822-B2C2-865F5E391029}"/>
              </a:ext>
            </a:extLst>
          </p:cNvPr>
          <p:cNvSpPr txBox="1"/>
          <p:nvPr/>
        </p:nvSpPr>
        <p:spPr>
          <a:xfrm>
            <a:off x="5531425" y="4145920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FCAAFD-91E9-4272-99CF-4C0C21192005}"/>
              </a:ext>
            </a:extLst>
          </p:cNvPr>
          <p:cNvSpPr txBox="1"/>
          <p:nvPr/>
        </p:nvSpPr>
        <p:spPr>
          <a:xfrm>
            <a:off x="6375793" y="4216315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89633D0-7EF7-43EC-A01B-4439805A099D}"/>
              </a:ext>
            </a:extLst>
          </p:cNvPr>
          <p:cNvSpPr/>
          <p:nvPr/>
        </p:nvSpPr>
        <p:spPr>
          <a:xfrm>
            <a:off x="8256360" y="4503874"/>
            <a:ext cx="607904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FABCA0-7549-4A54-A8D3-13C0876AF42E}"/>
              </a:ext>
            </a:extLst>
          </p:cNvPr>
          <p:cNvCxnSpPr>
            <a:cxnSpLocks/>
          </p:cNvCxnSpPr>
          <p:nvPr/>
        </p:nvCxnSpPr>
        <p:spPr>
          <a:xfrm flipH="1">
            <a:off x="7953796" y="5124484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7063C9-A8FA-4CF5-8726-0CD3B5ECEFCB}"/>
              </a:ext>
            </a:extLst>
          </p:cNvPr>
          <p:cNvCxnSpPr>
            <a:cxnSpLocks/>
          </p:cNvCxnSpPr>
          <p:nvPr/>
        </p:nvCxnSpPr>
        <p:spPr>
          <a:xfrm>
            <a:off x="8668137" y="5126159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342A65D-D4C3-4C2F-8046-8A152A189F63}"/>
              </a:ext>
            </a:extLst>
          </p:cNvPr>
          <p:cNvSpPr txBox="1"/>
          <p:nvPr/>
        </p:nvSpPr>
        <p:spPr>
          <a:xfrm>
            <a:off x="7849904" y="5047652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81CF3A-F01E-4853-BE1E-24ACF2EDDE01}"/>
              </a:ext>
            </a:extLst>
          </p:cNvPr>
          <p:cNvSpPr txBox="1"/>
          <p:nvPr/>
        </p:nvSpPr>
        <p:spPr>
          <a:xfrm>
            <a:off x="8815634" y="5024779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CAC510C-189F-42D4-B0EA-1BCC2509EC09}"/>
              </a:ext>
            </a:extLst>
          </p:cNvPr>
          <p:cNvSpPr/>
          <p:nvPr/>
        </p:nvSpPr>
        <p:spPr>
          <a:xfrm>
            <a:off x="7685878" y="5608632"/>
            <a:ext cx="607904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CC2381-26B5-49C0-AA9A-D7057BD10F16}"/>
              </a:ext>
            </a:extLst>
          </p:cNvPr>
          <p:cNvSpPr txBox="1"/>
          <p:nvPr/>
        </p:nvSpPr>
        <p:spPr>
          <a:xfrm>
            <a:off x="7826806" y="5720650"/>
            <a:ext cx="384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AFEA7E3-F693-4294-A6FA-CAC73572DFFB}"/>
              </a:ext>
            </a:extLst>
          </p:cNvPr>
          <p:cNvSpPr/>
          <p:nvPr/>
        </p:nvSpPr>
        <p:spPr>
          <a:xfrm>
            <a:off x="5844331" y="3698620"/>
            <a:ext cx="607904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1443911-9826-4449-880A-AF4189FE78EC}"/>
              </a:ext>
            </a:extLst>
          </p:cNvPr>
          <p:cNvSpPr/>
          <p:nvPr/>
        </p:nvSpPr>
        <p:spPr>
          <a:xfrm>
            <a:off x="6392971" y="4845484"/>
            <a:ext cx="607904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EC85B4-760F-433D-85F0-936604A08DBB}"/>
              </a:ext>
            </a:extLst>
          </p:cNvPr>
          <p:cNvCxnSpPr>
            <a:cxnSpLocks/>
          </p:cNvCxnSpPr>
          <p:nvPr/>
        </p:nvCxnSpPr>
        <p:spPr>
          <a:xfrm flipH="1">
            <a:off x="8670921" y="4034734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27994BA-5BB1-4F72-BA6D-E52BA5B85A03}"/>
              </a:ext>
            </a:extLst>
          </p:cNvPr>
          <p:cNvCxnSpPr>
            <a:cxnSpLocks/>
          </p:cNvCxnSpPr>
          <p:nvPr/>
        </p:nvCxnSpPr>
        <p:spPr>
          <a:xfrm>
            <a:off x="9517288" y="4022323"/>
            <a:ext cx="363324" cy="4435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0AE4663-B128-4AAF-9C6D-6281F4FBA056}"/>
              </a:ext>
            </a:extLst>
          </p:cNvPr>
          <p:cNvSpPr txBox="1"/>
          <p:nvPr/>
        </p:nvSpPr>
        <p:spPr>
          <a:xfrm>
            <a:off x="8685134" y="3849542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2FDFC6-9599-4310-91B2-8B104D38A923}"/>
              </a:ext>
            </a:extLst>
          </p:cNvPr>
          <p:cNvSpPr txBox="1"/>
          <p:nvPr/>
        </p:nvSpPr>
        <p:spPr>
          <a:xfrm>
            <a:off x="9580544" y="3849542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38B0B62-2709-4D19-95C4-496789D7F133}"/>
              </a:ext>
            </a:extLst>
          </p:cNvPr>
          <p:cNvCxnSpPr>
            <a:cxnSpLocks/>
          </p:cNvCxnSpPr>
          <p:nvPr/>
        </p:nvCxnSpPr>
        <p:spPr>
          <a:xfrm flipH="1">
            <a:off x="6119889" y="5502234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F75B0B-5898-4204-9836-31A4D960F585}"/>
              </a:ext>
            </a:extLst>
          </p:cNvPr>
          <p:cNvCxnSpPr>
            <a:cxnSpLocks/>
          </p:cNvCxnSpPr>
          <p:nvPr/>
        </p:nvCxnSpPr>
        <p:spPr>
          <a:xfrm>
            <a:off x="6850029" y="5527388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788E70A-408F-4131-8EBA-D58EC0958D4D}"/>
              </a:ext>
            </a:extLst>
          </p:cNvPr>
          <p:cNvSpPr txBox="1"/>
          <p:nvPr/>
        </p:nvSpPr>
        <p:spPr>
          <a:xfrm>
            <a:off x="6134102" y="5317042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86848E-B233-462F-A48F-6E9FF8936896}"/>
              </a:ext>
            </a:extLst>
          </p:cNvPr>
          <p:cNvSpPr txBox="1"/>
          <p:nvPr/>
        </p:nvSpPr>
        <p:spPr>
          <a:xfrm>
            <a:off x="6978470" y="5387437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E748CA-F9D2-4E79-AD97-EA8634403BA4}"/>
              </a:ext>
            </a:extLst>
          </p:cNvPr>
          <p:cNvSpPr/>
          <p:nvPr/>
        </p:nvSpPr>
        <p:spPr>
          <a:xfrm>
            <a:off x="6982753" y="6026985"/>
            <a:ext cx="607904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3653BD-FB56-45ED-B459-1960E2DD95A5}"/>
              </a:ext>
            </a:extLst>
          </p:cNvPr>
          <p:cNvSpPr txBox="1"/>
          <p:nvPr/>
        </p:nvSpPr>
        <p:spPr>
          <a:xfrm>
            <a:off x="7129526" y="6131602"/>
            <a:ext cx="384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CBDCF77-3AE6-49AE-8039-EF0E18C41312}"/>
              </a:ext>
            </a:extLst>
          </p:cNvPr>
          <p:cNvSpPr/>
          <p:nvPr/>
        </p:nvSpPr>
        <p:spPr>
          <a:xfrm>
            <a:off x="5827153" y="5987810"/>
            <a:ext cx="607904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7AF9E7-81A5-41DB-9507-014892288FC3}"/>
              </a:ext>
            </a:extLst>
          </p:cNvPr>
          <p:cNvSpPr txBox="1"/>
          <p:nvPr/>
        </p:nvSpPr>
        <p:spPr>
          <a:xfrm>
            <a:off x="5956280" y="6105648"/>
            <a:ext cx="384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B53F304-AF2A-4DEB-9E18-CAD1381A9889}"/>
              </a:ext>
            </a:extLst>
          </p:cNvPr>
          <p:cNvSpPr/>
          <p:nvPr/>
        </p:nvSpPr>
        <p:spPr>
          <a:xfrm>
            <a:off x="9866571" y="4518289"/>
            <a:ext cx="607904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BAABC20-3C28-46FF-AA61-17BFBE53653B}"/>
              </a:ext>
            </a:extLst>
          </p:cNvPr>
          <p:cNvCxnSpPr>
            <a:cxnSpLocks/>
          </p:cNvCxnSpPr>
          <p:nvPr/>
        </p:nvCxnSpPr>
        <p:spPr>
          <a:xfrm flipH="1">
            <a:off x="9753897" y="5113645"/>
            <a:ext cx="260878" cy="4095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7925A80-AE18-41BF-A032-18115B8CB681}"/>
              </a:ext>
            </a:extLst>
          </p:cNvPr>
          <p:cNvCxnSpPr>
            <a:cxnSpLocks/>
          </p:cNvCxnSpPr>
          <p:nvPr/>
        </p:nvCxnSpPr>
        <p:spPr>
          <a:xfrm>
            <a:off x="10350055" y="5138799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C2594DF-CE35-4F31-A7BF-3F8D6BEFDB49}"/>
              </a:ext>
            </a:extLst>
          </p:cNvPr>
          <p:cNvSpPr txBox="1"/>
          <p:nvPr/>
        </p:nvSpPr>
        <p:spPr>
          <a:xfrm>
            <a:off x="9634128" y="4928453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93A9EF-B23F-4A4B-98E2-3C2A0CBAD34D}"/>
              </a:ext>
            </a:extLst>
          </p:cNvPr>
          <p:cNvSpPr txBox="1"/>
          <p:nvPr/>
        </p:nvSpPr>
        <p:spPr>
          <a:xfrm>
            <a:off x="10478496" y="4998848"/>
            <a:ext cx="34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2AD5E32-D3CE-4BE6-87A3-93E9898437DD}"/>
              </a:ext>
            </a:extLst>
          </p:cNvPr>
          <p:cNvSpPr/>
          <p:nvPr/>
        </p:nvSpPr>
        <p:spPr>
          <a:xfrm>
            <a:off x="9420501" y="5585364"/>
            <a:ext cx="607904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800C337-95AD-46B2-B8D0-5EA45D94E49D}"/>
              </a:ext>
            </a:extLst>
          </p:cNvPr>
          <p:cNvSpPr/>
          <p:nvPr/>
        </p:nvSpPr>
        <p:spPr>
          <a:xfrm>
            <a:off x="8718937" y="5608632"/>
            <a:ext cx="607904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9EF833-AD6B-4F3D-9CD9-6AD97A6A62FA}"/>
              </a:ext>
            </a:extLst>
          </p:cNvPr>
          <p:cNvSpPr txBox="1"/>
          <p:nvPr/>
        </p:nvSpPr>
        <p:spPr>
          <a:xfrm>
            <a:off x="8842471" y="5701272"/>
            <a:ext cx="384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2C7041-88F8-45D8-9A84-92DB5B1AC55E}"/>
              </a:ext>
            </a:extLst>
          </p:cNvPr>
          <p:cNvSpPr txBox="1"/>
          <p:nvPr/>
        </p:nvSpPr>
        <p:spPr>
          <a:xfrm>
            <a:off x="9573308" y="5687897"/>
            <a:ext cx="384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CBD2308-7BB4-4D5E-82A3-EA410DE99B90}"/>
              </a:ext>
            </a:extLst>
          </p:cNvPr>
          <p:cNvSpPr txBox="1"/>
          <p:nvPr/>
        </p:nvSpPr>
        <p:spPr>
          <a:xfrm>
            <a:off x="5621168" y="1924689"/>
            <a:ext cx="217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bit 0: go left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604F1A84-EF57-46CD-B72A-B3345E6419C3}"/>
              </a:ext>
            </a:extLst>
          </p:cNvPr>
          <p:cNvCxnSpPr>
            <a:cxnSpLocks/>
          </p:cNvCxnSpPr>
          <p:nvPr/>
        </p:nvCxnSpPr>
        <p:spPr>
          <a:xfrm flipH="1">
            <a:off x="7759419" y="1893620"/>
            <a:ext cx="351930" cy="4173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4D291E0A-0682-47B3-9C0C-581EACCCE83E}"/>
              </a:ext>
            </a:extLst>
          </p:cNvPr>
          <p:cNvSpPr txBox="1"/>
          <p:nvPr/>
        </p:nvSpPr>
        <p:spPr>
          <a:xfrm>
            <a:off x="5378017" y="2439600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2nd bit 0: go left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1357717-4DF6-40D1-867F-77E84AAB9A3C}"/>
              </a:ext>
            </a:extLst>
          </p:cNvPr>
          <p:cNvCxnSpPr>
            <a:cxnSpLocks/>
          </p:cNvCxnSpPr>
          <p:nvPr/>
        </p:nvCxnSpPr>
        <p:spPr>
          <a:xfrm flipH="1">
            <a:off x="6232591" y="2959150"/>
            <a:ext cx="1171073" cy="7287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71E759EC-256A-4BD7-9AB8-7E709F316E80}"/>
              </a:ext>
            </a:extLst>
          </p:cNvPr>
          <p:cNvCxnSpPr>
            <a:cxnSpLocks/>
          </p:cNvCxnSpPr>
          <p:nvPr/>
        </p:nvCxnSpPr>
        <p:spPr>
          <a:xfrm>
            <a:off x="6259855" y="4368384"/>
            <a:ext cx="296740" cy="4344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60BAF178-5F97-4C60-80D4-DD3DEFA7FE48}"/>
              </a:ext>
            </a:extLst>
          </p:cNvPr>
          <p:cNvSpPr txBox="1"/>
          <p:nvPr/>
        </p:nvSpPr>
        <p:spPr>
          <a:xfrm>
            <a:off x="6467812" y="4094661"/>
            <a:ext cx="229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3rd bit 1: go right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4EAD34FE-0463-425E-889F-0644F7E5DB15}"/>
              </a:ext>
            </a:extLst>
          </p:cNvPr>
          <p:cNvCxnSpPr>
            <a:cxnSpLocks/>
          </p:cNvCxnSpPr>
          <p:nvPr/>
        </p:nvCxnSpPr>
        <p:spPr>
          <a:xfrm>
            <a:off x="6863309" y="5542730"/>
            <a:ext cx="296740" cy="4344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35B7E915-2C9A-4A6A-B47E-4FF0796A64C9}"/>
              </a:ext>
            </a:extLst>
          </p:cNvPr>
          <p:cNvSpPr txBox="1"/>
          <p:nvPr/>
        </p:nvSpPr>
        <p:spPr>
          <a:xfrm>
            <a:off x="6750383" y="5306060"/>
            <a:ext cx="18138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4th bit 1: go right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D989C48-FB94-4700-A466-46CA24803875}"/>
              </a:ext>
            </a:extLst>
          </p:cNvPr>
          <p:cNvSpPr txBox="1"/>
          <p:nvPr/>
        </p:nvSpPr>
        <p:spPr>
          <a:xfrm>
            <a:off x="6397328" y="6553704"/>
            <a:ext cx="2657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End of path, found </a:t>
            </a:r>
            <a:r>
              <a:rPr lang="en-US" sz="1600" dirty="0" err="1"/>
              <a:t>val</a:t>
            </a:r>
            <a:endParaRPr lang="en-US" sz="16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70B6CC1-3B95-4C5C-8031-4D1DB3C08206}"/>
              </a:ext>
            </a:extLst>
          </p:cNvPr>
          <p:cNvSpPr txBox="1"/>
          <p:nvPr/>
        </p:nvSpPr>
        <p:spPr>
          <a:xfrm>
            <a:off x="7563158" y="6266746"/>
            <a:ext cx="1183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Key found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26B69AF-50E9-4DB7-ABEA-A69A65BC944B}"/>
              </a:ext>
            </a:extLst>
          </p:cNvPr>
          <p:cNvSpPr txBox="1"/>
          <p:nvPr/>
        </p:nvSpPr>
        <p:spPr>
          <a:xfrm>
            <a:off x="5621168" y="1915559"/>
            <a:ext cx="217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bit 0: go left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AC329B32-17F0-4727-8480-AB291C4CE5E0}"/>
              </a:ext>
            </a:extLst>
          </p:cNvPr>
          <p:cNvCxnSpPr>
            <a:cxnSpLocks/>
          </p:cNvCxnSpPr>
          <p:nvPr/>
        </p:nvCxnSpPr>
        <p:spPr>
          <a:xfrm flipH="1">
            <a:off x="7783564" y="1896073"/>
            <a:ext cx="327785" cy="4093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59FB4D84-7F8F-47F4-849A-467BD0C1D1EF}"/>
              </a:ext>
            </a:extLst>
          </p:cNvPr>
          <p:cNvSpPr txBox="1"/>
          <p:nvPr/>
        </p:nvSpPr>
        <p:spPr>
          <a:xfrm>
            <a:off x="8618011" y="2591900"/>
            <a:ext cx="2371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2nd bit 1: go right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8E294E4D-B146-46FF-B632-345CB83BDD67}"/>
              </a:ext>
            </a:extLst>
          </p:cNvPr>
          <p:cNvCxnSpPr>
            <a:cxnSpLocks/>
          </p:cNvCxnSpPr>
          <p:nvPr/>
        </p:nvCxnSpPr>
        <p:spPr>
          <a:xfrm>
            <a:off x="7854131" y="2950320"/>
            <a:ext cx="995093" cy="51375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0628B115-6F8B-472E-8B0C-9D4B70E160C6}"/>
              </a:ext>
            </a:extLst>
          </p:cNvPr>
          <p:cNvSpPr txBox="1"/>
          <p:nvPr/>
        </p:nvSpPr>
        <p:spPr>
          <a:xfrm>
            <a:off x="9893450" y="3812266"/>
            <a:ext cx="229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3rd bit 1: go right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907522F8-5D91-4CFE-BA0C-65AE0413B551}"/>
              </a:ext>
            </a:extLst>
          </p:cNvPr>
          <p:cNvCxnSpPr>
            <a:cxnSpLocks/>
          </p:cNvCxnSpPr>
          <p:nvPr/>
        </p:nvCxnSpPr>
        <p:spPr>
          <a:xfrm>
            <a:off x="9516880" y="4032769"/>
            <a:ext cx="349691" cy="4191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7BE77283-90A8-4D99-A460-DF11AC2A6FEE}"/>
              </a:ext>
            </a:extLst>
          </p:cNvPr>
          <p:cNvSpPr txBox="1"/>
          <p:nvPr/>
        </p:nvSpPr>
        <p:spPr>
          <a:xfrm>
            <a:off x="10076802" y="4224520"/>
            <a:ext cx="206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4th bit 1: go right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D53BDE77-9C35-452A-8CE6-4F4879A8C512}"/>
              </a:ext>
            </a:extLst>
          </p:cNvPr>
          <p:cNvCxnSpPr>
            <a:cxnSpLocks/>
          </p:cNvCxnSpPr>
          <p:nvPr/>
        </p:nvCxnSpPr>
        <p:spPr>
          <a:xfrm>
            <a:off x="10343734" y="5139054"/>
            <a:ext cx="337406" cy="4572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0E33371-4597-4CE6-A694-DBE32F6EAD85}"/>
              </a:ext>
            </a:extLst>
          </p:cNvPr>
          <p:cNvCxnSpPr>
            <a:cxnSpLocks/>
          </p:cNvCxnSpPr>
          <p:nvPr/>
        </p:nvCxnSpPr>
        <p:spPr>
          <a:xfrm flipH="1" flipV="1">
            <a:off x="10884709" y="5777133"/>
            <a:ext cx="349716" cy="1714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1CC6A38C-3B65-4295-A4BD-5AB7456ACBBF}"/>
              </a:ext>
            </a:extLst>
          </p:cNvPr>
          <p:cNvSpPr txBox="1"/>
          <p:nvPr/>
        </p:nvSpPr>
        <p:spPr>
          <a:xfrm>
            <a:off x="10000175" y="6049728"/>
            <a:ext cx="2334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End of path, null ref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7EC9DCF0-FBC4-4A7A-8E6E-9624D90B712D}"/>
              </a:ext>
            </a:extLst>
          </p:cNvPr>
          <p:cNvSpPr txBox="1"/>
          <p:nvPr/>
        </p:nvSpPr>
        <p:spPr>
          <a:xfrm>
            <a:off x="10043152" y="6312735"/>
            <a:ext cx="1556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Key not found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41531195-6192-4EF1-923A-4C357EE08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9" y="0"/>
            <a:ext cx="121418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4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5" grpId="0"/>
      <p:bldP spid="140" grpId="0"/>
      <p:bldP spid="143" grpId="0"/>
      <p:bldP spid="145" grpId="0"/>
      <p:bldP spid="146" grpId="0"/>
      <p:bldP spid="147" grpId="0"/>
      <p:bldP spid="148" grpId="0"/>
      <p:bldP spid="150" grpId="0"/>
      <p:bldP spid="152" grpId="0"/>
      <p:bldP spid="154" grpId="0"/>
      <p:bldP spid="160" grpId="0"/>
      <p:bldP spid="16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16648-CED5-4609-B0CD-1D006A22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91064-FD78-4D90-855C-56DCF599B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Oh no… what now??</a:t>
            </a:r>
          </a:p>
          <a:p>
            <a:r>
              <a:rPr lang="en-US" dirty="0"/>
              <a:t>Well, we’ve been working with numbers, but what about other data types?</a:t>
            </a:r>
          </a:p>
          <a:p>
            <a:r>
              <a:rPr lang="en-US" dirty="0"/>
              <a:t>Characters? Yup just convert the character to its ascii representation</a:t>
            </a:r>
          </a:p>
          <a:p>
            <a:pPr marL="0" indent="0">
              <a:buNone/>
            </a:pPr>
            <a:r>
              <a:rPr lang="en-US" dirty="0"/>
              <a:t>How many Bits? 7.</a:t>
            </a:r>
          </a:p>
          <a:p>
            <a:r>
              <a:rPr lang="en-US" dirty="0"/>
              <a:t>Strings? I mean we could… but you’d end up with a VERY TALL TREE</a:t>
            </a:r>
          </a:p>
          <a:p>
            <a:pPr marL="0" indent="0">
              <a:buNone/>
            </a:pPr>
            <a:r>
              <a:rPr lang="en-US" dirty="0"/>
              <a:t>Example: length-10 string requires 160 bits!</a:t>
            </a:r>
          </a:p>
        </p:txBody>
      </p:sp>
    </p:spTree>
    <p:extLst>
      <p:ext uri="{BB962C8B-B14F-4D97-AF65-F5344CB8AC3E}">
        <p14:creationId xmlns:p14="http://schemas.microsoft.com/office/powerpoint/2010/main" val="4322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E0F13-8063-4D9C-9CF1-AEBC3C23C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Enter: Large Branching Factor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E8668-E263-4CD8-8FF2-0FABA8066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having 2 branches per node, have more branches based on a given alphabet!</a:t>
            </a:r>
          </a:p>
          <a:p>
            <a:pPr marL="0" indent="0">
              <a:buNone/>
            </a:pPr>
            <a:r>
              <a:rPr lang="en-US" dirty="0"/>
              <a:t>Ex: English alphabet, 26 branches per node!</a:t>
            </a:r>
          </a:p>
          <a:p>
            <a:r>
              <a:rPr lang="en-US" dirty="0"/>
              <a:t>Consider the same approach as RST, but instead of going one bit at a time, go one char at a time instead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9558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A2A3-9441-4D85-AF9F-F71CE9EE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Branching factor </a:t>
            </a:r>
            <a:r>
              <a:rPr lang="en-US" dirty="0" err="1"/>
              <a:t>trie</a:t>
            </a:r>
            <a:r>
              <a:rPr lang="en-US" dirty="0"/>
              <a:t>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987A5-3170-4FBD-A729-5835C5E24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Let’s try to insert the following strings: </a:t>
            </a:r>
          </a:p>
          <a:p>
            <a:r>
              <a:rPr lang="en-US" dirty="0"/>
              <a:t>She</a:t>
            </a:r>
          </a:p>
          <a:p>
            <a:r>
              <a:rPr lang="en-US" dirty="0"/>
              <a:t>Sells</a:t>
            </a:r>
          </a:p>
          <a:p>
            <a:r>
              <a:rPr lang="en-US" dirty="0"/>
              <a:t>Sea</a:t>
            </a:r>
          </a:p>
          <a:p>
            <a:r>
              <a:rPr lang="en-US" dirty="0"/>
              <a:t>Shells</a:t>
            </a:r>
          </a:p>
          <a:p>
            <a:r>
              <a:rPr lang="en-US" dirty="0"/>
              <a:t>By</a:t>
            </a:r>
          </a:p>
          <a:p>
            <a:r>
              <a:rPr lang="en-US" dirty="0"/>
              <a:t>The </a:t>
            </a:r>
          </a:p>
          <a:p>
            <a:r>
              <a:rPr lang="en-US" dirty="0"/>
              <a:t>Shore</a:t>
            </a:r>
          </a:p>
        </p:txBody>
      </p:sp>
    </p:spTree>
    <p:extLst>
      <p:ext uri="{BB962C8B-B14F-4D97-AF65-F5344CB8AC3E}">
        <p14:creationId xmlns:p14="http://schemas.microsoft.com/office/powerpoint/2010/main" val="678765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EA4A1-D727-4F6F-A37B-8762EC6F7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596" y="35242"/>
            <a:ext cx="7834138" cy="688743"/>
          </a:xfrm>
        </p:spPr>
        <p:txBody>
          <a:bodyPr>
            <a:normAutofit fontScale="90000"/>
          </a:bodyPr>
          <a:lstStyle/>
          <a:p>
            <a:r>
              <a:rPr lang="en-US" dirty="0"/>
              <a:t>Large Branching Factor </a:t>
            </a:r>
            <a:r>
              <a:rPr lang="en-US" dirty="0" err="1"/>
              <a:t>Trie</a:t>
            </a:r>
            <a:r>
              <a:rPr lang="en-US" dirty="0"/>
              <a:t>: Insertion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BDF-BE06-45CC-AFDC-7579B325A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357" y="2362199"/>
            <a:ext cx="9905998" cy="3124201"/>
          </a:xfrm>
        </p:spPr>
        <p:txBody>
          <a:bodyPr/>
          <a:lstStyle/>
          <a:p>
            <a:r>
              <a:rPr lang="en-US" dirty="0"/>
              <a:t>Insert: She</a:t>
            </a:r>
          </a:p>
          <a:p>
            <a:r>
              <a:rPr lang="en-US" dirty="0"/>
              <a:t>Insert: Sells</a:t>
            </a:r>
          </a:p>
          <a:p>
            <a:r>
              <a:rPr lang="en-US" dirty="0"/>
              <a:t>Insert: Sea</a:t>
            </a:r>
          </a:p>
          <a:p>
            <a:r>
              <a:rPr lang="en-US" dirty="0"/>
              <a:t>Insert: By</a:t>
            </a:r>
          </a:p>
          <a:p>
            <a:r>
              <a:rPr lang="en-US" dirty="0"/>
              <a:t>Insert: The</a:t>
            </a:r>
          </a:p>
          <a:p>
            <a:r>
              <a:rPr lang="en-US" dirty="0"/>
              <a:t>Insert: Shore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0B54C6-B0A2-49F1-8993-20BCE1794113}"/>
              </a:ext>
            </a:extLst>
          </p:cNvPr>
          <p:cNvSpPr/>
          <p:nvPr/>
        </p:nvSpPr>
        <p:spPr>
          <a:xfrm>
            <a:off x="7646160" y="762000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EC022A1-DF99-41CD-9BC4-5A0C04ADBFA6}"/>
              </a:ext>
            </a:extLst>
          </p:cNvPr>
          <p:cNvCxnSpPr>
            <a:cxnSpLocks/>
          </p:cNvCxnSpPr>
          <p:nvPr/>
        </p:nvCxnSpPr>
        <p:spPr>
          <a:xfrm>
            <a:off x="7920480" y="1333500"/>
            <a:ext cx="0" cy="4196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8DC43B-FCEA-4E13-8EBB-2153DCB23109}"/>
              </a:ext>
            </a:extLst>
          </p:cNvPr>
          <p:cNvSpPr txBox="1"/>
          <p:nvPr/>
        </p:nvSpPr>
        <p:spPr>
          <a:xfrm>
            <a:off x="8214012" y="1839711"/>
            <a:ext cx="2909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“s” ref null, create node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4580CE6-9845-455A-9213-641BD5A3D3B3}"/>
              </a:ext>
            </a:extLst>
          </p:cNvPr>
          <p:cNvSpPr/>
          <p:nvPr/>
        </p:nvSpPr>
        <p:spPr>
          <a:xfrm>
            <a:off x="7665372" y="1767083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233CC3-DE1D-4F90-8122-94E69C145A64}"/>
              </a:ext>
            </a:extLst>
          </p:cNvPr>
          <p:cNvSpPr txBox="1"/>
          <p:nvPr/>
        </p:nvSpPr>
        <p:spPr>
          <a:xfrm>
            <a:off x="7792903" y="1839711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0EF7C0-4ADE-483F-A093-F6D77A599671}"/>
              </a:ext>
            </a:extLst>
          </p:cNvPr>
          <p:cNvCxnSpPr>
            <a:cxnSpLocks/>
          </p:cNvCxnSpPr>
          <p:nvPr/>
        </p:nvCxnSpPr>
        <p:spPr>
          <a:xfrm>
            <a:off x="8194800" y="2338583"/>
            <a:ext cx="325120" cy="4587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1785E1F-666A-46F3-82EB-12162DA58C01}"/>
              </a:ext>
            </a:extLst>
          </p:cNvPr>
          <p:cNvSpPr txBox="1"/>
          <p:nvPr/>
        </p:nvSpPr>
        <p:spPr>
          <a:xfrm>
            <a:off x="8357360" y="2252465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“h” ref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D020A5-82B8-4189-8149-E446BA70A2C4}"/>
              </a:ext>
            </a:extLst>
          </p:cNvPr>
          <p:cNvSpPr txBox="1"/>
          <p:nvPr/>
        </p:nvSpPr>
        <p:spPr>
          <a:xfrm>
            <a:off x="8067337" y="1309196"/>
            <a:ext cx="2260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“s” ref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14370B-D884-46FC-B42E-42045FCA5CE2}"/>
              </a:ext>
            </a:extLst>
          </p:cNvPr>
          <p:cNvSpPr txBox="1"/>
          <p:nvPr/>
        </p:nvSpPr>
        <p:spPr>
          <a:xfrm>
            <a:off x="8873006" y="2755146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“h” ref null, create node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7AFDD5F-97E9-4FE6-A982-36E940ED7D7D}"/>
              </a:ext>
            </a:extLst>
          </p:cNvPr>
          <p:cNvSpPr/>
          <p:nvPr/>
        </p:nvSpPr>
        <p:spPr>
          <a:xfrm>
            <a:off x="8357360" y="2807334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726A38-F4EE-42DC-929F-522554878802}"/>
              </a:ext>
            </a:extLst>
          </p:cNvPr>
          <p:cNvSpPr txBox="1"/>
          <p:nvPr/>
        </p:nvSpPr>
        <p:spPr>
          <a:xfrm>
            <a:off x="8468815" y="288946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C9DF0-AD3C-42F8-B663-B2FF472FC02C}"/>
              </a:ext>
            </a:extLst>
          </p:cNvPr>
          <p:cNvSpPr txBox="1"/>
          <p:nvPr/>
        </p:nvSpPr>
        <p:spPr>
          <a:xfrm>
            <a:off x="8906000" y="3378834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“e” ref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FD74A7C-41A8-44FB-9736-1C3D59F4095D}"/>
              </a:ext>
            </a:extLst>
          </p:cNvPr>
          <p:cNvCxnSpPr>
            <a:cxnSpLocks/>
          </p:cNvCxnSpPr>
          <p:nvPr/>
        </p:nvCxnSpPr>
        <p:spPr>
          <a:xfrm>
            <a:off x="8631680" y="3467100"/>
            <a:ext cx="0" cy="4196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86B9F7D-D315-4C6D-8FE2-E496B2F54355}"/>
              </a:ext>
            </a:extLst>
          </p:cNvPr>
          <p:cNvSpPr/>
          <p:nvPr/>
        </p:nvSpPr>
        <p:spPr>
          <a:xfrm>
            <a:off x="8366702" y="3881515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FF4EEB-BCB5-485D-8EEF-F64BA7B90B34}"/>
              </a:ext>
            </a:extLst>
          </p:cNvPr>
          <p:cNvSpPr txBox="1"/>
          <p:nvPr/>
        </p:nvSpPr>
        <p:spPr>
          <a:xfrm>
            <a:off x="8906000" y="4002522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“e” ref null, create node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9FA09B-7E6A-433A-8D09-712C20122067}"/>
              </a:ext>
            </a:extLst>
          </p:cNvPr>
          <p:cNvSpPr txBox="1"/>
          <p:nvPr/>
        </p:nvSpPr>
        <p:spPr>
          <a:xfrm>
            <a:off x="8468815" y="39749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9819D2-EBE5-465B-B812-D80A2625412A}"/>
              </a:ext>
            </a:extLst>
          </p:cNvPr>
          <p:cNvSpPr txBox="1"/>
          <p:nvPr/>
        </p:nvSpPr>
        <p:spPr>
          <a:xfrm>
            <a:off x="8067337" y="1309196"/>
            <a:ext cx="2260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“s” ref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6FC3CC-CC37-4BA7-8C19-26544701E4AE}"/>
              </a:ext>
            </a:extLst>
          </p:cNvPr>
          <p:cNvCxnSpPr>
            <a:cxnSpLocks/>
          </p:cNvCxnSpPr>
          <p:nvPr/>
        </p:nvCxnSpPr>
        <p:spPr>
          <a:xfrm>
            <a:off x="7920480" y="1319459"/>
            <a:ext cx="0" cy="4196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BA38EB4-EE45-45C8-B61D-D8405FB6C7F9}"/>
              </a:ext>
            </a:extLst>
          </p:cNvPr>
          <p:cNvSpPr txBox="1"/>
          <p:nvPr/>
        </p:nvSpPr>
        <p:spPr>
          <a:xfrm>
            <a:off x="8218611" y="1847787"/>
            <a:ext cx="3892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“s” ref not null, don’t do anything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877B7E-166D-427D-BE00-0197D30C8847}"/>
              </a:ext>
            </a:extLst>
          </p:cNvPr>
          <p:cNvSpPr txBox="1"/>
          <p:nvPr/>
        </p:nvSpPr>
        <p:spPr>
          <a:xfrm>
            <a:off x="5110644" y="2328920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“e” ref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E9979B3-FA1E-42ED-9955-035CD7DC6BC1}"/>
              </a:ext>
            </a:extLst>
          </p:cNvPr>
          <p:cNvCxnSpPr/>
          <p:nvPr/>
        </p:nvCxnSpPr>
        <p:spPr>
          <a:xfrm flipH="1">
            <a:off x="7337796" y="2350994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DF52A2C-930D-4A11-8653-77A8A6492A83}"/>
              </a:ext>
            </a:extLst>
          </p:cNvPr>
          <p:cNvSpPr txBox="1"/>
          <p:nvPr/>
        </p:nvSpPr>
        <p:spPr>
          <a:xfrm>
            <a:off x="4254863" y="2939812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“e” ref null, create node 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41F24-F89D-4B15-B1D6-7FBB9539A900}"/>
              </a:ext>
            </a:extLst>
          </p:cNvPr>
          <p:cNvSpPr/>
          <p:nvPr/>
        </p:nvSpPr>
        <p:spPr>
          <a:xfrm>
            <a:off x="7062683" y="2836947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734B4F-AB8B-4C23-8F8C-B770CB8B6666}"/>
              </a:ext>
            </a:extLst>
          </p:cNvPr>
          <p:cNvSpPr txBox="1"/>
          <p:nvPr/>
        </p:nvSpPr>
        <p:spPr>
          <a:xfrm>
            <a:off x="7199060" y="290841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DA0216-0CB0-49C5-B614-EBA99303415A}"/>
              </a:ext>
            </a:extLst>
          </p:cNvPr>
          <p:cNvSpPr txBox="1"/>
          <p:nvPr/>
        </p:nvSpPr>
        <p:spPr>
          <a:xfrm>
            <a:off x="4737409" y="3442493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“l” ref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89E535-6E6A-428C-8AEA-865D3A25D760}"/>
              </a:ext>
            </a:extLst>
          </p:cNvPr>
          <p:cNvSpPr txBox="1"/>
          <p:nvPr/>
        </p:nvSpPr>
        <p:spPr>
          <a:xfrm>
            <a:off x="4359058" y="3832105"/>
            <a:ext cx="286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“l” ref null, create node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C77FD8-5681-46BB-8170-14319D5893D6}"/>
              </a:ext>
            </a:extLst>
          </p:cNvPr>
          <p:cNvCxnSpPr>
            <a:cxnSpLocks/>
          </p:cNvCxnSpPr>
          <p:nvPr/>
        </p:nvCxnSpPr>
        <p:spPr>
          <a:xfrm>
            <a:off x="7534408" y="3419916"/>
            <a:ext cx="209582" cy="3228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E83A73C-3EA9-464D-AC77-BE0ADBC333CE}"/>
              </a:ext>
            </a:extLst>
          </p:cNvPr>
          <p:cNvSpPr/>
          <p:nvPr/>
        </p:nvSpPr>
        <p:spPr>
          <a:xfrm>
            <a:off x="7469670" y="3754226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9C6057-1B3A-46A2-B97C-782BCFBEEB22}"/>
              </a:ext>
            </a:extLst>
          </p:cNvPr>
          <p:cNvSpPr txBox="1"/>
          <p:nvPr/>
        </p:nvSpPr>
        <p:spPr>
          <a:xfrm>
            <a:off x="7628439" y="3843656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47088A-AE96-4B58-832E-91F340BA1409}"/>
              </a:ext>
            </a:extLst>
          </p:cNvPr>
          <p:cNvSpPr txBox="1"/>
          <p:nvPr/>
        </p:nvSpPr>
        <p:spPr>
          <a:xfrm>
            <a:off x="4866595" y="4371854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“l” ref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72C7128-31A3-4272-A10E-8DB7C369AFF7}"/>
              </a:ext>
            </a:extLst>
          </p:cNvPr>
          <p:cNvCxnSpPr>
            <a:cxnSpLocks/>
          </p:cNvCxnSpPr>
          <p:nvPr/>
        </p:nvCxnSpPr>
        <p:spPr>
          <a:xfrm>
            <a:off x="7735900" y="4356398"/>
            <a:ext cx="0" cy="4196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21A2D7A-9C9A-41F3-A954-9AB24644781E}"/>
              </a:ext>
            </a:extLst>
          </p:cNvPr>
          <p:cNvSpPr txBox="1"/>
          <p:nvPr/>
        </p:nvSpPr>
        <p:spPr>
          <a:xfrm>
            <a:off x="4489210" y="4726937"/>
            <a:ext cx="286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“l” ref null, create node 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21152C1-5E02-4B04-A710-4A3B2D11CB78}"/>
              </a:ext>
            </a:extLst>
          </p:cNvPr>
          <p:cNvSpPr/>
          <p:nvPr/>
        </p:nvSpPr>
        <p:spPr>
          <a:xfrm>
            <a:off x="7458336" y="4798793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6AFAEF-2E04-4BF0-865A-5D82B27D5DA9}"/>
              </a:ext>
            </a:extLst>
          </p:cNvPr>
          <p:cNvSpPr txBox="1"/>
          <p:nvPr/>
        </p:nvSpPr>
        <p:spPr>
          <a:xfrm>
            <a:off x="7644086" y="4893505"/>
            <a:ext cx="14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121F05-4322-4B0B-9F5E-AE0C07EB6345}"/>
              </a:ext>
            </a:extLst>
          </p:cNvPr>
          <p:cNvSpPr txBox="1"/>
          <p:nvPr/>
        </p:nvSpPr>
        <p:spPr>
          <a:xfrm>
            <a:off x="4976368" y="5480456"/>
            <a:ext cx="2260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“s” ref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CCF88CB-CA5B-4B68-950F-3D4EA093913D}"/>
              </a:ext>
            </a:extLst>
          </p:cNvPr>
          <p:cNvCxnSpPr>
            <a:cxnSpLocks/>
          </p:cNvCxnSpPr>
          <p:nvPr/>
        </p:nvCxnSpPr>
        <p:spPr>
          <a:xfrm>
            <a:off x="7726900" y="5455315"/>
            <a:ext cx="0" cy="4196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8B49387-88F9-4638-B421-53A2C9CFB874}"/>
              </a:ext>
            </a:extLst>
          </p:cNvPr>
          <p:cNvSpPr txBox="1"/>
          <p:nvPr/>
        </p:nvSpPr>
        <p:spPr>
          <a:xfrm>
            <a:off x="4582785" y="5814887"/>
            <a:ext cx="2909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“s” ref null, create node 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F2B255B-B3F0-4DBE-A1EE-C407B2FCE412}"/>
              </a:ext>
            </a:extLst>
          </p:cNvPr>
          <p:cNvSpPr/>
          <p:nvPr/>
        </p:nvSpPr>
        <p:spPr>
          <a:xfrm>
            <a:off x="7469670" y="5924019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32C9BB-B57F-4383-AFB1-36C9B2252DA8}"/>
              </a:ext>
            </a:extLst>
          </p:cNvPr>
          <p:cNvSpPr txBox="1"/>
          <p:nvPr/>
        </p:nvSpPr>
        <p:spPr>
          <a:xfrm>
            <a:off x="7614233" y="5984061"/>
            <a:ext cx="14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750A51A-D58A-4DEE-BC09-EFFB0F4D5B25}"/>
              </a:ext>
            </a:extLst>
          </p:cNvPr>
          <p:cNvCxnSpPr>
            <a:cxnSpLocks/>
          </p:cNvCxnSpPr>
          <p:nvPr/>
        </p:nvCxnSpPr>
        <p:spPr>
          <a:xfrm>
            <a:off x="7920480" y="1325330"/>
            <a:ext cx="0" cy="4196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F578AEE-C126-4549-9134-91F30DABBB7C}"/>
              </a:ext>
            </a:extLst>
          </p:cNvPr>
          <p:cNvSpPr txBox="1"/>
          <p:nvPr/>
        </p:nvSpPr>
        <p:spPr>
          <a:xfrm>
            <a:off x="8067337" y="1298528"/>
            <a:ext cx="2260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“s” ref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C35882-037E-4271-A008-3506871DE308}"/>
              </a:ext>
            </a:extLst>
          </p:cNvPr>
          <p:cNvSpPr txBox="1"/>
          <p:nvPr/>
        </p:nvSpPr>
        <p:spPr>
          <a:xfrm>
            <a:off x="8223210" y="1847787"/>
            <a:ext cx="3892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“s” ref not null, don’t do anything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F4DC80-0BD9-4AE0-9BC5-8FCE234CE5C4}"/>
              </a:ext>
            </a:extLst>
          </p:cNvPr>
          <p:cNvSpPr txBox="1"/>
          <p:nvPr/>
        </p:nvSpPr>
        <p:spPr>
          <a:xfrm>
            <a:off x="5110644" y="2328920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“e” ref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A0CECAA-B8EA-4029-9FE6-FB47DB43F236}"/>
              </a:ext>
            </a:extLst>
          </p:cNvPr>
          <p:cNvCxnSpPr/>
          <p:nvPr/>
        </p:nvCxnSpPr>
        <p:spPr>
          <a:xfrm flipH="1">
            <a:off x="7344204" y="2342815"/>
            <a:ext cx="394860" cy="4463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C367274-2309-4156-ADA0-B8A138D66438}"/>
              </a:ext>
            </a:extLst>
          </p:cNvPr>
          <p:cNvSpPr txBox="1"/>
          <p:nvPr/>
        </p:nvSpPr>
        <p:spPr>
          <a:xfrm>
            <a:off x="3215856" y="2928343"/>
            <a:ext cx="3953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“e” ref not null, don’t do anything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C2F8BC-E4F8-4E39-AB61-2137D95E9DEB}"/>
              </a:ext>
            </a:extLst>
          </p:cNvPr>
          <p:cNvSpPr txBox="1"/>
          <p:nvPr/>
        </p:nvSpPr>
        <p:spPr>
          <a:xfrm>
            <a:off x="3255754" y="3352001"/>
            <a:ext cx="2327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“a” ref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37728B5-67CD-4F81-BF41-A360DF995FF1}"/>
              </a:ext>
            </a:extLst>
          </p:cNvPr>
          <p:cNvCxnSpPr>
            <a:cxnSpLocks/>
          </p:cNvCxnSpPr>
          <p:nvPr/>
        </p:nvCxnSpPr>
        <p:spPr>
          <a:xfrm flipH="1">
            <a:off x="6757253" y="3377365"/>
            <a:ext cx="394860" cy="446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F1E008F-45FD-44B8-B7A0-C1D03948926D}"/>
              </a:ext>
            </a:extLst>
          </p:cNvPr>
          <p:cNvSpPr txBox="1"/>
          <p:nvPr/>
        </p:nvSpPr>
        <p:spPr>
          <a:xfrm>
            <a:off x="3633416" y="3628020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“a” ref null, create node 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967FF24-7931-4788-B335-3AEDFB5A3E05}"/>
              </a:ext>
            </a:extLst>
          </p:cNvPr>
          <p:cNvSpPr/>
          <p:nvPr/>
        </p:nvSpPr>
        <p:spPr>
          <a:xfrm>
            <a:off x="6415552" y="3807672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393829-242F-4E6C-BC92-6888724F379E}"/>
              </a:ext>
            </a:extLst>
          </p:cNvPr>
          <p:cNvSpPr txBox="1"/>
          <p:nvPr/>
        </p:nvSpPr>
        <p:spPr>
          <a:xfrm>
            <a:off x="6530911" y="389462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BA4616-D8A3-444B-897F-6F134DC347B5}"/>
              </a:ext>
            </a:extLst>
          </p:cNvPr>
          <p:cNvSpPr txBox="1"/>
          <p:nvPr/>
        </p:nvSpPr>
        <p:spPr>
          <a:xfrm>
            <a:off x="4823314" y="1005098"/>
            <a:ext cx="2327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“b” ref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1D44B3B-0281-4552-BDAE-A440B5158675}"/>
              </a:ext>
            </a:extLst>
          </p:cNvPr>
          <p:cNvCxnSpPr>
            <a:cxnSpLocks/>
          </p:cNvCxnSpPr>
          <p:nvPr/>
        </p:nvCxnSpPr>
        <p:spPr>
          <a:xfrm flipH="1">
            <a:off x="4866595" y="1304941"/>
            <a:ext cx="2744728" cy="4805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823555C-5C34-4C06-90D9-0CF7295F90F3}"/>
              </a:ext>
            </a:extLst>
          </p:cNvPr>
          <p:cNvSpPr txBox="1"/>
          <p:nvPr/>
        </p:nvSpPr>
        <p:spPr>
          <a:xfrm>
            <a:off x="2139959" y="1350471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“b” ref null, create node 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1E25E8F-5C17-40D4-847C-D31F4BCA868E}"/>
              </a:ext>
            </a:extLst>
          </p:cNvPr>
          <p:cNvSpPr/>
          <p:nvPr/>
        </p:nvSpPr>
        <p:spPr>
          <a:xfrm>
            <a:off x="4330932" y="1767083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3F8C650-1658-4AC4-A26D-DEE079D0C965}"/>
              </a:ext>
            </a:extLst>
          </p:cNvPr>
          <p:cNvSpPr txBox="1"/>
          <p:nvPr/>
        </p:nvSpPr>
        <p:spPr>
          <a:xfrm>
            <a:off x="4488297" y="1838531"/>
            <a:ext cx="14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DDA70A-69C3-43E3-9E24-EF9869B092E1}"/>
              </a:ext>
            </a:extLst>
          </p:cNvPr>
          <p:cNvSpPr txBox="1"/>
          <p:nvPr/>
        </p:nvSpPr>
        <p:spPr>
          <a:xfrm>
            <a:off x="5029865" y="1740610"/>
            <a:ext cx="229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“y” ref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AF26BC4-D810-4442-9933-EC7D9EFDD140}"/>
              </a:ext>
            </a:extLst>
          </p:cNvPr>
          <p:cNvCxnSpPr>
            <a:cxnSpLocks/>
          </p:cNvCxnSpPr>
          <p:nvPr/>
        </p:nvCxnSpPr>
        <p:spPr>
          <a:xfrm>
            <a:off x="4605252" y="2437131"/>
            <a:ext cx="0" cy="4196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687B310-A718-46DE-974C-B08E388A1DDA}"/>
              </a:ext>
            </a:extLst>
          </p:cNvPr>
          <p:cNvSpPr txBox="1"/>
          <p:nvPr/>
        </p:nvSpPr>
        <p:spPr>
          <a:xfrm>
            <a:off x="4589207" y="2630237"/>
            <a:ext cx="2943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“y” ref null, create node 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49F3E86-653A-4D66-AFE3-ADDB5567F078}"/>
              </a:ext>
            </a:extLst>
          </p:cNvPr>
          <p:cNvSpPr/>
          <p:nvPr/>
        </p:nvSpPr>
        <p:spPr>
          <a:xfrm>
            <a:off x="4330932" y="2872478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F52264-333B-4E33-BD32-861BE4011D53}"/>
              </a:ext>
            </a:extLst>
          </p:cNvPr>
          <p:cNvSpPr txBox="1"/>
          <p:nvPr/>
        </p:nvSpPr>
        <p:spPr>
          <a:xfrm>
            <a:off x="4494495" y="2955506"/>
            <a:ext cx="14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4F0990-D49A-4E95-BCC0-0282FFDECD5F}"/>
              </a:ext>
            </a:extLst>
          </p:cNvPr>
          <p:cNvSpPr txBox="1"/>
          <p:nvPr/>
        </p:nvSpPr>
        <p:spPr>
          <a:xfrm>
            <a:off x="8781295" y="1067299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“t” ref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3566A91-847C-490E-8072-67590EECEAAF}"/>
              </a:ext>
            </a:extLst>
          </p:cNvPr>
          <p:cNvCxnSpPr>
            <a:cxnSpLocks/>
          </p:cNvCxnSpPr>
          <p:nvPr/>
        </p:nvCxnSpPr>
        <p:spPr>
          <a:xfrm>
            <a:off x="8140921" y="1284393"/>
            <a:ext cx="2744728" cy="4805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9E39F1B-9445-4FF2-829E-5CF1842097FA}"/>
              </a:ext>
            </a:extLst>
          </p:cNvPr>
          <p:cNvSpPr txBox="1"/>
          <p:nvPr/>
        </p:nvSpPr>
        <p:spPr>
          <a:xfrm>
            <a:off x="8229638" y="1648335"/>
            <a:ext cx="289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“t” ref null, create node 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1D08402-8A13-408F-BBAB-0F86FC06F91C}"/>
              </a:ext>
            </a:extLst>
          </p:cNvPr>
          <p:cNvSpPr/>
          <p:nvPr/>
        </p:nvSpPr>
        <p:spPr>
          <a:xfrm>
            <a:off x="10754677" y="1768180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2719D8-C4F0-4E17-80BC-027AC2132C2B}"/>
              </a:ext>
            </a:extLst>
          </p:cNvPr>
          <p:cNvSpPr txBox="1"/>
          <p:nvPr/>
        </p:nvSpPr>
        <p:spPr>
          <a:xfrm>
            <a:off x="10939555" y="1857413"/>
            <a:ext cx="148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1A6B9E6-6191-4C9C-B8C9-B92E13AB5969}"/>
              </a:ext>
            </a:extLst>
          </p:cNvPr>
          <p:cNvSpPr txBox="1"/>
          <p:nvPr/>
        </p:nvSpPr>
        <p:spPr>
          <a:xfrm>
            <a:off x="8479721" y="2384763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“h” ref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6489E63-8A10-4973-B667-57431CEB608A}"/>
              </a:ext>
            </a:extLst>
          </p:cNvPr>
          <p:cNvCxnSpPr>
            <a:cxnSpLocks/>
          </p:cNvCxnSpPr>
          <p:nvPr/>
        </p:nvCxnSpPr>
        <p:spPr>
          <a:xfrm>
            <a:off x="11013963" y="2411990"/>
            <a:ext cx="0" cy="4196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91FC6E6-EF5C-4DBF-8EF6-4389B202D686}"/>
              </a:ext>
            </a:extLst>
          </p:cNvPr>
          <p:cNvSpPr txBox="1"/>
          <p:nvPr/>
        </p:nvSpPr>
        <p:spPr>
          <a:xfrm>
            <a:off x="8565712" y="2538349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“h” ref null, create node 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2AA567E-0CEF-4893-B33A-053E46C971DF}"/>
              </a:ext>
            </a:extLst>
          </p:cNvPr>
          <p:cNvSpPr/>
          <p:nvPr/>
        </p:nvSpPr>
        <p:spPr>
          <a:xfrm>
            <a:off x="10734808" y="2855411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8094DF5-17F9-4608-830F-2D16C90B4528}"/>
              </a:ext>
            </a:extLst>
          </p:cNvPr>
          <p:cNvSpPr txBox="1"/>
          <p:nvPr/>
        </p:nvSpPr>
        <p:spPr>
          <a:xfrm>
            <a:off x="10866132" y="29518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B850DA1-515C-43C8-A479-2BA31CCA642F}"/>
              </a:ext>
            </a:extLst>
          </p:cNvPr>
          <p:cNvSpPr txBox="1"/>
          <p:nvPr/>
        </p:nvSpPr>
        <p:spPr>
          <a:xfrm>
            <a:off x="8745227" y="3482714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“e” ref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181B250-CBD1-4B39-9472-4B28FB1C8453}"/>
              </a:ext>
            </a:extLst>
          </p:cNvPr>
          <p:cNvCxnSpPr>
            <a:cxnSpLocks/>
          </p:cNvCxnSpPr>
          <p:nvPr/>
        </p:nvCxnSpPr>
        <p:spPr>
          <a:xfrm>
            <a:off x="11037912" y="3467100"/>
            <a:ext cx="0" cy="4196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3EE5DCB8-8C75-4DC3-A4B5-3AD6595A1AC7}"/>
              </a:ext>
            </a:extLst>
          </p:cNvPr>
          <p:cNvSpPr txBox="1"/>
          <p:nvPr/>
        </p:nvSpPr>
        <p:spPr>
          <a:xfrm>
            <a:off x="8144520" y="4381539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“e” ref null, create node 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E55B9B1-C7A8-4AD0-9DAE-EFF272F7A7C5}"/>
              </a:ext>
            </a:extLst>
          </p:cNvPr>
          <p:cNvSpPr/>
          <p:nvPr/>
        </p:nvSpPr>
        <p:spPr>
          <a:xfrm>
            <a:off x="10768328" y="3891711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185B072-09A5-493F-90BD-187080B6D235}"/>
              </a:ext>
            </a:extLst>
          </p:cNvPr>
          <p:cNvSpPr txBox="1"/>
          <p:nvPr/>
        </p:nvSpPr>
        <p:spPr>
          <a:xfrm>
            <a:off x="10882620" y="397498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532E9A6-A6CC-4C98-A560-FE475C08FA72}"/>
              </a:ext>
            </a:extLst>
          </p:cNvPr>
          <p:cNvSpPr txBox="1"/>
          <p:nvPr/>
        </p:nvSpPr>
        <p:spPr>
          <a:xfrm>
            <a:off x="8067337" y="1308126"/>
            <a:ext cx="2260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“s” ref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D0A2DAD-90C6-4BD6-94DD-C399FDD9045C}"/>
              </a:ext>
            </a:extLst>
          </p:cNvPr>
          <p:cNvCxnSpPr>
            <a:cxnSpLocks/>
          </p:cNvCxnSpPr>
          <p:nvPr/>
        </p:nvCxnSpPr>
        <p:spPr>
          <a:xfrm>
            <a:off x="7920480" y="1333500"/>
            <a:ext cx="0" cy="4196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AA481EA-71DA-458A-90A7-1A85B24EF6A7}"/>
              </a:ext>
            </a:extLst>
          </p:cNvPr>
          <p:cNvSpPr txBox="1"/>
          <p:nvPr/>
        </p:nvSpPr>
        <p:spPr>
          <a:xfrm>
            <a:off x="8210201" y="1848291"/>
            <a:ext cx="3892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“s” ref not null, don’t do anything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B81F5DD-2E3E-4A26-A5BD-93DC739CB0F5}"/>
              </a:ext>
            </a:extLst>
          </p:cNvPr>
          <p:cNvSpPr txBox="1"/>
          <p:nvPr/>
        </p:nvSpPr>
        <p:spPr>
          <a:xfrm>
            <a:off x="8486731" y="2383711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“h” ref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0C25F9B-31BA-4399-9DC9-D15686A8E176}"/>
              </a:ext>
            </a:extLst>
          </p:cNvPr>
          <p:cNvCxnSpPr>
            <a:cxnSpLocks/>
          </p:cNvCxnSpPr>
          <p:nvPr/>
        </p:nvCxnSpPr>
        <p:spPr>
          <a:xfrm>
            <a:off x="8194800" y="2327828"/>
            <a:ext cx="325120" cy="4587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4C287C9C-5335-4931-B11E-EB502F79DD56}"/>
              </a:ext>
            </a:extLst>
          </p:cNvPr>
          <p:cNvSpPr txBox="1"/>
          <p:nvPr/>
        </p:nvSpPr>
        <p:spPr>
          <a:xfrm>
            <a:off x="8797951" y="2930078"/>
            <a:ext cx="30973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“h” ref not null, don’t do anything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35B2AD2-FC57-46FC-A13E-D578BDD0A0E7}"/>
              </a:ext>
            </a:extLst>
          </p:cNvPr>
          <p:cNvSpPr txBox="1"/>
          <p:nvPr/>
        </p:nvSpPr>
        <p:spPr>
          <a:xfrm>
            <a:off x="8756491" y="3488915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“o” ref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B0A39FC-4F06-412F-8BF0-1C6D130FB927}"/>
              </a:ext>
            </a:extLst>
          </p:cNvPr>
          <p:cNvCxnSpPr>
            <a:cxnSpLocks/>
          </p:cNvCxnSpPr>
          <p:nvPr/>
        </p:nvCxnSpPr>
        <p:spPr>
          <a:xfrm>
            <a:off x="8906000" y="3419915"/>
            <a:ext cx="530374" cy="473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DFA02BA-DADE-4803-B912-F8E5B834E454}"/>
              </a:ext>
            </a:extLst>
          </p:cNvPr>
          <p:cNvSpPr txBox="1"/>
          <p:nvPr/>
        </p:nvSpPr>
        <p:spPr>
          <a:xfrm>
            <a:off x="8950454" y="4557522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“o” ref null, create node 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65A2BB7-2367-47EF-9EF2-11C5726C9CC3}"/>
              </a:ext>
            </a:extLst>
          </p:cNvPr>
          <p:cNvSpPr/>
          <p:nvPr/>
        </p:nvSpPr>
        <p:spPr>
          <a:xfrm>
            <a:off x="9222159" y="3916338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49B834D-7940-4312-8B14-1E3610C3C863}"/>
              </a:ext>
            </a:extLst>
          </p:cNvPr>
          <p:cNvSpPr txBox="1"/>
          <p:nvPr/>
        </p:nvSpPr>
        <p:spPr>
          <a:xfrm>
            <a:off x="9328805" y="39749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5C2B777-97B0-41EF-96C0-E02022DF99D8}"/>
              </a:ext>
            </a:extLst>
          </p:cNvPr>
          <p:cNvSpPr txBox="1"/>
          <p:nvPr/>
        </p:nvSpPr>
        <p:spPr>
          <a:xfrm>
            <a:off x="9744683" y="4869832"/>
            <a:ext cx="223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“r” ref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FEA5873-8FA9-4451-8620-6FA5B18512AB}"/>
              </a:ext>
            </a:extLst>
          </p:cNvPr>
          <p:cNvCxnSpPr>
            <a:cxnSpLocks/>
          </p:cNvCxnSpPr>
          <p:nvPr/>
        </p:nvCxnSpPr>
        <p:spPr>
          <a:xfrm>
            <a:off x="9495635" y="4556520"/>
            <a:ext cx="0" cy="4196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427517B0-C139-4DAB-ACE3-17D8B64622F6}"/>
              </a:ext>
            </a:extLst>
          </p:cNvPr>
          <p:cNvSpPr txBox="1"/>
          <p:nvPr/>
        </p:nvSpPr>
        <p:spPr>
          <a:xfrm>
            <a:off x="9140338" y="5464340"/>
            <a:ext cx="288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“r” ref null, create node 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0EC862C-9416-4A76-AD4B-CD6B86F2D8F4}"/>
              </a:ext>
            </a:extLst>
          </p:cNvPr>
          <p:cNvSpPr/>
          <p:nvPr/>
        </p:nvSpPr>
        <p:spPr>
          <a:xfrm>
            <a:off x="9221315" y="4971536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430B2B0-843A-4FBD-A49A-2F92C9037C03}"/>
              </a:ext>
            </a:extLst>
          </p:cNvPr>
          <p:cNvSpPr txBox="1"/>
          <p:nvPr/>
        </p:nvSpPr>
        <p:spPr>
          <a:xfrm>
            <a:off x="9374592" y="5033272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44DDF6A-DA58-45D3-B05B-1F77990A9834}"/>
              </a:ext>
            </a:extLst>
          </p:cNvPr>
          <p:cNvSpPr txBox="1"/>
          <p:nvPr/>
        </p:nvSpPr>
        <p:spPr>
          <a:xfrm>
            <a:off x="9775919" y="5784578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to “e” ref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88DCB6A-E0C6-4456-B43E-3BEB8248F71F}"/>
              </a:ext>
            </a:extLst>
          </p:cNvPr>
          <p:cNvCxnSpPr>
            <a:cxnSpLocks/>
          </p:cNvCxnSpPr>
          <p:nvPr/>
        </p:nvCxnSpPr>
        <p:spPr>
          <a:xfrm>
            <a:off x="9495635" y="5605080"/>
            <a:ext cx="0" cy="4196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F64A2930-78E3-43B6-ADA9-352D45F66F0A}"/>
              </a:ext>
            </a:extLst>
          </p:cNvPr>
          <p:cNvSpPr txBox="1"/>
          <p:nvPr/>
        </p:nvSpPr>
        <p:spPr>
          <a:xfrm>
            <a:off x="9328805" y="6554698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“e” ref null, create node 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146C3DA7-18EA-4ADA-95EC-332C3E7A3730}"/>
              </a:ext>
            </a:extLst>
          </p:cNvPr>
          <p:cNvSpPr/>
          <p:nvPr/>
        </p:nvSpPr>
        <p:spPr>
          <a:xfrm>
            <a:off x="9238484" y="6040726"/>
            <a:ext cx="548640" cy="5715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BF88B8F-6F70-4408-80AC-B43EF844F67A}"/>
              </a:ext>
            </a:extLst>
          </p:cNvPr>
          <p:cNvSpPr txBox="1"/>
          <p:nvPr/>
        </p:nvSpPr>
        <p:spPr>
          <a:xfrm>
            <a:off x="9352984" y="613784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38ADB-B6FA-4A75-AB13-13DA06802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4" y="0"/>
            <a:ext cx="12093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2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 animBg="1"/>
      <p:bldP spid="10" grpId="0"/>
      <p:bldP spid="12" grpId="0"/>
      <p:bldP spid="13" grpId="0"/>
      <p:bldP spid="14" grpId="0"/>
      <p:bldP spid="15" grpId="0" animBg="1"/>
      <p:bldP spid="16" grpId="0"/>
      <p:bldP spid="17" grpId="0"/>
      <p:bldP spid="19" grpId="0" animBg="1"/>
      <p:bldP spid="20" grpId="0"/>
      <p:bldP spid="21" grpId="0"/>
      <p:bldP spid="22" grpId="0"/>
      <p:bldP spid="24" grpId="0"/>
      <p:bldP spid="25" grpId="0"/>
      <p:bldP spid="27" grpId="0"/>
      <p:bldP spid="28" grpId="0" animBg="1"/>
      <p:bldP spid="29" grpId="0"/>
      <p:bldP spid="30" grpId="0"/>
      <p:bldP spid="32" grpId="0"/>
      <p:bldP spid="35" grpId="0" animBg="1"/>
      <p:bldP spid="36" grpId="0"/>
      <p:bldP spid="37" grpId="0"/>
      <p:bldP spid="39" grpId="0"/>
      <p:bldP spid="40" grpId="0" animBg="1"/>
      <p:bldP spid="41" grpId="0"/>
      <p:bldP spid="42" grpId="0"/>
      <p:bldP spid="44" grpId="0"/>
      <p:bldP spid="45" grpId="0" animBg="1"/>
      <p:bldP spid="46" grpId="0"/>
      <p:bldP spid="48" grpId="0"/>
      <p:bldP spid="49" grpId="0"/>
      <p:bldP spid="50" grpId="0"/>
      <p:bldP spid="52" grpId="0"/>
      <p:bldP spid="53" grpId="0"/>
      <p:bldP spid="55" grpId="0"/>
      <p:bldP spid="56" grpId="0" animBg="1"/>
      <p:bldP spid="57" grpId="0"/>
      <p:bldP spid="59" grpId="0"/>
      <p:bldP spid="62" grpId="0"/>
      <p:bldP spid="63" grpId="0" animBg="1"/>
      <p:bldP spid="64" grpId="0"/>
      <p:bldP spid="65" grpId="0"/>
      <p:bldP spid="67" grpId="0"/>
      <p:bldP spid="68" grpId="0" animBg="1"/>
      <p:bldP spid="69" grpId="0"/>
      <p:bldP spid="70" grpId="0"/>
      <p:bldP spid="72" grpId="0"/>
      <p:bldP spid="73" grpId="0" animBg="1"/>
      <p:bldP spid="75" grpId="0"/>
      <p:bldP spid="76" grpId="0"/>
      <p:bldP spid="78" grpId="0"/>
      <p:bldP spid="79" grpId="0" animBg="1"/>
      <p:bldP spid="80" grpId="0"/>
      <p:bldP spid="81" grpId="0"/>
      <p:bldP spid="83" grpId="0"/>
      <p:bldP spid="84" grpId="0" animBg="1"/>
      <p:bldP spid="85" grpId="0"/>
      <p:bldP spid="86" grpId="0"/>
      <p:bldP spid="88" grpId="0"/>
      <p:bldP spid="89" grpId="0"/>
      <p:bldP spid="91" grpId="0"/>
      <p:bldP spid="92" grpId="0"/>
      <p:bldP spid="96" grpId="0"/>
      <p:bldP spid="97" grpId="0" animBg="1"/>
      <p:bldP spid="98" grpId="0"/>
      <p:bldP spid="99" grpId="0"/>
      <p:bldP spid="101" grpId="0"/>
      <p:bldP spid="102" grpId="0" animBg="1"/>
      <p:bldP spid="103" grpId="0"/>
      <p:bldP spid="104" grpId="0"/>
      <p:bldP spid="106" grpId="0"/>
      <p:bldP spid="107" grpId="0" animBg="1"/>
      <p:bldP spid="10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CDA4D-22EE-4B1B-A8A3-7DF71590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Concerns: 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16684-FD2B-45A3-B5FC-CF2587739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Approaches: Linked List or Array.</a:t>
            </a:r>
          </a:p>
          <a:p>
            <a:pPr marL="0" indent="0">
              <a:buNone/>
            </a:pPr>
            <a:r>
              <a:rPr lang="en-US" dirty="0"/>
              <a:t>At a basic level, we need to at least have a node-representation.</a:t>
            </a:r>
          </a:p>
          <a:p>
            <a:pPr marL="457200" indent="-457200">
              <a:buAutoNum type="arabicParenR"/>
            </a:pPr>
            <a:r>
              <a:rPr lang="en-US" dirty="0"/>
              <a:t>The array-based node approach is referred to as a: </a:t>
            </a:r>
            <a:r>
              <a:rPr lang="en-US" b="1" dirty="0"/>
              <a:t>R-way </a:t>
            </a:r>
            <a:r>
              <a:rPr lang="en-US" b="1" dirty="0" err="1"/>
              <a:t>Trie</a:t>
            </a: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The linked list-based node approach is referred to as a: </a:t>
            </a:r>
            <a:r>
              <a:rPr lang="en-US" b="1" dirty="0"/>
              <a:t>De La </a:t>
            </a:r>
            <a:r>
              <a:rPr lang="en-US" b="1" dirty="0" err="1"/>
              <a:t>Briandais</a:t>
            </a:r>
            <a:r>
              <a:rPr lang="en-US" b="1" dirty="0"/>
              <a:t> </a:t>
            </a:r>
            <a:r>
              <a:rPr lang="en-US" b="1" dirty="0" err="1"/>
              <a:t>Trie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84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36AF1-8AE3-455E-9836-CAE49CD7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R-way </a:t>
            </a:r>
            <a:r>
              <a:rPr lang="en-US" dirty="0" err="1"/>
              <a:t>Trie</a:t>
            </a:r>
            <a:r>
              <a:rPr lang="en-US" dirty="0"/>
              <a:t>: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BD5C1-D5CA-4F56-B232-7090D161B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object looks like the following:</a:t>
            </a:r>
          </a:p>
          <a:p>
            <a:pPr marL="0" indent="0">
              <a:buNone/>
            </a:pPr>
            <a:r>
              <a:rPr lang="en-US" dirty="0"/>
              <a:t>private static class </a:t>
            </a:r>
            <a:r>
              <a:rPr lang="en-US" dirty="0" err="1"/>
              <a:t>Rway_Node</a:t>
            </a:r>
            <a:r>
              <a:rPr lang="en-US" dirty="0"/>
              <a:t>&lt;T&gt;{</a:t>
            </a:r>
          </a:p>
          <a:p>
            <a:pPr marL="0" indent="0">
              <a:buNone/>
            </a:pPr>
            <a:r>
              <a:rPr lang="en-US" dirty="0"/>
              <a:t>	private T </a:t>
            </a:r>
            <a:r>
              <a:rPr lang="en-US" dirty="0" err="1"/>
              <a:t>val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private </a:t>
            </a:r>
            <a:r>
              <a:rPr lang="en-US" dirty="0" err="1"/>
              <a:t>Rway_Node</a:t>
            </a:r>
            <a:r>
              <a:rPr lang="en-US" dirty="0"/>
              <a:t>&lt;T&gt;[] next = new </a:t>
            </a:r>
            <a:r>
              <a:rPr lang="en-US" dirty="0" err="1"/>
              <a:t>Rway_Node</a:t>
            </a:r>
            <a:r>
              <a:rPr lang="en-US" dirty="0"/>
              <a:t>[R];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21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B75F8-E2C3-4702-BE1A-913B9B47D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R-way </a:t>
            </a:r>
            <a:r>
              <a:rPr lang="en-US" dirty="0" err="1"/>
              <a:t>Trie</a:t>
            </a:r>
            <a:r>
              <a:rPr lang="en-US" dirty="0"/>
              <a:t>: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0C679-365A-429C-B7E9-FAAD9FEA9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try to add </a:t>
            </a:r>
            <a:r>
              <a:rPr lang="en-US" b="1" dirty="0"/>
              <a:t>she</a:t>
            </a:r>
            <a:r>
              <a:rPr lang="en-US" dirty="0"/>
              <a:t> and </a:t>
            </a:r>
            <a:r>
              <a:rPr lang="en-US" b="1" dirty="0"/>
              <a:t>shell</a:t>
            </a:r>
            <a:r>
              <a:rPr lang="en-US" dirty="0"/>
              <a:t> into an R-way </a:t>
            </a:r>
            <a:r>
              <a:rPr lang="en-US" dirty="0" err="1"/>
              <a:t>Trie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32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05A45-5AA2-45A6-9E18-243BAF01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708" y="39470"/>
            <a:ext cx="9076368" cy="1098824"/>
          </a:xfrm>
        </p:spPr>
        <p:txBody>
          <a:bodyPr/>
          <a:lstStyle/>
          <a:p>
            <a:r>
              <a:rPr lang="en-US" dirty="0"/>
              <a:t>The R-Way </a:t>
            </a:r>
            <a:r>
              <a:rPr lang="en-US" dirty="0" err="1"/>
              <a:t>Trie</a:t>
            </a:r>
            <a:r>
              <a:rPr lang="en-US" dirty="0"/>
              <a:t>: Insertion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0AE97-F3FE-4B27-9D13-A193B8A5C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973" y="2687320"/>
            <a:ext cx="9905998" cy="3124201"/>
          </a:xfrm>
        </p:spPr>
        <p:txBody>
          <a:bodyPr/>
          <a:lstStyle/>
          <a:p>
            <a:r>
              <a:rPr lang="en-US" dirty="0"/>
              <a:t>Insert: sea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Insert: shell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1771209-2EC3-4E2C-9E9C-ECA1D07E7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020992"/>
              </p:ext>
            </p:extLst>
          </p:nvPr>
        </p:nvGraphicFramePr>
        <p:xfrm>
          <a:off x="3533480" y="1228819"/>
          <a:ext cx="217658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88290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1088290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Val: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6B2EF855-9362-40E9-84E0-F286D4582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670505"/>
              </p:ext>
            </p:extLst>
          </p:nvPr>
        </p:nvGraphicFramePr>
        <p:xfrm>
          <a:off x="3534592" y="1608093"/>
          <a:ext cx="8615643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93713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3346473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549512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03205428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928438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9453941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59982383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86494522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4517657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9357848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39933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605858973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87699199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75077496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8482988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03761880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783637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04332360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12855415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945717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2146099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32990941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0026327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714656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722094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346330695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Next: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W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Z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CA43A7F8-8C33-4A7F-8A48-2ABFFDE03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702217"/>
              </p:ext>
            </p:extLst>
          </p:nvPr>
        </p:nvGraphicFramePr>
        <p:xfrm>
          <a:off x="3537458" y="2333959"/>
          <a:ext cx="217658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88290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1088290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Val: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824227A3-3B45-44FF-8299-44A815C2E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417032"/>
              </p:ext>
            </p:extLst>
          </p:nvPr>
        </p:nvGraphicFramePr>
        <p:xfrm>
          <a:off x="3542607" y="2729504"/>
          <a:ext cx="8615643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93713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3346473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549512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03205428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928438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9453941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59982383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86494522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4517657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9357848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39933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605858973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87699199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75077496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8482988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03761880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783637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04332360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12855415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945717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2146099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32990941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0026327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714656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722094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346330695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Next: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W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Z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C5A4CFE-A753-47EF-A8C9-63693790729B}"/>
              </a:ext>
            </a:extLst>
          </p:cNvPr>
          <p:cNvSpPr txBox="1"/>
          <p:nvPr/>
        </p:nvSpPr>
        <p:spPr>
          <a:xfrm>
            <a:off x="2117407" y="1922448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“S”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69C8-2C25-4BFF-8273-0752EAC5B347}"/>
              </a:ext>
            </a:extLst>
          </p:cNvPr>
          <p:cNvCxnSpPr>
            <a:cxnSpLocks/>
          </p:cNvCxnSpPr>
          <p:nvPr/>
        </p:nvCxnSpPr>
        <p:spPr>
          <a:xfrm flipH="1">
            <a:off x="5192780" y="2002340"/>
            <a:ext cx="4695226" cy="5293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670B517-A7DE-4F0F-9126-93B2BA2BB2FF}"/>
              </a:ext>
            </a:extLst>
          </p:cNvPr>
          <p:cNvSpPr txBox="1"/>
          <p:nvPr/>
        </p:nvSpPr>
        <p:spPr>
          <a:xfrm>
            <a:off x="2029798" y="325623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“E”</a:t>
            </a:r>
          </a:p>
        </p:txBody>
      </p:sp>
      <p:graphicFrame>
        <p:nvGraphicFramePr>
          <p:cNvPr id="16" name="Table 5">
            <a:extLst>
              <a:ext uri="{FF2B5EF4-FFF2-40B4-BE49-F238E27FC236}">
                <a16:creationId xmlns:a16="http://schemas.microsoft.com/office/drawing/2014/main" id="{2967A8B1-A457-4AD3-840B-A6CB4E52B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105637"/>
              </p:ext>
            </p:extLst>
          </p:nvPr>
        </p:nvGraphicFramePr>
        <p:xfrm>
          <a:off x="3521768" y="3737613"/>
          <a:ext cx="8615643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93713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3346473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549512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03205428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928438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9453941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59982383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86494522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4517657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9357848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39933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605858973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87699199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75077496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8482988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03761880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783637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04332360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12855415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945717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2146099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32990941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0026327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714656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722094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346330695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Next: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W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Z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FA97116-16AE-4603-A41D-58E55F2458E9}"/>
              </a:ext>
            </a:extLst>
          </p:cNvPr>
          <p:cNvSpPr txBox="1"/>
          <p:nvPr/>
        </p:nvSpPr>
        <p:spPr>
          <a:xfrm>
            <a:off x="2005753" y="4139300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“A”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6F9C9962-1657-4A01-9146-1DA46CF2A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734109"/>
              </p:ext>
            </p:extLst>
          </p:nvPr>
        </p:nvGraphicFramePr>
        <p:xfrm>
          <a:off x="3542413" y="4256656"/>
          <a:ext cx="217658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88290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1088290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Val: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46662ED8-17F8-4F98-8155-290943717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943100"/>
              </p:ext>
            </p:extLst>
          </p:nvPr>
        </p:nvGraphicFramePr>
        <p:xfrm>
          <a:off x="3534587" y="4642233"/>
          <a:ext cx="8615643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93713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3346473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549512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03205428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928438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9453941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59982383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86494522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4517657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9357848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39933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605858973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87699199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75077496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8482988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03761880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783637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04332360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12855415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945717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2146099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32990941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0026327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714656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722094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346330695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Next: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W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Z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247514-4D18-4E41-807E-23462787ED12}"/>
              </a:ext>
            </a:extLst>
          </p:cNvPr>
          <p:cNvCxnSpPr>
            <a:cxnSpLocks/>
          </p:cNvCxnSpPr>
          <p:nvPr/>
        </p:nvCxnSpPr>
        <p:spPr>
          <a:xfrm>
            <a:off x="4770971" y="4093531"/>
            <a:ext cx="159873" cy="3999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748CA0A-0392-444F-8A06-705B23AD20B1}"/>
              </a:ext>
            </a:extLst>
          </p:cNvPr>
          <p:cNvSpPr txBox="1"/>
          <p:nvPr/>
        </p:nvSpPr>
        <p:spPr>
          <a:xfrm>
            <a:off x="2126243" y="1932481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“S”</a:t>
            </a:r>
          </a:p>
        </p:txBody>
      </p:sp>
      <p:graphicFrame>
        <p:nvGraphicFramePr>
          <p:cNvPr id="27" name="Table 5">
            <a:extLst>
              <a:ext uri="{FF2B5EF4-FFF2-40B4-BE49-F238E27FC236}">
                <a16:creationId xmlns:a16="http://schemas.microsoft.com/office/drawing/2014/main" id="{AEDE2153-8D9F-4C91-ABC7-2C609E55D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808379"/>
              </p:ext>
            </p:extLst>
          </p:nvPr>
        </p:nvGraphicFramePr>
        <p:xfrm>
          <a:off x="3523729" y="1238754"/>
          <a:ext cx="217658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88290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1088290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Val: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graphicFrame>
        <p:nvGraphicFramePr>
          <p:cNvPr id="28" name="Table 5">
            <a:extLst>
              <a:ext uri="{FF2B5EF4-FFF2-40B4-BE49-F238E27FC236}">
                <a16:creationId xmlns:a16="http://schemas.microsoft.com/office/drawing/2014/main" id="{E1C55E77-3FC5-4BDA-8A91-46A3D985D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027052"/>
              </p:ext>
            </p:extLst>
          </p:nvPr>
        </p:nvGraphicFramePr>
        <p:xfrm>
          <a:off x="3516920" y="1613407"/>
          <a:ext cx="8615643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93713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3346473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549512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03205428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928438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9453941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59982383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86494522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4517657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9357848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39933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605858973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87699199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75077496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8482988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03761880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783637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04332360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12855415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945717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2146099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32990941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0026327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714656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722094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346330695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Next: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W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Z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graphicFrame>
        <p:nvGraphicFramePr>
          <p:cNvPr id="29" name="Table 5">
            <a:extLst>
              <a:ext uri="{FF2B5EF4-FFF2-40B4-BE49-F238E27FC236}">
                <a16:creationId xmlns:a16="http://schemas.microsoft.com/office/drawing/2014/main" id="{033387A5-4B3C-4DA5-95D7-62233FE7C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162824"/>
              </p:ext>
            </p:extLst>
          </p:nvPr>
        </p:nvGraphicFramePr>
        <p:xfrm>
          <a:off x="3546326" y="2333866"/>
          <a:ext cx="217658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88290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1088290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Val: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graphicFrame>
        <p:nvGraphicFramePr>
          <p:cNvPr id="30" name="Table 5">
            <a:extLst>
              <a:ext uri="{FF2B5EF4-FFF2-40B4-BE49-F238E27FC236}">
                <a16:creationId xmlns:a16="http://schemas.microsoft.com/office/drawing/2014/main" id="{8E6E0DDF-24DA-4165-BEC9-7C6B5605B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079201"/>
              </p:ext>
            </p:extLst>
          </p:nvPr>
        </p:nvGraphicFramePr>
        <p:xfrm>
          <a:off x="3550208" y="2717444"/>
          <a:ext cx="8615643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93713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3346473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549512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03205428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928438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9453941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59982383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86494522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4517657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9357848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39933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605858973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87699199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75077496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8482988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03761880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783637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04332360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12855415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945717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2146099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32990941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0026327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714656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722094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346330695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Next: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W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Z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0381FFF-4719-488A-85B2-5AD8E0875AD0}"/>
              </a:ext>
            </a:extLst>
          </p:cNvPr>
          <p:cNvCxnSpPr>
            <a:cxnSpLocks/>
          </p:cNvCxnSpPr>
          <p:nvPr/>
        </p:nvCxnSpPr>
        <p:spPr>
          <a:xfrm flipH="1">
            <a:off x="5192785" y="2002422"/>
            <a:ext cx="4802393" cy="514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5B54EC-78A6-4255-81B3-8FA3B6AF5053}"/>
              </a:ext>
            </a:extLst>
          </p:cNvPr>
          <p:cNvSpPr txBox="1"/>
          <p:nvPr/>
        </p:nvSpPr>
        <p:spPr>
          <a:xfrm>
            <a:off x="2024308" y="3266268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“H”</a:t>
            </a:r>
          </a:p>
        </p:txBody>
      </p:sp>
      <p:graphicFrame>
        <p:nvGraphicFramePr>
          <p:cNvPr id="33" name="Table 5">
            <a:extLst>
              <a:ext uri="{FF2B5EF4-FFF2-40B4-BE49-F238E27FC236}">
                <a16:creationId xmlns:a16="http://schemas.microsoft.com/office/drawing/2014/main" id="{FD35F692-B70C-48FB-AB2C-E70C10225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455116"/>
              </p:ext>
            </p:extLst>
          </p:nvPr>
        </p:nvGraphicFramePr>
        <p:xfrm>
          <a:off x="3533480" y="3362007"/>
          <a:ext cx="217658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88290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1088290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Val: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graphicFrame>
        <p:nvGraphicFramePr>
          <p:cNvPr id="34" name="Table 5">
            <a:extLst>
              <a:ext uri="{FF2B5EF4-FFF2-40B4-BE49-F238E27FC236}">
                <a16:creationId xmlns:a16="http://schemas.microsoft.com/office/drawing/2014/main" id="{615BB579-ED75-4B7B-B456-E214F8DEA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573739"/>
              </p:ext>
            </p:extLst>
          </p:nvPr>
        </p:nvGraphicFramePr>
        <p:xfrm>
          <a:off x="3523729" y="3727678"/>
          <a:ext cx="8615643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93713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3346473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549512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03205428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928438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9453941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59982383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86494522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4517657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9357848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39933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605858973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87699199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75077496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8482988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03761880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783637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04332360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12855415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945717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2146099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32990941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0026327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714656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722094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346330695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Next: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W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Z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graphicFrame>
        <p:nvGraphicFramePr>
          <p:cNvPr id="35" name="Table 5">
            <a:extLst>
              <a:ext uri="{FF2B5EF4-FFF2-40B4-BE49-F238E27FC236}">
                <a16:creationId xmlns:a16="http://schemas.microsoft.com/office/drawing/2014/main" id="{002B8B4D-1922-430F-B4B2-56A466338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049109"/>
              </p:ext>
            </p:extLst>
          </p:nvPr>
        </p:nvGraphicFramePr>
        <p:xfrm>
          <a:off x="3530136" y="3366840"/>
          <a:ext cx="217658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88290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1088290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Val: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301933-6FCF-4A09-B17A-DF1907C5D1A4}"/>
              </a:ext>
            </a:extLst>
          </p:cNvPr>
          <p:cNvCxnSpPr>
            <a:cxnSpLocks/>
          </p:cNvCxnSpPr>
          <p:nvPr/>
        </p:nvCxnSpPr>
        <p:spPr>
          <a:xfrm flipH="1">
            <a:off x="4923138" y="3056301"/>
            <a:ext cx="1944497" cy="4835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A11FD8D6-588C-4FE5-8898-8E24D76FC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959015"/>
              </p:ext>
            </p:extLst>
          </p:nvPr>
        </p:nvGraphicFramePr>
        <p:xfrm>
          <a:off x="3546326" y="4272083"/>
          <a:ext cx="217658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88290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1088290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Val: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A3A8F396-C8AE-49EB-BB40-0E697BAF1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087206"/>
              </p:ext>
            </p:extLst>
          </p:nvPr>
        </p:nvGraphicFramePr>
        <p:xfrm>
          <a:off x="3542413" y="4636841"/>
          <a:ext cx="8615643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93713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3346473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549512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03205428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928438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9453941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59982383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86494522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4517657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9357848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39933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605858973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87699199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75077496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8482988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03761880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783637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04332360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12855415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945717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2146099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32990941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0026327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714656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722094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346330695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i="0" dirty="0">
                          <a:solidFill>
                            <a:srgbClr val="0070C0"/>
                          </a:solidFill>
                        </a:rPr>
                        <a:t>Next: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W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Z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552BDA5D-A6B7-4228-B6DF-1D63D0371EF6}"/>
              </a:ext>
            </a:extLst>
          </p:cNvPr>
          <p:cNvSpPr txBox="1"/>
          <p:nvPr/>
        </p:nvSpPr>
        <p:spPr>
          <a:xfrm>
            <a:off x="1999527" y="4123236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“E”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E43EA63-FFB4-46A6-9274-D6CE59A8C730}"/>
              </a:ext>
            </a:extLst>
          </p:cNvPr>
          <p:cNvCxnSpPr>
            <a:cxnSpLocks/>
          </p:cNvCxnSpPr>
          <p:nvPr/>
        </p:nvCxnSpPr>
        <p:spPr>
          <a:xfrm flipH="1">
            <a:off x="5276675" y="4135645"/>
            <a:ext cx="618711" cy="2940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594C37F-41AE-4BAE-BB99-22F038495E31}"/>
              </a:ext>
            </a:extLst>
          </p:cNvPr>
          <p:cNvSpPr txBox="1"/>
          <p:nvPr/>
        </p:nvSpPr>
        <p:spPr>
          <a:xfrm>
            <a:off x="1999527" y="5046814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“L”</a:t>
            </a:r>
          </a:p>
        </p:txBody>
      </p:sp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2285B293-0995-4CF9-AAA6-029BA195B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583516"/>
              </p:ext>
            </p:extLst>
          </p:nvPr>
        </p:nvGraphicFramePr>
        <p:xfrm>
          <a:off x="3550208" y="5230367"/>
          <a:ext cx="217658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88290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1088290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Val: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graphicFrame>
        <p:nvGraphicFramePr>
          <p:cNvPr id="49" name="Table 5">
            <a:extLst>
              <a:ext uri="{FF2B5EF4-FFF2-40B4-BE49-F238E27FC236}">
                <a16:creationId xmlns:a16="http://schemas.microsoft.com/office/drawing/2014/main" id="{74624EDD-8505-4EC4-846E-80B588E98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874771"/>
              </p:ext>
            </p:extLst>
          </p:nvPr>
        </p:nvGraphicFramePr>
        <p:xfrm>
          <a:off x="3550208" y="5602898"/>
          <a:ext cx="8615643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93713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3346473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549512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03205428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928438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9453941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59982383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86494522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4517657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9357848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39933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605858973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87699199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75077496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8482988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03761880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783637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04332360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12855415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945717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2146099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32990941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0026327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714656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722094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346330695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Next: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W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Z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916C928-8A6C-45A7-A484-2F538F490989}"/>
              </a:ext>
            </a:extLst>
          </p:cNvPr>
          <p:cNvCxnSpPr>
            <a:cxnSpLocks/>
          </p:cNvCxnSpPr>
          <p:nvPr/>
        </p:nvCxnSpPr>
        <p:spPr>
          <a:xfrm flipH="1">
            <a:off x="5354737" y="5046814"/>
            <a:ext cx="2635733" cy="3180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aphicFrame>
        <p:nvGraphicFramePr>
          <p:cNvPr id="56" name="Table 5">
            <a:extLst>
              <a:ext uri="{FF2B5EF4-FFF2-40B4-BE49-F238E27FC236}">
                <a16:creationId xmlns:a16="http://schemas.microsoft.com/office/drawing/2014/main" id="{AE20A633-B2ED-42D6-B522-83E04CF1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893311"/>
              </p:ext>
            </p:extLst>
          </p:nvPr>
        </p:nvGraphicFramePr>
        <p:xfrm>
          <a:off x="3516920" y="6097274"/>
          <a:ext cx="217658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88290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1088290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</a:tblGrid>
              <a:tr h="29060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Val: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graphicFrame>
        <p:nvGraphicFramePr>
          <p:cNvPr id="57" name="Table 5">
            <a:extLst>
              <a:ext uri="{FF2B5EF4-FFF2-40B4-BE49-F238E27FC236}">
                <a16:creationId xmlns:a16="http://schemas.microsoft.com/office/drawing/2014/main" id="{7C05AB9B-F4D2-4025-821D-B61EB2725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666553"/>
              </p:ext>
            </p:extLst>
          </p:nvPr>
        </p:nvGraphicFramePr>
        <p:xfrm>
          <a:off x="3516920" y="6482859"/>
          <a:ext cx="8615643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93713">
                  <a:extLst>
                    <a:ext uri="{9D8B030D-6E8A-4147-A177-3AD203B41FA5}">
                      <a16:colId xmlns:a16="http://schemas.microsoft.com/office/drawing/2014/main" val="411721037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686654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3346473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549512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03205428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928438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29453941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59982383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86494522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4517657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09357848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4239933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605858973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876991997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750774965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8482988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03761880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9783637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043323604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12855415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945717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214609980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132990941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3002632716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417146562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472209449"/>
                    </a:ext>
                  </a:extLst>
                </a:gridCol>
                <a:gridCol w="289305">
                  <a:extLst>
                    <a:ext uri="{9D8B030D-6E8A-4147-A177-3AD203B41FA5}">
                      <a16:colId xmlns:a16="http://schemas.microsoft.com/office/drawing/2014/main" val="2346330695"/>
                    </a:ext>
                  </a:extLst>
                </a:gridCol>
              </a:tblGrid>
              <a:tr h="28662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Next: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I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J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M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W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X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Z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8927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B1999DBC-3FCA-44C5-B661-9267C8295499}"/>
              </a:ext>
            </a:extLst>
          </p:cNvPr>
          <p:cNvSpPr txBox="1"/>
          <p:nvPr/>
        </p:nvSpPr>
        <p:spPr>
          <a:xfrm>
            <a:off x="2024308" y="5910822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“L”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909C69F-AEDE-4DD1-A386-6717DBA840F3}"/>
              </a:ext>
            </a:extLst>
          </p:cNvPr>
          <p:cNvCxnSpPr>
            <a:cxnSpLocks/>
          </p:cNvCxnSpPr>
          <p:nvPr/>
        </p:nvCxnSpPr>
        <p:spPr>
          <a:xfrm flipH="1">
            <a:off x="5354737" y="5928955"/>
            <a:ext cx="2635734" cy="2777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B1C54E-88A1-45F6-88BE-B39E93575F7C}"/>
              </a:ext>
            </a:extLst>
          </p:cNvPr>
          <p:cNvCxnSpPr>
            <a:cxnSpLocks/>
          </p:cNvCxnSpPr>
          <p:nvPr/>
        </p:nvCxnSpPr>
        <p:spPr>
          <a:xfrm flipH="1">
            <a:off x="5221773" y="3083819"/>
            <a:ext cx="728513" cy="5621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C11D61E1-6A7C-4A0D-9699-DFA1CC81A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80" y="9381"/>
            <a:ext cx="11957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8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1703B-42DC-44AC-BEFB-3E54F513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</a:t>
            </a:r>
            <a:r>
              <a:rPr lang="en-US" dirty="0" err="1"/>
              <a:t>Trie</a:t>
            </a:r>
            <a:r>
              <a:rPr lang="en-US" dirty="0"/>
              <a:t> analysis: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65C002-9689-4AC3-B8AD-7B1DC1F125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Search/Insert: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[Average and Worst Case]</a:t>
                </a:r>
              </a:p>
              <a:p>
                <a:r>
                  <a:rPr lang="en-US" dirty="0"/>
                  <a:t>Quick random-access w/Arrays!</a:t>
                </a:r>
              </a:p>
              <a:p>
                <a:pPr marL="0" indent="0">
                  <a:buNone/>
                </a:pPr>
                <a:r>
                  <a:rPr lang="en-US" b="1" dirty="0"/>
                  <a:t>Space: </a:t>
                </a:r>
                <a:r>
                  <a:rPr lang="en-US" b="1" dirty="0" err="1"/>
                  <a:t>wR</a:t>
                </a:r>
                <a:r>
                  <a:rPr lang="en-US" b="1" dirty="0"/>
                  <a:t> + 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65C002-9689-4AC3-B8AD-7B1DC1F125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52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C0E16-04BA-4DC8-9824-0C464555B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</a:t>
            </a:r>
            <a:r>
              <a:rPr lang="en-US" dirty="0" err="1"/>
              <a:t>Trie</a:t>
            </a:r>
            <a:r>
              <a:rPr lang="en-US" dirty="0"/>
              <a:t> Further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FE54BF-7EEB-4EC4-BDDB-A2260732AE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Miss Times: On average, how many misses do we expect?</a:t>
                </a:r>
              </a:p>
              <a:p>
                <a:r>
                  <a:rPr lang="en-US" b="0" dirty="0"/>
                  <a:t>The number of nodes we expect to examine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, where R is the size of the alphabet under consideration.</a:t>
                </a:r>
              </a:p>
              <a:p>
                <a:pPr marL="0" indent="0">
                  <a:buNone/>
                </a:pPr>
                <a:r>
                  <a:rPr lang="en-US" dirty="0"/>
                  <a:t>Example: The average number of checks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dirty="0"/>
                  <a:t> keys assuming 8 bits at a time in an RST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FE54BF-7EEB-4EC4-BDDB-A2260732AE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6" t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23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CC51B-23B3-4255-9BCB-E15392B93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R-Way </a:t>
            </a:r>
            <a:r>
              <a:rPr lang="en-US" dirty="0" err="1"/>
              <a:t>Trie</a:t>
            </a:r>
            <a:r>
              <a:rPr lang="en-US" dirty="0"/>
              <a:t> vs RST Miss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5049C-EFA4-4180-980B-2EB032CB9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R-way tries will have a lower miss time. </a:t>
            </a:r>
          </a:p>
          <a:p>
            <a:r>
              <a:rPr lang="en-US" dirty="0"/>
              <a:t>Why? Since our alphabet is longer, we can determine whether a key is a miss faster.</a:t>
            </a:r>
          </a:p>
          <a:p>
            <a:pPr marL="0" indent="0">
              <a:buNone/>
            </a:pPr>
            <a:r>
              <a:rPr lang="en-US" dirty="0"/>
              <a:t>RSTs will require us to dive pretty deep to determine if we have a miss.</a:t>
            </a:r>
          </a:p>
        </p:txBody>
      </p:sp>
    </p:spTree>
    <p:extLst>
      <p:ext uri="{BB962C8B-B14F-4D97-AF65-F5344CB8AC3E}">
        <p14:creationId xmlns:p14="http://schemas.microsoft.com/office/powerpoint/2010/main" val="315582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CE3FA-9AF3-431B-96E1-F8AF78070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there any drawbacks of using a </a:t>
            </a:r>
            <a:r>
              <a:rPr lang="en-US" dirty="0" err="1"/>
              <a:t>rst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399C3-884D-4CE2-8FA6-5349ABD0F5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Space!!!</a:t>
                </a:r>
              </a:p>
              <a:p>
                <a:r>
                  <a:rPr lang="en-US" dirty="0"/>
                  <a:t>If we use 8-bit ascii, each node will contain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 references!</a:t>
                </a:r>
              </a:p>
              <a:p>
                <a:r>
                  <a:rPr lang="en-US" dirty="0"/>
                  <a:t>This means common paths/prefixes will have (256-1) * 3 wasted references!</a:t>
                </a:r>
              </a:p>
              <a:p>
                <a:r>
                  <a:rPr lang="en-US" dirty="0"/>
                  <a:t>As we dive deeper into the </a:t>
                </a:r>
                <a:r>
                  <a:rPr lang="en-US" dirty="0" err="1"/>
                  <a:t>trie</a:t>
                </a:r>
                <a:r>
                  <a:rPr lang="en-US" dirty="0"/>
                  <a:t>, due to the nature of English prose, a lot of keys can be predicted with ease, thus with an RST, lists will become </a:t>
                </a:r>
                <a:r>
                  <a:rPr lang="en-US" b="1" dirty="0"/>
                  <a:t>SPARSER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399C3-884D-4CE2-8FA6-5349ABD0F5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1179" r="-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0F11-F4D7-4D0F-80F0-A6722A94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Enter: De La </a:t>
            </a:r>
            <a:r>
              <a:rPr lang="en-US" dirty="0" err="1"/>
              <a:t>Briandais</a:t>
            </a:r>
            <a:r>
              <a:rPr lang="en-US" dirty="0"/>
              <a:t> Tries (DLB)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805F8-F2CD-4258-ADF4-D29F47AFB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object looks like the following:</a:t>
            </a:r>
          </a:p>
          <a:p>
            <a:pPr marL="0" indent="0">
              <a:buNone/>
            </a:pPr>
            <a:r>
              <a:rPr lang="en-US" dirty="0"/>
              <a:t>private static class </a:t>
            </a:r>
            <a:r>
              <a:rPr lang="en-US" dirty="0" err="1"/>
              <a:t>DLB_Node</a:t>
            </a:r>
            <a:r>
              <a:rPr lang="en-US" dirty="0"/>
              <a:t>&lt;T&gt;{</a:t>
            </a:r>
          </a:p>
          <a:p>
            <a:pPr marL="0" indent="0">
              <a:buNone/>
            </a:pPr>
            <a:r>
              <a:rPr lang="en-US" dirty="0"/>
              <a:t>	private T </a:t>
            </a:r>
            <a:r>
              <a:rPr lang="en-US" dirty="0" err="1"/>
              <a:t>val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private </a:t>
            </a:r>
            <a:r>
              <a:rPr lang="en-US" dirty="0" err="1"/>
              <a:t>DLB_Node</a:t>
            </a:r>
            <a:r>
              <a:rPr lang="en-US" dirty="0"/>
              <a:t>&lt;T&gt; </a:t>
            </a:r>
            <a:r>
              <a:rPr lang="en-US" dirty="0" err="1"/>
              <a:t>child_node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private </a:t>
            </a:r>
            <a:r>
              <a:rPr lang="en-US" dirty="0" err="1"/>
              <a:t>DLB_Node</a:t>
            </a:r>
            <a:r>
              <a:rPr lang="en-US" dirty="0"/>
              <a:t>&lt;T&gt; </a:t>
            </a:r>
            <a:r>
              <a:rPr lang="en-US" dirty="0" err="1"/>
              <a:t>sibling_node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A terminator character will indicate the end of a word!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7C2B-1889-4204-8AEB-FA28501C6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la </a:t>
            </a:r>
            <a:r>
              <a:rPr lang="en-US" dirty="0" err="1"/>
              <a:t>Briandais</a:t>
            </a:r>
            <a:r>
              <a:rPr lang="en-US" dirty="0"/>
              <a:t> </a:t>
            </a:r>
            <a:r>
              <a:rPr lang="en-US" dirty="0" err="1"/>
              <a:t>Trie</a:t>
            </a:r>
            <a:r>
              <a:rPr lang="en-US" dirty="0"/>
              <a:t>: Insertion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4355A-259B-4655-80D2-0D4E59220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666999"/>
            <a:ext cx="10217467" cy="35814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Append Terminator char to key to insert. </a:t>
            </a:r>
          </a:p>
          <a:p>
            <a:r>
              <a:rPr lang="en-US" dirty="0"/>
              <a:t>Ex: If we have “She”, we’ll insert “She$” into the DLB.</a:t>
            </a:r>
          </a:p>
          <a:p>
            <a:pPr marL="0" indent="0">
              <a:buNone/>
            </a:pPr>
            <a:r>
              <a:rPr lang="en-US" dirty="0"/>
              <a:t>Navigate down If:</a:t>
            </a:r>
          </a:p>
          <a:p>
            <a:pPr marL="457200" indent="-457200">
              <a:buAutoNum type="arabicParenR"/>
            </a:pPr>
            <a:r>
              <a:rPr lang="en-US" dirty="0"/>
              <a:t>Char at </a:t>
            </a:r>
            <a:r>
              <a:rPr lang="en-US" dirty="0" err="1"/>
              <a:t>curr</a:t>
            </a:r>
            <a:r>
              <a:rPr lang="en-US" dirty="0"/>
              <a:t> node == </a:t>
            </a:r>
            <a:r>
              <a:rPr lang="en-US" dirty="0" err="1"/>
              <a:t>Curr</a:t>
            </a:r>
            <a:r>
              <a:rPr lang="en-US" dirty="0"/>
              <a:t> char of Key</a:t>
            </a:r>
          </a:p>
          <a:p>
            <a:pPr marL="457200" indent="-457200">
              <a:buAutoNum type="arabicParenR"/>
            </a:pPr>
            <a:r>
              <a:rPr lang="en-US" dirty="0"/>
              <a:t>Create new node if Child is NULL and not at end of word.</a:t>
            </a:r>
          </a:p>
          <a:p>
            <a:pPr marL="0" indent="0">
              <a:buNone/>
            </a:pPr>
            <a:r>
              <a:rPr lang="en-US" dirty="0"/>
              <a:t>Navigate to Sibling if: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Char at </a:t>
            </a:r>
            <a:r>
              <a:rPr lang="en-US" dirty="0" err="1"/>
              <a:t>curr</a:t>
            </a:r>
            <a:r>
              <a:rPr lang="en-US" dirty="0"/>
              <a:t> node != </a:t>
            </a:r>
            <a:r>
              <a:rPr lang="en-US" dirty="0" err="1"/>
              <a:t>Curr</a:t>
            </a:r>
            <a:r>
              <a:rPr lang="en-US" dirty="0"/>
              <a:t> char of Key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Create new node if Sibling is NULL and not at end of word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56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24CA-348B-4C09-A5AC-88251727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DLB: Edge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72222-F1E1-4B20-A204-FE86FEA97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about inserting the first word?</a:t>
            </a:r>
          </a:p>
          <a:p>
            <a:r>
              <a:rPr lang="en-US" dirty="0"/>
              <a:t>Just insert all vertically!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99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A04F-D96C-43BE-9B75-7C02851A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DLB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DF7DF-E0B2-471A-8DF8-CF481B727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Let’s try to insert:</a:t>
            </a:r>
          </a:p>
          <a:p>
            <a:r>
              <a:rPr lang="en-US" dirty="0"/>
              <a:t>She</a:t>
            </a:r>
          </a:p>
          <a:p>
            <a:r>
              <a:rPr lang="en-US" dirty="0"/>
              <a:t>Sells</a:t>
            </a:r>
          </a:p>
          <a:p>
            <a:r>
              <a:rPr lang="en-US" dirty="0"/>
              <a:t>Sea</a:t>
            </a:r>
          </a:p>
          <a:p>
            <a:r>
              <a:rPr lang="en-US" dirty="0"/>
              <a:t>By</a:t>
            </a:r>
          </a:p>
          <a:p>
            <a:pPr marL="0" indent="0">
              <a:buNone/>
            </a:pPr>
            <a:r>
              <a:rPr lang="en-US" dirty="0"/>
              <a:t>Let’s use ^ as the terminating character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2EEAB-1771-4BC8-BBFA-F1210C3C6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0201" y="108490"/>
            <a:ext cx="7729728" cy="1188720"/>
          </a:xfrm>
        </p:spPr>
        <p:txBody>
          <a:bodyPr/>
          <a:lstStyle/>
          <a:p>
            <a:r>
              <a:rPr lang="en-US" dirty="0"/>
              <a:t>DLB Insertion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C51B3-53CE-4DF1-8848-33B440A2A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Insert: she</a:t>
            </a:r>
          </a:p>
          <a:p>
            <a:r>
              <a:rPr lang="en-US" dirty="0"/>
              <a:t>Insert: sells</a:t>
            </a:r>
          </a:p>
          <a:p>
            <a:r>
              <a:rPr lang="en-US" dirty="0"/>
              <a:t>Insert: sea</a:t>
            </a:r>
          </a:p>
          <a:p>
            <a:r>
              <a:rPr lang="en-US" dirty="0"/>
              <a:t>Insert: by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A51782-AEF6-4B8A-BA38-14A917050F35}"/>
              </a:ext>
            </a:extLst>
          </p:cNvPr>
          <p:cNvSpPr/>
          <p:nvPr/>
        </p:nvSpPr>
        <p:spPr>
          <a:xfrm>
            <a:off x="7257415" y="1483799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7ED92-E3ED-4746-A589-8B47C56F4034}"/>
              </a:ext>
            </a:extLst>
          </p:cNvPr>
          <p:cNvSpPr txBox="1"/>
          <p:nvPr/>
        </p:nvSpPr>
        <p:spPr>
          <a:xfrm>
            <a:off x="5473668" y="1719433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Edge case!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ED6E13-F05F-4578-8F90-291174C16703}"/>
              </a:ext>
            </a:extLst>
          </p:cNvPr>
          <p:cNvSpPr txBox="1"/>
          <p:nvPr/>
        </p:nvSpPr>
        <p:spPr>
          <a:xfrm>
            <a:off x="5456922" y="209954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vertically!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94E637-45F6-4AA2-B629-7025F6243716}"/>
              </a:ext>
            </a:extLst>
          </p:cNvPr>
          <p:cNvCxnSpPr/>
          <p:nvPr/>
        </p:nvCxnSpPr>
        <p:spPr>
          <a:xfrm>
            <a:off x="7470775" y="1967461"/>
            <a:ext cx="0" cy="3759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316DDC6-E9E4-4A37-833C-C0FF698BAD47}"/>
              </a:ext>
            </a:extLst>
          </p:cNvPr>
          <p:cNvSpPr/>
          <p:nvPr/>
        </p:nvSpPr>
        <p:spPr>
          <a:xfrm>
            <a:off x="7257415" y="2403926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h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9EB323-BB54-4A5E-92F2-550F65017F62}"/>
              </a:ext>
            </a:extLst>
          </p:cNvPr>
          <p:cNvCxnSpPr/>
          <p:nvPr/>
        </p:nvCxnSpPr>
        <p:spPr>
          <a:xfrm>
            <a:off x="7470775" y="2887588"/>
            <a:ext cx="0" cy="3759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5F387F5-B0B7-4846-BFFD-9D8F1F1E9042}"/>
              </a:ext>
            </a:extLst>
          </p:cNvPr>
          <p:cNvSpPr/>
          <p:nvPr/>
        </p:nvSpPr>
        <p:spPr>
          <a:xfrm>
            <a:off x="7257415" y="3427515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0FDFEF-956B-4E44-8A26-95ED20291C3F}"/>
              </a:ext>
            </a:extLst>
          </p:cNvPr>
          <p:cNvCxnSpPr/>
          <p:nvPr/>
        </p:nvCxnSpPr>
        <p:spPr>
          <a:xfrm>
            <a:off x="7470775" y="3911177"/>
            <a:ext cx="0" cy="3759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042FA8E-DCB7-46B9-8F53-89520D22EF6F}"/>
              </a:ext>
            </a:extLst>
          </p:cNvPr>
          <p:cNvSpPr/>
          <p:nvPr/>
        </p:nvSpPr>
        <p:spPr>
          <a:xfrm>
            <a:off x="7257415" y="4343616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^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1EC8F1-4A65-48F9-9FE7-3518CF5C5F8C}"/>
              </a:ext>
            </a:extLst>
          </p:cNvPr>
          <p:cNvCxnSpPr>
            <a:cxnSpLocks/>
          </p:cNvCxnSpPr>
          <p:nvPr/>
        </p:nvCxnSpPr>
        <p:spPr>
          <a:xfrm rot="5400000">
            <a:off x="7968615" y="1515647"/>
            <a:ext cx="0" cy="375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169E31E-1A3A-4533-88AC-AE4D2AF8ACFF}"/>
              </a:ext>
            </a:extLst>
          </p:cNvPr>
          <p:cNvSpPr txBox="1"/>
          <p:nvPr/>
        </p:nvSpPr>
        <p:spPr>
          <a:xfrm>
            <a:off x="7803546" y="1315127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== s, navigate down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C3F7BA-5017-4D41-9A58-96F8E209ABE4}"/>
              </a:ext>
            </a:extLst>
          </p:cNvPr>
          <p:cNvCxnSpPr/>
          <p:nvPr/>
        </p:nvCxnSpPr>
        <p:spPr>
          <a:xfrm>
            <a:off x="7467600" y="1966166"/>
            <a:ext cx="0" cy="375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9C5B78-144B-40C3-BFF0-24EB490EFFF7}"/>
              </a:ext>
            </a:extLst>
          </p:cNvPr>
          <p:cNvCxnSpPr>
            <a:cxnSpLocks/>
          </p:cNvCxnSpPr>
          <p:nvPr/>
        </p:nvCxnSpPr>
        <p:spPr>
          <a:xfrm rot="5400000">
            <a:off x="7938135" y="2423074"/>
            <a:ext cx="0" cy="375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5679F89-9776-4352-87AE-6EB3E41D7895}"/>
              </a:ext>
            </a:extLst>
          </p:cNvPr>
          <p:cNvSpPr txBox="1"/>
          <p:nvPr/>
        </p:nvSpPr>
        <p:spPr>
          <a:xfrm>
            <a:off x="7775932" y="2113781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ref not null, but e != 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EAB397-DB15-438D-9761-6D2701BA06BB}"/>
              </a:ext>
            </a:extLst>
          </p:cNvPr>
          <p:cNvSpPr txBox="1"/>
          <p:nvPr/>
        </p:nvSpPr>
        <p:spPr>
          <a:xfrm>
            <a:off x="7750175" y="2617730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Look at sibling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F11B36-E240-4677-AB41-5838CAFD83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68615" y="2421734"/>
            <a:ext cx="0" cy="3759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E392185-FC71-4983-9891-77A9BC67A70E}"/>
              </a:ext>
            </a:extLst>
          </p:cNvPr>
          <p:cNvSpPr txBox="1"/>
          <p:nvPr/>
        </p:nvSpPr>
        <p:spPr>
          <a:xfrm>
            <a:off x="9125714" y="2262374"/>
            <a:ext cx="2254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sibling null, create </a:t>
            </a:r>
          </a:p>
          <a:p>
            <a:pPr algn="ctr"/>
            <a:r>
              <a:rPr lang="en-US" dirty="0"/>
              <a:t>sibling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107962-E81B-471B-AD90-B51A5E20EE7E}"/>
              </a:ext>
            </a:extLst>
          </p:cNvPr>
          <p:cNvSpPr/>
          <p:nvPr/>
        </p:nvSpPr>
        <p:spPr>
          <a:xfrm>
            <a:off x="8222615" y="2398090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C18623-DD47-434D-A4AB-9AC99A904835}"/>
              </a:ext>
            </a:extLst>
          </p:cNvPr>
          <p:cNvSpPr txBox="1"/>
          <p:nvPr/>
        </p:nvSpPr>
        <p:spPr>
          <a:xfrm>
            <a:off x="8649335" y="2956273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down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8D7F1B1-D055-4FB0-84A0-2445BD080470}"/>
              </a:ext>
            </a:extLst>
          </p:cNvPr>
          <p:cNvCxnSpPr>
            <a:cxnSpLocks/>
          </p:cNvCxnSpPr>
          <p:nvPr/>
        </p:nvCxnSpPr>
        <p:spPr>
          <a:xfrm>
            <a:off x="8435975" y="2887588"/>
            <a:ext cx="0" cy="3759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DD457D6-965A-4B90-9BE0-697637C2D20C}"/>
              </a:ext>
            </a:extLst>
          </p:cNvPr>
          <p:cNvSpPr txBox="1"/>
          <p:nvPr/>
        </p:nvSpPr>
        <p:spPr>
          <a:xfrm>
            <a:off x="8843760" y="3329360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null, create </a:t>
            </a:r>
          </a:p>
          <a:p>
            <a:pPr algn="ctr"/>
            <a:r>
              <a:rPr lang="en-US" dirty="0"/>
              <a:t>child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092899-B56F-4512-B805-F60714EEE427}"/>
              </a:ext>
            </a:extLst>
          </p:cNvPr>
          <p:cNvSpPr/>
          <p:nvPr/>
        </p:nvSpPr>
        <p:spPr>
          <a:xfrm>
            <a:off x="8222615" y="3397140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9D8FF2-D277-42D5-B724-F4A1C5EA6759}"/>
              </a:ext>
            </a:extLst>
          </p:cNvPr>
          <p:cNvSpPr txBox="1"/>
          <p:nvPr/>
        </p:nvSpPr>
        <p:spPr>
          <a:xfrm>
            <a:off x="8844066" y="3940621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down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D85D492-F577-4E22-B331-9DF0563CBF75}"/>
              </a:ext>
            </a:extLst>
          </p:cNvPr>
          <p:cNvCxnSpPr>
            <a:cxnSpLocks/>
          </p:cNvCxnSpPr>
          <p:nvPr/>
        </p:nvCxnSpPr>
        <p:spPr>
          <a:xfrm>
            <a:off x="8435975" y="3911177"/>
            <a:ext cx="0" cy="3759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A5D5229-3C78-4F00-B817-74002C773BA8}"/>
              </a:ext>
            </a:extLst>
          </p:cNvPr>
          <p:cNvSpPr txBox="1"/>
          <p:nvPr/>
        </p:nvSpPr>
        <p:spPr>
          <a:xfrm>
            <a:off x="8873988" y="4328454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null, create </a:t>
            </a:r>
          </a:p>
          <a:p>
            <a:pPr algn="ctr"/>
            <a:r>
              <a:rPr lang="en-US" dirty="0"/>
              <a:t>child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56B375-87CF-4071-963E-394A390A319C}"/>
              </a:ext>
            </a:extLst>
          </p:cNvPr>
          <p:cNvSpPr/>
          <p:nvPr/>
        </p:nvSpPr>
        <p:spPr>
          <a:xfrm>
            <a:off x="8228262" y="4354534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87AB71-8417-43B6-89D1-3047252078CB}"/>
              </a:ext>
            </a:extLst>
          </p:cNvPr>
          <p:cNvSpPr txBox="1"/>
          <p:nvPr/>
        </p:nvSpPr>
        <p:spPr>
          <a:xfrm>
            <a:off x="8947153" y="4958216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down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6CDB83-F1A8-424D-9B1A-468A16C0AE7E}"/>
              </a:ext>
            </a:extLst>
          </p:cNvPr>
          <p:cNvCxnSpPr>
            <a:cxnSpLocks/>
          </p:cNvCxnSpPr>
          <p:nvPr/>
        </p:nvCxnSpPr>
        <p:spPr>
          <a:xfrm>
            <a:off x="8429859" y="4905461"/>
            <a:ext cx="0" cy="3759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7EDDAFB-44F7-4766-A629-E942F425A87D}"/>
              </a:ext>
            </a:extLst>
          </p:cNvPr>
          <p:cNvSpPr txBox="1"/>
          <p:nvPr/>
        </p:nvSpPr>
        <p:spPr>
          <a:xfrm>
            <a:off x="8953518" y="5281381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null, create </a:t>
            </a:r>
          </a:p>
          <a:p>
            <a:pPr algn="ctr"/>
            <a:r>
              <a:rPr lang="en-US" dirty="0"/>
              <a:t>child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C275655-EA14-4E62-899D-27FE793007F4}"/>
              </a:ext>
            </a:extLst>
          </p:cNvPr>
          <p:cNvSpPr/>
          <p:nvPr/>
        </p:nvSpPr>
        <p:spPr>
          <a:xfrm>
            <a:off x="8228262" y="5336979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539DBF-7985-4036-A91B-BA8E939DBCFB}"/>
              </a:ext>
            </a:extLst>
          </p:cNvPr>
          <p:cNvSpPr txBox="1"/>
          <p:nvPr/>
        </p:nvSpPr>
        <p:spPr>
          <a:xfrm>
            <a:off x="9010689" y="5864976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down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FBC590-C4F8-4054-B541-062617EF47A2}"/>
              </a:ext>
            </a:extLst>
          </p:cNvPr>
          <p:cNvCxnSpPr>
            <a:cxnSpLocks/>
          </p:cNvCxnSpPr>
          <p:nvPr/>
        </p:nvCxnSpPr>
        <p:spPr>
          <a:xfrm>
            <a:off x="8414619" y="5829772"/>
            <a:ext cx="0" cy="3759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9DE6D08-6CF2-410F-8582-6445639F8386}"/>
              </a:ext>
            </a:extLst>
          </p:cNvPr>
          <p:cNvSpPr txBox="1"/>
          <p:nvPr/>
        </p:nvSpPr>
        <p:spPr>
          <a:xfrm>
            <a:off x="8953518" y="6205692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null, create </a:t>
            </a:r>
          </a:p>
          <a:p>
            <a:pPr algn="ctr"/>
            <a:r>
              <a:rPr lang="en-US" dirty="0"/>
              <a:t>child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8CC245F-E4F7-4220-9403-5D98C4D29C98}"/>
              </a:ext>
            </a:extLst>
          </p:cNvPr>
          <p:cNvSpPr/>
          <p:nvPr/>
        </p:nvSpPr>
        <p:spPr>
          <a:xfrm>
            <a:off x="8222615" y="6234308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^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1F69F6-EFFA-4189-8CC3-B9710FE62896}"/>
              </a:ext>
            </a:extLst>
          </p:cNvPr>
          <p:cNvSpPr txBox="1"/>
          <p:nvPr/>
        </p:nvSpPr>
        <p:spPr>
          <a:xfrm>
            <a:off x="7803546" y="1304045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== s, navigate down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30398A4-E419-4A1F-91B1-5A485732AD8C}"/>
              </a:ext>
            </a:extLst>
          </p:cNvPr>
          <p:cNvCxnSpPr>
            <a:cxnSpLocks/>
          </p:cNvCxnSpPr>
          <p:nvPr/>
        </p:nvCxnSpPr>
        <p:spPr>
          <a:xfrm rot="5400000">
            <a:off x="7968615" y="1515647"/>
            <a:ext cx="0" cy="375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0AFD7B5-3369-4641-ABCC-AE75F5CB3FB2}"/>
              </a:ext>
            </a:extLst>
          </p:cNvPr>
          <p:cNvCxnSpPr/>
          <p:nvPr/>
        </p:nvCxnSpPr>
        <p:spPr>
          <a:xfrm>
            <a:off x="7470775" y="1967902"/>
            <a:ext cx="0" cy="375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B92832A-D99A-46D7-AC49-25D59D20E88E}"/>
              </a:ext>
            </a:extLst>
          </p:cNvPr>
          <p:cNvCxnSpPr>
            <a:cxnSpLocks/>
          </p:cNvCxnSpPr>
          <p:nvPr/>
        </p:nvCxnSpPr>
        <p:spPr>
          <a:xfrm rot="5400000">
            <a:off x="7958177" y="2413330"/>
            <a:ext cx="0" cy="375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DD784B9-2234-42DE-A469-AD01BA320548}"/>
              </a:ext>
            </a:extLst>
          </p:cNvPr>
          <p:cNvSpPr txBox="1"/>
          <p:nvPr/>
        </p:nvSpPr>
        <p:spPr>
          <a:xfrm>
            <a:off x="7778163" y="2105054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ref not null, but e != h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9D180C-9464-405C-98C0-032FE3B9CCCC}"/>
              </a:ext>
            </a:extLst>
          </p:cNvPr>
          <p:cNvSpPr txBox="1"/>
          <p:nvPr/>
        </p:nvSpPr>
        <p:spPr>
          <a:xfrm>
            <a:off x="9313063" y="2268549"/>
            <a:ext cx="1895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Sibling not null, </a:t>
            </a:r>
          </a:p>
          <a:p>
            <a:pPr algn="ctr"/>
            <a:r>
              <a:rPr lang="en-US" dirty="0"/>
              <a:t>and e == 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DC7B96C-84F0-4AFD-A8D0-A670F1F19D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65488" y="2419056"/>
            <a:ext cx="0" cy="375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8FAC681-34C9-4C0D-9A90-AB22F0F4A1AD}"/>
              </a:ext>
            </a:extLst>
          </p:cNvPr>
          <p:cNvSpPr txBox="1"/>
          <p:nvPr/>
        </p:nvSpPr>
        <p:spPr>
          <a:xfrm>
            <a:off x="8659318" y="2956010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down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E305D1D-AF59-4CF7-849E-0FF05A540054}"/>
              </a:ext>
            </a:extLst>
          </p:cNvPr>
          <p:cNvCxnSpPr/>
          <p:nvPr/>
        </p:nvCxnSpPr>
        <p:spPr>
          <a:xfrm>
            <a:off x="8443126" y="2887588"/>
            <a:ext cx="0" cy="375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62753F0-CD88-459A-AFFB-760D54321EA4}"/>
              </a:ext>
            </a:extLst>
          </p:cNvPr>
          <p:cNvSpPr txBox="1"/>
          <p:nvPr/>
        </p:nvSpPr>
        <p:spPr>
          <a:xfrm>
            <a:off x="8873988" y="3331048"/>
            <a:ext cx="1739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 non-null,</a:t>
            </a:r>
          </a:p>
          <a:p>
            <a:r>
              <a:rPr lang="en-US" dirty="0"/>
              <a:t>but a != l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3917169-6382-4ADA-92A9-D948A19A40AB}"/>
              </a:ext>
            </a:extLst>
          </p:cNvPr>
          <p:cNvCxnSpPr>
            <a:cxnSpLocks/>
          </p:cNvCxnSpPr>
          <p:nvPr/>
        </p:nvCxnSpPr>
        <p:spPr>
          <a:xfrm rot="5400000">
            <a:off x="8873988" y="3423908"/>
            <a:ext cx="0" cy="375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EF368BE-1BEF-4092-B96C-732FB533433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33815" y="3423581"/>
            <a:ext cx="0" cy="3759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1D55C09-FF30-4271-BBAF-614B70359169}"/>
              </a:ext>
            </a:extLst>
          </p:cNvPr>
          <p:cNvSpPr txBox="1"/>
          <p:nvPr/>
        </p:nvSpPr>
        <p:spPr>
          <a:xfrm>
            <a:off x="8891363" y="3596635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Look at sibling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2C4674-18A4-428F-9C4D-57BDD909B14C}"/>
              </a:ext>
            </a:extLst>
          </p:cNvPr>
          <p:cNvSpPr txBox="1"/>
          <p:nvPr/>
        </p:nvSpPr>
        <p:spPr>
          <a:xfrm>
            <a:off x="8864721" y="3638517"/>
            <a:ext cx="2190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sibling null, create</a:t>
            </a:r>
          </a:p>
          <a:p>
            <a:pPr algn="ctr"/>
            <a:r>
              <a:rPr lang="en-US" dirty="0"/>
              <a:t>sibling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06EC839-7A81-4322-8067-189232EA8D11}"/>
              </a:ext>
            </a:extLst>
          </p:cNvPr>
          <p:cNvSpPr/>
          <p:nvPr/>
        </p:nvSpPr>
        <p:spPr>
          <a:xfrm>
            <a:off x="9148964" y="3419475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1519E6-4180-4F1E-8D01-9DDA24563E91}"/>
              </a:ext>
            </a:extLst>
          </p:cNvPr>
          <p:cNvSpPr txBox="1"/>
          <p:nvPr/>
        </p:nvSpPr>
        <p:spPr>
          <a:xfrm>
            <a:off x="9505784" y="3807326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down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51588E4-ED2E-4612-AD29-123377F18327}"/>
              </a:ext>
            </a:extLst>
          </p:cNvPr>
          <p:cNvCxnSpPr>
            <a:cxnSpLocks/>
          </p:cNvCxnSpPr>
          <p:nvPr/>
        </p:nvCxnSpPr>
        <p:spPr>
          <a:xfrm>
            <a:off x="9342764" y="3934033"/>
            <a:ext cx="0" cy="3759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9C58FE8-0B7C-4009-A299-A04F8886EDBA}"/>
              </a:ext>
            </a:extLst>
          </p:cNvPr>
          <p:cNvSpPr txBox="1"/>
          <p:nvPr/>
        </p:nvSpPr>
        <p:spPr>
          <a:xfrm>
            <a:off x="9480057" y="4139186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null, create </a:t>
            </a:r>
          </a:p>
          <a:p>
            <a:pPr algn="ctr"/>
            <a:r>
              <a:rPr lang="en-US" dirty="0"/>
              <a:t>child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637804D-4673-4AE6-862B-F65AE39FCA57}"/>
              </a:ext>
            </a:extLst>
          </p:cNvPr>
          <p:cNvSpPr/>
          <p:nvPr/>
        </p:nvSpPr>
        <p:spPr>
          <a:xfrm>
            <a:off x="9121775" y="4353998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^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4EA0056-1128-4086-A458-EE46B93DB456}"/>
              </a:ext>
            </a:extLst>
          </p:cNvPr>
          <p:cNvCxnSpPr>
            <a:cxnSpLocks/>
          </p:cNvCxnSpPr>
          <p:nvPr/>
        </p:nvCxnSpPr>
        <p:spPr>
          <a:xfrm rot="5400000">
            <a:off x="7968615" y="1515647"/>
            <a:ext cx="0" cy="375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ADFA071-71BC-4B47-8C02-075FFE507195}"/>
              </a:ext>
            </a:extLst>
          </p:cNvPr>
          <p:cNvSpPr txBox="1"/>
          <p:nvPr/>
        </p:nvSpPr>
        <p:spPr>
          <a:xfrm>
            <a:off x="7803546" y="1304569"/>
            <a:ext cx="234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 != s, check sibling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E22D31-912F-43E8-9084-6D66CD5CF702}"/>
              </a:ext>
            </a:extLst>
          </p:cNvPr>
          <p:cNvSpPr txBox="1"/>
          <p:nvPr/>
        </p:nvSpPr>
        <p:spPr>
          <a:xfrm>
            <a:off x="7734475" y="1784794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Look at sibling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14C767C-08F6-4E1D-B91E-AAE906F050DE}"/>
              </a:ext>
            </a:extLst>
          </p:cNvPr>
          <p:cNvCxnSpPr>
            <a:cxnSpLocks/>
          </p:cNvCxnSpPr>
          <p:nvPr/>
        </p:nvCxnSpPr>
        <p:spPr>
          <a:xfrm>
            <a:off x="7803546" y="1697605"/>
            <a:ext cx="2347117" cy="545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E327719-3A25-4F6F-8176-235802BF1B00}"/>
              </a:ext>
            </a:extLst>
          </p:cNvPr>
          <p:cNvSpPr txBox="1"/>
          <p:nvPr/>
        </p:nvSpPr>
        <p:spPr>
          <a:xfrm>
            <a:off x="8759140" y="1833479"/>
            <a:ext cx="16866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sibling null, </a:t>
            </a:r>
          </a:p>
          <a:p>
            <a:pPr algn="ctr"/>
            <a:r>
              <a:rPr lang="en-US" dirty="0"/>
              <a:t>create sibling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A373F49-1B65-4CD4-AC4A-9BC29D6C6BF3}"/>
              </a:ext>
            </a:extLst>
          </p:cNvPr>
          <p:cNvSpPr/>
          <p:nvPr/>
        </p:nvSpPr>
        <p:spPr>
          <a:xfrm>
            <a:off x="10265647" y="1532865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FB5352-E13B-4343-80B9-EEC169AFBE3B}"/>
              </a:ext>
            </a:extLst>
          </p:cNvPr>
          <p:cNvSpPr txBox="1"/>
          <p:nvPr/>
        </p:nvSpPr>
        <p:spPr>
          <a:xfrm>
            <a:off x="8483183" y="1995303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down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D34D914-5402-4089-8488-3F7D0D21CEE7}"/>
              </a:ext>
            </a:extLst>
          </p:cNvPr>
          <p:cNvCxnSpPr>
            <a:cxnSpLocks/>
          </p:cNvCxnSpPr>
          <p:nvPr/>
        </p:nvCxnSpPr>
        <p:spPr>
          <a:xfrm>
            <a:off x="10465104" y="1995303"/>
            <a:ext cx="0" cy="3759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881B645-EF0E-4BC9-81B7-2B4126851875}"/>
              </a:ext>
            </a:extLst>
          </p:cNvPr>
          <p:cNvSpPr txBox="1"/>
          <p:nvPr/>
        </p:nvSpPr>
        <p:spPr>
          <a:xfrm>
            <a:off x="8535326" y="2375731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null, create </a:t>
            </a:r>
          </a:p>
          <a:p>
            <a:pPr algn="ctr"/>
            <a:r>
              <a:rPr lang="en-US" dirty="0"/>
              <a:t>child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8ED6C92-2017-400C-BC42-E18B0AA0E687}"/>
              </a:ext>
            </a:extLst>
          </p:cNvPr>
          <p:cNvSpPr/>
          <p:nvPr/>
        </p:nvSpPr>
        <p:spPr>
          <a:xfrm>
            <a:off x="10265647" y="2424322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541199D-C9DC-45B5-9C3C-698CE3603B2B}"/>
              </a:ext>
            </a:extLst>
          </p:cNvPr>
          <p:cNvSpPr txBox="1"/>
          <p:nvPr/>
        </p:nvSpPr>
        <p:spPr>
          <a:xfrm>
            <a:off x="8643688" y="2957270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navigate down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E997180-6D41-42ED-94B3-96936565812C}"/>
              </a:ext>
            </a:extLst>
          </p:cNvPr>
          <p:cNvCxnSpPr>
            <a:cxnSpLocks/>
          </p:cNvCxnSpPr>
          <p:nvPr/>
        </p:nvCxnSpPr>
        <p:spPr>
          <a:xfrm>
            <a:off x="10479007" y="2876266"/>
            <a:ext cx="0" cy="3759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66F841E-043B-444A-A4A7-71058A90CC83}"/>
              </a:ext>
            </a:extLst>
          </p:cNvPr>
          <p:cNvSpPr txBox="1"/>
          <p:nvPr/>
        </p:nvSpPr>
        <p:spPr>
          <a:xfrm>
            <a:off x="10161481" y="3238177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child null, create </a:t>
            </a:r>
          </a:p>
          <a:p>
            <a:pPr algn="ctr"/>
            <a:r>
              <a:rPr lang="en-US" dirty="0"/>
              <a:t>child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8F5957D-C218-48A4-B709-1FF94AB04359}"/>
              </a:ext>
            </a:extLst>
          </p:cNvPr>
          <p:cNvSpPr/>
          <p:nvPr/>
        </p:nvSpPr>
        <p:spPr>
          <a:xfrm>
            <a:off x="10265647" y="3297987"/>
            <a:ext cx="426720" cy="4064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^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10A6DD-0AC6-4BC0-8B9F-7660207EB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" y="0"/>
            <a:ext cx="12181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8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6" grpId="0" uiExpand="1"/>
      <p:bldP spid="7" grpId="0" uiExpand="1"/>
      <p:bldP spid="10" grpId="0" uiExpand="1" animBg="1"/>
      <p:bldP spid="12" grpId="0" uiExpand="1" animBg="1"/>
      <p:bldP spid="14" grpId="0" uiExpand="1" animBg="1"/>
      <p:bldP spid="17" grpId="0" uiExpand="1"/>
      <p:bldP spid="20" grpId="0" uiExpand="1"/>
      <p:bldP spid="21" grpId="0" uiExpand="1"/>
      <p:bldP spid="24" grpId="0" uiExpand="1"/>
      <p:bldP spid="25" grpId="0" uiExpand="1" animBg="1"/>
      <p:bldP spid="26" grpId="0" uiExpand="1"/>
      <p:bldP spid="29" grpId="0" uiExpand="1"/>
      <p:bldP spid="30" grpId="0" uiExpand="1" animBg="1"/>
      <p:bldP spid="31" grpId="0" uiExpand="1"/>
      <p:bldP spid="33" grpId="0" uiExpand="1"/>
      <p:bldP spid="34" grpId="0" uiExpand="1" animBg="1"/>
      <p:bldP spid="36" grpId="0" uiExpand="1"/>
      <p:bldP spid="38" grpId="0" uiExpand="1"/>
      <p:bldP spid="39" grpId="0" uiExpand="1" animBg="1"/>
      <p:bldP spid="40" grpId="0" uiExpand="1"/>
      <p:bldP spid="43" grpId="0" uiExpand="1"/>
      <p:bldP spid="44" grpId="0" uiExpand="1" animBg="1"/>
      <p:bldP spid="45" grpId="0" uiExpand="1"/>
      <p:bldP spid="50" grpId="0" uiExpand="1"/>
      <p:bldP spid="51" grpId="0" uiExpand="1"/>
      <p:bldP spid="53" grpId="0" uiExpand="1"/>
      <p:bldP spid="55" grpId="0" uiExpand="1"/>
      <p:bldP spid="59" grpId="0" uiExpand="1"/>
      <p:bldP spid="60" grpId="0" uiExpand="1"/>
      <p:bldP spid="61" grpId="0" uiExpand="1" animBg="1"/>
      <p:bldP spid="62" grpId="0" uiExpand="1"/>
      <p:bldP spid="64" grpId="0" uiExpand="1"/>
      <p:bldP spid="65" grpId="0" uiExpand="1" animBg="1"/>
      <p:bldP spid="68" grpId="0" uiExpand="1"/>
      <p:bldP spid="69" grpId="0" uiExpand="1"/>
      <p:bldP spid="71" grpId="0" uiExpand="1"/>
      <p:bldP spid="73" grpId="0" uiExpand="1" animBg="1"/>
      <p:bldP spid="75" grpId="0" uiExpand="1"/>
      <p:bldP spid="77" grpId="0" uiExpand="1"/>
      <p:bldP spid="78" grpId="0" uiExpand="1" animBg="1"/>
      <p:bldP spid="79" grpId="0" uiExpand="1"/>
      <p:bldP spid="81" grpId="0" uiExpand="1"/>
      <p:bldP spid="82" grpId="0" uiExpan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96B7-B11B-4B19-BB7C-72764367C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DLB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BA3F7B-BFF1-40C2-B96E-7807E8DAE0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Typically, runtime is: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BA3F7B-BFF1-40C2-B96E-7807E8DAE0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140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8BBB7-800E-4EFC-BC05-83300AC2B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DLB vs. R-Way </a:t>
            </a:r>
            <a:r>
              <a:rPr lang="en-US" dirty="0" err="1"/>
              <a:t>Trie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8573-5988-4A88-BC35-25344B184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If data is sparse (Long and Non-discrete): DLB</a:t>
            </a:r>
          </a:p>
          <a:p>
            <a:pPr marL="457200" indent="-457200">
              <a:buAutoNum type="arabicParenR"/>
            </a:pPr>
            <a:r>
              <a:rPr lang="en-US" dirty="0"/>
              <a:t>Using very few references per node</a:t>
            </a:r>
          </a:p>
          <a:p>
            <a:pPr marL="457200" indent="-457200">
              <a:buAutoNum type="arabicParenR"/>
            </a:pPr>
            <a:r>
              <a:rPr lang="en-US" dirty="0"/>
              <a:t>If we use an R-way </a:t>
            </a:r>
            <a:r>
              <a:rPr lang="en-US" dirty="0" err="1"/>
              <a:t>trie</a:t>
            </a:r>
            <a:r>
              <a:rPr lang="en-US" dirty="0"/>
              <a:t>, we’ll end up with a lot of wasted references!</a:t>
            </a:r>
          </a:p>
          <a:p>
            <a:pPr marL="457200" indent="-457200">
              <a:buAutoNum type="arabicParenR"/>
            </a:pPr>
            <a:r>
              <a:rPr lang="en-US" dirty="0"/>
              <a:t>Essentially, the overhead for linked lists is minimized! (linked list chains very short)</a:t>
            </a:r>
          </a:p>
          <a:p>
            <a:pPr marL="0" indent="0">
              <a:buNone/>
            </a:pPr>
            <a:r>
              <a:rPr lang="en-US" dirty="0"/>
              <a:t>If data is dense (Short and Random): R-way </a:t>
            </a:r>
            <a:r>
              <a:rPr lang="en-US" dirty="0" err="1"/>
              <a:t>Trie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Using many references per node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Runtime of DLB is maximized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The wasted space of R-way tries are minimized</a:t>
            </a:r>
          </a:p>
        </p:txBody>
      </p:sp>
    </p:spTree>
    <p:extLst>
      <p:ext uri="{BB962C8B-B14F-4D97-AF65-F5344CB8AC3E}">
        <p14:creationId xmlns:p14="http://schemas.microsoft.com/office/powerpoint/2010/main" val="397010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7B97-BE72-45E2-8C2B-29C6B4F8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584C7-2277-4498-9B0F-0DC278536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we somehow combined the two approaches, so we could get the best of both worlds?</a:t>
            </a:r>
          </a:p>
          <a:p>
            <a:r>
              <a:rPr lang="en-US" dirty="0"/>
              <a:t>What would this look like?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For a small number of branches, use an RST, then switch to a DLB as the number of branches increases!</a:t>
            </a:r>
          </a:p>
          <a:p>
            <a:r>
              <a:rPr lang="en-US" dirty="0"/>
              <a:t>What’s the downside? Engineering Effort!</a:t>
            </a:r>
          </a:p>
        </p:txBody>
      </p:sp>
    </p:spTree>
    <p:extLst>
      <p:ext uri="{BB962C8B-B14F-4D97-AF65-F5344CB8AC3E}">
        <p14:creationId xmlns:p14="http://schemas.microsoft.com/office/powerpoint/2010/main" val="348372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51E360FFF8E045BC9E794BF0F8E060" ma:contentTypeVersion="4" ma:contentTypeDescription="Create a new document." ma:contentTypeScope="" ma:versionID="601fb0477c1a00ea6c9cdda8af407385">
  <xsd:schema xmlns:xsd="http://www.w3.org/2001/XMLSchema" xmlns:xs="http://www.w3.org/2001/XMLSchema" xmlns:p="http://schemas.microsoft.com/office/2006/metadata/properties" xmlns:ns3="b12b050b-08b8-4c9a-9e6b-d2ba71f76ee2" targetNamespace="http://schemas.microsoft.com/office/2006/metadata/properties" ma:root="true" ma:fieldsID="f3c9c52ccd6619c053e6551ce3886dd6" ns3:_="">
    <xsd:import namespace="b12b050b-08b8-4c9a-9e6b-d2ba71f76ee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2b050b-08b8-4c9a-9e6b-d2ba71f76e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D625F4-66D5-475F-926E-637DA85674DA}">
  <ds:schemaRefs>
    <ds:schemaRef ds:uri="http://schemas.microsoft.com/office/2006/documentManagement/types"/>
    <ds:schemaRef ds:uri="http://schemas.microsoft.com/office/2006/metadata/properties"/>
    <ds:schemaRef ds:uri="b12b050b-08b8-4c9a-9e6b-d2ba71f76ee2"/>
    <ds:schemaRef ds:uri="http://www.w3.org/XML/1998/namespace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2A8F262-ADEB-426B-9547-C1288F064D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2b050b-08b8-4c9a-9e6b-d2ba71f76e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D6361B-42F3-4F16-BF0D-EEAD814363A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2676</TotalTime>
  <Words>3244</Words>
  <Application>Microsoft Office PowerPoint</Application>
  <PresentationFormat>Widescreen</PresentationFormat>
  <Paragraphs>804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Cambria Math</vt:lpstr>
      <vt:lpstr>Gill Sans MT</vt:lpstr>
      <vt:lpstr>Parcel</vt:lpstr>
      <vt:lpstr>CS 1501: Searching</vt:lpstr>
      <vt:lpstr>A brief note on these slides</vt:lpstr>
      <vt:lpstr>The classic Search Problem</vt:lpstr>
      <vt:lpstr>A recap of Operations on some Data Structures</vt:lpstr>
      <vt:lpstr>Unsorted Array</vt:lpstr>
      <vt:lpstr>sorted Array</vt:lpstr>
      <vt:lpstr>Unsorted Linked list</vt:lpstr>
      <vt:lpstr>sorted Linked list</vt:lpstr>
      <vt:lpstr>Binary Search Tree (BST)</vt:lpstr>
      <vt:lpstr>Something New… Symbol Tables!</vt:lpstr>
      <vt:lpstr>Symbol Tables: Key Functions</vt:lpstr>
      <vt:lpstr>Binary Search Tree: Review</vt:lpstr>
      <vt:lpstr>Remember the discussion of Comparison vs. Non-comparison?</vt:lpstr>
      <vt:lpstr>Enter: Digital Search Trees (Dst)</vt:lpstr>
      <vt:lpstr>DST example</vt:lpstr>
      <vt:lpstr>DST: Insertion</vt:lpstr>
      <vt:lpstr>DST Search:</vt:lpstr>
      <vt:lpstr>DST Search</vt:lpstr>
      <vt:lpstr>DST Analysis:</vt:lpstr>
      <vt:lpstr>Wait a second…</vt:lpstr>
      <vt:lpstr>Something’s Still troubling…</vt:lpstr>
      <vt:lpstr>Enter: Tries</vt:lpstr>
      <vt:lpstr>Radix Search Tries (RST)</vt:lpstr>
      <vt:lpstr>RST Example:</vt:lpstr>
      <vt:lpstr>RST Insertion: </vt:lpstr>
      <vt:lpstr>RST Search </vt:lpstr>
      <vt:lpstr>But…</vt:lpstr>
      <vt:lpstr>Enter: Large Branching Factor Tries</vt:lpstr>
      <vt:lpstr>Large Branching factor trie: Example</vt:lpstr>
      <vt:lpstr>Large Branching Factor Trie: Insertion </vt:lpstr>
      <vt:lpstr>Implementation Concerns: Tries</vt:lpstr>
      <vt:lpstr>The R-way Trie: Implementation</vt:lpstr>
      <vt:lpstr>The R-way Trie: In action</vt:lpstr>
      <vt:lpstr>The R-Way Trie: Insertion</vt:lpstr>
      <vt:lpstr>R-Way Trie analysis:</vt:lpstr>
      <vt:lpstr>R-Way Trie Further Analysis</vt:lpstr>
      <vt:lpstr>R-Way Trie vs RST Miss Times</vt:lpstr>
      <vt:lpstr>Are there any drawbacks of using a rst?</vt:lpstr>
      <vt:lpstr>Enter: De La Briandais Tries (DLB)</vt:lpstr>
      <vt:lpstr>De la Briandais Trie: Insertion</vt:lpstr>
      <vt:lpstr>DLB: Edge case</vt:lpstr>
      <vt:lpstr>DLB In action</vt:lpstr>
      <vt:lpstr>DLB Insertion</vt:lpstr>
      <vt:lpstr>DLB Analysis</vt:lpstr>
      <vt:lpstr>DLB vs. R-Way Trie</vt:lpstr>
      <vt:lpstr>Hybrid Approach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1501: Searching</dc:title>
  <dc:creator>Lu, Gordon</dc:creator>
  <cp:lastModifiedBy>Lu, Gordon</cp:lastModifiedBy>
  <cp:revision>47</cp:revision>
  <dcterms:created xsi:type="dcterms:W3CDTF">2020-08-01T00:03:29Z</dcterms:created>
  <dcterms:modified xsi:type="dcterms:W3CDTF">2020-09-28T17:37:01Z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0x0101004651E360FFF8E045BC9E794BF0F8E060</vt:lpwstr>
  </property>
</Properties>
</file>