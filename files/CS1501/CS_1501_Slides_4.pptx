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9" r:id="rId4"/>
  </p:sldMasterIdLst>
  <p:notesMasterIdLst>
    <p:notesMasterId r:id="rId41"/>
  </p:notesMasterIdLst>
  <p:sldIdLst>
    <p:sldId id="256" r:id="rId5"/>
    <p:sldId id="297" r:id="rId6"/>
    <p:sldId id="257" r:id="rId7"/>
    <p:sldId id="354" r:id="rId8"/>
    <p:sldId id="320" r:id="rId9"/>
    <p:sldId id="321" r:id="rId10"/>
    <p:sldId id="322" r:id="rId11"/>
    <p:sldId id="323" r:id="rId12"/>
    <p:sldId id="355" r:id="rId13"/>
    <p:sldId id="324" r:id="rId14"/>
    <p:sldId id="356" r:id="rId15"/>
    <p:sldId id="357" r:id="rId16"/>
    <p:sldId id="358" r:id="rId17"/>
    <p:sldId id="359" r:id="rId18"/>
    <p:sldId id="360" r:id="rId19"/>
    <p:sldId id="361" r:id="rId20"/>
    <p:sldId id="362" r:id="rId21"/>
    <p:sldId id="363" r:id="rId22"/>
    <p:sldId id="364" r:id="rId23"/>
    <p:sldId id="365" r:id="rId24"/>
    <p:sldId id="366" r:id="rId25"/>
    <p:sldId id="367" r:id="rId26"/>
    <p:sldId id="368" r:id="rId27"/>
    <p:sldId id="369" r:id="rId28"/>
    <p:sldId id="370" r:id="rId29"/>
    <p:sldId id="371" r:id="rId30"/>
    <p:sldId id="372" r:id="rId31"/>
    <p:sldId id="373" r:id="rId32"/>
    <p:sldId id="374" r:id="rId33"/>
    <p:sldId id="375" r:id="rId34"/>
    <p:sldId id="376" r:id="rId35"/>
    <p:sldId id="377" r:id="rId36"/>
    <p:sldId id="378" r:id="rId37"/>
    <p:sldId id="379" r:id="rId38"/>
    <p:sldId id="380" r:id="rId39"/>
    <p:sldId id="381"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 Gordon" initials="LG" lastIdx="2" clrIdx="0">
    <p:extLst>
      <p:ext uri="{19B8F6BF-5375-455C-9EA6-DF929625EA0E}">
        <p15:presenceInfo xmlns:p15="http://schemas.microsoft.com/office/powerpoint/2012/main" userId="Lu, Gord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0D9E49-9694-456C-8093-8B503A2AC47C}" v="5222" dt="2020-08-14T19:25:35.3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80" autoAdjust="0"/>
    <p:restoredTop sz="94660"/>
  </p:normalViewPr>
  <p:slideViewPr>
    <p:cSldViewPr snapToGrid="0">
      <p:cViewPr varScale="1">
        <p:scale>
          <a:sx n="97" d="100"/>
          <a:sy n="97" d="100"/>
        </p:scale>
        <p:origin x="78"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commentAuthors" Target="commentAuthor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558CCA-429F-458E-9D04-1CD0B5AE7013}" type="datetimeFigureOut">
              <a:rPr lang="en-US" smtClean="0"/>
              <a:t>8/14/2020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5524AD-880F-4018-8BFC-9A5A6F83DC7A}" type="slidenum">
              <a:rPr lang="en-US" smtClean="0"/>
              <a:t>‹#›</a:t>
            </a:fld>
            <a:endParaRPr lang="en-US"/>
          </a:p>
        </p:txBody>
      </p:sp>
    </p:spTree>
    <p:extLst>
      <p:ext uri="{BB962C8B-B14F-4D97-AF65-F5344CB8AC3E}">
        <p14:creationId xmlns:p14="http://schemas.microsoft.com/office/powerpoint/2010/main" val="5726559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 common saying… if you don’t know the solution, just hash map it up!</a:t>
            </a:r>
          </a:p>
        </p:txBody>
      </p:sp>
      <p:sp>
        <p:nvSpPr>
          <p:cNvPr id="4" name="Slide Number Placeholder 3"/>
          <p:cNvSpPr>
            <a:spLocks noGrp="1"/>
          </p:cNvSpPr>
          <p:nvPr>
            <p:ph type="sldNum" sz="quarter" idx="5"/>
          </p:nvPr>
        </p:nvSpPr>
        <p:spPr/>
        <p:txBody>
          <a:bodyPr/>
          <a:lstStyle/>
          <a:p>
            <a:fld id="{C25524AD-880F-4018-8BFC-9A5A6F83DC7A}" type="slidenum">
              <a:rPr lang="en-US" smtClean="0"/>
              <a:t>4</a:t>
            </a:fld>
            <a:endParaRPr lang="en-US"/>
          </a:p>
        </p:txBody>
      </p:sp>
    </p:spTree>
    <p:extLst>
      <p:ext uri="{BB962C8B-B14F-4D97-AF65-F5344CB8AC3E}">
        <p14:creationId xmlns:p14="http://schemas.microsoft.com/office/powerpoint/2010/main" val="1659530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Oooh</a:t>
            </a:r>
            <a:r>
              <a:rPr lang="en-US" dirty="0"/>
              <a:t>, looks awfully familiar, right?</a:t>
            </a:r>
          </a:p>
        </p:txBody>
      </p:sp>
      <p:sp>
        <p:nvSpPr>
          <p:cNvPr id="4" name="Slide Number Placeholder 3"/>
          <p:cNvSpPr>
            <a:spLocks noGrp="1"/>
          </p:cNvSpPr>
          <p:nvPr>
            <p:ph type="sldNum" sz="quarter" idx="5"/>
          </p:nvPr>
        </p:nvSpPr>
        <p:spPr/>
        <p:txBody>
          <a:bodyPr/>
          <a:lstStyle/>
          <a:p>
            <a:fld id="{C25524AD-880F-4018-8BFC-9A5A6F83DC7A}" type="slidenum">
              <a:rPr lang="en-US" smtClean="0"/>
              <a:t>5</a:t>
            </a:fld>
            <a:endParaRPr lang="en-US"/>
          </a:p>
        </p:txBody>
      </p:sp>
    </p:spTree>
    <p:extLst>
      <p:ext uri="{BB962C8B-B14F-4D97-AF65-F5344CB8AC3E}">
        <p14:creationId xmlns:p14="http://schemas.microsoft.com/office/powerpoint/2010/main" val="8392210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5524AD-880F-4018-8BFC-9A5A6F83DC7A}" type="slidenum">
              <a:rPr lang="en-US" smtClean="0"/>
              <a:t>6</a:t>
            </a:fld>
            <a:endParaRPr lang="en-US"/>
          </a:p>
        </p:txBody>
      </p:sp>
    </p:spTree>
    <p:extLst>
      <p:ext uri="{BB962C8B-B14F-4D97-AF65-F5344CB8AC3E}">
        <p14:creationId xmlns:p14="http://schemas.microsoft.com/office/powerpoint/2010/main" val="38911507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5524AD-880F-4018-8BFC-9A5A6F83DC7A}" type="slidenum">
              <a:rPr lang="en-US" smtClean="0"/>
              <a:t>7</a:t>
            </a:fld>
            <a:endParaRPr lang="en-US"/>
          </a:p>
        </p:txBody>
      </p:sp>
    </p:spTree>
    <p:extLst>
      <p:ext uri="{BB962C8B-B14F-4D97-AF65-F5344CB8AC3E}">
        <p14:creationId xmlns:p14="http://schemas.microsoft.com/office/powerpoint/2010/main" val="3624343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5524AD-880F-4018-8BFC-9A5A6F83DC7A}" type="slidenum">
              <a:rPr lang="en-US" smtClean="0"/>
              <a:t>9</a:t>
            </a:fld>
            <a:endParaRPr lang="en-US"/>
          </a:p>
        </p:txBody>
      </p:sp>
    </p:spTree>
    <p:extLst>
      <p:ext uri="{BB962C8B-B14F-4D97-AF65-F5344CB8AC3E}">
        <p14:creationId xmlns:p14="http://schemas.microsoft.com/office/powerpoint/2010/main" val="10542206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5524AD-880F-4018-8BFC-9A5A6F83DC7A}" type="slidenum">
              <a:rPr lang="en-US" smtClean="0"/>
              <a:t>10</a:t>
            </a:fld>
            <a:endParaRPr lang="en-US"/>
          </a:p>
        </p:txBody>
      </p:sp>
    </p:spTree>
    <p:extLst>
      <p:ext uri="{BB962C8B-B14F-4D97-AF65-F5344CB8AC3E}">
        <p14:creationId xmlns:p14="http://schemas.microsoft.com/office/powerpoint/2010/main" val="10123523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 NORMAL DISTRIBUTION!! Often times there will always be one student who mixes this up!!!</a:t>
            </a:r>
          </a:p>
        </p:txBody>
      </p:sp>
      <p:sp>
        <p:nvSpPr>
          <p:cNvPr id="4" name="Slide Number Placeholder 3"/>
          <p:cNvSpPr>
            <a:spLocks noGrp="1"/>
          </p:cNvSpPr>
          <p:nvPr>
            <p:ph type="sldNum" sz="quarter" idx="5"/>
          </p:nvPr>
        </p:nvSpPr>
        <p:spPr/>
        <p:txBody>
          <a:bodyPr/>
          <a:lstStyle/>
          <a:p>
            <a:fld id="{C25524AD-880F-4018-8BFC-9A5A6F83DC7A}" type="slidenum">
              <a:rPr lang="en-US" smtClean="0"/>
              <a:t>11</a:t>
            </a:fld>
            <a:endParaRPr lang="en-US"/>
          </a:p>
        </p:txBody>
      </p:sp>
    </p:spTree>
    <p:extLst>
      <p:ext uri="{BB962C8B-B14F-4D97-AF65-F5344CB8AC3E}">
        <p14:creationId xmlns:p14="http://schemas.microsoft.com/office/powerpoint/2010/main" val="22495502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Birthday Paradox is an extremely interesting combinatorics/statistics problem! I encourage you to look more into its implications!</a:t>
            </a:r>
          </a:p>
        </p:txBody>
      </p:sp>
      <p:sp>
        <p:nvSpPr>
          <p:cNvPr id="4" name="Slide Number Placeholder 3"/>
          <p:cNvSpPr>
            <a:spLocks noGrp="1"/>
          </p:cNvSpPr>
          <p:nvPr>
            <p:ph type="sldNum" sz="quarter" idx="5"/>
          </p:nvPr>
        </p:nvSpPr>
        <p:spPr/>
        <p:txBody>
          <a:bodyPr/>
          <a:lstStyle/>
          <a:p>
            <a:fld id="{C25524AD-880F-4018-8BFC-9A5A6F83DC7A}" type="slidenum">
              <a:rPr lang="en-US" smtClean="0"/>
              <a:t>12</a:t>
            </a:fld>
            <a:endParaRPr lang="en-US"/>
          </a:p>
        </p:txBody>
      </p:sp>
    </p:spTree>
    <p:extLst>
      <p:ext uri="{BB962C8B-B14F-4D97-AF65-F5344CB8AC3E}">
        <p14:creationId xmlns:p14="http://schemas.microsoft.com/office/powerpoint/2010/main" val="24057969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dab = bad, get it?? ;)</a:t>
            </a:r>
          </a:p>
        </p:txBody>
      </p:sp>
      <p:sp>
        <p:nvSpPr>
          <p:cNvPr id="4" name="Slide Number Placeholder 3"/>
          <p:cNvSpPr>
            <a:spLocks noGrp="1"/>
          </p:cNvSpPr>
          <p:nvPr>
            <p:ph type="sldNum" sz="quarter" idx="5"/>
          </p:nvPr>
        </p:nvSpPr>
        <p:spPr/>
        <p:txBody>
          <a:bodyPr/>
          <a:lstStyle/>
          <a:p>
            <a:fld id="{C25524AD-880F-4018-8BFC-9A5A6F83DC7A}" type="slidenum">
              <a:rPr lang="en-US" smtClean="0"/>
              <a:t>13</a:t>
            </a:fld>
            <a:endParaRPr lang="en-US"/>
          </a:p>
        </p:txBody>
      </p:sp>
    </p:spTree>
    <p:extLst>
      <p:ext uri="{BB962C8B-B14F-4D97-AF65-F5344CB8AC3E}">
        <p14:creationId xmlns:p14="http://schemas.microsoft.com/office/powerpoint/2010/main" val="10292283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Huh… this seems familiar...</a:t>
            </a:r>
          </a:p>
        </p:txBody>
      </p:sp>
      <p:sp>
        <p:nvSpPr>
          <p:cNvPr id="4" name="Slide Number Placeholder 3"/>
          <p:cNvSpPr>
            <a:spLocks noGrp="1"/>
          </p:cNvSpPr>
          <p:nvPr>
            <p:ph type="sldNum" sz="quarter" idx="5"/>
          </p:nvPr>
        </p:nvSpPr>
        <p:spPr/>
        <p:txBody>
          <a:bodyPr/>
          <a:lstStyle/>
          <a:p>
            <a:fld id="{C25524AD-880F-4018-8BFC-9A5A6F83DC7A}" type="slidenum">
              <a:rPr lang="en-US" smtClean="0"/>
              <a:t>14</a:t>
            </a:fld>
            <a:endParaRPr lang="en-US"/>
          </a:p>
        </p:txBody>
      </p:sp>
    </p:spTree>
    <p:extLst>
      <p:ext uri="{BB962C8B-B14F-4D97-AF65-F5344CB8AC3E}">
        <p14:creationId xmlns:p14="http://schemas.microsoft.com/office/powerpoint/2010/main" val="38287202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worry about Schönhage-Strassen, that will come MUCH later in the term ;) </a:t>
            </a:r>
          </a:p>
          <a:p>
            <a:pPr marL="171450" indent="-171450">
              <a:buFont typeface="Arial" panose="020B0604020202020204" pitchFamily="34" charset="0"/>
              <a:buChar char="•"/>
            </a:pPr>
            <a:r>
              <a:rPr lang="en-US" dirty="0"/>
              <a:t>Just know that the Sieve of Eratosthenes is MUCH easier to code up! THANK YOU, ANCIENT GREEKS! </a:t>
            </a:r>
          </a:p>
        </p:txBody>
      </p:sp>
      <p:sp>
        <p:nvSpPr>
          <p:cNvPr id="4" name="Slide Number Placeholder 3"/>
          <p:cNvSpPr>
            <a:spLocks noGrp="1"/>
          </p:cNvSpPr>
          <p:nvPr>
            <p:ph type="sldNum" sz="quarter" idx="5"/>
          </p:nvPr>
        </p:nvSpPr>
        <p:spPr/>
        <p:txBody>
          <a:bodyPr/>
          <a:lstStyle/>
          <a:p>
            <a:fld id="{C25524AD-880F-4018-8BFC-9A5A6F83DC7A}" type="slidenum">
              <a:rPr lang="en-US" smtClean="0"/>
              <a:t>15</a:t>
            </a:fld>
            <a:endParaRPr lang="en-US"/>
          </a:p>
        </p:txBody>
      </p:sp>
    </p:spTree>
    <p:extLst>
      <p:ext uri="{BB962C8B-B14F-4D97-AF65-F5344CB8AC3E}">
        <p14:creationId xmlns:p14="http://schemas.microsoft.com/office/powerpoint/2010/main" val="9775099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your mods!!! This is such a common mistake on 1501 exams! Remember, we assume that you know how to compute a mod, so any errors are assumed to be errors in understanding the algorithm! I recommend you practice through many examples of linear probing! If you have any confusion, do not hesitate to schedule a meeting with me, and we can work it out together!</a:t>
            </a:r>
          </a:p>
        </p:txBody>
      </p:sp>
      <p:sp>
        <p:nvSpPr>
          <p:cNvPr id="4" name="Slide Number Placeholder 3"/>
          <p:cNvSpPr>
            <a:spLocks noGrp="1"/>
          </p:cNvSpPr>
          <p:nvPr>
            <p:ph type="sldNum" sz="quarter" idx="5"/>
          </p:nvPr>
        </p:nvSpPr>
        <p:spPr/>
        <p:txBody>
          <a:bodyPr/>
          <a:lstStyle/>
          <a:p>
            <a:fld id="{C25524AD-880F-4018-8BFC-9A5A6F83DC7A}" type="slidenum">
              <a:rPr lang="en-US" smtClean="0"/>
              <a:t>21</a:t>
            </a:fld>
            <a:endParaRPr lang="en-US"/>
          </a:p>
        </p:txBody>
      </p:sp>
    </p:spTree>
    <p:extLst>
      <p:ext uri="{BB962C8B-B14F-4D97-AF65-F5344CB8AC3E}">
        <p14:creationId xmlns:p14="http://schemas.microsoft.com/office/powerpoint/2010/main" val="36820695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not cover searching for a value in the hash table, but should you have questions, feel free to shoot me an email, and we can walk through a couple examples! </a:t>
            </a:r>
            <a:r>
              <a:rPr lang="en-US" dirty="0">
                <a:sym typeface="Wingdings" panose="05000000000000000000" pitchFamily="2" charset="2"/>
              </a:rPr>
              <a:t></a:t>
            </a:r>
            <a:endParaRPr lang="en-US" dirty="0"/>
          </a:p>
        </p:txBody>
      </p:sp>
      <p:sp>
        <p:nvSpPr>
          <p:cNvPr id="4" name="Slide Number Placeholder 3"/>
          <p:cNvSpPr>
            <a:spLocks noGrp="1"/>
          </p:cNvSpPr>
          <p:nvPr>
            <p:ph type="sldNum" sz="quarter" idx="5"/>
          </p:nvPr>
        </p:nvSpPr>
        <p:spPr/>
        <p:txBody>
          <a:bodyPr/>
          <a:lstStyle/>
          <a:p>
            <a:fld id="{C25524AD-880F-4018-8BFC-9A5A6F83DC7A}" type="slidenum">
              <a:rPr lang="en-US" smtClean="0"/>
              <a:t>22</a:t>
            </a:fld>
            <a:endParaRPr lang="en-US"/>
          </a:p>
        </p:txBody>
      </p:sp>
    </p:spTree>
    <p:extLst>
      <p:ext uri="{BB962C8B-B14F-4D97-AF65-F5344CB8AC3E}">
        <p14:creationId xmlns:p14="http://schemas.microsoft.com/office/powerpoint/2010/main" val="30796638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5524AD-880F-4018-8BFC-9A5A6F83DC7A}" type="slidenum">
              <a:rPr lang="en-US" smtClean="0"/>
              <a:t>25</a:t>
            </a:fld>
            <a:endParaRPr lang="en-US"/>
          </a:p>
        </p:txBody>
      </p:sp>
    </p:spTree>
    <p:extLst>
      <p:ext uri="{BB962C8B-B14F-4D97-AF65-F5344CB8AC3E}">
        <p14:creationId xmlns:p14="http://schemas.microsoft.com/office/powerpoint/2010/main" val="34110823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important thing to note here, is if we get another collision, we would keep adding on the second hash value, we would not use another hash function, that would be TRIPLE HASHING!!</a:t>
            </a:r>
          </a:p>
        </p:txBody>
      </p:sp>
      <p:sp>
        <p:nvSpPr>
          <p:cNvPr id="4" name="Slide Number Placeholder 3"/>
          <p:cNvSpPr>
            <a:spLocks noGrp="1"/>
          </p:cNvSpPr>
          <p:nvPr>
            <p:ph type="sldNum" sz="quarter" idx="5"/>
          </p:nvPr>
        </p:nvSpPr>
        <p:spPr/>
        <p:txBody>
          <a:bodyPr/>
          <a:lstStyle/>
          <a:p>
            <a:fld id="{C25524AD-880F-4018-8BFC-9A5A6F83DC7A}" type="slidenum">
              <a:rPr lang="en-US" smtClean="0"/>
              <a:t>29</a:t>
            </a:fld>
            <a:endParaRPr lang="en-US"/>
          </a:p>
        </p:txBody>
      </p:sp>
    </p:spTree>
    <p:extLst>
      <p:ext uri="{BB962C8B-B14F-4D97-AF65-F5344CB8AC3E}">
        <p14:creationId xmlns:p14="http://schemas.microsoft.com/office/powerpoint/2010/main" val="4384526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 to the code I have posted. I created a hash table using separate chaining, with a prime generated using the Sieve of Eratosthenes, where each index is a Red-Black Tree!</a:t>
            </a:r>
          </a:p>
        </p:txBody>
      </p:sp>
      <p:sp>
        <p:nvSpPr>
          <p:cNvPr id="4" name="Slide Number Placeholder 3"/>
          <p:cNvSpPr>
            <a:spLocks noGrp="1"/>
          </p:cNvSpPr>
          <p:nvPr>
            <p:ph type="sldNum" sz="quarter" idx="5"/>
          </p:nvPr>
        </p:nvSpPr>
        <p:spPr/>
        <p:txBody>
          <a:bodyPr/>
          <a:lstStyle/>
          <a:p>
            <a:fld id="{C25524AD-880F-4018-8BFC-9A5A6F83DC7A}" type="slidenum">
              <a:rPr lang="en-US" smtClean="0"/>
              <a:t>35</a:t>
            </a:fld>
            <a:endParaRPr lang="en-US"/>
          </a:p>
        </p:txBody>
      </p:sp>
    </p:spTree>
    <p:extLst>
      <p:ext uri="{BB962C8B-B14F-4D97-AF65-F5344CB8AC3E}">
        <p14:creationId xmlns:p14="http://schemas.microsoft.com/office/powerpoint/2010/main" val="14574989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EDA4C203-3353-45B6-92C6-78F0A2901DB5}" type="datetimeFigureOut">
              <a:rPr lang="en-US" smtClean="0"/>
              <a:t>8/14/2020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934023E-3638-40F3-8A7D-79E3C4E8DE74}" type="slidenum">
              <a:rPr lang="en-US" smtClean="0"/>
              <a:t>‹#›</a:t>
            </a:fld>
            <a:endParaRPr lang="en-US"/>
          </a:p>
        </p:txBody>
      </p:sp>
    </p:spTree>
    <p:extLst>
      <p:ext uri="{BB962C8B-B14F-4D97-AF65-F5344CB8AC3E}">
        <p14:creationId xmlns:p14="http://schemas.microsoft.com/office/powerpoint/2010/main" val="334449845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DA4C203-3353-45B6-92C6-78F0A2901DB5}" type="datetimeFigureOut">
              <a:rPr lang="en-US" smtClean="0"/>
              <a:t>8/14/2020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934023E-3638-40F3-8A7D-79E3C4E8DE74}" type="slidenum">
              <a:rPr lang="en-US" smtClean="0"/>
              <a:t>‹#›</a:t>
            </a:fld>
            <a:endParaRPr lang="en-US"/>
          </a:p>
        </p:txBody>
      </p:sp>
    </p:spTree>
    <p:extLst>
      <p:ext uri="{BB962C8B-B14F-4D97-AF65-F5344CB8AC3E}">
        <p14:creationId xmlns:p14="http://schemas.microsoft.com/office/powerpoint/2010/main" val="1172864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EDA4C203-3353-45B6-92C6-78F0A2901DB5}" type="datetimeFigureOut">
              <a:rPr lang="en-US" smtClean="0"/>
              <a:t>8/14/2020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934023E-3638-40F3-8A7D-79E3C4E8DE74}" type="slidenum">
              <a:rPr lang="en-US" smtClean="0"/>
              <a:t>‹#›</a:t>
            </a:fld>
            <a:endParaRPr lang="en-US"/>
          </a:p>
        </p:txBody>
      </p:sp>
    </p:spTree>
    <p:extLst>
      <p:ext uri="{BB962C8B-B14F-4D97-AF65-F5344CB8AC3E}">
        <p14:creationId xmlns:p14="http://schemas.microsoft.com/office/powerpoint/2010/main" val="216283833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EDA4C203-3353-45B6-92C6-78F0A2901DB5}" type="datetimeFigureOut">
              <a:rPr lang="en-US" smtClean="0"/>
              <a:t>8/14/2020</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F934023E-3638-40F3-8A7D-79E3C4E8DE74}" type="slidenum">
              <a:rPr lang="en-US" smtClean="0"/>
              <a:t>‹#›</a:t>
            </a:fld>
            <a:endParaRPr lang="en-US"/>
          </a:p>
        </p:txBody>
      </p:sp>
    </p:spTree>
    <p:extLst>
      <p:ext uri="{BB962C8B-B14F-4D97-AF65-F5344CB8AC3E}">
        <p14:creationId xmlns:p14="http://schemas.microsoft.com/office/powerpoint/2010/main" val="10056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EDA4C203-3353-45B6-92C6-78F0A2901DB5}" type="datetimeFigureOut">
              <a:rPr lang="en-US" smtClean="0"/>
              <a:t>8/14/2020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934023E-3638-40F3-8A7D-79E3C4E8DE74}"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918504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DA4C203-3353-45B6-92C6-78F0A2901DB5}" type="datetimeFigureOut">
              <a:rPr lang="en-US" smtClean="0"/>
              <a:t>8/14/2020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934023E-3638-40F3-8A7D-79E3C4E8DE74}" type="slidenum">
              <a:rPr lang="en-US" smtClean="0"/>
              <a:t>‹#›</a:t>
            </a:fld>
            <a:endParaRPr lang="en-US"/>
          </a:p>
        </p:txBody>
      </p:sp>
    </p:spTree>
    <p:extLst>
      <p:ext uri="{BB962C8B-B14F-4D97-AF65-F5344CB8AC3E}">
        <p14:creationId xmlns:p14="http://schemas.microsoft.com/office/powerpoint/2010/main" val="2834773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A4C203-3353-45B6-92C6-78F0A2901DB5}" type="datetimeFigureOut">
              <a:rPr lang="en-US" smtClean="0"/>
              <a:t>8/14/2020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934023E-3638-40F3-8A7D-79E3C4E8DE74}" type="slidenum">
              <a:rPr lang="en-US" smtClean="0"/>
              <a:t>‹#›</a:t>
            </a:fld>
            <a:endParaRPr lang="en-US"/>
          </a:p>
        </p:txBody>
      </p:sp>
    </p:spTree>
    <p:extLst>
      <p:ext uri="{BB962C8B-B14F-4D97-AF65-F5344CB8AC3E}">
        <p14:creationId xmlns:p14="http://schemas.microsoft.com/office/powerpoint/2010/main" val="3555992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EDA4C203-3353-45B6-92C6-78F0A2901DB5}" type="datetimeFigureOut">
              <a:rPr lang="en-US" smtClean="0"/>
              <a:t>8/14/2020</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F934023E-3638-40F3-8A7D-79E3C4E8DE74}" type="slidenum">
              <a:rPr lang="en-US" smtClean="0"/>
              <a:t>‹#›</a:t>
            </a:fld>
            <a:endParaRPr lang="en-US"/>
          </a:p>
        </p:txBody>
      </p:sp>
    </p:spTree>
    <p:extLst>
      <p:ext uri="{BB962C8B-B14F-4D97-AF65-F5344CB8AC3E}">
        <p14:creationId xmlns:p14="http://schemas.microsoft.com/office/powerpoint/2010/main" val="11872200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EDA4C203-3353-45B6-92C6-78F0A2901DB5}" type="datetimeFigureOut">
              <a:rPr lang="en-US" smtClean="0"/>
              <a:t>8/14/2020</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F934023E-3638-40F3-8A7D-79E3C4E8DE74}" type="slidenum">
              <a:rPr lang="en-US" smtClean="0"/>
              <a:t>‹#›</a:t>
            </a:fld>
            <a:endParaRPr lang="en-US"/>
          </a:p>
        </p:txBody>
      </p:sp>
    </p:spTree>
    <p:extLst>
      <p:ext uri="{BB962C8B-B14F-4D97-AF65-F5344CB8AC3E}">
        <p14:creationId xmlns:p14="http://schemas.microsoft.com/office/powerpoint/2010/main" val="1335984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A4C203-3353-45B6-92C6-78F0A2901DB5}" type="datetimeFigureOut">
              <a:rPr lang="en-US" smtClean="0"/>
              <a:t>8/14/2020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23E-3638-40F3-8A7D-79E3C4E8DE74}" type="slidenum">
              <a:rPr lang="en-US" smtClean="0"/>
              <a:t>‹#›</a:t>
            </a:fld>
            <a:endParaRPr lang="en-US"/>
          </a:p>
        </p:txBody>
      </p:sp>
    </p:spTree>
    <p:extLst>
      <p:ext uri="{BB962C8B-B14F-4D97-AF65-F5344CB8AC3E}">
        <p14:creationId xmlns:p14="http://schemas.microsoft.com/office/powerpoint/2010/main" val="1974199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A4C203-3353-45B6-92C6-78F0A2901DB5}" type="datetimeFigureOut">
              <a:rPr lang="en-US" smtClean="0"/>
              <a:t>8/14/2020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23E-3638-40F3-8A7D-79E3C4E8DE74}" type="slidenum">
              <a:rPr lang="en-US" smtClean="0"/>
              <a:t>‹#›</a:t>
            </a:fld>
            <a:endParaRPr lang="en-US"/>
          </a:p>
        </p:txBody>
      </p:sp>
    </p:spTree>
    <p:extLst>
      <p:ext uri="{BB962C8B-B14F-4D97-AF65-F5344CB8AC3E}">
        <p14:creationId xmlns:p14="http://schemas.microsoft.com/office/powerpoint/2010/main" val="1462443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EDA4C203-3353-45B6-92C6-78F0A2901DB5}" type="datetimeFigureOut">
              <a:rPr lang="en-US" smtClean="0"/>
              <a:t>8/14/2020</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F934023E-3638-40F3-8A7D-79E3C4E8DE74}" type="slidenum">
              <a:rPr lang="en-US" smtClean="0"/>
              <a:t>‹#›</a:t>
            </a:fld>
            <a:endParaRPr lang="en-US"/>
          </a:p>
        </p:txBody>
      </p:sp>
    </p:spTree>
    <p:extLst>
      <p:ext uri="{BB962C8B-B14F-4D97-AF65-F5344CB8AC3E}">
        <p14:creationId xmlns:p14="http://schemas.microsoft.com/office/powerpoint/2010/main" val="569631347"/>
      </p:ext>
    </p:extLst>
  </p:cSld>
  <p:clrMap bg1="lt1" tx1="dk1" bg2="lt2" tx2="dk2" accent1="accent1" accent2="accent2" accent3="accent3" accent4="accent4" accent5="accent5" accent6="accent6" hlink="hlink" folHlink="folHlink"/>
  <p:sldLayoutIdLst>
    <p:sldLayoutId id="2147483840" r:id="rId1"/>
    <p:sldLayoutId id="2147483841" r:id="rId2"/>
    <p:sldLayoutId id="2147483842" r:id="rId3"/>
    <p:sldLayoutId id="2147483843" r:id="rId4"/>
    <p:sldLayoutId id="2147483844" r:id="rId5"/>
    <p:sldLayoutId id="2147483845" r:id="rId6"/>
    <p:sldLayoutId id="2147483846" r:id="rId7"/>
    <p:sldLayoutId id="2147483847" r:id="rId8"/>
    <p:sldLayoutId id="2147483848" r:id="rId9"/>
    <p:sldLayoutId id="2147483849" r:id="rId10"/>
    <p:sldLayoutId id="2147483850"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3000"/>
                <a:shade val="98000"/>
                <a:satMod val="150000"/>
                <a:lumMod val="102000"/>
              </a:schemeClr>
            </a:gs>
            <a:gs pos="50000">
              <a:schemeClr val="bg2">
                <a:tint val="98000"/>
                <a:shade val="90000"/>
                <a:satMod val="130000"/>
                <a:lumMod val="103000"/>
              </a:schemeClr>
            </a:gs>
            <a:gs pos="100000">
              <a:schemeClr val="bg2">
                <a:shade val="63000"/>
                <a:satMod val="120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E25ED-CE20-4260-A723-6C559CEE0F5D}"/>
              </a:ext>
            </a:extLst>
          </p:cNvPr>
          <p:cNvSpPr>
            <a:spLocks noGrp="1"/>
          </p:cNvSpPr>
          <p:nvPr>
            <p:ph type="ctrTitle"/>
          </p:nvPr>
        </p:nvSpPr>
        <p:spPr>
          <a:xfrm>
            <a:off x="792483" y="821265"/>
            <a:ext cx="6098705" cy="5222117"/>
          </a:xfrm>
        </p:spPr>
        <p:txBody>
          <a:bodyPr anchor="ctr">
            <a:normAutofit/>
          </a:bodyPr>
          <a:lstStyle/>
          <a:p>
            <a:pPr algn="r"/>
            <a:r>
              <a:rPr lang="en-US" sz="5400" dirty="0">
                <a:solidFill>
                  <a:schemeClr val="tx1"/>
                </a:solidFill>
              </a:rPr>
              <a:t>CS 1501: Hashing</a:t>
            </a:r>
          </a:p>
        </p:txBody>
      </p:sp>
      <p:sp>
        <p:nvSpPr>
          <p:cNvPr id="3" name="Subtitle 2">
            <a:extLst>
              <a:ext uri="{FF2B5EF4-FFF2-40B4-BE49-F238E27FC236}">
                <a16:creationId xmlns:a16="http://schemas.microsoft.com/office/drawing/2014/main" id="{63DA9EAE-84EA-4695-84F8-F9D36856989B}"/>
              </a:ext>
            </a:extLst>
          </p:cNvPr>
          <p:cNvSpPr>
            <a:spLocks noGrp="1"/>
          </p:cNvSpPr>
          <p:nvPr>
            <p:ph type="subTitle" idx="1"/>
          </p:nvPr>
        </p:nvSpPr>
        <p:spPr>
          <a:xfrm>
            <a:off x="7903028" y="821265"/>
            <a:ext cx="3265713" cy="5222117"/>
          </a:xfrm>
        </p:spPr>
        <p:txBody>
          <a:bodyPr anchor="ctr">
            <a:normAutofit/>
          </a:bodyPr>
          <a:lstStyle/>
          <a:p>
            <a:r>
              <a:rPr lang="en-US" dirty="0"/>
              <a:t>Gordon Lu</a:t>
            </a:r>
          </a:p>
        </p:txBody>
      </p:sp>
    </p:spTree>
    <p:extLst>
      <p:ext uri="{BB962C8B-B14F-4D97-AF65-F5344CB8AC3E}">
        <p14:creationId xmlns:p14="http://schemas.microsoft.com/office/powerpoint/2010/main" val="1852448920"/>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92559-7F14-4F93-96B0-9F4F082707C8}"/>
              </a:ext>
            </a:extLst>
          </p:cNvPr>
          <p:cNvSpPr>
            <a:spLocks noGrp="1"/>
          </p:cNvSpPr>
          <p:nvPr>
            <p:ph type="title"/>
          </p:nvPr>
        </p:nvSpPr>
        <p:spPr/>
        <p:txBody>
          <a:bodyPr/>
          <a:lstStyle/>
          <a:p>
            <a:r>
              <a:rPr lang="en-US" dirty="0"/>
              <a:t>A brief note on these slides</a:t>
            </a:r>
          </a:p>
        </p:txBody>
      </p:sp>
      <p:sp>
        <p:nvSpPr>
          <p:cNvPr id="3" name="Content Placeholder 2">
            <a:extLst>
              <a:ext uri="{FF2B5EF4-FFF2-40B4-BE49-F238E27FC236}">
                <a16:creationId xmlns:a16="http://schemas.microsoft.com/office/drawing/2014/main" id="{4AC27C56-47D1-4ECC-83E5-5345C34C452D}"/>
              </a:ext>
            </a:extLst>
          </p:cNvPr>
          <p:cNvSpPr>
            <a:spLocks noGrp="1"/>
          </p:cNvSpPr>
          <p:nvPr>
            <p:ph idx="1"/>
          </p:nvPr>
        </p:nvSpPr>
        <p:spPr/>
        <p:txBody>
          <a:bodyPr/>
          <a:lstStyle/>
          <a:p>
            <a:r>
              <a:rPr lang="en-US" dirty="0"/>
              <a:t>Visually, slides don’t look the most appealing….</a:t>
            </a:r>
          </a:p>
          <a:p>
            <a:r>
              <a:rPr lang="en-US" dirty="0"/>
              <a:t>Work best in present mode! </a:t>
            </a:r>
          </a:p>
        </p:txBody>
      </p:sp>
    </p:spTree>
    <p:extLst>
      <p:ext uri="{BB962C8B-B14F-4D97-AF65-F5344CB8AC3E}">
        <p14:creationId xmlns:p14="http://schemas.microsoft.com/office/powerpoint/2010/main" val="3196868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93D7A-3E58-4BF0-94DF-7F84B75302D6}"/>
              </a:ext>
            </a:extLst>
          </p:cNvPr>
          <p:cNvSpPr>
            <a:spLocks noGrp="1"/>
          </p:cNvSpPr>
          <p:nvPr>
            <p:ph type="title"/>
          </p:nvPr>
        </p:nvSpPr>
        <p:spPr/>
        <p:txBody>
          <a:bodyPr/>
          <a:lstStyle/>
          <a:p>
            <a:r>
              <a:rPr lang="en-US" dirty="0"/>
              <a:t>An introduction to the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8757FAE-A409-443C-8ABD-D9F712965984}"/>
                  </a:ext>
                </a:extLst>
              </p:cNvPr>
              <p:cNvSpPr>
                <a:spLocks noGrp="1"/>
              </p:cNvSpPr>
              <p:nvPr>
                <p:ph idx="1"/>
              </p:nvPr>
            </p:nvSpPr>
            <p:spPr/>
            <p:txBody>
              <a:bodyPr/>
              <a:lstStyle/>
              <a:p>
                <a:pPr marL="0" indent="0">
                  <a:buNone/>
                </a:pPr>
                <a:r>
                  <a:rPr lang="en-US" dirty="0"/>
                  <a:t>What’s something you’ve noticed about our symbol table implementations thus far?</a:t>
                </a:r>
              </a:p>
              <a:p>
                <a:r>
                  <a:rPr lang="en-US" dirty="0"/>
                  <a:t>The runtime for a search operation usually requires a traversal of the key…</a:t>
                </a:r>
              </a:p>
              <a:p>
                <a:r>
                  <a:rPr lang="en-US" dirty="0"/>
                  <a:t>Or… requires a lot of memory… (memory vs speed tradeoff)</a:t>
                </a:r>
              </a:p>
              <a:p>
                <a:pPr marL="0" indent="0">
                  <a:buNone/>
                </a:pPr>
                <a:r>
                  <a:rPr lang="en-US" dirty="0"/>
                  <a:t>…But wouldn’t it be great if we could get the best of both worlds, and search through a collection in </a:t>
                </a:r>
                <a14:m>
                  <m:oMath xmlns:m="http://schemas.openxmlformats.org/officeDocument/2006/math">
                    <m:r>
                      <a:rPr lang="en-US"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(1)</m:t>
                    </m:r>
                  </m:oMath>
                </a14:m>
                <a:r>
                  <a:rPr lang="en-US" dirty="0"/>
                  <a:t> with little memory??</a:t>
                </a:r>
              </a:p>
            </p:txBody>
          </p:sp>
        </mc:Choice>
        <mc:Fallback xmlns="">
          <p:sp>
            <p:nvSpPr>
              <p:cNvPr id="3" name="Content Placeholder 2">
                <a:extLst>
                  <a:ext uri="{FF2B5EF4-FFF2-40B4-BE49-F238E27FC236}">
                    <a16:creationId xmlns:a16="http://schemas.microsoft.com/office/drawing/2014/main" id="{08757FAE-A409-443C-8ABD-D9F712965984}"/>
                  </a:ext>
                </a:extLst>
              </p:cNvPr>
              <p:cNvSpPr>
                <a:spLocks noGrp="1" noRot="1" noChangeAspect="1" noMove="1" noResize="1" noEditPoints="1" noAdjustHandles="1" noChangeArrowheads="1" noChangeShapeType="1" noTextEdit="1"/>
              </p:cNvSpPr>
              <p:nvPr>
                <p:ph idx="1"/>
              </p:nvPr>
            </p:nvSpPr>
            <p:spPr>
              <a:blipFill>
                <a:blip r:embed="rId2"/>
                <a:stretch>
                  <a:fillRect l="-1046"/>
                </a:stretch>
              </a:blipFill>
            </p:spPr>
            <p:txBody>
              <a:bodyPr/>
              <a:lstStyle/>
              <a:p>
                <a:r>
                  <a:rPr lang="en-US">
                    <a:noFill/>
                  </a:rPr>
                  <a:t> </a:t>
                </a:r>
              </a:p>
            </p:txBody>
          </p:sp>
        </mc:Fallback>
      </mc:AlternateContent>
      <p:pic>
        <p:nvPicPr>
          <p:cNvPr id="4098" name="Picture 2">
            <a:extLst>
              <a:ext uri="{FF2B5EF4-FFF2-40B4-BE49-F238E27FC236}">
                <a16:creationId xmlns:a16="http://schemas.microsoft.com/office/drawing/2014/main" id="{266FA1FC-5894-4B2D-BBE8-8E6E099A841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699"/>
          <a:stretch/>
        </p:blipFill>
        <p:spPr bwMode="auto">
          <a:xfrm>
            <a:off x="8820150" y="4529138"/>
            <a:ext cx="3238500" cy="2192507"/>
          </a:xfrm>
          <a:prstGeom prst="rect">
            <a:avLst/>
          </a:prstGeom>
          <a:noFill/>
          <a:extLst>
            <a:ext uri="{909E8E84-426E-40DD-AFC4-6F175D3DCCD1}">
              <a14:hiddenFill xmlns:a14="http://schemas.microsoft.com/office/drawing/2010/main">
                <a:solidFill>
                  <a:srgbClr val="FFFFFF"/>
                </a:solidFill>
              </a14:hiddenFill>
            </a:ext>
          </a:extLst>
        </p:spPr>
      </p:pic>
      <p:sp>
        <p:nvSpPr>
          <p:cNvPr id="8" name="Minus Sign 7">
            <a:extLst>
              <a:ext uri="{FF2B5EF4-FFF2-40B4-BE49-F238E27FC236}">
                <a16:creationId xmlns:a16="http://schemas.microsoft.com/office/drawing/2014/main" id="{E479BF8B-49AB-4B35-AA06-BF9CADBED6B7}"/>
              </a:ext>
            </a:extLst>
          </p:cNvPr>
          <p:cNvSpPr/>
          <p:nvPr/>
        </p:nvSpPr>
        <p:spPr>
          <a:xfrm rot="1816409">
            <a:off x="8724934" y="5096096"/>
            <a:ext cx="3428933" cy="857250"/>
          </a:xfrm>
          <a:prstGeom prst="mathMinus">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Minus Sign 8">
            <a:extLst>
              <a:ext uri="{FF2B5EF4-FFF2-40B4-BE49-F238E27FC236}">
                <a16:creationId xmlns:a16="http://schemas.microsoft.com/office/drawing/2014/main" id="{9505C06E-A398-40E8-9D2B-C8341E5E81FF}"/>
              </a:ext>
            </a:extLst>
          </p:cNvPr>
          <p:cNvSpPr/>
          <p:nvPr/>
        </p:nvSpPr>
        <p:spPr>
          <a:xfrm rot="8921547">
            <a:off x="8802426" y="5118717"/>
            <a:ext cx="3428933" cy="857250"/>
          </a:xfrm>
          <a:prstGeom prst="mathMinus">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47296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9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animBg="1"/>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B1D51-8921-46E6-A14E-BEEC0209D0E4}"/>
              </a:ext>
            </a:extLst>
          </p:cNvPr>
          <p:cNvSpPr>
            <a:spLocks noGrp="1"/>
          </p:cNvSpPr>
          <p:nvPr>
            <p:ph type="title"/>
          </p:nvPr>
        </p:nvSpPr>
        <p:spPr/>
        <p:txBody>
          <a:bodyPr/>
          <a:lstStyle/>
          <a:p>
            <a:r>
              <a:rPr lang="en-US" dirty="0"/>
              <a:t>Let’s Try something new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D636690-D30A-4748-B736-2B2148E6DABC}"/>
                  </a:ext>
                </a:extLst>
              </p:cNvPr>
              <p:cNvSpPr>
                <a:spLocks noGrp="1"/>
              </p:cNvSpPr>
              <p:nvPr>
                <p:ph idx="1"/>
              </p:nvPr>
            </p:nvSpPr>
            <p:spPr/>
            <p:txBody>
              <a:bodyPr>
                <a:noAutofit/>
              </a:bodyPr>
              <a:lstStyle/>
              <a:p>
                <a:pPr marL="457200" indent="-457200">
                  <a:buFont typeface="+mj-lt"/>
                  <a:buAutoNum type="arabicParenR"/>
                </a:pPr>
                <a:r>
                  <a:rPr lang="en-US" sz="1800" dirty="0"/>
                  <a:t>Assume we have an array of length m (HT)</a:t>
                </a:r>
              </a:p>
              <a:p>
                <a:pPr marL="457200" indent="-457200">
                  <a:buFont typeface="+mj-lt"/>
                  <a:buAutoNum type="arabicParenR"/>
                </a:pPr>
                <a:r>
                  <a:rPr lang="en-US" sz="1800" dirty="0"/>
                  <a:t>Assume we have a function h(x) that maps our key space to an index in the array. (Key Space </a:t>
                </a:r>
                <a14:m>
                  <m:oMath xmlns:m="http://schemas.openxmlformats.org/officeDocument/2006/math">
                    <m:r>
                      <a:rPr lang="en-US" sz="1800" b="0" i="1" smtClean="0">
                        <a:latin typeface="Cambria Math" panose="02040503050406030204" pitchFamily="18" charset="0"/>
                      </a:rPr>
                      <m:t>→</m:t>
                    </m:r>
                  </m:oMath>
                </a14:m>
                <a:r>
                  <a:rPr lang="en-US" sz="1800" dirty="0"/>
                  <a:t> </a:t>
                </a:r>
                <a14:m>
                  <m:oMath xmlns:m="http://schemas.openxmlformats.org/officeDocument/2006/math">
                    <m:r>
                      <a:rPr lang="en-US" sz="1800" b="0" i="1" dirty="0" smtClean="0">
                        <a:latin typeface="Cambria Math" panose="02040503050406030204" pitchFamily="18" charset="0"/>
                      </a:rPr>
                      <m:t>{0, 1, 2, …, </m:t>
                    </m:r>
                    <m:r>
                      <a:rPr lang="en-US" sz="1800" b="0" i="1" dirty="0" smtClean="0">
                        <a:latin typeface="Cambria Math" panose="02040503050406030204" pitchFamily="18" charset="0"/>
                      </a:rPr>
                      <m:t>𝑚</m:t>
                    </m:r>
                    <m:r>
                      <a:rPr lang="en-US" sz="1800" b="0" i="1" dirty="0" smtClean="0">
                        <a:latin typeface="Cambria Math" panose="02040503050406030204" pitchFamily="18" charset="0"/>
                      </a:rPr>
                      <m:t>−1}</m:t>
                    </m:r>
                  </m:oMath>
                </a14:m>
                <a:r>
                  <a:rPr lang="en-US" sz="1800" dirty="0"/>
                  <a:t>)</a:t>
                </a:r>
              </a:p>
              <a:p>
                <a:pPr marL="457200" indent="-457200">
                  <a:buFont typeface="+mj-lt"/>
                  <a:buAutoNum type="arabicParenR"/>
                </a:pPr>
                <a:r>
                  <a:rPr lang="en-US" sz="1800" dirty="0"/>
                  <a:t>Assume h(x) is efficient to compute as well. (Hash Function)</a:t>
                </a:r>
              </a:p>
              <a:p>
                <a:pPr marL="457200" indent="-457200">
                  <a:buFont typeface="+mj-lt"/>
                  <a:buAutoNum type="arabicParenR"/>
                </a:pPr>
                <a:endParaRPr lang="en-US" sz="1800" dirty="0"/>
              </a:p>
              <a:p>
                <a:pPr marL="0" indent="0">
                  <a:buNone/>
                </a:pPr>
                <a:r>
                  <a:rPr lang="en-US" sz="1800" dirty="0"/>
                  <a:t>This is the premise of </a:t>
                </a:r>
                <a:r>
                  <a:rPr lang="en-US" sz="1800" b="1" dirty="0"/>
                  <a:t>hash tables</a:t>
                </a:r>
                <a:endParaRPr lang="en-US" sz="1800" dirty="0"/>
              </a:p>
              <a:p>
                <a:r>
                  <a:rPr lang="en-US" sz="1800" dirty="0"/>
                  <a:t>Hash Maps </a:t>
                </a:r>
                <a14:m>
                  <m:oMath xmlns:m="http://schemas.openxmlformats.org/officeDocument/2006/math">
                    <m:r>
                      <a:rPr lang="en-US" sz="1800" i="1" smtClean="0">
                        <a:latin typeface="Cambria Math" panose="02040503050406030204" pitchFamily="18" charset="0"/>
                        <a:ea typeface="Cambria Math" panose="02040503050406030204" pitchFamily="18" charset="0"/>
                      </a:rPr>
                      <m:t>↔</m:t>
                    </m:r>
                  </m:oMath>
                </a14:m>
                <a:r>
                  <a:rPr lang="en-US" sz="1800" dirty="0"/>
                  <a:t> Hash Tables (realistically not).</a:t>
                </a:r>
              </a:p>
              <a:p>
                <a:r>
                  <a:rPr lang="en-US" sz="1800" dirty="0"/>
                  <a:t>Hash tables are good to implement in the OS as they are synchronized.</a:t>
                </a:r>
              </a:p>
              <a:p>
                <a:r>
                  <a:rPr lang="en-US" sz="1800" dirty="0"/>
                  <a:t>Hash Tables don’t allow null keys/values, while Hash Maps allows one null key and many null values!</a:t>
                </a:r>
              </a:p>
              <a:p>
                <a:pPr marL="457200" indent="-457200">
                  <a:buFont typeface="+mj-lt"/>
                  <a:buAutoNum type="arabicParenR"/>
                </a:pPr>
                <a:endParaRPr lang="en-US" sz="1800" dirty="0"/>
              </a:p>
            </p:txBody>
          </p:sp>
        </mc:Choice>
        <mc:Fallback xmlns="">
          <p:sp>
            <p:nvSpPr>
              <p:cNvPr id="3" name="Content Placeholder 2">
                <a:extLst>
                  <a:ext uri="{FF2B5EF4-FFF2-40B4-BE49-F238E27FC236}">
                    <a16:creationId xmlns:a16="http://schemas.microsoft.com/office/drawing/2014/main" id="{7D636690-D30A-4748-B736-2B2148E6DABC}"/>
                  </a:ext>
                </a:extLst>
              </p:cNvPr>
              <p:cNvSpPr>
                <a:spLocks noGrp="1" noRot="1" noChangeAspect="1" noMove="1" noResize="1" noEditPoints="1" noAdjustHandles="1" noChangeArrowheads="1" noChangeShapeType="1" noTextEdit="1"/>
              </p:cNvSpPr>
              <p:nvPr>
                <p:ph idx="1"/>
              </p:nvPr>
            </p:nvSpPr>
            <p:spPr>
              <a:blipFill>
                <a:blip r:embed="rId3"/>
                <a:stretch>
                  <a:fillRect l="-923" t="-18908" b="-7602"/>
                </a:stretch>
              </a:blipFill>
            </p:spPr>
            <p:txBody>
              <a:bodyPr/>
              <a:lstStyle/>
              <a:p>
                <a:r>
                  <a:rPr lang="en-US">
                    <a:noFill/>
                  </a:rPr>
                  <a:t> </a:t>
                </a:r>
              </a:p>
            </p:txBody>
          </p:sp>
        </mc:Fallback>
      </mc:AlternateContent>
      <p:pic>
        <p:nvPicPr>
          <p:cNvPr id="3076" name="Picture 4">
            <a:extLst>
              <a:ext uri="{FF2B5EF4-FFF2-40B4-BE49-F238E27FC236}">
                <a16:creationId xmlns:a16="http://schemas.microsoft.com/office/drawing/2014/main" id="{FC6507B2-B0C8-4A97-9F65-D37A9238BE4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3215"/>
          <a:stretch/>
        </p:blipFill>
        <p:spPr bwMode="auto">
          <a:xfrm>
            <a:off x="9348788" y="3429000"/>
            <a:ext cx="2771843" cy="2187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0421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0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812A2-6332-46A2-9553-824A2DFE5419}"/>
              </a:ext>
            </a:extLst>
          </p:cNvPr>
          <p:cNvSpPr>
            <a:spLocks noGrp="1"/>
          </p:cNvSpPr>
          <p:nvPr>
            <p:ph type="title"/>
          </p:nvPr>
        </p:nvSpPr>
        <p:spPr/>
        <p:txBody>
          <a:bodyPr/>
          <a:lstStyle/>
          <a:p>
            <a:r>
              <a:rPr lang="en-US" dirty="0"/>
              <a:t>Hash Map: Insertion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835ABF8-7B5A-44E8-BE05-04145E24924B}"/>
                  </a:ext>
                </a:extLst>
              </p:cNvPr>
              <p:cNvSpPr>
                <a:spLocks noGrp="1"/>
              </p:cNvSpPr>
              <p:nvPr>
                <p:ph idx="1"/>
              </p:nvPr>
            </p:nvSpPr>
            <p:spPr/>
            <p:txBody>
              <a:bodyPr/>
              <a:lstStyle/>
              <a:p>
                <a:pPr marL="0" marR="0" indent="0">
                  <a:lnSpc>
                    <a:spcPct val="107000"/>
                  </a:lnSpc>
                  <a:spcBef>
                    <a:spcPts val="0"/>
                  </a:spcBef>
                  <a:spcAft>
                    <a:spcPts val="800"/>
                  </a:spcAft>
                  <a:buNone/>
                </a:pPr>
                <a:r>
                  <a:rPr lang="en-US" sz="1800" dirty="0">
                    <a:effectLst/>
                    <a:latin typeface="+mj-lt"/>
                    <a:ea typeface="Times New Roman" panose="02020603050405020304" pitchFamily="18" charset="0"/>
                    <a:cs typeface="Times New Roman" panose="02020603050405020304" pitchFamily="18" charset="0"/>
                  </a:rPr>
                  <a:t>To insert the key </a:t>
                </a:r>
                <a14:m>
                  <m:oMath xmlns:m="http://schemas.openxmlformats.org/officeDocument/2006/math">
                    <m:r>
                      <a:rPr lang="en-US" sz="1800" b="0" i="1" smtClean="0">
                        <a:effectLst/>
                        <a:latin typeface="Cambria Math" panose="02040503050406030204" pitchFamily="18" charset="0"/>
                        <a:ea typeface="Times New Roman" panose="02020603050405020304" pitchFamily="18" charset="0"/>
                        <a:cs typeface="Times New Roman" panose="02020603050405020304" pitchFamily="18" charset="0"/>
                      </a:rPr>
                      <m:t>𝑥</m:t>
                    </m:r>
                  </m:oMath>
                </a14:m>
                <a:r>
                  <a:rPr lang="en-US" sz="1800" b="1" dirty="0">
                    <a:effectLst/>
                    <a:latin typeface="+mj-lt"/>
                    <a:ea typeface="Times New Roman" panose="02020603050405020304" pitchFamily="18" charset="0"/>
                    <a:cs typeface="Times New Roman" panose="02020603050405020304" pitchFamily="18" charset="0"/>
                  </a:rPr>
                  <a:t> </a:t>
                </a:r>
                <a:r>
                  <a:rPr lang="en-US" sz="1800" dirty="0">
                    <a:effectLst/>
                    <a:latin typeface="+mj-lt"/>
                    <a:ea typeface="Times New Roman" panose="02020603050405020304" pitchFamily="18" charset="0"/>
                    <a:cs typeface="Times New Roman" panose="02020603050405020304" pitchFamily="18" charset="0"/>
                  </a:rPr>
                  <a:t>into our hash table:</a:t>
                </a:r>
                <a:endParaRPr lang="en-US" sz="1800" dirty="0">
                  <a:effectLst/>
                  <a:latin typeface="+mj-lt"/>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800" dirty="0">
                    <a:effectLst/>
                    <a:latin typeface="+mj-lt"/>
                    <a:ea typeface="Times New Roman" panose="02020603050405020304" pitchFamily="18" charset="0"/>
                    <a:cs typeface="Times New Roman" panose="02020603050405020304" pitchFamily="18" charset="0"/>
                  </a:rPr>
                  <a:t>1) First, run </a:t>
                </a:r>
                <a14:m>
                  <m:oMath xmlns:m="http://schemas.openxmlformats.org/officeDocument/2006/math">
                    <m:r>
                      <a:rPr lang="en-US" sz="1800" b="1" i="1">
                        <a:effectLst/>
                        <a:latin typeface="Cambria Math" panose="02040503050406030204" pitchFamily="18" charset="0"/>
                        <a:ea typeface="Times New Roman" panose="02020603050405020304" pitchFamily="18" charset="0"/>
                        <a:cs typeface="Times New Roman" panose="02020603050405020304" pitchFamily="18" charset="0"/>
                      </a:rPr>
                      <m:t>𝒙</m:t>
                    </m:r>
                    <m:r>
                      <a:rPr lang="en-US" sz="1800" b="1" i="1">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800" dirty="0">
                    <a:effectLst/>
                    <a:latin typeface="+mj-lt"/>
                    <a:ea typeface="Times New Roman" panose="02020603050405020304" pitchFamily="18" charset="0"/>
                    <a:cs typeface="Times New Roman" panose="02020603050405020304" pitchFamily="18" charset="0"/>
                  </a:rPr>
                  <a:t>through our hash function to generate an index to store x in the hash table:</a:t>
                </a:r>
                <a:endParaRPr lang="en-US" sz="1800" dirty="0">
                  <a:effectLst/>
                  <a:latin typeface="+mj-lt"/>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14:m>
                  <m:oMathPara xmlns:m="http://schemas.openxmlformats.org/officeDocument/2006/math">
                    <m:oMathParaPr>
                      <m:jc m:val="centerGroup"/>
                    </m:oMathParaPr>
                    <m:oMath xmlns:m="http://schemas.openxmlformats.org/officeDocument/2006/math">
                      <m:r>
                        <a:rPr lang="en-US" sz="1800" b="1" i="1">
                          <a:effectLst/>
                          <a:latin typeface="Cambria Math" panose="02040503050406030204" pitchFamily="18" charset="0"/>
                          <a:ea typeface="Times New Roman" panose="02020603050405020304" pitchFamily="18" charset="0"/>
                          <a:cs typeface="Times New Roman" panose="02020603050405020304" pitchFamily="18" charset="0"/>
                        </a:rPr>
                        <m:t>𝒊</m:t>
                      </m:r>
                      <m:r>
                        <a:rPr lang="en-US" sz="1800" b="1"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b="1" i="1">
                          <a:effectLst/>
                          <a:latin typeface="Cambria Math" panose="02040503050406030204" pitchFamily="18" charset="0"/>
                          <a:ea typeface="Times New Roman" panose="02020603050405020304" pitchFamily="18" charset="0"/>
                          <a:cs typeface="Times New Roman" panose="02020603050405020304" pitchFamily="18" charset="0"/>
                        </a:rPr>
                        <m:t>𝒉</m:t>
                      </m:r>
                      <m:d>
                        <m:dPr>
                          <m:ctrlPr>
                            <a:rPr lang="en-US" sz="1800" b="1"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b="1" i="1">
                              <a:effectLst/>
                              <a:latin typeface="Cambria Math" panose="02040503050406030204" pitchFamily="18" charset="0"/>
                              <a:ea typeface="Times New Roman" panose="02020603050405020304" pitchFamily="18" charset="0"/>
                              <a:cs typeface="Times New Roman" panose="02020603050405020304" pitchFamily="18" charset="0"/>
                            </a:rPr>
                            <m:t>𝒙</m:t>
                          </m:r>
                        </m:e>
                      </m:d>
                    </m:oMath>
                  </m:oMathPara>
                </a14:m>
                <a:endParaRPr lang="en-US" sz="1800" dirty="0">
                  <a:effectLst/>
                  <a:latin typeface="+mj-lt"/>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800" dirty="0">
                    <a:effectLst/>
                    <a:latin typeface="+mj-lt"/>
                    <a:ea typeface="Times New Roman" panose="02020603050405020304" pitchFamily="18" charset="0"/>
                    <a:cs typeface="Times New Roman" panose="02020603050405020304" pitchFamily="18" charset="0"/>
                  </a:rPr>
                  <a:t>2) Then, we will place </a:t>
                </a:r>
                <a14:m>
                  <m:oMath xmlns:m="http://schemas.openxmlformats.org/officeDocument/2006/math">
                    <m:r>
                      <a:rPr lang="en-US" sz="1800" b="1" i="1">
                        <a:effectLst/>
                        <a:latin typeface="Cambria Math" panose="02040503050406030204" pitchFamily="18" charset="0"/>
                        <a:ea typeface="Times New Roman" panose="02020603050405020304" pitchFamily="18" charset="0"/>
                        <a:cs typeface="Times New Roman" panose="02020603050405020304" pitchFamily="18" charset="0"/>
                      </a:rPr>
                      <m:t>𝒙</m:t>
                    </m:r>
                  </m:oMath>
                </a14:m>
                <a:r>
                  <a:rPr lang="en-US" sz="1800" dirty="0">
                    <a:effectLst/>
                    <a:latin typeface="+mj-lt"/>
                    <a:ea typeface="Times New Roman" panose="02020603050405020304" pitchFamily="18" charset="0"/>
                    <a:cs typeface="Times New Roman" panose="02020603050405020304" pitchFamily="18" charset="0"/>
                  </a:rPr>
                  <a:t> at index </a:t>
                </a:r>
                <a14:m>
                  <m:oMath xmlns:m="http://schemas.openxmlformats.org/officeDocument/2006/math">
                    <m:r>
                      <a:rPr lang="en-US" sz="1800" b="1" i="1">
                        <a:effectLst/>
                        <a:latin typeface="Cambria Math" panose="02040503050406030204" pitchFamily="18" charset="0"/>
                        <a:ea typeface="Times New Roman" panose="02020603050405020304" pitchFamily="18" charset="0"/>
                        <a:cs typeface="Times New Roman" panose="02020603050405020304" pitchFamily="18" charset="0"/>
                      </a:rPr>
                      <m:t>𝒊</m:t>
                    </m:r>
                  </m:oMath>
                </a14:m>
                <a:r>
                  <a:rPr lang="en-US" sz="1800" dirty="0">
                    <a:effectLst/>
                    <a:latin typeface="+mj-lt"/>
                    <a:ea typeface="Times New Roman" panose="02020603050405020304" pitchFamily="18" charset="0"/>
                    <a:cs typeface="Times New Roman" panose="02020603050405020304" pitchFamily="18" charset="0"/>
                  </a:rPr>
                  <a:t> in the array-backing the hash table:</a:t>
                </a:r>
                <a:endParaRPr lang="en-US" sz="1800" dirty="0">
                  <a:effectLst/>
                  <a:latin typeface="+mj-lt"/>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14:m>
                  <m:oMathPara xmlns:m="http://schemas.openxmlformats.org/officeDocument/2006/math">
                    <m:oMathParaPr>
                      <m:jc m:val="centerGroup"/>
                    </m:oMathParaPr>
                    <m:oMath xmlns:m="http://schemas.openxmlformats.org/officeDocument/2006/math">
                      <m:r>
                        <a:rPr lang="en-US" sz="1800" b="1" i="1">
                          <a:effectLst/>
                          <a:latin typeface="Cambria Math" panose="02040503050406030204" pitchFamily="18" charset="0"/>
                          <a:ea typeface="Times New Roman" panose="02020603050405020304" pitchFamily="18" charset="0"/>
                          <a:cs typeface="Times New Roman" panose="02020603050405020304" pitchFamily="18" charset="0"/>
                        </a:rPr>
                        <m:t>𝑯𝑻</m:t>
                      </m:r>
                      <m:d>
                        <m:dPr>
                          <m:begChr m:val="["/>
                          <m:endChr m:val="]"/>
                          <m:ctrlPr>
                            <a:rPr lang="en-US" sz="1800" b="1"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b="1" i="1">
                              <a:effectLst/>
                              <a:latin typeface="Cambria Math" panose="02040503050406030204" pitchFamily="18" charset="0"/>
                              <a:ea typeface="Times New Roman" panose="02020603050405020304" pitchFamily="18" charset="0"/>
                              <a:cs typeface="Times New Roman" panose="02020603050405020304" pitchFamily="18" charset="0"/>
                            </a:rPr>
                            <m:t>𝒊</m:t>
                          </m:r>
                        </m:e>
                      </m:d>
                      <m:r>
                        <a:rPr lang="en-US" sz="1800" b="1"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b="1" i="1">
                          <a:effectLst/>
                          <a:latin typeface="Cambria Math" panose="02040503050406030204" pitchFamily="18" charset="0"/>
                          <a:ea typeface="Times New Roman" panose="02020603050405020304" pitchFamily="18" charset="0"/>
                          <a:cs typeface="Times New Roman" panose="02020603050405020304" pitchFamily="18" charset="0"/>
                        </a:rPr>
                        <m:t>𝒙</m:t>
                      </m:r>
                    </m:oMath>
                  </m:oMathPara>
                </a14:m>
                <a:endParaRPr lang="en-US" sz="1800" dirty="0">
                  <a:effectLst/>
                  <a:latin typeface="+mj-lt"/>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800" dirty="0">
                    <a:effectLst/>
                    <a:latin typeface="+mj-lt"/>
                    <a:ea typeface="Calibri" panose="020F0502020204030204" pitchFamily="34" charset="0"/>
                    <a:cs typeface="Times New Roman" panose="02020603050405020304" pitchFamily="18" charset="0"/>
                  </a:rPr>
                  <a:t>It’s just like adding into an array, but our index is passed through a function before hand…</a:t>
                </a:r>
              </a:p>
              <a:p>
                <a:pPr marL="0" indent="0">
                  <a:buNone/>
                </a:pPr>
                <a:endParaRPr lang="en-US" dirty="0">
                  <a:latin typeface="+mj-lt"/>
                </a:endParaRPr>
              </a:p>
            </p:txBody>
          </p:sp>
        </mc:Choice>
        <mc:Fallback xmlns="">
          <p:sp>
            <p:nvSpPr>
              <p:cNvPr id="3" name="Content Placeholder 2">
                <a:extLst>
                  <a:ext uri="{FF2B5EF4-FFF2-40B4-BE49-F238E27FC236}">
                    <a16:creationId xmlns:a16="http://schemas.microsoft.com/office/drawing/2014/main" id="{7835ABF8-7B5A-44E8-BE05-04145E24924B}"/>
                  </a:ext>
                </a:extLst>
              </p:cNvPr>
              <p:cNvSpPr>
                <a:spLocks noGrp="1" noRot="1" noChangeAspect="1" noMove="1" noResize="1" noEditPoints="1" noAdjustHandles="1" noChangeArrowheads="1" noChangeShapeType="1" noTextEdit="1"/>
              </p:cNvSpPr>
              <p:nvPr>
                <p:ph idx="1"/>
              </p:nvPr>
            </p:nvSpPr>
            <p:spPr>
              <a:blipFill>
                <a:blip r:embed="rId3"/>
                <a:stretch>
                  <a:fillRect l="-492"/>
                </a:stretch>
              </a:blipFill>
            </p:spPr>
            <p:txBody>
              <a:bodyPr/>
              <a:lstStyle/>
              <a:p>
                <a:r>
                  <a:rPr lang="en-US">
                    <a:noFill/>
                  </a:rPr>
                  <a:t> </a:t>
                </a:r>
              </a:p>
            </p:txBody>
          </p:sp>
        </mc:Fallback>
      </mc:AlternateContent>
    </p:spTree>
    <p:extLst>
      <p:ext uri="{BB962C8B-B14F-4D97-AF65-F5344CB8AC3E}">
        <p14:creationId xmlns:p14="http://schemas.microsoft.com/office/powerpoint/2010/main" val="2068076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08BAC-88CA-4371-84FA-07C755454588}"/>
              </a:ext>
            </a:extLst>
          </p:cNvPr>
          <p:cNvSpPr>
            <a:spLocks noGrp="1"/>
          </p:cNvSpPr>
          <p:nvPr>
            <p:ph type="title"/>
          </p:nvPr>
        </p:nvSpPr>
        <p:spPr/>
        <p:txBody>
          <a:bodyPr/>
          <a:lstStyle/>
          <a:p>
            <a:r>
              <a:rPr lang="en-US" dirty="0"/>
              <a:t>Hash Map: Search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BCA4A8A-9565-4C1A-901E-5D381A124B01}"/>
                  </a:ext>
                </a:extLst>
              </p:cNvPr>
              <p:cNvSpPr>
                <a:spLocks noGrp="1"/>
              </p:cNvSpPr>
              <p:nvPr>
                <p:ph idx="1"/>
              </p:nvPr>
            </p:nvSpPr>
            <p:spPr/>
            <p:txBody>
              <a:bodyPr>
                <a:normAutofit/>
              </a:bodyPr>
              <a:lstStyle/>
              <a:p>
                <a:pPr marL="0" indent="0">
                  <a:buNone/>
                </a:pPr>
                <a:r>
                  <a:rPr lang="en-US" dirty="0">
                    <a:effectLst/>
                  </a:rPr>
                  <a:t>To search for the key </a:t>
                </a:r>
                <a14:m>
                  <m:oMath xmlns:m="http://schemas.openxmlformats.org/officeDocument/2006/math">
                    <m:r>
                      <a:rPr lang="en-US" b="1" i="1">
                        <a:effectLst/>
                        <a:latin typeface="Cambria Math" panose="02040503050406030204" pitchFamily="18" charset="0"/>
                      </a:rPr>
                      <m:t>𝒙</m:t>
                    </m:r>
                    <m:r>
                      <a:rPr lang="en-US" b="1" i="1">
                        <a:effectLst/>
                        <a:latin typeface="Cambria Math" panose="02040503050406030204" pitchFamily="18" charset="0"/>
                      </a:rPr>
                      <m:t> </m:t>
                    </m:r>
                  </m:oMath>
                </a14:m>
                <a:r>
                  <a:rPr lang="en-US" dirty="0">
                    <a:effectLst/>
                  </a:rPr>
                  <a:t>in our hash table:</a:t>
                </a:r>
              </a:p>
              <a:p>
                <a:pPr marL="0" indent="0">
                  <a:buNone/>
                </a:pPr>
                <a:r>
                  <a:rPr lang="en-US" dirty="0">
                    <a:effectLst/>
                  </a:rPr>
                  <a:t>1) First, run </a:t>
                </a:r>
                <a14:m>
                  <m:oMath xmlns:m="http://schemas.openxmlformats.org/officeDocument/2006/math">
                    <m:r>
                      <a:rPr lang="en-US" b="1" i="1">
                        <a:effectLst/>
                        <a:latin typeface="Cambria Math" panose="02040503050406030204" pitchFamily="18" charset="0"/>
                      </a:rPr>
                      <m:t>𝒙</m:t>
                    </m:r>
                    <m:r>
                      <a:rPr lang="en-US" b="1" i="1">
                        <a:effectLst/>
                        <a:latin typeface="Cambria Math" panose="02040503050406030204" pitchFamily="18" charset="0"/>
                      </a:rPr>
                      <m:t> </m:t>
                    </m:r>
                  </m:oMath>
                </a14:m>
                <a:r>
                  <a:rPr lang="en-US" dirty="0">
                    <a:effectLst/>
                  </a:rPr>
                  <a:t>through our hash function that will give us our index:</a:t>
                </a:r>
                <a:br>
                  <a:rPr lang="en-US" dirty="0">
                    <a:effectLst/>
                  </a:rPr>
                </a:br>
                <a14:m>
                  <m:oMathPara xmlns:m="http://schemas.openxmlformats.org/officeDocument/2006/math">
                    <m:oMathParaPr>
                      <m:jc m:val="centerGroup"/>
                    </m:oMathParaPr>
                    <m:oMath xmlns:m="http://schemas.openxmlformats.org/officeDocument/2006/math">
                      <m:r>
                        <a:rPr lang="en-US" b="1" i="1">
                          <a:effectLst/>
                          <a:latin typeface="Cambria Math" panose="02040503050406030204" pitchFamily="18" charset="0"/>
                        </a:rPr>
                        <m:t>𝒊</m:t>
                      </m:r>
                      <m:r>
                        <a:rPr lang="en-US" b="1" i="1">
                          <a:effectLst/>
                          <a:latin typeface="Cambria Math" panose="02040503050406030204" pitchFamily="18" charset="0"/>
                        </a:rPr>
                        <m:t>=</m:t>
                      </m:r>
                      <m:r>
                        <a:rPr lang="en-US" b="1" i="1">
                          <a:effectLst/>
                          <a:latin typeface="Cambria Math" panose="02040503050406030204" pitchFamily="18" charset="0"/>
                        </a:rPr>
                        <m:t>𝒉</m:t>
                      </m:r>
                      <m:d>
                        <m:dPr>
                          <m:ctrlPr>
                            <a:rPr lang="en-US" b="1" i="1">
                              <a:effectLst/>
                              <a:latin typeface="Cambria Math" panose="02040503050406030204" pitchFamily="18" charset="0"/>
                            </a:rPr>
                          </m:ctrlPr>
                        </m:dPr>
                        <m:e>
                          <m:r>
                            <a:rPr lang="en-US" b="1" i="1">
                              <a:effectLst/>
                              <a:latin typeface="Cambria Math" panose="02040503050406030204" pitchFamily="18" charset="0"/>
                            </a:rPr>
                            <m:t>𝒙</m:t>
                          </m:r>
                        </m:e>
                      </m:d>
                    </m:oMath>
                  </m:oMathPara>
                </a14:m>
                <a:endParaRPr lang="en-US" dirty="0">
                  <a:effectLst/>
                </a:endParaRPr>
              </a:p>
              <a:p>
                <a:pPr marL="0" indent="0">
                  <a:buNone/>
                </a:pPr>
                <a:r>
                  <a:rPr lang="en-US" dirty="0">
                    <a:effectLst/>
                  </a:rPr>
                  <a:t>2) Then, check if </a:t>
                </a:r>
                <a14:m>
                  <m:oMath xmlns:m="http://schemas.openxmlformats.org/officeDocument/2006/math">
                    <m:r>
                      <a:rPr lang="en-US" b="1" i="1">
                        <a:effectLst/>
                        <a:latin typeface="Cambria Math" panose="02040503050406030204" pitchFamily="18" charset="0"/>
                      </a:rPr>
                      <m:t>𝒙</m:t>
                    </m:r>
                  </m:oMath>
                </a14:m>
                <a:r>
                  <a:rPr lang="en-US" b="1" dirty="0">
                    <a:effectLst/>
                  </a:rPr>
                  <a:t> </a:t>
                </a:r>
                <a:r>
                  <a:rPr lang="en-US" dirty="0">
                    <a:effectLst/>
                  </a:rPr>
                  <a:t>is stored at that index:</a:t>
                </a:r>
              </a:p>
              <a:p>
                <a:pPr marL="0" indent="0">
                  <a:buNone/>
                </a:pPr>
                <a14:m>
                  <m:oMathPara xmlns:m="http://schemas.openxmlformats.org/officeDocument/2006/math">
                    <m:oMathParaPr>
                      <m:jc m:val="centerGroup"/>
                    </m:oMathParaPr>
                    <m:oMath xmlns:m="http://schemas.openxmlformats.org/officeDocument/2006/math">
                      <m:r>
                        <a:rPr lang="en-US" b="1" i="1">
                          <a:effectLst/>
                          <a:latin typeface="Cambria Math" panose="02040503050406030204" pitchFamily="18" charset="0"/>
                        </a:rPr>
                        <m:t>𝒊𝒇</m:t>
                      </m:r>
                      <m:d>
                        <m:dPr>
                          <m:ctrlPr>
                            <a:rPr lang="en-US" b="1" i="1">
                              <a:effectLst/>
                              <a:latin typeface="Cambria Math" panose="02040503050406030204" pitchFamily="18" charset="0"/>
                            </a:rPr>
                          </m:ctrlPr>
                        </m:dPr>
                        <m:e>
                          <m:r>
                            <a:rPr lang="en-US" b="1" i="1">
                              <a:effectLst/>
                              <a:latin typeface="Cambria Math" panose="02040503050406030204" pitchFamily="18" charset="0"/>
                            </a:rPr>
                            <m:t>𝑯𝑻</m:t>
                          </m:r>
                          <m:d>
                            <m:dPr>
                              <m:begChr m:val="["/>
                              <m:endChr m:val="]"/>
                              <m:ctrlPr>
                                <a:rPr lang="en-US" b="1" i="1">
                                  <a:effectLst/>
                                  <a:latin typeface="Cambria Math" panose="02040503050406030204" pitchFamily="18" charset="0"/>
                                </a:rPr>
                              </m:ctrlPr>
                            </m:dPr>
                            <m:e>
                              <m:r>
                                <a:rPr lang="en-US" b="1" i="1">
                                  <a:effectLst/>
                                  <a:latin typeface="Cambria Math" panose="02040503050406030204" pitchFamily="18" charset="0"/>
                                </a:rPr>
                                <m:t>𝒊</m:t>
                              </m:r>
                            </m:e>
                          </m:d>
                          <m:r>
                            <a:rPr lang="en-US" b="1" i="1">
                              <a:effectLst/>
                              <a:latin typeface="Cambria Math" panose="02040503050406030204" pitchFamily="18" charset="0"/>
                            </a:rPr>
                            <m:t>==</m:t>
                          </m:r>
                          <m:r>
                            <a:rPr lang="en-US" b="1" i="1">
                              <a:effectLst/>
                              <a:latin typeface="Cambria Math" panose="02040503050406030204" pitchFamily="18" charset="0"/>
                            </a:rPr>
                            <m:t>𝒙</m:t>
                          </m:r>
                        </m:e>
                      </m:d>
                      <m:r>
                        <a:rPr lang="en-US" b="1" i="1">
                          <a:effectLst/>
                          <a:latin typeface="Cambria Math" panose="02040503050406030204" pitchFamily="18" charset="0"/>
                        </a:rPr>
                        <m:t> </m:t>
                      </m:r>
                      <m:r>
                        <a:rPr lang="en-US" b="1" i="1">
                          <a:effectLst/>
                          <a:latin typeface="Cambria Math" panose="02040503050406030204" pitchFamily="18" charset="0"/>
                        </a:rPr>
                        <m:t>𝒓𝒆𝒕𝒖𝒓𝒏</m:t>
                      </m:r>
                      <m:r>
                        <a:rPr lang="en-US" b="1" i="1">
                          <a:effectLst/>
                          <a:latin typeface="Cambria Math" panose="02040503050406030204" pitchFamily="18" charset="0"/>
                        </a:rPr>
                        <m:t> </m:t>
                      </m:r>
                      <m:r>
                        <a:rPr lang="en-US" b="1" i="1">
                          <a:effectLst/>
                          <a:latin typeface="Cambria Math" panose="02040503050406030204" pitchFamily="18" charset="0"/>
                        </a:rPr>
                        <m:t>𝒕𝒓𝒖𝒆</m:t>
                      </m:r>
                      <m:r>
                        <a:rPr lang="en-US" b="1" i="1">
                          <a:effectLst/>
                          <a:latin typeface="Cambria Math" panose="02040503050406030204" pitchFamily="18" charset="0"/>
                        </a:rPr>
                        <m:t>;</m:t>
                      </m:r>
                    </m:oMath>
                  </m:oMathPara>
                </a14:m>
                <a:endParaRPr lang="en-US" dirty="0">
                  <a:effectLst/>
                </a:endParaRPr>
              </a:p>
              <a:p>
                <a:pPr marL="0" indent="0">
                  <a:buNone/>
                </a:pPr>
                <a:r>
                  <a:rPr lang="en-US" dirty="0">
                    <a:effectLst/>
                  </a:rPr>
                  <a:t>It’s just like searching if a given index in an array is populated, just with some extra steps…</a:t>
                </a:r>
              </a:p>
            </p:txBody>
          </p:sp>
        </mc:Choice>
        <mc:Fallback xmlns="">
          <p:sp>
            <p:nvSpPr>
              <p:cNvPr id="3" name="Content Placeholder 2">
                <a:extLst>
                  <a:ext uri="{FF2B5EF4-FFF2-40B4-BE49-F238E27FC236}">
                    <a16:creationId xmlns:a16="http://schemas.microsoft.com/office/drawing/2014/main" id="{5BCA4A8A-9565-4C1A-901E-5D381A124B01}"/>
                  </a:ext>
                </a:extLst>
              </p:cNvPr>
              <p:cNvSpPr>
                <a:spLocks noGrp="1" noRot="1" noChangeAspect="1" noMove="1" noResize="1" noEditPoints="1" noAdjustHandles="1" noChangeArrowheads="1" noChangeShapeType="1" noTextEdit="1"/>
              </p:cNvSpPr>
              <p:nvPr>
                <p:ph idx="1"/>
              </p:nvPr>
            </p:nvSpPr>
            <p:spPr>
              <a:blipFill>
                <a:blip r:embed="rId3"/>
                <a:stretch>
                  <a:fillRect l="-615"/>
                </a:stretch>
              </a:blipFill>
            </p:spPr>
            <p:txBody>
              <a:bodyPr/>
              <a:lstStyle/>
              <a:p>
                <a:r>
                  <a:rPr lang="en-US">
                    <a:noFill/>
                  </a:rPr>
                  <a:t> </a:t>
                </a:r>
              </a:p>
            </p:txBody>
          </p:sp>
        </mc:Fallback>
      </mc:AlternateContent>
    </p:spTree>
    <p:extLst>
      <p:ext uri="{BB962C8B-B14F-4D97-AF65-F5344CB8AC3E}">
        <p14:creationId xmlns:p14="http://schemas.microsoft.com/office/powerpoint/2010/main" val="924088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AF75A-8C59-4002-8895-5BEEF923CFFB}"/>
              </a:ext>
            </a:extLst>
          </p:cNvPr>
          <p:cNvSpPr>
            <a:spLocks noGrp="1"/>
          </p:cNvSpPr>
          <p:nvPr>
            <p:ph type="title"/>
          </p:nvPr>
        </p:nvSpPr>
        <p:spPr/>
        <p:txBody>
          <a:bodyPr/>
          <a:lstStyle/>
          <a:p>
            <a:pPr algn="ctr"/>
            <a:r>
              <a:rPr lang="en-US" dirty="0"/>
              <a:t>Hm… are there any problems with this approach??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0839226-129F-46CC-89A9-4CD9FCC0700A}"/>
                  </a:ext>
                </a:extLst>
              </p:cNvPr>
              <p:cNvSpPr>
                <a:spLocks noGrp="1"/>
              </p:cNvSpPr>
              <p:nvPr>
                <p:ph idx="1"/>
              </p:nvPr>
            </p:nvSpPr>
            <p:spPr/>
            <p:txBody>
              <a:bodyPr>
                <a:normAutofit/>
              </a:bodyPr>
              <a:lstStyle/>
              <a:p>
                <a:pPr marL="0" indent="0">
                  <a:buNone/>
                </a:pPr>
                <a:r>
                  <a:rPr lang="en-US" dirty="0"/>
                  <a:t>Well…. What if </a:t>
                </a:r>
                <a14:m>
                  <m:oMath xmlns:m="http://schemas.openxmlformats.org/officeDocument/2006/math">
                    <m:r>
                      <a:rPr lang="en-US" b="1" i="1" smtClean="0">
                        <a:latin typeface="Cambria Math" panose="02040503050406030204" pitchFamily="18" charset="0"/>
                      </a:rPr>
                      <m:t>𝒉</m:t>
                    </m:r>
                    <m:d>
                      <m:dPr>
                        <m:ctrlPr>
                          <a:rPr lang="en-US" b="1" i="1" smtClean="0">
                            <a:latin typeface="Cambria Math" panose="02040503050406030204" pitchFamily="18" charset="0"/>
                          </a:rPr>
                        </m:ctrlPr>
                      </m:dPr>
                      <m:e>
                        <m:r>
                          <a:rPr lang="en-US" b="1" i="1" smtClean="0">
                            <a:latin typeface="Cambria Math" panose="02040503050406030204" pitchFamily="18" charset="0"/>
                          </a:rPr>
                          <m:t>𝒙</m:t>
                        </m:r>
                      </m:e>
                    </m:d>
                    <m:r>
                      <a:rPr lang="en-US" b="1" i="1" smtClean="0">
                        <a:latin typeface="Cambria Math" panose="02040503050406030204" pitchFamily="18" charset="0"/>
                      </a:rPr>
                      <m:t>==</m:t>
                    </m:r>
                    <m:r>
                      <a:rPr lang="en-US" b="1" i="1" smtClean="0">
                        <a:latin typeface="Cambria Math" panose="02040503050406030204" pitchFamily="18" charset="0"/>
                      </a:rPr>
                      <m:t>𝒉</m:t>
                    </m:r>
                    <m:r>
                      <a:rPr lang="en-US" b="1" i="1" smtClean="0">
                        <a:latin typeface="Cambria Math" panose="02040503050406030204" pitchFamily="18" charset="0"/>
                      </a:rPr>
                      <m:t>(</m:t>
                    </m:r>
                    <m:r>
                      <a:rPr lang="en-US" b="1" i="1" smtClean="0">
                        <a:latin typeface="Cambria Math" panose="02040503050406030204" pitchFamily="18" charset="0"/>
                      </a:rPr>
                      <m:t>𝒚</m:t>
                    </m:r>
                    <m:r>
                      <a:rPr lang="en-US" b="1" i="1" smtClean="0">
                        <a:latin typeface="Cambria Math" panose="02040503050406030204" pitchFamily="18" charset="0"/>
                      </a:rPr>
                      <m:t>)</m:t>
                    </m:r>
                  </m:oMath>
                </a14:m>
                <a:r>
                  <a:rPr lang="en-US" b="1" dirty="0"/>
                  <a:t>, </a:t>
                </a:r>
                <a:r>
                  <a:rPr lang="en-US" dirty="0"/>
                  <a:t>where </a:t>
                </a:r>
                <a14:m>
                  <m:oMath xmlns:m="http://schemas.openxmlformats.org/officeDocument/2006/math">
                    <m:r>
                      <a:rPr lang="en-US" b="1" i="1" smtClean="0">
                        <a:latin typeface="Cambria Math" panose="02040503050406030204" pitchFamily="18" charset="0"/>
                      </a:rPr>
                      <m:t>𝒙</m:t>
                    </m:r>
                    <m:r>
                      <a:rPr lang="en-US" b="1" i="1" smtClean="0">
                        <a:latin typeface="Cambria Math" panose="02040503050406030204" pitchFamily="18" charset="0"/>
                      </a:rPr>
                      <m:t> !=</m:t>
                    </m:r>
                    <m:r>
                      <a:rPr lang="en-US" b="1" i="1" smtClean="0">
                        <a:latin typeface="Cambria Math" panose="02040503050406030204" pitchFamily="18" charset="0"/>
                      </a:rPr>
                      <m:t>𝒚</m:t>
                    </m:r>
                  </m:oMath>
                </a14:m>
                <a:r>
                  <a:rPr lang="en-US" b="1" dirty="0"/>
                  <a:t>?</a:t>
                </a:r>
              </a:p>
              <a:p>
                <a:r>
                  <a:rPr lang="en-US" dirty="0"/>
                  <a:t>This is called a </a:t>
                </a:r>
                <a:r>
                  <a:rPr lang="en-US" b="1" dirty="0"/>
                  <a:t>collision</a:t>
                </a:r>
                <a:r>
                  <a:rPr lang="en-US" dirty="0"/>
                  <a:t>.</a:t>
                </a:r>
              </a:p>
              <a:p>
                <a:pPr lvl="1"/>
                <a:r>
                  <a:rPr lang="en-US" dirty="0"/>
                  <a:t>I.e., Different keys hash to the same value!</a:t>
                </a:r>
              </a:p>
              <a:p>
                <a:r>
                  <a:rPr lang="en-US" b="1" dirty="0"/>
                  <a:t>The Pigeonhole Principle:</a:t>
                </a:r>
                <a:r>
                  <a:rPr lang="en-US" dirty="0"/>
                  <a:t> If there are more items than</a:t>
                </a:r>
              </a:p>
              <a:p>
                <a:pPr marL="0" indent="0">
                  <a:buNone/>
                </a:pPr>
                <a:r>
                  <a:rPr lang="en-US" dirty="0"/>
                  <a:t>Boxes, at least one box must have more than one item in it.</a:t>
                </a:r>
              </a:p>
              <a:p>
                <a:pPr lvl="1"/>
                <a:endParaRPr lang="en-US" dirty="0"/>
              </a:p>
              <a:p>
                <a:endParaRPr lang="en-US" dirty="0"/>
              </a:p>
            </p:txBody>
          </p:sp>
        </mc:Choice>
        <mc:Fallback xmlns="">
          <p:sp>
            <p:nvSpPr>
              <p:cNvPr id="3" name="Content Placeholder 2">
                <a:extLst>
                  <a:ext uri="{FF2B5EF4-FFF2-40B4-BE49-F238E27FC236}">
                    <a16:creationId xmlns:a16="http://schemas.microsoft.com/office/drawing/2014/main" id="{30839226-129F-46CC-89A9-4CD9FCC0700A}"/>
                  </a:ext>
                </a:extLst>
              </p:cNvPr>
              <p:cNvSpPr>
                <a:spLocks noGrp="1" noRot="1" noChangeAspect="1" noMove="1" noResize="1" noEditPoints="1" noAdjustHandles="1" noChangeArrowheads="1" noChangeShapeType="1" noTextEdit="1"/>
              </p:cNvSpPr>
              <p:nvPr>
                <p:ph idx="1"/>
              </p:nvPr>
            </p:nvSpPr>
            <p:spPr>
              <a:blipFill>
                <a:blip r:embed="rId3"/>
                <a:stretch>
                  <a:fillRect l="-1046"/>
                </a:stretch>
              </a:blipFill>
            </p:spPr>
            <p:txBody>
              <a:bodyPr/>
              <a:lstStyle/>
              <a:p>
                <a:r>
                  <a:rPr lang="en-US">
                    <a:noFill/>
                  </a:rPr>
                  <a:t> </a:t>
                </a:r>
              </a:p>
            </p:txBody>
          </p:sp>
        </mc:Fallback>
      </mc:AlternateContent>
      <p:pic>
        <p:nvPicPr>
          <p:cNvPr id="1028" name="Picture 4" descr="Pigeonhole principle - Wikipedia">
            <a:extLst>
              <a:ext uri="{FF2B5EF4-FFF2-40B4-BE49-F238E27FC236}">
                <a16:creationId xmlns:a16="http://schemas.microsoft.com/office/drawing/2014/main" id="{020BCD41-1799-4198-95F6-66A110F9BC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63523" y="2552330"/>
            <a:ext cx="3289916" cy="2666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7004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0EE9A-A040-4B2A-B603-EF52AC0A47B3}"/>
              </a:ext>
            </a:extLst>
          </p:cNvPr>
          <p:cNvSpPr>
            <a:spLocks noGrp="1"/>
          </p:cNvSpPr>
          <p:nvPr>
            <p:ph type="title"/>
          </p:nvPr>
        </p:nvSpPr>
        <p:spPr/>
        <p:txBody>
          <a:bodyPr/>
          <a:lstStyle/>
          <a:p>
            <a:r>
              <a:rPr lang="en-US" dirty="0"/>
              <a:t>Pigeonhole Principle Tip:</a:t>
            </a:r>
          </a:p>
        </p:txBody>
      </p:sp>
      <p:sp>
        <p:nvSpPr>
          <p:cNvPr id="3" name="Content Placeholder 2">
            <a:extLst>
              <a:ext uri="{FF2B5EF4-FFF2-40B4-BE49-F238E27FC236}">
                <a16:creationId xmlns:a16="http://schemas.microsoft.com/office/drawing/2014/main" id="{E18125BF-34EF-489B-99EF-516E3DFC033E}"/>
              </a:ext>
            </a:extLst>
          </p:cNvPr>
          <p:cNvSpPr>
            <a:spLocks noGrp="1"/>
          </p:cNvSpPr>
          <p:nvPr>
            <p:ph idx="1"/>
          </p:nvPr>
        </p:nvSpPr>
        <p:spPr/>
        <p:txBody>
          <a:bodyPr/>
          <a:lstStyle/>
          <a:p>
            <a:pPr marL="0" marR="0" indent="0">
              <a:lnSpc>
                <a:spcPct val="107000"/>
              </a:lnSpc>
              <a:spcBef>
                <a:spcPts val="0"/>
              </a:spcBef>
              <a:spcAft>
                <a:spcPts val="800"/>
              </a:spcAft>
              <a:buNone/>
            </a:pPr>
            <a:r>
              <a:rPr lang="en-US" b="1" dirty="0">
                <a:effectLst/>
                <a:ea typeface="Times New Roman" panose="02020603050405020304" pitchFamily="18" charset="0"/>
                <a:cs typeface="Times New Roman" panose="02020603050405020304" pitchFamily="18" charset="0"/>
              </a:rPr>
              <a:t>Pigeonholes are indices, and the Pigeons are the Keys we could potentially insert.</a:t>
            </a:r>
            <a:endParaRPr lang="en-US" dirty="0">
              <a:effectLs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dirty="0">
                <a:effectLst/>
                <a:ea typeface="Times New Roman" panose="02020603050405020304" pitchFamily="18" charset="0"/>
                <a:cs typeface="Times New Roman" panose="02020603050405020304" pitchFamily="18" charset="0"/>
              </a:rPr>
              <a:t>For our hash function, the domain represents the pigeons, and the range represents the pigeonholes!</a:t>
            </a:r>
            <a:endParaRPr lang="en-US" dirty="0">
              <a:effectLst/>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537481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D26A9-1CAD-44DF-8542-3B8DC26B121F}"/>
              </a:ext>
            </a:extLst>
          </p:cNvPr>
          <p:cNvSpPr>
            <a:spLocks noGrp="1"/>
          </p:cNvSpPr>
          <p:nvPr>
            <p:ph type="title"/>
          </p:nvPr>
        </p:nvSpPr>
        <p:spPr/>
        <p:txBody>
          <a:bodyPr/>
          <a:lstStyle/>
          <a:p>
            <a:r>
              <a:rPr lang="en-US" dirty="0"/>
              <a:t>Pigeonhole Principle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A75E86-695B-4B45-B93A-F0329149C957}"/>
                  </a:ext>
                </a:extLst>
              </p:cNvPr>
              <p:cNvSpPr>
                <a:spLocks noGrp="1"/>
              </p:cNvSpPr>
              <p:nvPr>
                <p:ph idx="1"/>
              </p:nvPr>
            </p:nvSpPr>
            <p:spPr>
              <a:xfrm>
                <a:off x="1012141" y="2535621"/>
                <a:ext cx="10167718" cy="3636579"/>
              </a:xfrm>
            </p:spPr>
            <p:txBody>
              <a:bodyPr>
                <a:normAutofit fontScale="25000" lnSpcReduction="20000"/>
              </a:bodyPr>
              <a:lstStyle/>
              <a:p>
                <a:pPr marL="0" marR="0" indent="0">
                  <a:lnSpc>
                    <a:spcPct val="107000"/>
                  </a:lnSpc>
                  <a:spcBef>
                    <a:spcPts val="0"/>
                  </a:spcBef>
                  <a:spcAft>
                    <a:spcPts val="800"/>
                  </a:spcAft>
                  <a:buNone/>
                </a:pPr>
                <a:r>
                  <a:rPr lang="en-US" sz="7200" dirty="0">
                    <a:effectLst/>
                    <a:ea typeface="Times New Roman" panose="02020603050405020304" pitchFamily="18" charset="0"/>
                    <a:cs typeface="Times New Roman" panose="02020603050405020304" pitchFamily="18" charset="0"/>
                  </a:rPr>
                  <a:t>Suppose a company has 500 employees</a:t>
                </a:r>
                <a:endParaRPr lang="en-US" sz="7200" dirty="0">
                  <a:effectLst/>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7200" dirty="0">
                    <a:effectLst/>
                    <a:ea typeface="Times New Roman" panose="02020603050405020304" pitchFamily="18" charset="0"/>
                    <a:cs typeface="Times New Roman" panose="02020603050405020304" pitchFamily="18" charset="0"/>
                  </a:rPr>
                  <a:t>1) We want to store records using a HashMap with 1000 entries</a:t>
                </a:r>
                <a:endParaRPr lang="en-US" sz="7200" dirty="0">
                  <a:effectLst/>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7200" dirty="0">
                    <a:effectLst/>
                    <a:ea typeface="Times New Roman" panose="02020603050405020304" pitchFamily="18" charset="0"/>
                    <a:cs typeface="Times New Roman" panose="02020603050405020304" pitchFamily="18" charset="0"/>
                  </a:rPr>
                  <a:t>2) We’re going to use employee SSNs to uniquely identify each employee (cannot have duplicates).</a:t>
                </a:r>
                <a:endParaRPr lang="en-US" sz="7200" dirty="0">
                  <a:effectLs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7200" dirty="0">
                    <a:effectLst/>
                    <a:ea typeface="Times New Roman" panose="02020603050405020304" pitchFamily="18" charset="0"/>
                    <a:cs typeface="Times New Roman" panose="02020603050405020304" pitchFamily="18" charset="0"/>
                  </a:rPr>
                  <a:t>Since our keys are SSNs, so </a:t>
                </a:r>
                <a14:m>
                  <m:oMath xmlns:m="http://schemas.openxmlformats.org/officeDocument/2006/math">
                    <m:d>
                      <m:dPr>
                        <m:begChr m:val="|"/>
                        <m:endChr m:val="|"/>
                        <m:ctrlPr>
                          <a:rPr lang="en-US" sz="7200" b="1"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7200" b="1" i="1">
                            <a:effectLst/>
                            <a:latin typeface="Cambria Math" panose="02040503050406030204" pitchFamily="18" charset="0"/>
                            <a:ea typeface="Times New Roman" panose="02020603050405020304" pitchFamily="18" charset="0"/>
                            <a:cs typeface="Times New Roman" panose="02020603050405020304" pitchFamily="18" charset="0"/>
                          </a:rPr>
                          <m:t>𝒌𝒆𝒚𝒔𝒑𝒂𝒄𝒆</m:t>
                        </m:r>
                      </m:e>
                    </m:d>
                    <m:r>
                      <a:rPr lang="en-US" sz="7200" b="1"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sz="7200" b="1"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7200" b="1" i="1">
                            <a:effectLst/>
                            <a:latin typeface="Cambria Math" panose="02040503050406030204" pitchFamily="18" charset="0"/>
                            <a:ea typeface="Times New Roman" panose="02020603050405020304" pitchFamily="18" charset="0"/>
                            <a:cs typeface="Times New Roman" panose="02020603050405020304" pitchFamily="18" charset="0"/>
                          </a:rPr>
                          <m:t>𝟏𝟎</m:t>
                        </m:r>
                      </m:e>
                      <m:sup>
                        <m:r>
                          <a:rPr lang="en-US" sz="7200" b="1" i="1">
                            <a:effectLst/>
                            <a:latin typeface="Cambria Math" panose="02040503050406030204" pitchFamily="18" charset="0"/>
                            <a:ea typeface="Times New Roman" panose="02020603050405020304" pitchFamily="18" charset="0"/>
                            <a:cs typeface="Times New Roman" panose="02020603050405020304" pitchFamily="18" charset="0"/>
                          </a:rPr>
                          <m:t>𝟗</m:t>
                        </m:r>
                      </m:sup>
                    </m:sSup>
                  </m:oMath>
                </a14:m>
                <a:endParaRPr lang="en-US" sz="7200" dirty="0">
                  <a:effectLst/>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7200" dirty="0">
                    <a:effectLst/>
                    <a:ea typeface="Times New Roman" panose="02020603050405020304" pitchFamily="18" charset="0"/>
                    <a:cs typeface="Times New Roman" panose="02020603050405020304" pitchFamily="18" charset="0"/>
                  </a:rPr>
                  <a:t>3) Specifically, what keys are needed can’t be known in advance.</a:t>
                </a:r>
                <a:endParaRPr lang="en-US" sz="7200" dirty="0">
                  <a:effectLst/>
                  <a:ea typeface="Calibri" panose="020F0502020204030204" pitchFamily="34" charset="0"/>
                  <a:cs typeface="Times New Roman" panose="02020603050405020304" pitchFamily="18" charset="0"/>
                </a:endParaRPr>
              </a:p>
              <a:p>
                <a:pPr>
                  <a:lnSpc>
                    <a:spcPct val="107000"/>
                  </a:lnSpc>
                  <a:spcBef>
                    <a:spcPts val="0"/>
                  </a:spcBef>
                  <a:spcAft>
                    <a:spcPts val="800"/>
                  </a:spcAft>
                </a:pPr>
                <a:r>
                  <a:rPr lang="en-US" sz="7200" dirty="0">
                    <a:effectLst/>
                    <a:ea typeface="Times New Roman" panose="02020603050405020304" pitchFamily="18" charset="0"/>
                    <a:cs typeface="Times New Roman" panose="02020603050405020304" pitchFamily="18" charset="0"/>
                  </a:rPr>
                  <a:t>Due to employee turnover</a:t>
                </a:r>
                <a:endParaRPr lang="en-US" sz="7200" dirty="0">
                  <a:effectLst/>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7200" dirty="0">
                    <a:effectLst/>
                    <a:ea typeface="Times New Roman" panose="02020603050405020304" pitchFamily="18" charset="0"/>
                    <a:cs typeface="Times New Roman" panose="02020603050405020304" pitchFamily="18" charset="0"/>
                  </a:rPr>
                  <a:t>4) What if one employee (with SSN x) is fired and their replacement has an SSN of y?</a:t>
                </a:r>
                <a:endParaRPr lang="en-US" sz="7200" dirty="0">
                  <a:effectLs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7200" dirty="0">
                    <a:effectLst/>
                    <a:ea typeface="Times New Roman" panose="02020603050405020304" pitchFamily="18" charset="0"/>
                    <a:cs typeface="Times New Roman" panose="02020603050405020304" pitchFamily="18" charset="0"/>
                  </a:rPr>
                  <a:t>In this example, we have 1000 pigeonholes, and </a:t>
                </a:r>
                <a14:m>
                  <m:oMath xmlns:m="http://schemas.openxmlformats.org/officeDocument/2006/math">
                    <m:sSup>
                      <m:sSupPr>
                        <m:ctrlPr>
                          <a:rPr lang="en-US" sz="7200" i="1" dirty="0" smtClean="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7200" i="1" dirty="0" smtClean="0">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7200" i="1" dirty="0" smtClean="0">
                            <a:effectLst/>
                            <a:latin typeface="Cambria Math" panose="02040503050406030204" pitchFamily="18" charset="0"/>
                            <a:ea typeface="Times New Roman" panose="02020603050405020304" pitchFamily="18" charset="0"/>
                            <a:cs typeface="Times New Roman" panose="02020603050405020304" pitchFamily="18" charset="0"/>
                          </a:rPr>
                          <m:t>9</m:t>
                        </m:r>
                      </m:sup>
                    </m:sSup>
                  </m:oMath>
                </a14:m>
                <a:r>
                  <a:rPr lang="en-US" sz="7200" dirty="0">
                    <a:effectLst/>
                    <a:ea typeface="Times New Roman" panose="02020603050405020304" pitchFamily="18" charset="0"/>
                    <a:cs typeface="Times New Roman" panose="02020603050405020304" pitchFamily="18" charset="0"/>
                  </a:rPr>
                  <a:t> pigeons.</a:t>
                </a:r>
                <a:endParaRPr lang="en-US" sz="7200" dirty="0">
                  <a:effectLs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7200" dirty="0">
                    <a:effectLst/>
                    <a:ea typeface="Times New Roman" panose="02020603050405020304" pitchFamily="18" charset="0"/>
                    <a:cs typeface="Times New Roman" panose="02020603050405020304" pitchFamily="18" charset="0"/>
                  </a:rPr>
                  <a:t>Can we design a hash function that guarantees h(y) does not collide with the 499 other employees’ hashed SSNs? Nope. We have more pigeons than pigeonholes.</a:t>
                </a:r>
                <a:endParaRPr lang="en-US" sz="7200" dirty="0">
                  <a:effectLst/>
                  <a:ea typeface="Calibri" panose="020F0502020204030204" pitchFamily="34" charset="0"/>
                  <a:cs typeface="Times New Roman" panose="02020603050405020304" pitchFamily="18" charset="0"/>
                </a:endParaRPr>
              </a:p>
              <a:p>
                <a:endParaRPr lang="en-US" dirty="0"/>
              </a:p>
            </p:txBody>
          </p:sp>
        </mc:Choice>
        <mc:Fallback xmlns="">
          <p:sp>
            <p:nvSpPr>
              <p:cNvPr id="3" name="Content Placeholder 2">
                <a:extLst>
                  <a:ext uri="{FF2B5EF4-FFF2-40B4-BE49-F238E27FC236}">
                    <a16:creationId xmlns:a16="http://schemas.microsoft.com/office/drawing/2014/main" id="{12A75E86-695B-4B45-B93A-F0329149C957}"/>
                  </a:ext>
                </a:extLst>
              </p:cNvPr>
              <p:cNvSpPr>
                <a:spLocks noGrp="1" noRot="1" noChangeAspect="1" noMove="1" noResize="1" noEditPoints="1" noAdjustHandles="1" noChangeArrowheads="1" noChangeShapeType="1" noTextEdit="1"/>
              </p:cNvSpPr>
              <p:nvPr>
                <p:ph idx="1"/>
              </p:nvPr>
            </p:nvSpPr>
            <p:spPr>
              <a:xfrm>
                <a:off x="1012141" y="2535621"/>
                <a:ext cx="10167718" cy="3636579"/>
              </a:xfrm>
              <a:blipFill>
                <a:blip r:embed="rId3"/>
                <a:stretch>
                  <a:fillRect l="-480" t="-2010"/>
                </a:stretch>
              </a:blipFill>
            </p:spPr>
            <p:txBody>
              <a:bodyPr/>
              <a:lstStyle/>
              <a:p>
                <a:r>
                  <a:rPr lang="en-US">
                    <a:noFill/>
                  </a:rPr>
                  <a:t> </a:t>
                </a:r>
              </a:p>
            </p:txBody>
          </p:sp>
        </mc:Fallback>
      </mc:AlternateContent>
    </p:spTree>
    <p:extLst>
      <p:ext uri="{BB962C8B-B14F-4D97-AF65-F5344CB8AC3E}">
        <p14:creationId xmlns:p14="http://schemas.microsoft.com/office/powerpoint/2010/main" val="2157438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9C78C-DB0B-40FB-BBFC-9903EBC5181C}"/>
              </a:ext>
            </a:extLst>
          </p:cNvPr>
          <p:cNvSpPr>
            <a:spLocks noGrp="1"/>
          </p:cNvSpPr>
          <p:nvPr>
            <p:ph type="title"/>
          </p:nvPr>
        </p:nvSpPr>
        <p:spPr/>
        <p:txBody>
          <a:bodyPr/>
          <a:lstStyle/>
          <a:p>
            <a:r>
              <a:rPr lang="en-US" dirty="0"/>
              <a:t>Caveats: Avoiding collisions?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EFF172F-E587-46AE-84B3-6E8CD3D5331B}"/>
                  </a:ext>
                </a:extLst>
              </p:cNvPr>
              <p:cNvSpPr>
                <a:spLocks noGrp="1"/>
              </p:cNvSpPr>
              <p:nvPr>
                <p:ph idx="1"/>
              </p:nvPr>
            </p:nvSpPr>
            <p:spPr/>
            <p:txBody>
              <a:bodyPr>
                <a:normAutofit fontScale="92500" lnSpcReduction="10000"/>
              </a:bodyPr>
              <a:lstStyle/>
              <a:p>
                <a:pPr marL="0" indent="0">
                  <a:buNone/>
                </a:pPr>
                <a:r>
                  <a:rPr lang="en-US" dirty="0"/>
                  <a:t>Can we guarantee collisions won’t occur?</a:t>
                </a:r>
                <a:br>
                  <a:rPr lang="en-US" dirty="0"/>
                </a:br>
                <a:endParaRPr lang="en-US" dirty="0"/>
              </a:p>
              <a:p>
                <a:r>
                  <a:rPr lang="en-US" dirty="0"/>
                  <a:t>Yup. If the </a:t>
                </a:r>
                <a:r>
                  <a:rPr lang="en-US" dirty="0" err="1"/>
                  <a:t>keyspace</a:t>
                </a:r>
                <a:r>
                  <a:rPr lang="en-US" dirty="0"/>
                  <a:t> is smaller than our HashMap! (Num Pigeons &lt; Num Pigeonholes)</a:t>
                </a:r>
              </a:p>
              <a:p>
                <a:pPr marL="457200" indent="-457200">
                  <a:buAutoNum type="arabicParenR"/>
                </a:pPr>
                <a:r>
                  <a:rPr lang="en-US" dirty="0"/>
                  <a:t>If</a:t>
                </a:r>
                <a14:m>
                  <m:oMath xmlns:m="http://schemas.openxmlformats.org/officeDocument/2006/math">
                    <m:r>
                      <a:rPr lang="en-US" b="0" i="0" smtClean="0">
                        <a:effectLst/>
                        <a:latin typeface="Cambria Math" panose="02040503050406030204" pitchFamily="18" charset="0"/>
                      </a:rPr>
                      <m:t> </m:t>
                    </m:r>
                    <m:d>
                      <m:dPr>
                        <m:begChr m:val="|"/>
                        <m:endChr m:val="|"/>
                        <m:ctrlPr>
                          <a:rPr lang="en-US" b="1" i="1">
                            <a:effectLst/>
                            <a:latin typeface="Cambria Math" panose="02040503050406030204" pitchFamily="18" charset="0"/>
                          </a:rPr>
                        </m:ctrlPr>
                      </m:dPr>
                      <m:e>
                        <m:r>
                          <a:rPr lang="en-US" b="1" i="1">
                            <a:effectLst/>
                            <a:latin typeface="Cambria Math" panose="02040503050406030204" pitchFamily="18" charset="0"/>
                          </a:rPr>
                          <m:t>𝒌𝒆𝒚𝒔𝒑𝒂𝒄𝒆</m:t>
                        </m:r>
                      </m:e>
                    </m:d>
                    <m:r>
                      <a:rPr lang="en-US" b="1" i="1">
                        <a:effectLst/>
                        <a:latin typeface="Cambria Math" panose="02040503050406030204" pitchFamily="18" charset="0"/>
                      </a:rPr>
                      <m:t>≤</m:t>
                    </m:r>
                    <m:r>
                      <a:rPr lang="en-US" b="1" i="1">
                        <a:effectLst/>
                        <a:latin typeface="Cambria Math" panose="02040503050406030204" pitchFamily="18" charset="0"/>
                      </a:rPr>
                      <m:t>𝒎</m:t>
                    </m:r>
                  </m:oMath>
                </a14:m>
                <a:r>
                  <a:rPr lang="en-US" dirty="0"/>
                  <a:t>, we can use a technique known as </a:t>
                </a:r>
                <a:r>
                  <a:rPr lang="en-US" b="1" dirty="0"/>
                  <a:t>Perfect Hashing</a:t>
                </a:r>
                <a:r>
                  <a:rPr lang="en-US" dirty="0"/>
                  <a:t>.</a:t>
                </a:r>
              </a:p>
              <a:p>
                <a:r>
                  <a:rPr lang="en-US" dirty="0"/>
                  <a:t>I.e., A hash function that maps every key to a distinct integer &lt; m.</a:t>
                </a:r>
              </a:p>
              <a:p>
                <a:r>
                  <a:rPr lang="en-US" dirty="0"/>
                  <a:t>This can also be done if n &lt; m. and we know the keys that will be inserted in advance (consequently, we’ll know the size of the table)</a:t>
                </a:r>
              </a:p>
              <a:p>
                <a:pPr marL="0" indent="0">
                  <a:buNone/>
                </a:pPr>
                <a:r>
                  <a:rPr lang="en-US" dirty="0"/>
                  <a:t>But… if </a:t>
                </a:r>
                <a14:m>
                  <m:oMath xmlns:m="http://schemas.openxmlformats.org/officeDocument/2006/math">
                    <m:d>
                      <m:dPr>
                        <m:begChr m:val="|"/>
                        <m:endChr m:val="|"/>
                        <m:ctrlPr>
                          <a:rPr lang="en-US" b="1" i="1" smtClean="0">
                            <a:effectLst/>
                            <a:latin typeface="Cambria Math" panose="02040503050406030204" pitchFamily="18" charset="0"/>
                            <a:ea typeface="Times New Roman" panose="02020603050405020304" pitchFamily="18" charset="0"/>
                          </a:rPr>
                        </m:ctrlPr>
                      </m:dPr>
                      <m:e>
                        <m:r>
                          <a:rPr lang="en-US" sz="1800" b="1" i="1">
                            <a:effectLst/>
                            <a:latin typeface="Cambria Math" panose="02040503050406030204" pitchFamily="18" charset="0"/>
                            <a:ea typeface="Times New Roman" panose="02020603050405020304" pitchFamily="18" charset="0"/>
                            <a:cs typeface="Times New Roman" panose="02020603050405020304" pitchFamily="18" charset="0"/>
                          </a:rPr>
                          <m:t>𝒌𝒆𝒚𝒔𝒑𝒂𝒄𝒆</m:t>
                        </m:r>
                      </m:e>
                    </m:d>
                    <m:r>
                      <a:rPr lang="en-US" sz="1800" b="1" i="1" smtClean="0">
                        <a:effectLst/>
                        <a:latin typeface="Cambria Math" panose="02040503050406030204" pitchFamily="18" charset="0"/>
                        <a:ea typeface="Times New Roman" panose="02020603050405020304" pitchFamily="18" charset="0"/>
                        <a:cs typeface="Times New Roman" panose="02020603050405020304" pitchFamily="18" charset="0"/>
                      </a:rPr>
                      <m:t>&gt;</m:t>
                    </m:r>
                    <m:r>
                      <a:rPr lang="en-US" sz="1800" b="1" i="1">
                        <a:effectLst/>
                        <a:latin typeface="Cambria Math" panose="02040503050406030204" pitchFamily="18" charset="0"/>
                        <a:ea typeface="Times New Roman" panose="02020603050405020304" pitchFamily="18" charset="0"/>
                        <a:cs typeface="Times New Roman" panose="02020603050405020304" pitchFamily="18" charset="0"/>
                      </a:rPr>
                      <m:t>𝒎</m:t>
                    </m:r>
                  </m:oMath>
                </a14:m>
                <a:r>
                  <a:rPr lang="en-US" dirty="0"/>
                  <a:t>, we can’t avoid collisions (Num Pigeons &gt; Num Pigeonholes)</a:t>
                </a:r>
              </a:p>
            </p:txBody>
          </p:sp>
        </mc:Choice>
        <mc:Fallback xmlns="">
          <p:sp>
            <p:nvSpPr>
              <p:cNvPr id="3" name="Content Placeholder 2">
                <a:extLst>
                  <a:ext uri="{FF2B5EF4-FFF2-40B4-BE49-F238E27FC236}">
                    <a16:creationId xmlns:a16="http://schemas.microsoft.com/office/drawing/2014/main" id="{AEFF172F-E587-46AE-84B3-6E8CD3D5331B}"/>
                  </a:ext>
                </a:extLst>
              </p:cNvPr>
              <p:cNvSpPr>
                <a:spLocks noGrp="1" noRot="1" noChangeAspect="1" noMove="1" noResize="1" noEditPoints="1" noAdjustHandles="1" noChangeArrowheads="1" noChangeShapeType="1" noTextEdit="1"/>
              </p:cNvSpPr>
              <p:nvPr>
                <p:ph idx="1"/>
              </p:nvPr>
            </p:nvSpPr>
            <p:spPr>
              <a:blipFill>
                <a:blip r:embed="rId3"/>
                <a:stretch>
                  <a:fillRect l="-473" t="-1572" b="-1179"/>
                </a:stretch>
              </a:blipFill>
            </p:spPr>
            <p:txBody>
              <a:bodyPr/>
              <a:lstStyle/>
              <a:p>
                <a:r>
                  <a:rPr lang="en-US">
                    <a:noFill/>
                  </a:rPr>
                  <a:t> </a:t>
                </a:r>
              </a:p>
            </p:txBody>
          </p:sp>
        </mc:Fallback>
      </mc:AlternateContent>
    </p:spTree>
    <p:extLst>
      <p:ext uri="{BB962C8B-B14F-4D97-AF65-F5344CB8AC3E}">
        <p14:creationId xmlns:p14="http://schemas.microsoft.com/office/powerpoint/2010/main" val="2521550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1279C-E656-43A8-87B0-840167F88B85}"/>
              </a:ext>
            </a:extLst>
          </p:cNvPr>
          <p:cNvSpPr>
            <a:spLocks noGrp="1"/>
          </p:cNvSpPr>
          <p:nvPr>
            <p:ph type="title"/>
          </p:nvPr>
        </p:nvSpPr>
        <p:spPr/>
        <p:txBody>
          <a:bodyPr/>
          <a:lstStyle/>
          <a:p>
            <a:r>
              <a:rPr lang="en-US" dirty="0"/>
              <a:t>Handling Collisions</a:t>
            </a:r>
          </a:p>
        </p:txBody>
      </p:sp>
      <p:sp>
        <p:nvSpPr>
          <p:cNvPr id="3" name="Content Placeholder 2">
            <a:extLst>
              <a:ext uri="{FF2B5EF4-FFF2-40B4-BE49-F238E27FC236}">
                <a16:creationId xmlns:a16="http://schemas.microsoft.com/office/drawing/2014/main" id="{C336B5DF-B956-4FD9-A4E5-610A324EC8AA}"/>
              </a:ext>
            </a:extLst>
          </p:cNvPr>
          <p:cNvSpPr>
            <a:spLocks noGrp="1"/>
          </p:cNvSpPr>
          <p:nvPr>
            <p:ph idx="1"/>
          </p:nvPr>
        </p:nvSpPr>
        <p:spPr/>
        <p:txBody>
          <a:bodyPr>
            <a:normAutofit/>
          </a:bodyPr>
          <a:lstStyle/>
          <a:p>
            <a:pPr marL="0" indent="0">
              <a:buNone/>
            </a:pPr>
            <a:r>
              <a:rPr lang="en-US" dirty="0"/>
              <a:t>Can we reduce the number of collisions?</a:t>
            </a:r>
          </a:p>
          <a:p>
            <a:pPr marL="457200" indent="-457200">
              <a:buFont typeface="+mj-lt"/>
              <a:buAutoNum type="arabicParenR"/>
            </a:pPr>
            <a:r>
              <a:rPr lang="en-US" dirty="0"/>
              <a:t>Well… a good hash function is a good start!</a:t>
            </a:r>
          </a:p>
          <a:p>
            <a:r>
              <a:rPr lang="en-US" dirty="0"/>
              <a:t>I.e., a hash function that:</a:t>
            </a:r>
          </a:p>
          <a:p>
            <a:pPr lvl="1"/>
            <a:r>
              <a:rPr lang="en-US" dirty="0"/>
              <a:t>Utilizes the entire key</a:t>
            </a:r>
          </a:p>
          <a:p>
            <a:pPr lvl="1"/>
            <a:r>
              <a:rPr lang="en-US" dirty="0"/>
              <a:t>Exploits differences between keys</a:t>
            </a:r>
          </a:p>
          <a:p>
            <a:pPr lvl="1"/>
            <a:r>
              <a:rPr lang="en-US" dirty="0"/>
              <a:t>Uniform distribution of hash values should be produced. (For a given key, each index is equally probable).</a:t>
            </a:r>
          </a:p>
        </p:txBody>
      </p:sp>
    </p:spTree>
    <p:extLst>
      <p:ext uri="{BB962C8B-B14F-4D97-AF65-F5344CB8AC3E}">
        <p14:creationId xmlns:p14="http://schemas.microsoft.com/office/powerpoint/2010/main" val="3765301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EEB66-BB45-49DA-8B39-6EE49EFED7D5}"/>
              </a:ext>
            </a:extLst>
          </p:cNvPr>
          <p:cNvSpPr>
            <a:spLocks noGrp="1"/>
          </p:cNvSpPr>
          <p:nvPr>
            <p:ph type="title"/>
          </p:nvPr>
        </p:nvSpPr>
        <p:spPr/>
        <p:txBody>
          <a:bodyPr/>
          <a:lstStyle/>
          <a:p>
            <a:r>
              <a:rPr lang="en-US" dirty="0"/>
              <a:t>Hash Function: Examples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A8B98A7-FEB9-46E7-9F77-132796B4FBDD}"/>
                  </a:ext>
                </a:extLst>
              </p:cNvPr>
              <p:cNvSpPr>
                <a:spLocks noGrp="1"/>
              </p:cNvSpPr>
              <p:nvPr>
                <p:ph idx="1"/>
              </p:nvPr>
            </p:nvSpPr>
            <p:spPr/>
            <p:txBody>
              <a:bodyPr>
                <a:normAutofit fontScale="77500" lnSpcReduction="20000"/>
              </a:bodyPr>
              <a:lstStyle/>
              <a:p>
                <a:pPr marL="0" indent="0">
                  <a:buNone/>
                </a:pPr>
                <a:r>
                  <a:rPr lang="en-US" dirty="0"/>
                  <a:t>Suppose we want to hash a list of students based on their phone numbers…</a:t>
                </a:r>
              </a:p>
              <a:p>
                <a:pPr marL="0" indent="0">
                  <a:buNone/>
                </a:pPr>
                <a:r>
                  <a:rPr lang="en-US" dirty="0"/>
                  <a:t>This is a </a:t>
                </a:r>
                <a:r>
                  <a:rPr lang="en-US" b="1" dirty="0"/>
                  <a:t>Bad Hash Function</a:t>
                </a:r>
                <a:r>
                  <a:rPr lang="en-US" dirty="0"/>
                  <a:t>:</a:t>
                </a:r>
              </a:p>
              <a:p>
                <a:r>
                  <a:rPr lang="en-US" dirty="0"/>
                  <a:t>Use the first 3 digits.</a:t>
                </a:r>
              </a:p>
              <a:p>
                <a:r>
                  <a:rPr lang="en-US" dirty="0"/>
                  <a:t>Why is it bad? Well, a lot of students may have the same area code, meaning… we’ll probably end up having A LOT of collisions!</a:t>
                </a:r>
              </a:p>
              <a:p>
                <a:pPr marL="0" indent="0">
                  <a:buNone/>
                </a:pPr>
                <a:r>
                  <a:rPr lang="en-US" dirty="0"/>
                  <a:t>This is slightly better:</a:t>
                </a:r>
              </a:p>
              <a:p>
                <a:r>
                  <a:rPr lang="en-US" dirty="0"/>
                  <a:t>Amalgamate the entire phone number as a single integer, then… mod it by </a:t>
                </a:r>
                <a:r>
                  <a:rPr lang="en-US" b="1" dirty="0"/>
                  <a:t>m </a:t>
                </a:r>
                <a:r>
                  <a:rPr lang="en-US" dirty="0"/>
                  <a:t>(the table size)</a:t>
                </a:r>
              </a:p>
              <a:p>
                <a:r>
                  <a:rPr lang="en-US" dirty="0"/>
                  <a:t>Why is it good? Remember from 441, that the number of ways to create a phone number will be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10</m:t>
                        </m:r>
                      </m:sup>
                    </m:sSup>
                    <m:r>
                      <a:rPr lang="en-US" b="0" i="0" smtClean="0">
                        <a:latin typeface="Cambria Math" panose="02040503050406030204" pitchFamily="18" charset="0"/>
                      </a:rPr>
                      <m:t>.</m:t>
                    </m:r>
                  </m:oMath>
                </a14:m>
                <a:r>
                  <a:rPr lang="en-US" dirty="0"/>
                  <a:t> (Allowing duplicates, we have 10 options per position!)</a:t>
                </a:r>
              </a:p>
              <a:p>
                <a:r>
                  <a:rPr lang="en-US" dirty="0"/>
                  <a:t>This problem is </a:t>
                </a:r>
                <a:r>
                  <a:rPr lang="en-US" b="1" dirty="0"/>
                  <a:t>EXTREMELY SIMILAR </a:t>
                </a:r>
                <a:r>
                  <a:rPr lang="en-US" dirty="0"/>
                  <a:t>to the </a:t>
                </a:r>
                <a:r>
                  <a:rPr lang="en-US" b="1" dirty="0"/>
                  <a:t>Birthday Paradox</a:t>
                </a:r>
                <a:r>
                  <a:rPr lang="en-US" dirty="0"/>
                  <a:t>.</a:t>
                </a:r>
              </a:p>
              <a:p>
                <a:r>
                  <a:rPr lang="en-US" dirty="0"/>
                  <a:t>Telephone companies also aren’t that mindless to assign a same phone number twice ;)</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AA8B98A7-FEB9-46E7-9F77-132796B4FBDD}"/>
                  </a:ext>
                </a:extLst>
              </p:cNvPr>
              <p:cNvSpPr>
                <a:spLocks noGrp="1" noRot="1" noChangeAspect="1" noMove="1" noResize="1" noEditPoints="1" noAdjustHandles="1" noChangeArrowheads="1" noChangeShapeType="1" noTextEdit="1"/>
              </p:cNvSpPr>
              <p:nvPr>
                <p:ph idx="1"/>
              </p:nvPr>
            </p:nvSpPr>
            <p:spPr>
              <a:blipFill>
                <a:blip r:embed="rId3"/>
                <a:stretch>
                  <a:fillRect l="-237" t="-1768"/>
                </a:stretch>
              </a:blipFill>
            </p:spPr>
            <p:txBody>
              <a:bodyPr/>
              <a:lstStyle/>
              <a:p>
                <a:r>
                  <a:rPr lang="en-US">
                    <a:noFill/>
                  </a:rPr>
                  <a:t> </a:t>
                </a:r>
              </a:p>
            </p:txBody>
          </p:sp>
        </mc:Fallback>
      </mc:AlternateContent>
    </p:spTree>
    <p:extLst>
      <p:ext uri="{BB962C8B-B14F-4D97-AF65-F5344CB8AC3E}">
        <p14:creationId xmlns:p14="http://schemas.microsoft.com/office/powerpoint/2010/main" val="20061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EEB66-BB45-49DA-8B39-6EE49EFED7D5}"/>
              </a:ext>
            </a:extLst>
          </p:cNvPr>
          <p:cNvSpPr>
            <a:spLocks noGrp="1"/>
          </p:cNvSpPr>
          <p:nvPr>
            <p:ph type="title"/>
          </p:nvPr>
        </p:nvSpPr>
        <p:spPr/>
        <p:txBody>
          <a:bodyPr/>
          <a:lstStyle/>
          <a:p>
            <a:r>
              <a:rPr lang="en-US" dirty="0"/>
              <a:t>Hash Function: Examples (Continued)</a:t>
            </a:r>
          </a:p>
        </p:txBody>
      </p:sp>
      <p:sp>
        <p:nvSpPr>
          <p:cNvPr id="3" name="Content Placeholder 2">
            <a:extLst>
              <a:ext uri="{FF2B5EF4-FFF2-40B4-BE49-F238E27FC236}">
                <a16:creationId xmlns:a16="http://schemas.microsoft.com/office/drawing/2014/main" id="{AA8B98A7-FEB9-46E7-9F77-132796B4FBDD}"/>
              </a:ext>
            </a:extLst>
          </p:cNvPr>
          <p:cNvSpPr>
            <a:spLocks noGrp="1"/>
          </p:cNvSpPr>
          <p:nvPr>
            <p:ph idx="1"/>
          </p:nvPr>
        </p:nvSpPr>
        <p:spPr/>
        <p:txBody>
          <a:bodyPr/>
          <a:lstStyle/>
          <a:p>
            <a:pPr marL="0" indent="0">
              <a:buNone/>
            </a:pPr>
            <a:r>
              <a:rPr lang="en-US" dirty="0"/>
              <a:t>Suppose we want to generate a hash of each word for a dictionary:</a:t>
            </a:r>
          </a:p>
          <a:p>
            <a:pPr marL="0" indent="0">
              <a:buNone/>
            </a:pPr>
            <a:r>
              <a:rPr lang="en-US" dirty="0"/>
              <a:t>This is a </a:t>
            </a:r>
            <a:r>
              <a:rPr lang="en-US" b="1" dirty="0"/>
              <a:t>Bad Hash Function</a:t>
            </a:r>
            <a:endParaRPr lang="en-US" dirty="0"/>
          </a:p>
          <a:p>
            <a:r>
              <a:rPr lang="en-US" dirty="0"/>
              <a:t>Take a similar approach as the previous slide and sum up values (ASCII).</a:t>
            </a:r>
          </a:p>
          <a:p>
            <a:r>
              <a:rPr lang="en-US" dirty="0"/>
              <a:t>Why is this bad? We’re not exploiting differences. </a:t>
            </a:r>
          </a:p>
          <a:p>
            <a:r>
              <a:rPr lang="en-US" dirty="0"/>
              <a:t>Consider dab vs. bad, both will hash to the same value, resulting in a collision!</a:t>
            </a:r>
          </a:p>
          <a:p>
            <a:pPr marL="0" indent="0">
              <a:buNone/>
            </a:pPr>
            <a:r>
              <a:rPr lang="en-US" dirty="0"/>
              <a:t>This is slightly better:</a:t>
            </a:r>
          </a:p>
          <a:p>
            <a:r>
              <a:rPr lang="en-US" dirty="0"/>
              <a:t>Use </a:t>
            </a:r>
            <a:r>
              <a:rPr lang="en-US" b="1" dirty="0"/>
              <a:t>modular hashing</a:t>
            </a:r>
            <a:r>
              <a:rPr lang="en-US" dirty="0"/>
              <a:t>!</a:t>
            </a:r>
            <a:br>
              <a:rPr lang="en-US" dirty="0"/>
            </a:br>
            <a:endParaRPr lang="en-US" dirty="0"/>
          </a:p>
        </p:txBody>
      </p:sp>
    </p:spTree>
    <p:extLst>
      <p:ext uri="{BB962C8B-B14F-4D97-AF65-F5344CB8AC3E}">
        <p14:creationId xmlns:p14="http://schemas.microsoft.com/office/powerpoint/2010/main" val="42143679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EEB66-BB45-49DA-8B39-6EE49EFED7D5}"/>
              </a:ext>
            </a:extLst>
          </p:cNvPr>
          <p:cNvSpPr>
            <a:spLocks noGrp="1"/>
          </p:cNvSpPr>
          <p:nvPr>
            <p:ph type="title"/>
          </p:nvPr>
        </p:nvSpPr>
        <p:spPr/>
        <p:txBody>
          <a:bodyPr/>
          <a:lstStyle/>
          <a:p>
            <a:r>
              <a:rPr lang="en-US" dirty="0"/>
              <a:t>Horner’s Method: A way to get efficient Hash values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A8B98A7-FEB9-46E7-9F77-132796B4FBDD}"/>
                  </a:ext>
                </a:extLst>
              </p:cNvPr>
              <p:cNvSpPr>
                <a:spLocks noGrp="1"/>
              </p:cNvSpPr>
              <p:nvPr>
                <p:ph idx="1"/>
              </p:nvPr>
            </p:nvSpPr>
            <p:spPr/>
            <p:txBody>
              <a:bodyPr>
                <a:normAutofit fontScale="85000" lnSpcReduction="20000"/>
              </a:bodyPr>
              <a:lstStyle/>
              <a:p>
                <a:pPr marL="0" indent="0">
                  <a:buNone/>
                </a:pPr>
                <a:r>
                  <a:rPr lang="en-US" dirty="0"/>
                  <a:t>Let’s run through a couple examples of Horner’s Method:</a:t>
                </a:r>
              </a:p>
              <a:p>
                <a:r>
                  <a:rPr lang="en-US" dirty="0"/>
                  <a:t>Suppose we’re working in </a:t>
                </a:r>
                <a:r>
                  <a:rPr lang="en-US" b="1" dirty="0"/>
                  <a:t>Base 10</a:t>
                </a:r>
                <a:r>
                  <a:rPr lang="en-US" dirty="0"/>
                  <a:t>, and want to convert 12345 into a number:</a:t>
                </a:r>
              </a:p>
              <a:p>
                <a:pPr marL="0" indent="0">
                  <a:buNone/>
                </a:pPr>
                <a:r>
                  <a:rPr lang="en-US" dirty="0"/>
                  <a:t>12345: </a:t>
                </a:r>
                <a14:m>
                  <m:oMath xmlns:m="http://schemas.openxmlformats.org/officeDocument/2006/math">
                    <m:d>
                      <m:dPr>
                        <m:ctrlPr>
                          <a:rPr lang="en-US" i="1" smtClean="0">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1 ×</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4</m:t>
                            </m:r>
                          </m:sup>
                        </m:sSup>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i="1">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3</m:t>
                            </m:r>
                          </m:sup>
                        </m:sSup>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i="1">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3×</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i="1">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4×</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p>
                        </m:sSup>
                      </m:e>
                    </m:d>
                    <m:r>
                      <a:rPr lang="en-US" sz="1800" i="1">
                        <a:effectLst/>
                        <a:latin typeface="Cambria Math" panose="02040503050406030204" pitchFamily="18" charset="0"/>
                        <a:ea typeface="Calibri" panose="020F0502020204030204" pitchFamily="34" charset="0"/>
                        <a:cs typeface="Times New Roman" panose="02020603050405020304" pitchFamily="18" charset="0"/>
                      </a:rPr>
                      <m:t>+(5×</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0</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oMath>
                </a14:m>
                <a:endParaRPr lang="en-US" dirty="0"/>
              </a:p>
              <a:p>
                <a:r>
                  <a:rPr lang="en-US" dirty="0"/>
                  <a:t>Suppose we’re working in </a:t>
                </a:r>
                <a:r>
                  <a:rPr lang="en-US" b="1" dirty="0"/>
                  <a:t>Binary </a:t>
                </a:r>
                <a:r>
                  <a:rPr lang="en-US" dirty="0"/>
                  <a:t>and want to convert 10100 into a number:</a:t>
                </a:r>
              </a:p>
              <a:p>
                <a:pPr marL="0" indent="0">
                  <a:buNone/>
                </a:pPr>
                <a:r>
                  <a:rPr lang="en-US" dirty="0"/>
                  <a:t>10100: </a:t>
                </a:r>
                <a14:m>
                  <m:oMath xmlns:m="http://schemas.openxmlformats.org/officeDocument/2006/math">
                    <m:d>
                      <m:dPr>
                        <m:ctrlPr>
                          <a:rPr lang="en-US" i="1" smtClean="0">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4</m:t>
                            </m:r>
                          </m:sup>
                        </m:sSup>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i="1">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0×</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3</m:t>
                            </m:r>
                          </m:sup>
                        </m:sSup>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i="1">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i="1">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0×</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p>
                        </m:sSup>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i="1">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0×</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0</m:t>
                            </m:r>
                          </m:sup>
                        </m:sSup>
                      </m:e>
                    </m:d>
                  </m:oMath>
                </a14:m>
                <a:endParaRPr lang="en-US" dirty="0"/>
              </a:p>
              <a:p>
                <a:r>
                  <a:rPr lang="en-US" dirty="0"/>
                  <a:t>Suppose we’re working in </a:t>
                </a:r>
                <a:r>
                  <a:rPr lang="en-US" b="1" dirty="0"/>
                  <a:t>Hexadecimal</a:t>
                </a:r>
                <a:r>
                  <a:rPr lang="en-US" dirty="0"/>
                  <a:t> and want to convert BEEF3 into a number:</a:t>
                </a:r>
              </a:p>
              <a:p>
                <a:pPr marL="0" indent="0">
                  <a:buNone/>
                </a:pPr>
                <a:r>
                  <a:rPr lang="en-US" dirty="0"/>
                  <a:t>BEEF3: </a:t>
                </a:r>
                <a14:m>
                  <m:oMath xmlns:m="http://schemas.openxmlformats.org/officeDocument/2006/math">
                    <m:d>
                      <m:dPr>
                        <m:ctrlPr>
                          <a:rPr lang="en-US" i="1" smtClean="0">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11×</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16</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4</m:t>
                            </m:r>
                          </m:sup>
                        </m:sSup>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i="1">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14×</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16</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3</m:t>
                            </m:r>
                          </m:sup>
                        </m:sSup>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i="1">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14×</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16</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i="1">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15×</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16</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p>
                        </m:sSup>
                      </m:e>
                    </m:d>
                    <m:r>
                      <a:rPr lang="en-US" sz="1800" i="1">
                        <a:effectLst/>
                        <a:latin typeface="Cambria Math" panose="02040503050406030204" pitchFamily="18" charset="0"/>
                        <a:ea typeface="Calibri" panose="020F0502020204030204" pitchFamily="34" charset="0"/>
                        <a:cs typeface="Times New Roman" panose="02020603050405020304" pitchFamily="18" charset="0"/>
                      </a:rPr>
                      <m:t>+(3×</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16</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0</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oMath>
                </a14:m>
                <a:endParaRPr lang="en-US" dirty="0"/>
              </a:p>
              <a:p>
                <a:r>
                  <a:rPr lang="en-US" dirty="0"/>
                  <a:t>Suppose we’re working in </a:t>
                </a:r>
                <a:r>
                  <a:rPr lang="en-US" b="1" dirty="0"/>
                  <a:t>ASCII</a:t>
                </a:r>
                <a:r>
                  <a:rPr lang="en-US" dirty="0"/>
                  <a:t> and want to convert BEEF3 into a number:</a:t>
                </a:r>
              </a:p>
              <a:p>
                <a:pPr marL="0" indent="0">
                  <a:buNone/>
                </a:pPr>
                <a:r>
                  <a:rPr lang="en-US" dirty="0"/>
                  <a:t>HELLO: </a:t>
                </a:r>
                <a14:m>
                  <m:oMath xmlns:m="http://schemas.openxmlformats.org/officeDocument/2006/math">
                    <m:d>
                      <m:dPr>
                        <m:ctrlPr>
                          <a:rPr lang="en-US" i="1" smtClean="0">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𝐻</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256</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4</m:t>
                            </m:r>
                          </m:sup>
                        </m:sSup>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i="1">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𝐸</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256</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3</m:t>
                            </m:r>
                          </m:sup>
                        </m:sSup>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i="1">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𝐿</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256</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i="1">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𝐿</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256</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p>
                        </m:sSup>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i="1">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𝑂</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256</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0</m:t>
                            </m:r>
                          </m:sup>
                        </m:sSup>
                      </m:e>
                    </m:d>
                  </m:oMath>
                </a14:m>
                <a:br>
                  <a:rPr lang="en-US" sz="1800" i="1" dirty="0">
                    <a:effectLst/>
                    <a:latin typeface="Cambria Math" panose="02040503050406030204" pitchFamily="18" charset="0"/>
                    <a:ea typeface="Calibri" panose="020F0502020204030204" pitchFamily="34" charset="0"/>
                    <a:cs typeface="Times New Roman" panose="02020603050405020304" pitchFamily="18" charset="0"/>
                  </a:rPr>
                </a:b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i="1">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72×</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256</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4</m:t>
                              </m:r>
                            </m:sup>
                          </m:sSup>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i="1">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69×</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256</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3</m:t>
                              </m:r>
                            </m:sup>
                          </m:sSup>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i="1">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76×</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256</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i="1">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76×</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256</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p>
                          </m:sSup>
                        </m:e>
                      </m:d>
                      <m:r>
                        <a:rPr lang="en-US" sz="1800" i="1">
                          <a:effectLst/>
                          <a:latin typeface="Cambria Math" panose="02040503050406030204" pitchFamily="18" charset="0"/>
                          <a:ea typeface="Calibri" panose="020F0502020204030204" pitchFamily="34" charset="0"/>
                          <a:cs typeface="Times New Roman" panose="02020603050405020304" pitchFamily="18" charset="0"/>
                        </a:rPr>
                        <m:t>+(79×</m:t>
                      </m:r>
                      <m:sSup>
                        <m:sSupPr>
                          <m:ctrlPr>
                            <a:rPr lang="en-US"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256</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0</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AA8B98A7-FEB9-46E7-9F77-132796B4FBDD}"/>
                  </a:ext>
                </a:extLst>
              </p:cNvPr>
              <p:cNvSpPr>
                <a:spLocks noGrp="1" noRot="1" noChangeAspect="1" noMove="1" noResize="1" noEditPoints="1" noAdjustHandles="1" noChangeArrowheads="1" noChangeShapeType="1" noTextEdit="1"/>
              </p:cNvSpPr>
              <p:nvPr>
                <p:ph idx="1"/>
              </p:nvPr>
            </p:nvSpPr>
            <p:spPr>
              <a:blipFill>
                <a:blip r:embed="rId3"/>
                <a:stretch>
                  <a:fillRect l="-315" t="-1768"/>
                </a:stretch>
              </a:blipFill>
            </p:spPr>
            <p:txBody>
              <a:bodyPr/>
              <a:lstStyle/>
              <a:p>
                <a:r>
                  <a:rPr lang="en-US">
                    <a:noFill/>
                  </a:rPr>
                  <a:t> </a:t>
                </a:r>
              </a:p>
            </p:txBody>
          </p:sp>
        </mc:Fallback>
      </mc:AlternateContent>
    </p:spTree>
    <p:extLst>
      <p:ext uri="{BB962C8B-B14F-4D97-AF65-F5344CB8AC3E}">
        <p14:creationId xmlns:p14="http://schemas.microsoft.com/office/powerpoint/2010/main" val="3409324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E5485-21A9-419B-BDA0-1699EF6418C6}"/>
              </a:ext>
            </a:extLst>
          </p:cNvPr>
          <p:cNvSpPr>
            <a:spLocks noGrp="1"/>
          </p:cNvSpPr>
          <p:nvPr>
            <p:ph type="title"/>
          </p:nvPr>
        </p:nvSpPr>
        <p:spPr/>
        <p:txBody>
          <a:bodyPr/>
          <a:lstStyle/>
          <a:p>
            <a:r>
              <a:rPr lang="en-US" dirty="0"/>
              <a:t>Enter: Modular Hashing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AF608A-C8C1-4965-B5D4-DADFEFFE2D67}"/>
                  </a:ext>
                </a:extLst>
              </p:cNvPr>
              <p:cNvSpPr>
                <a:spLocks noGrp="1"/>
              </p:cNvSpPr>
              <p:nvPr>
                <p:ph idx="1"/>
              </p:nvPr>
            </p:nvSpPr>
            <p:spPr>
              <a:xfrm>
                <a:off x="2231135" y="2334827"/>
                <a:ext cx="8581867" cy="4190259"/>
              </a:xfrm>
            </p:spPr>
            <p:txBody>
              <a:bodyPr>
                <a:normAutofit fontScale="92500" lnSpcReduction="10000"/>
              </a:bodyPr>
              <a:lstStyle/>
              <a:p>
                <a:r>
                  <a:rPr lang="en-US" sz="1400" dirty="0"/>
                  <a:t>Overall, it’s a simple, good general approach to implement a hash function for a hash map!</a:t>
                </a:r>
              </a:p>
              <a:p>
                <a:pPr marL="0" indent="0">
                  <a:buNone/>
                </a:pPr>
                <a:r>
                  <a:rPr lang="en-US" sz="1400" dirty="0"/>
                  <a:t>Basic Formula:</a:t>
                </a:r>
                <a:br>
                  <a:rPr lang="en-US" sz="1400" dirty="0"/>
                </a:b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h</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𝑥</m:t>
                          </m:r>
                        </m:e>
                      </m:d>
                      <m:r>
                        <a:rPr lang="en-US" sz="1400" b="0" i="1" smtClean="0">
                          <a:latin typeface="Cambria Math" panose="02040503050406030204" pitchFamily="18" charset="0"/>
                        </a:rPr>
                        <m:t>=</m:t>
                      </m:r>
                      <m:r>
                        <a:rPr lang="en-US" sz="1400" b="0" i="1" smtClean="0">
                          <a:latin typeface="Cambria Math" panose="02040503050406030204" pitchFamily="18" charset="0"/>
                        </a:rPr>
                        <m:t>𝑐</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𝑥</m:t>
                          </m:r>
                        </m:e>
                      </m:d>
                      <m:r>
                        <a:rPr lang="en-US" sz="1400" b="0" i="1" smtClean="0">
                          <a:latin typeface="Cambria Math" panose="02040503050406030204" pitchFamily="18" charset="0"/>
                        </a:rPr>
                        <m:t> </m:t>
                      </m:r>
                      <m:r>
                        <a:rPr lang="en-US" sz="1400" b="0" i="1" smtClean="0">
                          <a:latin typeface="Cambria Math" panose="02040503050406030204" pitchFamily="18" charset="0"/>
                        </a:rPr>
                        <m:t>𝑚𝑜𝑑</m:t>
                      </m:r>
                      <m:r>
                        <a:rPr lang="en-US" sz="1400" b="0" i="1" smtClean="0">
                          <a:latin typeface="Cambria Math" panose="02040503050406030204" pitchFamily="18" charset="0"/>
                        </a:rPr>
                        <m:t> </m:t>
                      </m:r>
                      <m:r>
                        <a:rPr lang="en-US" sz="1400" b="0" i="1" smtClean="0">
                          <a:latin typeface="Cambria Math" panose="02040503050406030204" pitchFamily="18" charset="0"/>
                        </a:rPr>
                        <m:t>𝑚</m:t>
                      </m:r>
                    </m:oMath>
                  </m:oMathPara>
                </a14:m>
                <a:endParaRPr lang="en-US" sz="1400" dirty="0"/>
              </a:p>
              <a:p>
                <a14:m>
                  <m:oMath xmlns:m="http://schemas.openxmlformats.org/officeDocument/2006/math">
                    <m:r>
                      <a:rPr lang="en-US" sz="1400" b="0" i="1" smtClean="0">
                        <a:latin typeface="Cambria Math" panose="02040503050406030204" pitchFamily="18" charset="0"/>
                      </a:rPr>
                      <m:t>𝑐</m:t>
                    </m:r>
                    <m:r>
                      <a:rPr lang="en-US" sz="1400" b="0" i="1" smtClean="0">
                        <a:latin typeface="Cambria Math" panose="02040503050406030204" pitchFamily="18" charset="0"/>
                      </a:rPr>
                      <m:t>(</m:t>
                    </m:r>
                    <m:r>
                      <a:rPr lang="en-US" sz="1400" b="0" i="1" smtClean="0">
                        <a:latin typeface="Cambria Math" panose="02040503050406030204" pitchFamily="18" charset="0"/>
                      </a:rPr>
                      <m:t>𝑥</m:t>
                    </m:r>
                    <m:r>
                      <a:rPr lang="en-US" sz="1400" b="0" i="1" smtClean="0">
                        <a:latin typeface="Cambria Math" panose="02040503050406030204" pitchFamily="18" charset="0"/>
                      </a:rPr>
                      <m:t>)</m:t>
                    </m:r>
                  </m:oMath>
                </a14:m>
                <a:r>
                  <a:rPr lang="en-US" sz="1400" dirty="0"/>
                  <a:t> converts x into a (possibly) large integer!</a:t>
                </a:r>
              </a:p>
              <a:p>
                <a:r>
                  <a:rPr lang="en-US" sz="1400" dirty="0"/>
                  <a:t>It’s what we just did in the previous slide!</a:t>
                </a:r>
                <a:endParaRPr lang="en-US" sz="1400" dirty="0">
                  <a:sym typeface="Wingdings" panose="05000000000000000000" pitchFamily="2" charset="2"/>
                </a:endParaRPr>
              </a:p>
              <a:p>
                <a:pPr marL="0" indent="0">
                  <a:buNone/>
                </a:pPr>
                <a:r>
                  <a:rPr lang="en-US" sz="1400" dirty="0">
                    <a:sym typeface="Wingdings" panose="05000000000000000000" pitchFamily="2" charset="2"/>
                  </a:rPr>
                  <a:t>Generally, we want </a:t>
                </a:r>
                <a14:m>
                  <m:oMath xmlns:m="http://schemas.openxmlformats.org/officeDocument/2006/math">
                    <m:r>
                      <a:rPr lang="en-US" sz="1400" b="0" i="1" smtClean="0">
                        <a:latin typeface="Cambria Math" panose="02040503050406030204" pitchFamily="18" charset="0"/>
                        <a:sym typeface="Wingdings" panose="05000000000000000000" pitchFamily="2" charset="2"/>
                      </a:rPr>
                      <m:t>𝑚</m:t>
                    </m:r>
                  </m:oMath>
                </a14:m>
                <a:r>
                  <a:rPr lang="en-US" sz="1400" dirty="0"/>
                  <a:t> to be a prime number.</a:t>
                </a:r>
              </a:p>
              <a:p>
                <a:r>
                  <a:rPr lang="en-US" sz="1400" dirty="0"/>
                  <a:t>Recall in 441, there are some basic algorithms/special numbers for this.</a:t>
                </a:r>
              </a:p>
              <a:p>
                <a:r>
                  <a:rPr lang="en-US" sz="1400" dirty="0"/>
                  <a:t>Sieve of Eratosthenes, Mersenne Primes! </a:t>
                </a:r>
              </a:p>
              <a:p>
                <a:pPr lvl="1"/>
                <a:r>
                  <a:rPr lang="en-US" sz="1200" b="1" dirty="0"/>
                  <a:t>Caveat: </a:t>
                </a:r>
                <a:r>
                  <a:rPr lang="en-US" sz="1200" dirty="0"/>
                  <a:t>In order to confirm a given number is a </a:t>
                </a:r>
                <a:r>
                  <a:rPr lang="en-US" sz="1200" b="1" dirty="0"/>
                  <a:t>Mersenne Prime</a:t>
                </a:r>
                <a:r>
                  <a:rPr lang="en-US" sz="1200" dirty="0"/>
                  <a:t>, we must run the </a:t>
                </a:r>
                <a:r>
                  <a:rPr lang="en-US" sz="1200" b="1" dirty="0"/>
                  <a:t>Lucas-</a:t>
                </a:r>
                <a:r>
                  <a:rPr lang="en-US" sz="1200" b="1" dirty="0" err="1"/>
                  <a:t>Lehmer</a:t>
                </a:r>
                <a:r>
                  <a:rPr lang="en-US" sz="1200" b="1" dirty="0"/>
                  <a:t> test.</a:t>
                </a:r>
                <a:endParaRPr lang="en-US" sz="1200" dirty="0"/>
              </a:p>
              <a:p>
                <a:pPr lvl="2"/>
                <a:r>
                  <a:rPr lang="en-US" sz="1200" dirty="0"/>
                  <a:t>Via </a:t>
                </a:r>
                <a:r>
                  <a:rPr lang="en-US" sz="1200" b="1" dirty="0"/>
                  <a:t>Schönhage-Strassen</a:t>
                </a:r>
                <a:r>
                  <a:rPr lang="en-US" sz="1200" dirty="0"/>
                  <a:t>, which multiplies two large binary numbers using Fast Fourier Transforms, this will take </a:t>
                </a:r>
                <a14:m>
                  <m:oMath xmlns:m="http://schemas.openxmlformats.org/officeDocument/2006/math">
                    <m:r>
                      <a:rPr lang="en-US" sz="1200" i="1" smtClean="0">
                        <a:latin typeface="Cambria Math" panose="02040503050406030204" pitchFamily="18" charset="0"/>
                        <a:ea typeface="Cambria Math" panose="02040503050406030204" pitchFamily="18" charset="0"/>
                      </a:rPr>
                      <m:t>𝜃</m:t>
                    </m:r>
                    <m:r>
                      <a:rPr lang="en-US" sz="1200" b="0" i="1" smtClean="0">
                        <a:latin typeface="Cambria Math" panose="02040503050406030204" pitchFamily="18" charset="0"/>
                        <a:ea typeface="Cambria Math" panose="02040503050406030204" pitchFamily="18" charset="0"/>
                      </a:rPr>
                      <m:t>(</m:t>
                    </m:r>
                    <m:func>
                      <m:funcPr>
                        <m:ctrlPr>
                          <a:rPr lang="en-US" sz="1200" b="0" i="1" smtClean="0">
                            <a:latin typeface="Cambria Math" panose="02040503050406030204" pitchFamily="18" charset="0"/>
                            <a:ea typeface="Cambria Math" panose="02040503050406030204" pitchFamily="18" charset="0"/>
                          </a:rPr>
                        </m:ctrlPr>
                      </m:funcPr>
                      <m:fName>
                        <m:sSup>
                          <m:sSupPr>
                            <m:ctrlPr>
                              <a:rPr lang="en-US" sz="1200" b="0" i="1" smtClean="0">
                                <a:latin typeface="Cambria Math" panose="02040503050406030204" pitchFamily="18" charset="0"/>
                                <a:ea typeface="Cambria Math" panose="02040503050406030204" pitchFamily="18" charset="0"/>
                              </a:rPr>
                            </m:ctrlPr>
                          </m:sSupPr>
                          <m:e>
                            <m:r>
                              <m:rPr>
                                <m:sty m:val="p"/>
                              </m:rPr>
                              <a:rPr lang="en-US" sz="1200" b="0" i="0" smtClean="0">
                                <a:latin typeface="Cambria Math" panose="02040503050406030204" pitchFamily="18" charset="0"/>
                                <a:ea typeface="Cambria Math" panose="02040503050406030204" pitchFamily="18" charset="0"/>
                              </a:rPr>
                              <m:t>log</m:t>
                            </m:r>
                          </m:e>
                          <m:sup>
                            <m:r>
                              <a:rPr lang="en-US" sz="1200" b="0" i="1" smtClean="0">
                                <a:latin typeface="Cambria Math" panose="02040503050406030204" pitchFamily="18" charset="0"/>
                                <a:ea typeface="Cambria Math" panose="02040503050406030204" pitchFamily="18" charset="0"/>
                              </a:rPr>
                              <m:t>2</m:t>
                            </m:r>
                          </m:sup>
                        </m:sSup>
                      </m:fName>
                      <m:e>
                        <m:d>
                          <m:dPr>
                            <m:ctrlPr>
                              <a:rPr lang="en-US" sz="1200" b="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𝑁</m:t>
                            </m:r>
                          </m:e>
                        </m:d>
                        <m:r>
                          <m:rPr>
                            <m:sty m:val="p"/>
                          </m:rPr>
                          <a:rPr lang="en-US" sz="1200" b="0" i="0" smtClean="0">
                            <a:latin typeface="Cambria Math" panose="02040503050406030204" pitchFamily="18" charset="0"/>
                            <a:ea typeface="Cambria Math" panose="02040503050406030204" pitchFamily="18" charset="0"/>
                          </a:rPr>
                          <m:t>log</m:t>
                        </m:r>
                        <m:r>
                          <a:rPr lang="en-US" sz="1200" b="0" i="1" smtClean="0">
                            <a:latin typeface="Cambria Math" panose="02040503050406030204" pitchFamily="18" charset="0"/>
                            <a:ea typeface="Cambria Math" panose="02040503050406030204" pitchFamily="18" charset="0"/>
                          </a:rPr>
                          <m:t>⁡(</m:t>
                        </m:r>
                        <m:func>
                          <m:funcPr>
                            <m:ctrlPr>
                              <a:rPr lang="en-US" sz="1200" b="0" i="1" smtClean="0">
                                <a:latin typeface="Cambria Math" panose="02040503050406030204" pitchFamily="18" charset="0"/>
                                <a:ea typeface="Cambria Math" panose="02040503050406030204" pitchFamily="18" charset="0"/>
                              </a:rPr>
                            </m:ctrlPr>
                          </m:funcPr>
                          <m:fName>
                            <m:r>
                              <m:rPr>
                                <m:sty m:val="p"/>
                              </m:rPr>
                              <a:rPr lang="en-US" sz="1200" b="0" i="0" smtClean="0">
                                <a:latin typeface="Cambria Math" panose="02040503050406030204" pitchFamily="18" charset="0"/>
                                <a:ea typeface="Cambria Math" panose="02040503050406030204" pitchFamily="18" charset="0"/>
                              </a:rPr>
                              <m:t>log</m:t>
                            </m:r>
                          </m:fName>
                          <m:e>
                            <m:d>
                              <m:dPr>
                                <m:ctrlPr>
                                  <a:rPr lang="en-US" sz="1200" b="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𝑁</m:t>
                                </m:r>
                              </m:e>
                            </m:d>
                          </m:e>
                        </m:func>
                        <m:r>
                          <a:rPr lang="en-US" sz="1200" b="0" i="1" smtClean="0">
                            <a:latin typeface="Cambria Math" panose="02040503050406030204" pitchFamily="18" charset="0"/>
                            <a:ea typeface="Cambria Math" panose="02040503050406030204" pitchFamily="18" charset="0"/>
                          </a:rPr>
                          <m:t>))</m:t>
                        </m:r>
                      </m:e>
                    </m:func>
                  </m:oMath>
                </a14:m>
                <a:endParaRPr lang="en-US" sz="1200" b="0" dirty="0">
                  <a:ea typeface="Cambria Math" panose="02040503050406030204" pitchFamily="18" charset="0"/>
                </a:endParaRPr>
              </a:p>
              <a:p>
                <a:pPr lvl="3"/>
                <a:r>
                  <a:rPr lang="en-US" sz="1200" b="1" dirty="0"/>
                  <a:t>Drawback: </a:t>
                </a:r>
                <a:r>
                  <a:rPr lang="en-US" sz="1200" dirty="0"/>
                  <a:t>It’s damn hard to code :P </a:t>
                </a:r>
                <a:r>
                  <a:rPr lang="en-US" sz="1200" b="1" dirty="0"/>
                  <a:t> </a:t>
                </a:r>
                <a:endParaRPr lang="en-US" sz="1200" dirty="0"/>
              </a:p>
              <a:p>
                <a:pPr lvl="1"/>
                <a:r>
                  <a:rPr lang="en-US" sz="1200" b="1" dirty="0"/>
                  <a:t>Caveat</a:t>
                </a:r>
                <a:r>
                  <a:rPr lang="en-US" sz="1200" dirty="0"/>
                  <a:t>: The Sieve of Eratosthenes, can be optimized to run in </a:t>
                </a:r>
                <a14:m>
                  <m:oMath xmlns:m="http://schemas.openxmlformats.org/officeDocument/2006/math">
                    <m:r>
                      <a:rPr lang="en-US" sz="1200" i="1" smtClean="0">
                        <a:latin typeface="Cambria Math" panose="02040503050406030204" pitchFamily="18" charset="0"/>
                        <a:ea typeface="Cambria Math" panose="02040503050406030204" pitchFamily="18" charset="0"/>
                      </a:rPr>
                      <m:t>𝜃</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𝑛</m:t>
                    </m:r>
                    <m:r>
                      <a:rPr lang="en-US" sz="1200" b="0" i="1" smtClean="0">
                        <a:latin typeface="Cambria Math" panose="02040503050406030204" pitchFamily="18" charset="0"/>
                        <a:ea typeface="Cambria Math" panose="02040503050406030204" pitchFamily="18" charset="0"/>
                      </a:rPr>
                      <m:t> ∗</m:t>
                    </m:r>
                    <m:func>
                      <m:funcPr>
                        <m:ctrlPr>
                          <a:rPr lang="en-US" sz="1200" b="0" i="1" smtClean="0">
                            <a:latin typeface="Cambria Math" panose="02040503050406030204" pitchFamily="18" charset="0"/>
                            <a:ea typeface="Cambria Math" panose="02040503050406030204" pitchFamily="18" charset="0"/>
                          </a:rPr>
                        </m:ctrlPr>
                      </m:funcPr>
                      <m:fName>
                        <m:r>
                          <m:rPr>
                            <m:sty m:val="p"/>
                          </m:rPr>
                          <a:rPr lang="en-US" sz="1200" b="0" i="0" smtClean="0">
                            <a:latin typeface="Cambria Math" panose="02040503050406030204" pitchFamily="18" charset="0"/>
                            <a:ea typeface="Cambria Math" panose="02040503050406030204" pitchFamily="18" charset="0"/>
                          </a:rPr>
                          <m:t>log</m:t>
                        </m:r>
                      </m:fName>
                      <m:e>
                        <m:d>
                          <m:dPr>
                            <m:ctrlPr>
                              <a:rPr lang="en-US" sz="1200" b="0" i="1" smtClean="0">
                                <a:latin typeface="Cambria Math" panose="02040503050406030204" pitchFamily="18" charset="0"/>
                                <a:ea typeface="Cambria Math" panose="02040503050406030204" pitchFamily="18" charset="0"/>
                              </a:rPr>
                            </m:ctrlPr>
                          </m:dPr>
                          <m:e>
                            <m:func>
                              <m:funcPr>
                                <m:ctrlPr>
                                  <a:rPr lang="en-US" sz="1200" b="0" i="1" smtClean="0">
                                    <a:latin typeface="Cambria Math" panose="02040503050406030204" pitchFamily="18" charset="0"/>
                                    <a:ea typeface="Cambria Math" panose="02040503050406030204" pitchFamily="18" charset="0"/>
                                  </a:rPr>
                                </m:ctrlPr>
                              </m:funcPr>
                              <m:fName>
                                <m:r>
                                  <m:rPr>
                                    <m:sty m:val="p"/>
                                  </m:rPr>
                                  <a:rPr lang="en-US" sz="1200" b="0" i="0" smtClean="0">
                                    <a:latin typeface="Cambria Math" panose="02040503050406030204" pitchFamily="18" charset="0"/>
                                    <a:ea typeface="Cambria Math" panose="02040503050406030204" pitchFamily="18" charset="0"/>
                                  </a:rPr>
                                  <m:t>log</m:t>
                                </m:r>
                              </m:fName>
                              <m:e>
                                <m:d>
                                  <m:dPr>
                                    <m:ctrlPr>
                                      <a:rPr lang="en-US" sz="1200" b="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𝑛</m:t>
                                    </m:r>
                                  </m:e>
                                </m:d>
                              </m:e>
                            </m:func>
                          </m:e>
                        </m:d>
                      </m:e>
                    </m:func>
                    <m:r>
                      <a:rPr lang="en-US" sz="1200" b="0" i="1" smtClean="0">
                        <a:latin typeface="Cambria Math" panose="02040503050406030204" pitchFamily="18" charset="0"/>
                        <a:ea typeface="Cambria Math" panose="02040503050406030204" pitchFamily="18" charset="0"/>
                      </a:rPr>
                      <m:t>)</m:t>
                    </m:r>
                  </m:oMath>
                </a14:m>
                <a:r>
                  <a:rPr lang="en-US" sz="1200" dirty="0"/>
                  <a:t>, which is much faster than </a:t>
                </a:r>
                <a14:m>
                  <m:oMath xmlns:m="http://schemas.openxmlformats.org/officeDocument/2006/math">
                    <m:r>
                      <a:rPr lang="en-US" sz="1200" i="1" smtClean="0">
                        <a:latin typeface="Cambria Math" panose="02040503050406030204" pitchFamily="18" charset="0"/>
                        <a:ea typeface="Cambria Math" panose="02040503050406030204" pitchFamily="18" charset="0"/>
                      </a:rPr>
                      <m:t>𝜃</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𝑛</m:t>
                    </m:r>
                    <m:func>
                      <m:funcPr>
                        <m:ctrlPr>
                          <a:rPr lang="en-US" sz="1200" b="0" i="1" smtClean="0">
                            <a:latin typeface="Cambria Math" panose="02040503050406030204" pitchFamily="18" charset="0"/>
                            <a:ea typeface="Cambria Math" panose="02040503050406030204" pitchFamily="18" charset="0"/>
                          </a:rPr>
                        </m:ctrlPr>
                      </m:funcPr>
                      <m:fName>
                        <m:r>
                          <m:rPr>
                            <m:sty m:val="p"/>
                          </m:rPr>
                          <a:rPr lang="en-US" sz="1200" b="0" i="0" smtClean="0">
                            <a:latin typeface="Cambria Math" panose="02040503050406030204" pitchFamily="18" charset="0"/>
                            <a:ea typeface="Cambria Math" panose="02040503050406030204" pitchFamily="18" charset="0"/>
                          </a:rPr>
                          <m:t>log</m:t>
                        </m:r>
                      </m:fName>
                      <m:e>
                        <m:d>
                          <m:dPr>
                            <m:ctrlPr>
                              <a:rPr lang="en-US" sz="1200" b="0" i="1" smtClean="0">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𝑛</m:t>
                            </m:r>
                          </m:e>
                        </m:d>
                      </m:e>
                    </m:func>
                    <m:r>
                      <a:rPr lang="en-US" sz="1200" b="0" i="1" smtClean="0">
                        <a:latin typeface="Cambria Math" panose="02040503050406030204" pitchFamily="18" charset="0"/>
                        <a:ea typeface="Cambria Math" panose="02040503050406030204" pitchFamily="18" charset="0"/>
                      </a:rPr>
                      <m:t>)</m:t>
                    </m:r>
                  </m:oMath>
                </a14:m>
                <a:endParaRPr lang="en-US" sz="1200" dirty="0"/>
              </a:p>
              <a:p>
                <a:r>
                  <a:rPr lang="en-US" sz="1400" dirty="0"/>
                  <a:t>Only the LSDs matter!</a:t>
                </a:r>
              </a:p>
              <a:p>
                <a:pPr lvl="1"/>
                <a:r>
                  <a:rPr lang="en-US" sz="1200" dirty="0"/>
                  <a:t>In other words, </a:t>
                </a:r>
                <a14:m>
                  <m:oMath xmlns:m="http://schemas.openxmlformats.org/officeDocument/2006/math">
                    <m:r>
                      <a:rPr lang="en-US" sz="1200" b="0" i="1" smtClean="0">
                        <a:latin typeface="Cambria Math" panose="02040503050406030204" pitchFamily="18" charset="0"/>
                      </a:rPr>
                      <m:t>h</m:t>
                    </m:r>
                    <m:d>
                      <m:dPr>
                        <m:ctrlPr>
                          <a:rPr lang="en-US" sz="1200" b="0" i="1" smtClean="0">
                            <a:latin typeface="Cambria Math" panose="02040503050406030204" pitchFamily="18" charset="0"/>
                          </a:rPr>
                        </m:ctrlPr>
                      </m:dPr>
                      <m:e>
                        <m:r>
                          <a:rPr lang="en-US" sz="1200" b="0" i="1" smtClean="0">
                            <a:latin typeface="Cambria Math" panose="02040503050406030204" pitchFamily="18" charset="0"/>
                          </a:rPr>
                          <m:t>1</m:t>
                        </m:r>
                      </m:e>
                    </m:d>
                    <m:r>
                      <a:rPr lang="en-US" sz="1200" b="0" i="1" smtClean="0">
                        <a:latin typeface="Cambria Math" panose="02040503050406030204" pitchFamily="18" charset="0"/>
                      </a:rPr>
                      <m:t>=</m:t>
                    </m:r>
                    <m:r>
                      <a:rPr lang="en-US" sz="1200" b="0" i="1" smtClean="0">
                        <a:latin typeface="Cambria Math" panose="02040503050406030204" pitchFamily="18" charset="0"/>
                      </a:rPr>
                      <m:t>h</m:t>
                    </m:r>
                    <m:d>
                      <m:dPr>
                        <m:ctrlPr>
                          <a:rPr lang="en-US" sz="1200" b="0" i="1" smtClean="0">
                            <a:latin typeface="Cambria Math" panose="02040503050406030204" pitchFamily="18" charset="0"/>
                          </a:rPr>
                        </m:ctrlPr>
                      </m:dPr>
                      <m:e>
                        <m:r>
                          <a:rPr lang="en-US" sz="1200" b="0" i="1" smtClean="0">
                            <a:latin typeface="Cambria Math" panose="02040503050406030204" pitchFamily="18" charset="0"/>
                          </a:rPr>
                          <m:t>401</m:t>
                        </m:r>
                      </m:e>
                    </m:d>
                    <m:r>
                      <a:rPr lang="en-US" sz="1200" b="0" i="1" smtClean="0">
                        <a:latin typeface="Cambria Math" panose="02040503050406030204" pitchFamily="18" charset="0"/>
                      </a:rPr>
                      <m:t>=</m:t>
                    </m:r>
                    <m:r>
                      <a:rPr lang="en-US" sz="1200" b="0" i="1" smtClean="0">
                        <a:latin typeface="Cambria Math" panose="02040503050406030204" pitchFamily="18" charset="0"/>
                      </a:rPr>
                      <m:t>h</m:t>
                    </m:r>
                    <m:r>
                      <a:rPr lang="en-US" sz="1200" b="0" i="1" smtClean="0">
                        <a:latin typeface="Cambria Math" panose="02040503050406030204" pitchFamily="18" charset="0"/>
                      </a:rPr>
                      <m:t>(4372901)</m:t>
                    </m:r>
                  </m:oMath>
                </a14:m>
                <a:endParaRPr lang="en-US" sz="1200" dirty="0"/>
              </a:p>
            </p:txBody>
          </p:sp>
        </mc:Choice>
        <mc:Fallback xmlns="">
          <p:sp>
            <p:nvSpPr>
              <p:cNvPr id="3" name="Content Placeholder 2">
                <a:extLst>
                  <a:ext uri="{FF2B5EF4-FFF2-40B4-BE49-F238E27FC236}">
                    <a16:creationId xmlns:a16="http://schemas.microsoft.com/office/drawing/2014/main" id="{5AAF608A-C8C1-4965-B5D4-DADFEFFE2D67}"/>
                  </a:ext>
                </a:extLst>
              </p:cNvPr>
              <p:cNvSpPr>
                <a:spLocks noGrp="1" noRot="1" noChangeAspect="1" noMove="1" noResize="1" noEditPoints="1" noAdjustHandles="1" noChangeArrowheads="1" noChangeShapeType="1" noTextEdit="1"/>
              </p:cNvSpPr>
              <p:nvPr>
                <p:ph idx="1"/>
              </p:nvPr>
            </p:nvSpPr>
            <p:spPr>
              <a:xfrm>
                <a:off x="2231135" y="2334827"/>
                <a:ext cx="8581867" cy="4190259"/>
              </a:xfrm>
              <a:blipFill>
                <a:blip r:embed="rId3"/>
                <a:stretch>
                  <a:fillRect l="-71" t="-582"/>
                </a:stretch>
              </a:blipFill>
            </p:spPr>
            <p:txBody>
              <a:bodyPr/>
              <a:lstStyle/>
              <a:p>
                <a:r>
                  <a:rPr lang="en-US">
                    <a:noFill/>
                  </a:rPr>
                  <a:t> </a:t>
                </a:r>
              </a:p>
            </p:txBody>
          </p:sp>
        </mc:Fallback>
      </mc:AlternateContent>
    </p:spTree>
    <p:extLst>
      <p:ext uri="{BB962C8B-B14F-4D97-AF65-F5344CB8AC3E}">
        <p14:creationId xmlns:p14="http://schemas.microsoft.com/office/powerpoint/2010/main" val="8033677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7948F-BF6E-4879-80B8-53E998FF81F2}"/>
              </a:ext>
            </a:extLst>
          </p:cNvPr>
          <p:cNvSpPr>
            <a:spLocks noGrp="1"/>
          </p:cNvSpPr>
          <p:nvPr>
            <p:ph type="title"/>
          </p:nvPr>
        </p:nvSpPr>
        <p:spPr/>
        <p:txBody>
          <a:bodyPr/>
          <a:lstStyle/>
          <a:p>
            <a:r>
              <a:rPr lang="en-US" dirty="0"/>
              <a:t>Back to collisions</a:t>
            </a:r>
          </a:p>
        </p:txBody>
      </p:sp>
      <p:sp>
        <p:nvSpPr>
          <p:cNvPr id="3" name="Content Placeholder 2">
            <a:extLst>
              <a:ext uri="{FF2B5EF4-FFF2-40B4-BE49-F238E27FC236}">
                <a16:creationId xmlns:a16="http://schemas.microsoft.com/office/drawing/2014/main" id="{45BB9019-8061-442D-90B0-F766C6752734}"/>
              </a:ext>
            </a:extLst>
          </p:cNvPr>
          <p:cNvSpPr>
            <a:spLocks noGrp="1"/>
          </p:cNvSpPr>
          <p:nvPr>
            <p:ph idx="1"/>
          </p:nvPr>
        </p:nvSpPr>
        <p:spPr/>
        <p:txBody>
          <a:bodyPr/>
          <a:lstStyle/>
          <a:p>
            <a:r>
              <a:rPr lang="en-US" dirty="0"/>
              <a:t>What we’ve just done in the previous couple slides, is </a:t>
            </a:r>
            <a:r>
              <a:rPr lang="en-US" b="1" dirty="0"/>
              <a:t>cut down the number of collisions</a:t>
            </a:r>
            <a:endParaRPr lang="en-US" dirty="0"/>
          </a:p>
          <a:p>
            <a:endParaRPr lang="en-US" dirty="0"/>
          </a:p>
          <a:p>
            <a:r>
              <a:rPr lang="en-US" dirty="0"/>
              <a:t>But… we still must deal with them!</a:t>
            </a:r>
          </a:p>
        </p:txBody>
      </p:sp>
    </p:spTree>
    <p:extLst>
      <p:ext uri="{BB962C8B-B14F-4D97-AF65-F5344CB8AC3E}">
        <p14:creationId xmlns:p14="http://schemas.microsoft.com/office/powerpoint/2010/main" val="33381944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CC9DD-F82C-4CBA-8657-4D5B5D3B4FB7}"/>
              </a:ext>
            </a:extLst>
          </p:cNvPr>
          <p:cNvSpPr>
            <a:spLocks noGrp="1"/>
          </p:cNvSpPr>
          <p:nvPr>
            <p:ph type="title"/>
          </p:nvPr>
        </p:nvSpPr>
        <p:spPr/>
        <p:txBody>
          <a:bodyPr/>
          <a:lstStyle/>
          <a:p>
            <a:r>
              <a:rPr lang="en-US" dirty="0"/>
              <a:t>Collision Resolution</a:t>
            </a:r>
          </a:p>
        </p:txBody>
      </p:sp>
      <p:sp>
        <p:nvSpPr>
          <p:cNvPr id="3" name="Content Placeholder 2">
            <a:extLst>
              <a:ext uri="{FF2B5EF4-FFF2-40B4-BE49-F238E27FC236}">
                <a16:creationId xmlns:a16="http://schemas.microsoft.com/office/drawing/2014/main" id="{7F6FBE08-74DA-46C9-ABF6-AFEBE4D91DF3}"/>
              </a:ext>
            </a:extLst>
          </p:cNvPr>
          <p:cNvSpPr>
            <a:spLocks noGrp="1"/>
          </p:cNvSpPr>
          <p:nvPr>
            <p:ph idx="1"/>
          </p:nvPr>
        </p:nvSpPr>
        <p:spPr/>
        <p:txBody>
          <a:bodyPr/>
          <a:lstStyle/>
          <a:p>
            <a:pPr marL="0" indent="0">
              <a:buNone/>
            </a:pPr>
            <a:r>
              <a:rPr lang="en-US" dirty="0"/>
              <a:t>There are two main approaches:</a:t>
            </a:r>
          </a:p>
          <a:p>
            <a:pPr marL="342900" indent="-342900">
              <a:buAutoNum type="arabicParenR"/>
            </a:pPr>
            <a:r>
              <a:rPr lang="en-US" b="1" dirty="0"/>
              <a:t>Open Addressing</a:t>
            </a:r>
            <a:endParaRPr lang="en-US" dirty="0"/>
          </a:p>
          <a:p>
            <a:pPr lvl="1"/>
            <a:r>
              <a:rPr lang="en-US" dirty="0"/>
              <a:t>If a pigeonhole is occupied, find another one!</a:t>
            </a:r>
          </a:p>
          <a:p>
            <a:pPr marL="342900" indent="-342900">
              <a:buAutoNum type="arabicParenR"/>
            </a:pPr>
            <a:r>
              <a:rPr lang="en-US" b="1" dirty="0"/>
              <a:t>Closed Addressing</a:t>
            </a:r>
          </a:p>
          <a:p>
            <a:pPr lvl="1"/>
            <a:r>
              <a:rPr lang="en-US" dirty="0"/>
              <a:t>If a pigeonhole is occupied, just live with a roommate!</a:t>
            </a:r>
          </a:p>
        </p:txBody>
      </p:sp>
    </p:spTree>
    <p:extLst>
      <p:ext uri="{BB962C8B-B14F-4D97-AF65-F5344CB8AC3E}">
        <p14:creationId xmlns:p14="http://schemas.microsoft.com/office/powerpoint/2010/main" val="2415393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BD87E-86EE-460D-9445-827000626D41}"/>
              </a:ext>
            </a:extLst>
          </p:cNvPr>
          <p:cNvSpPr>
            <a:spLocks noGrp="1"/>
          </p:cNvSpPr>
          <p:nvPr>
            <p:ph type="title"/>
          </p:nvPr>
        </p:nvSpPr>
        <p:spPr/>
        <p:txBody>
          <a:bodyPr/>
          <a:lstStyle/>
          <a:p>
            <a:r>
              <a:rPr lang="en-US" dirty="0"/>
              <a:t>Open addressing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572886-BB6E-4AE9-896C-064E21C85ACB}"/>
                  </a:ext>
                </a:extLst>
              </p:cNvPr>
              <p:cNvSpPr>
                <a:spLocks noGrp="1"/>
              </p:cNvSpPr>
              <p:nvPr>
                <p:ph idx="1"/>
              </p:nvPr>
            </p:nvSpPr>
            <p:spPr/>
            <p:txBody>
              <a:bodyPr/>
              <a:lstStyle/>
              <a:p>
                <a:r>
                  <a:rPr lang="en-US" dirty="0"/>
                  <a:t>If </a:t>
                </a:r>
                <a14:m>
                  <m:oMath xmlns:m="http://schemas.openxmlformats.org/officeDocument/2006/math">
                    <m:r>
                      <a:rPr lang="en-US" b="0" i="1" smtClean="0">
                        <a:latin typeface="Cambria Math" panose="02040503050406030204" pitchFamily="18" charset="0"/>
                      </a:rPr>
                      <m:t>h</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h</m:t>
                    </m:r>
                    <m:d>
                      <m:dPr>
                        <m:ctrlPr>
                          <a:rPr lang="en-US" b="0" i="1" smtClean="0">
                            <a:latin typeface="Cambria Math" panose="02040503050406030204" pitchFamily="18" charset="0"/>
                          </a:rPr>
                        </m:ctrlPr>
                      </m:dPr>
                      <m:e>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𝑖</m:t>
                    </m:r>
                  </m:oMath>
                </a14:m>
                <a:r>
                  <a:rPr lang="en-US" dirty="0"/>
                  <a:t>, find another location to insert </a:t>
                </a:r>
                <a14:m>
                  <m:oMath xmlns:m="http://schemas.openxmlformats.org/officeDocument/2006/math">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oMath>
                </a14:m>
                <a:r>
                  <a:rPr lang="en-US" dirty="0"/>
                  <a:t>.</a:t>
                </a:r>
              </a:p>
              <a:p>
                <a:pPr marL="342900" indent="-342900">
                  <a:buAutoNum type="arabicParenR"/>
                </a:pPr>
                <a:r>
                  <a:rPr lang="en-US" dirty="0"/>
                  <a:t>This means if we want to insert </a:t>
                </a:r>
                <a14:m>
                  <m:oMath xmlns:m="http://schemas.openxmlformats.org/officeDocument/2006/math">
                    <m:r>
                      <a:rPr lang="en-US" b="0" i="1" smtClean="0">
                        <a:latin typeface="Cambria Math" panose="02040503050406030204" pitchFamily="18" charset="0"/>
                      </a:rPr>
                      <m:t>𝑦</m:t>
                    </m:r>
                  </m:oMath>
                </a14:m>
                <a:r>
                  <a:rPr lang="en-US" dirty="0"/>
                  <a:t>, we have to try other indices.</a:t>
                </a:r>
              </a:p>
              <a:p>
                <a:pPr lvl="1"/>
                <a:r>
                  <a:rPr lang="en-US" dirty="0"/>
                  <a:t>So, </a:t>
                </a:r>
                <a14:m>
                  <m:oMath xmlns:m="http://schemas.openxmlformats.org/officeDocument/2006/math">
                    <m:r>
                      <a:rPr lang="en-US" b="0" i="1" smtClean="0">
                        <a:latin typeface="Cambria Math" panose="02040503050406030204" pitchFamily="18" charset="0"/>
                      </a:rPr>
                      <m:t>𝑦</m:t>
                    </m:r>
                  </m:oMath>
                </a14:m>
                <a:r>
                  <a:rPr lang="en-US" dirty="0"/>
                  <a:t> will not be stored at </a:t>
                </a:r>
                <a14:m>
                  <m:oMath xmlns:m="http://schemas.openxmlformats.org/officeDocument/2006/math">
                    <m:r>
                      <a:rPr lang="en-US" b="0" i="1" smtClean="0">
                        <a:latin typeface="Cambria Math" panose="02040503050406030204" pitchFamily="18" charset="0"/>
                      </a:rPr>
                      <m:t>𝐻𝑇</m:t>
                    </m:r>
                    <m:r>
                      <a:rPr lang="en-US" b="0" i="1" smtClean="0">
                        <a:latin typeface="Cambria Math" panose="02040503050406030204" pitchFamily="18" charset="0"/>
                      </a:rPr>
                      <m:t>[</m:t>
                    </m:r>
                    <m:r>
                      <a:rPr lang="en-US" b="0" i="1" smtClean="0">
                        <a:latin typeface="Cambria Math" panose="02040503050406030204" pitchFamily="18" charset="0"/>
                      </a:rPr>
                      <m:t>h</m:t>
                    </m:r>
                    <m:d>
                      <m:dPr>
                        <m:ctrlPr>
                          <a:rPr lang="en-US" b="0" i="1" smtClean="0">
                            <a:latin typeface="Cambria Math" panose="02040503050406030204" pitchFamily="18" charset="0"/>
                          </a:rPr>
                        </m:ctrlPr>
                      </m:dPr>
                      <m:e>
                        <m:r>
                          <a:rPr lang="en-US" b="0" i="1" smtClean="0">
                            <a:latin typeface="Cambria Math" panose="02040503050406030204" pitchFamily="18" charset="0"/>
                          </a:rPr>
                          <m:t>𝑦</m:t>
                        </m:r>
                      </m:e>
                    </m:d>
                    <m:r>
                      <a:rPr lang="en-US" b="0" i="1" smtClean="0">
                        <a:latin typeface="Cambria Math" panose="02040503050406030204" pitchFamily="18" charset="0"/>
                      </a:rPr>
                      <m:t>]</m:t>
                    </m:r>
                  </m:oMath>
                </a14:m>
                <a:endParaRPr lang="en-US" dirty="0"/>
              </a:p>
              <a:p>
                <a:pPr lvl="2"/>
                <a:r>
                  <a:rPr lang="en-US" dirty="0"/>
                  <a:t>We will select alternative indices in a consistent and predictable way so that they can be located later!</a:t>
                </a:r>
              </a:p>
            </p:txBody>
          </p:sp>
        </mc:Choice>
        <mc:Fallback xmlns="">
          <p:sp>
            <p:nvSpPr>
              <p:cNvPr id="3" name="Content Placeholder 2">
                <a:extLst>
                  <a:ext uri="{FF2B5EF4-FFF2-40B4-BE49-F238E27FC236}">
                    <a16:creationId xmlns:a16="http://schemas.microsoft.com/office/drawing/2014/main" id="{5A572886-BB6E-4AE9-896C-064E21C85ACB}"/>
                  </a:ext>
                </a:extLst>
              </p:cNvPr>
              <p:cNvSpPr>
                <a:spLocks noGrp="1" noRot="1" noChangeAspect="1" noMove="1" noResize="1" noEditPoints="1" noAdjustHandles="1" noChangeArrowheads="1" noChangeShapeType="1" noTextEdit="1"/>
              </p:cNvSpPr>
              <p:nvPr>
                <p:ph idx="1"/>
              </p:nvPr>
            </p:nvSpPr>
            <p:spPr>
              <a:blipFill>
                <a:blip r:embed="rId2"/>
                <a:stretch>
                  <a:fillRect l="-552" t="-1179"/>
                </a:stretch>
              </a:blipFill>
            </p:spPr>
            <p:txBody>
              <a:bodyPr/>
              <a:lstStyle/>
              <a:p>
                <a:r>
                  <a:rPr lang="en-US">
                    <a:noFill/>
                  </a:rPr>
                  <a:t> </a:t>
                </a:r>
              </a:p>
            </p:txBody>
          </p:sp>
        </mc:Fallback>
      </mc:AlternateContent>
      <p:pic>
        <p:nvPicPr>
          <p:cNvPr id="5122" name="Picture 2">
            <a:extLst>
              <a:ext uri="{FF2B5EF4-FFF2-40B4-BE49-F238E27FC236}">
                <a16:creationId xmlns:a16="http://schemas.microsoft.com/office/drawing/2014/main" id="{CCB7F4D7-8172-430D-B9D0-269E54AE7D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922"/>
          <a:stretch/>
        </p:blipFill>
        <p:spPr bwMode="auto">
          <a:xfrm>
            <a:off x="4269582" y="4331910"/>
            <a:ext cx="3652836" cy="23435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5981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4F399-2086-4CCC-982E-ADC6C41F310A}"/>
              </a:ext>
            </a:extLst>
          </p:cNvPr>
          <p:cNvSpPr>
            <a:spLocks noGrp="1"/>
          </p:cNvSpPr>
          <p:nvPr>
            <p:ph type="title"/>
          </p:nvPr>
        </p:nvSpPr>
        <p:spPr/>
        <p:txBody>
          <a:bodyPr/>
          <a:lstStyle/>
          <a:p>
            <a:r>
              <a:rPr lang="en-US" dirty="0"/>
              <a:t>Linear Probing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25D5134-D0BA-4CAC-9B35-3AE74D998AB4}"/>
                  </a:ext>
                </a:extLst>
              </p:cNvPr>
              <p:cNvSpPr>
                <a:spLocks noGrp="1"/>
              </p:cNvSpPr>
              <p:nvPr>
                <p:ph idx="1"/>
              </p:nvPr>
            </p:nvSpPr>
            <p:spPr/>
            <p:txBody>
              <a:bodyPr>
                <a:normAutofit fontScale="85000" lnSpcReduction="20000"/>
              </a:bodyPr>
              <a:lstStyle/>
              <a:p>
                <a:pPr marL="0" indent="0">
                  <a:buNone/>
                </a:pPr>
                <a:r>
                  <a:rPr lang="en-US" b="1" dirty="0"/>
                  <a:t>Insertion:</a:t>
                </a:r>
                <a:br>
                  <a:rPr lang="en-US" b="1" dirty="0"/>
                </a:br>
                <a:r>
                  <a:rPr lang="en-US" dirty="0"/>
                  <a:t>1) If we cannot store a key at index </a:t>
                </a:r>
                <a14:m>
                  <m:oMath xmlns:m="http://schemas.openxmlformats.org/officeDocument/2006/math">
                    <m:r>
                      <a:rPr lang="en-US" b="0" i="1" smtClean="0">
                        <a:latin typeface="Cambria Math" panose="02040503050406030204" pitchFamily="18" charset="0"/>
                      </a:rPr>
                      <m:t>𝑖</m:t>
                    </m:r>
                  </m:oMath>
                </a14:m>
                <a:r>
                  <a:rPr lang="en-US" dirty="0"/>
                  <a:t> due to a collision:</a:t>
                </a:r>
              </a:p>
              <a:p>
                <a:r>
                  <a:rPr lang="en-US" dirty="0"/>
                  <a:t>Attempt to insert the key at index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+1,</m:t>
                    </m:r>
                    <m:r>
                      <a:rPr lang="en-US" b="0" i="1" smtClean="0">
                        <a:latin typeface="Cambria Math" panose="02040503050406030204" pitchFamily="18" charset="0"/>
                      </a:rPr>
                      <m:t>𝑖</m:t>
                    </m:r>
                    <m:r>
                      <a:rPr lang="en-US" b="0" i="1" smtClean="0">
                        <a:latin typeface="Cambria Math" panose="02040503050406030204" pitchFamily="18" charset="0"/>
                      </a:rPr>
                      <m:t>+2,…</m:t>
                    </m:r>
                  </m:oMath>
                </a14:m>
                <a:endParaRPr lang="en-US" dirty="0"/>
              </a:p>
              <a:p>
                <a:r>
                  <a:rPr lang="en-US" dirty="0"/>
                  <a:t>mod m…</a:t>
                </a:r>
              </a:p>
              <a:p>
                <a:r>
                  <a:rPr lang="en-US" dirty="0"/>
                  <a:t>Until an open space is found!</a:t>
                </a:r>
              </a:p>
              <a:p>
                <a:pPr marL="0" indent="0">
                  <a:buNone/>
                </a:pPr>
                <a:r>
                  <a:rPr lang="en-US" b="1" dirty="0"/>
                  <a:t>Search:</a:t>
                </a:r>
                <a:br>
                  <a:rPr lang="en-US" b="1" dirty="0"/>
                </a:br>
                <a:r>
                  <a:rPr lang="en-US" dirty="0"/>
                  <a:t>1) If another key is stored at index </a:t>
                </a:r>
                <a14:m>
                  <m:oMath xmlns:m="http://schemas.openxmlformats.org/officeDocument/2006/math">
                    <m:r>
                      <a:rPr lang="en-US" b="0" i="1" smtClean="0">
                        <a:latin typeface="Cambria Math" panose="02040503050406030204" pitchFamily="18" charset="0"/>
                      </a:rPr>
                      <m:t>𝑖</m:t>
                    </m:r>
                  </m:oMath>
                </a14:m>
                <a:r>
                  <a:rPr lang="en-US" dirty="0"/>
                  <a:t>:</a:t>
                </a:r>
              </a:p>
              <a:p>
                <a:pPr lvl="1"/>
                <a:r>
                  <a:rPr lang="en-US" dirty="0"/>
                  <a:t>Check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+1,</m:t>
                    </m:r>
                    <m:r>
                      <a:rPr lang="en-US" b="0" i="1" smtClean="0">
                        <a:latin typeface="Cambria Math" panose="02040503050406030204" pitchFamily="18" charset="0"/>
                      </a:rPr>
                      <m:t>𝑖</m:t>
                    </m:r>
                    <m:r>
                      <a:rPr lang="en-US" b="0" i="1" smtClean="0">
                        <a:latin typeface="Cambria Math" panose="02040503050406030204" pitchFamily="18" charset="0"/>
                      </a:rPr>
                      <m:t>+2,…</m:t>
                    </m:r>
                  </m:oMath>
                </a14:m>
                <a:r>
                  <a:rPr lang="en-US" dirty="0"/>
                  <a:t> until either</a:t>
                </a:r>
              </a:p>
              <a:p>
                <a:pPr lvl="2"/>
                <a:r>
                  <a:rPr lang="en-US" dirty="0"/>
                  <a:t>The key is found.</a:t>
                </a:r>
              </a:p>
              <a:p>
                <a:pPr lvl="2"/>
                <a:r>
                  <a:rPr lang="en-US" dirty="0"/>
                  <a:t>An empty location is found.</a:t>
                </a:r>
              </a:p>
              <a:p>
                <a:pPr lvl="2"/>
                <a:r>
                  <a:rPr lang="en-US" dirty="0"/>
                  <a:t>We circled through back to </a:t>
                </a:r>
                <a14:m>
                  <m:oMath xmlns:m="http://schemas.openxmlformats.org/officeDocument/2006/math">
                    <m:r>
                      <a:rPr lang="en-US" b="0" i="1" smtClean="0">
                        <a:latin typeface="Cambria Math" panose="02040503050406030204" pitchFamily="18" charset="0"/>
                      </a:rPr>
                      <m:t>𝑖</m:t>
                    </m:r>
                  </m:oMath>
                </a14:m>
                <a:r>
                  <a:rPr lang="en-US" dirty="0"/>
                  <a:t>.</a:t>
                </a:r>
              </a:p>
              <a:p>
                <a:pPr lvl="1"/>
                <a:endParaRPr lang="en-US" dirty="0"/>
              </a:p>
            </p:txBody>
          </p:sp>
        </mc:Choice>
        <mc:Fallback xmlns="">
          <p:sp>
            <p:nvSpPr>
              <p:cNvPr id="3" name="Content Placeholder 2">
                <a:extLst>
                  <a:ext uri="{FF2B5EF4-FFF2-40B4-BE49-F238E27FC236}">
                    <a16:creationId xmlns:a16="http://schemas.microsoft.com/office/drawing/2014/main" id="{B25D5134-D0BA-4CAC-9B35-3AE74D998AB4}"/>
                  </a:ext>
                </a:extLst>
              </p:cNvPr>
              <p:cNvSpPr>
                <a:spLocks noGrp="1" noRot="1" noChangeAspect="1" noMove="1" noResize="1" noEditPoints="1" noAdjustHandles="1" noChangeArrowheads="1" noChangeShapeType="1" noTextEdit="1"/>
              </p:cNvSpPr>
              <p:nvPr>
                <p:ph idx="1"/>
              </p:nvPr>
            </p:nvSpPr>
            <p:spPr>
              <a:blipFill>
                <a:blip r:embed="rId2"/>
                <a:stretch>
                  <a:fillRect l="-315" t="-1768" b="-982"/>
                </a:stretch>
              </a:blipFill>
            </p:spPr>
            <p:txBody>
              <a:bodyPr/>
              <a:lstStyle/>
              <a:p>
                <a:r>
                  <a:rPr lang="en-US">
                    <a:noFill/>
                  </a:rPr>
                  <a:t> </a:t>
                </a:r>
              </a:p>
            </p:txBody>
          </p:sp>
        </mc:Fallback>
      </mc:AlternateContent>
    </p:spTree>
    <p:extLst>
      <p:ext uri="{BB962C8B-B14F-4D97-AF65-F5344CB8AC3E}">
        <p14:creationId xmlns:p14="http://schemas.microsoft.com/office/powerpoint/2010/main" val="3216209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FBF19-B0FC-4F11-BB4D-F932C73B2FC5}"/>
              </a:ext>
            </a:extLst>
          </p:cNvPr>
          <p:cNvSpPr>
            <a:spLocks noGrp="1"/>
          </p:cNvSpPr>
          <p:nvPr>
            <p:ph type="title"/>
          </p:nvPr>
        </p:nvSpPr>
        <p:spPr/>
        <p:txBody>
          <a:bodyPr/>
          <a:lstStyle/>
          <a:p>
            <a:r>
              <a:rPr lang="en-US" dirty="0"/>
              <a:t>Linear Probing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EB2D660-8DBC-4142-AB94-456F11BAADCD}"/>
                  </a:ext>
                </a:extLst>
              </p:cNvPr>
              <p:cNvSpPr>
                <a:spLocks noGrp="1"/>
              </p:cNvSpPr>
              <p:nvPr>
                <p:ph idx="1"/>
              </p:nvPr>
            </p:nvSpPr>
            <p:spPr/>
            <p:txBody>
              <a:bodyPr/>
              <a:lstStyle/>
              <a:p>
                <a:pPr marL="0" indent="0">
                  <a:buNone/>
                </a:pPr>
                <a:r>
                  <a:rPr lang="en-US" dirty="0"/>
                  <a:t>Suppose our hash function, </a:t>
                </a:r>
                <a14:m>
                  <m:oMath xmlns:m="http://schemas.openxmlformats.org/officeDocument/2006/math">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US" dirty="0"/>
                  <a:t> is: </a:t>
                </a:r>
                <a14:m>
                  <m:oMath xmlns:m="http://schemas.openxmlformats.org/officeDocument/2006/math">
                    <m:r>
                      <a:rPr lang="en-US" b="0" i="1" smtClean="0">
                        <a:latin typeface="Cambria Math" panose="02040503050406030204" pitchFamily="18" charset="0"/>
                      </a:rPr>
                      <m:t>h</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𝑚𝑜𝑑</m:t>
                    </m:r>
                    <m:r>
                      <a:rPr lang="en-US" b="0" i="1" smtClean="0">
                        <a:latin typeface="Cambria Math" panose="02040503050406030204" pitchFamily="18" charset="0"/>
                      </a:rPr>
                      <m:t> 11</m:t>
                    </m:r>
                  </m:oMath>
                </a14:m>
                <a:endParaRPr lang="en-US" dirty="0"/>
              </a:p>
              <a:p>
                <a:r>
                  <a:rPr lang="en-US" dirty="0"/>
                  <a:t>We want to insert the following: </a:t>
                </a:r>
                <a14:m>
                  <m:oMath xmlns:m="http://schemas.openxmlformats.org/officeDocument/2006/math">
                    <m:r>
                      <a:rPr lang="en-US" b="0" i="1" smtClean="0">
                        <a:latin typeface="Cambria Math" panose="02040503050406030204" pitchFamily="18" charset="0"/>
                      </a:rPr>
                      <m:t>14, 17, 25, 37, 34, 16</m:t>
                    </m:r>
                  </m:oMath>
                </a14:m>
                <a:endParaRPr lang="en-US" dirty="0"/>
              </a:p>
            </p:txBody>
          </p:sp>
        </mc:Choice>
        <mc:Fallback xmlns="">
          <p:sp>
            <p:nvSpPr>
              <p:cNvPr id="3" name="Content Placeholder 2">
                <a:extLst>
                  <a:ext uri="{FF2B5EF4-FFF2-40B4-BE49-F238E27FC236}">
                    <a16:creationId xmlns:a16="http://schemas.microsoft.com/office/drawing/2014/main" id="{6EB2D660-8DBC-4142-AB94-456F11BAADCD}"/>
                  </a:ext>
                </a:extLst>
              </p:cNvPr>
              <p:cNvSpPr>
                <a:spLocks noGrp="1" noRot="1" noChangeAspect="1" noMove="1" noResize="1" noEditPoints="1" noAdjustHandles="1" noChangeArrowheads="1" noChangeShapeType="1" noTextEdit="1"/>
              </p:cNvSpPr>
              <p:nvPr>
                <p:ph idx="1"/>
              </p:nvPr>
            </p:nvSpPr>
            <p:spPr>
              <a:blipFill>
                <a:blip r:embed="rId2"/>
                <a:stretch>
                  <a:fillRect l="-631" t="-1179"/>
                </a:stretch>
              </a:blipFill>
            </p:spPr>
            <p:txBody>
              <a:bodyPr/>
              <a:lstStyle/>
              <a:p>
                <a:r>
                  <a:rPr lang="en-US">
                    <a:noFill/>
                  </a:rPr>
                  <a:t> </a:t>
                </a:r>
              </a:p>
            </p:txBody>
          </p:sp>
        </mc:Fallback>
      </mc:AlternateContent>
    </p:spTree>
    <p:extLst>
      <p:ext uri="{BB962C8B-B14F-4D97-AF65-F5344CB8AC3E}">
        <p14:creationId xmlns:p14="http://schemas.microsoft.com/office/powerpoint/2010/main" val="12579494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5B154-A996-4B7F-A3D3-B2D3E1F6CBEC}"/>
              </a:ext>
            </a:extLst>
          </p:cNvPr>
          <p:cNvSpPr>
            <a:spLocks noGrp="1"/>
          </p:cNvSpPr>
          <p:nvPr>
            <p:ph type="title"/>
          </p:nvPr>
        </p:nvSpPr>
        <p:spPr/>
        <p:txBody>
          <a:bodyPr/>
          <a:lstStyle/>
          <a:p>
            <a:r>
              <a:rPr lang="en-US" dirty="0"/>
              <a:t>Linear Probing Insertion</a:t>
            </a:r>
          </a:p>
        </p:txBody>
      </p:sp>
      <p:sp>
        <p:nvSpPr>
          <p:cNvPr id="3" name="Content Placeholder 2">
            <a:extLst>
              <a:ext uri="{FF2B5EF4-FFF2-40B4-BE49-F238E27FC236}">
                <a16:creationId xmlns:a16="http://schemas.microsoft.com/office/drawing/2014/main" id="{95F14124-DC60-4976-929A-B9E2F796527C}"/>
              </a:ext>
            </a:extLst>
          </p:cNvPr>
          <p:cNvSpPr>
            <a:spLocks noGrp="1"/>
          </p:cNvSpPr>
          <p:nvPr>
            <p:ph idx="1"/>
          </p:nvPr>
        </p:nvSpPr>
        <p:spPr/>
        <p:txBody>
          <a:bodyPr/>
          <a:lstStyle/>
          <a:p>
            <a:r>
              <a:rPr lang="en-US" dirty="0"/>
              <a:t>Insert 14: 		</a:t>
            </a:r>
          </a:p>
          <a:p>
            <a:pPr lvl="1"/>
            <a:r>
              <a:rPr lang="en-US" dirty="0"/>
              <a:t>14 mod 11 = 3</a:t>
            </a:r>
          </a:p>
          <a:p>
            <a:r>
              <a:rPr lang="en-US" dirty="0"/>
              <a:t>Insert 17:</a:t>
            </a:r>
          </a:p>
          <a:p>
            <a:pPr lvl="1"/>
            <a:r>
              <a:rPr lang="en-US" dirty="0"/>
              <a:t>17 mod 11 = 6</a:t>
            </a:r>
          </a:p>
          <a:p>
            <a:r>
              <a:rPr lang="en-US" dirty="0"/>
              <a:t>Insert 25:</a:t>
            </a:r>
          </a:p>
          <a:p>
            <a:pPr lvl="1"/>
            <a:r>
              <a:rPr lang="en-US" dirty="0"/>
              <a:t>25 mod 11 = 3</a:t>
            </a:r>
          </a:p>
          <a:p>
            <a:pPr marL="228600" lvl="1" indent="0">
              <a:buNone/>
            </a:pPr>
            <a:endParaRPr lang="en-US" dirty="0"/>
          </a:p>
        </p:txBody>
      </p:sp>
      <p:graphicFrame>
        <p:nvGraphicFramePr>
          <p:cNvPr id="4" name="Table 4">
            <a:extLst>
              <a:ext uri="{FF2B5EF4-FFF2-40B4-BE49-F238E27FC236}">
                <a16:creationId xmlns:a16="http://schemas.microsoft.com/office/drawing/2014/main" id="{30381680-77D7-4EE7-A5DE-DA56A987D3A8}"/>
              </a:ext>
            </a:extLst>
          </p:cNvPr>
          <p:cNvGraphicFramePr>
            <a:graphicFrameLocks noGrp="1"/>
          </p:cNvGraphicFramePr>
          <p:nvPr>
            <p:extLst>
              <p:ext uri="{D42A27DB-BD31-4B8C-83A1-F6EECF244321}">
                <p14:modId xmlns:p14="http://schemas.microsoft.com/office/powerpoint/2010/main" val="1578033227"/>
              </p:ext>
            </p:extLst>
          </p:nvPr>
        </p:nvGraphicFramePr>
        <p:xfrm>
          <a:off x="2462246" y="6122236"/>
          <a:ext cx="8127999" cy="370840"/>
        </p:xfrm>
        <a:graphic>
          <a:graphicData uri="http://schemas.openxmlformats.org/drawingml/2006/table">
            <a:tbl>
              <a:tblPr firstRow="1" bandRow="1">
                <a:tableStyleId>{5C22544A-7EE6-4342-B048-85BDC9FD1C3A}</a:tableStyleId>
              </a:tblPr>
              <a:tblGrid>
                <a:gridCol w="738909">
                  <a:extLst>
                    <a:ext uri="{9D8B030D-6E8A-4147-A177-3AD203B41FA5}">
                      <a16:colId xmlns:a16="http://schemas.microsoft.com/office/drawing/2014/main" val="4178111286"/>
                    </a:ext>
                  </a:extLst>
                </a:gridCol>
                <a:gridCol w="738909">
                  <a:extLst>
                    <a:ext uri="{9D8B030D-6E8A-4147-A177-3AD203B41FA5}">
                      <a16:colId xmlns:a16="http://schemas.microsoft.com/office/drawing/2014/main" val="3312107353"/>
                    </a:ext>
                  </a:extLst>
                </a:gridCol>
                <a:gridCol w="738909">
                  <a:extLst>
                    <a:ext uri="{9D8B030D-6E8A-4147-A177-3AD203B41FA5}">
                      <a16:colId xmlns:a16="http://schemas.microsoft.com/office/drawing/2014/main" val="213935834"/>
                    </a:ext>
                  </a:extLst>
                </a:gridCol>
                <a:gridCol w="738909">
                  <a:extLst>
                    <a:ext uri="{9D8B030D-6E8A-4147-A177-3AD203B41FA5}">
                      <a16:colId xmlns:a16="http://schemas.microsoft.com/office/drawing/2014/main" val="2398592152"/>
                    </a:ext>
                  </a:extLst>
                </a:gridCol>
                <a:gridCol w="738909">
                  <a:extLst>
                    <a:ext uri="{9D8B030D-6E8A-4147-A177-3AD203B41FA5}">
                      <a16:colId xmlns:a16="http://schemas.microsoft.com/office/drawing/2014/main" val="3505104868"/>
                    </a:ext>
                  </a:extLst>
                </a:gridCol>
                <a:gridCol w="738909">
                  <a:extLst>
                    <a:ext uri="{9D8B030D-6E8A-4147-A177-3AD203B41FA5}">
                      <a16:colId xmlns:a16="http://schemas.microsoft.com/office/drawing/2014/main" val="1476613679"/>
                    </a:ext>
                  </a:extLst>
                </a:gridCol>
                <a:gridCol w="738909">
                  <a:extLst>
                    <a:ext uri="{9D8B030D-6E8A-4147-A177-3AD203B41FA5}">
                      <a16:colId xmlns:a16="http://schemas.microsoft.com/office/drawing/2014/main" val="4132464943"/>
                    </a:ext>
                  </a:extLst>
                </a:gridCol>
                <a:gridCol w="738909">
                  <a:extLst>
                    <a:ext uri="{9D8B030D-6E8A-4147-A177-3AD203B41FA5}">
                      <a16:colId xmlns:a16="http://schemas.microsoft.com/office/drawing/2014/main" val="1702352792"/>
                    </a:ext>
                  </a:extLst>
                </a:gridCol>
                <a:gridCol w="738909">
                  <a:extLst>
                    <a:ext uri="{9D8B030D-6E8A-4147-A177-3AD203B41FA5}">
                      <a16:colId xmlns:a16="http://schemas.microsoft.com/office/drawing/2014/main" val="3794110443"/>
                    </a:ext>
                  </a:extLst>
                </a:gridCol>
                <a:gridCol w="738909">
                  <a:extLst>
                    <a:ext uri="{9D8B030D-6E8A-4147-A177-3AD203B41FA5}">
                      <a16:colId xmlns:a16="http://schemas.microsoft.com/office/drawing/2014/main" val="2398549442"/>
                    </a:ext>
                  </a:extLst>
                </a:gridCol>
                <a:gridCol w="738909">
                  <a:extLst>
                    <a:ext uri="{9D8B030D-6E8A-4147-A177-3AD203B41FA5}">
                      <a16:colId xmlns:a16="http://schemas.microsoft.com/office/drawing/2014/main" val="3345662330"/>
                    </a:ext>
                  </a:extLst>
                </a:gridCol>
              </a:tblGrid>
              <a:tr h="370840">
                <a:tc>
                  <a:txBody>
                    <a:bodyPr/>
                    <a:lstStyle/>
                    <a:p>
                      <a:endParaRPr lang="en-US">
                        <a:solidFill>
                          <a:srgbClr val="0070C0"/>
                        </a:solidFill>
                      </a:endParaRPr>
                    </a:p>
                  </a:txBody>
                  <a:tcPr>
                    <a:solidFill>
                      <a:schemeClr val="accent2"/>
                    </a:solidFill>
                  </a:tcPr>
                </a:tc>
                <a:tc>
                  <a:txBody>
                    <a:bodyPr/>
                    <a:lstStyle/>
                    <a:p>
                      <a:endParaRPr lang="en-US">
                        <a:solidFill>
                          <a:srgbClr val="0070C0"/>
                        </a:solidFill>
                      </a:endParaRPr>
                    </a:p>
                  </a:txBody>
                  <a:tcPr>
                    <a:solidFill>
                      <a:schemeClr val="accent2"/>
                    </a:solidFill>
                  </a:tcPr>
                </a:tc>
                <a:tc>
                  <a:txBody>
                    <a:bodyPr/>
                    <a:lstStyle/>
                    <a:p>
                      <a:endParaRPr lang="en-US" dirty="0">
                        <a:solidFill>
                          <a:srgbClr val="0070C0"/>
                        </a:solidFill>
                      </a:endParaRPr>
                    </a:p>
                  </a:txBody>
                  <a:tcPr>
                    <a:solidFill>
                      <a:schemeClr val="accent2"/>
                    </a:solidFill>
                  </a:tcPr>
                </a:tc>
                <a:tc>
                  <a:txBody>
                    <a:bodyPr/>
                    <a:lstStyle/>
                    <a:p>
                      <a:endParaRPr lang="en-US" dirty="0">
                        <a:solidFill>
                          <a:srgbClr val="0070C0"/>
                        </a:solidFill>
                      </a:endParaRPr>
                    </a:p>
                  </a:txBody>
                  <a:tcPr>
                    <a:solidFill>
                      <a:schemeClr val="accent2"/>
                    </a:solidFill>
                  </a:tcPr>
                </a:tc>
                <a:tc>
                  <a:txBody>
                    <a:bodyPr/>
                    <a:lstStyle/>
                    <a:p>
                      <a:endParaRPr lang="en-US" dirty="0">
                        <a:solidFill>
                          <a:srgbClr val="0070C0"/>
                        </a:solidFill>
                      </a:endParaRPr>
                    </a:p>
                  </a:txBody>
                  <a:tcPr>
                    <a:solidFill>
                      <a:schemeClr val="accent2"/>
                    </a:solidFill>
                  </a:tcPr>
                </a:tc>
                <a:tc>
                  <a:txBody>
                    <a:bodyPr/>
                    <a:lstStyle/>
                    <a:p>
                      <a:endParaRPr lang="en-US">
                        <a:solidFill>
                          <a:srgbClr val="0070C0"/>
                        </a:solidFill>
                      </a:endParaRPr>
                    </a:p>
                  </a:txBody>
                  <a:tcPr>
                    <a:solidFill>
                      <a:schemeClr val="accent2"/>
                    </a:solidFill>
                  </a:tcPr>
                </a:tc>
                <a:tc>
                  <a:txBody>
                    <a:bodyPr/>
                    <a:lstStyle/>
                    <a:p>
                      <a:endParaRPr lang="en-US">
                        <a:solidFill>
                          <a:srgbClr val="0070C0"/>
                        </a:solidFill>
                      </a:endParaRPr>
                    </a:p>
                  </a:txBody>
                  <a:tcPr>
                    <a:solidFill>
                      <a:schemeClr val="accent2"/>
                    </a:solidFill>
                  </a:tcPr>
                </a:tc>
                <a:tc>
                  <a:txBody>
                    <a:bodyPr/>
                    <a:lstStyle/>
                    <a:p>
                      <a:endParaRPr lang="en-US">
                        <a:solidFill>
                          <a:srgbClr val="0070C0"/>
                        </a:solidFill>
                      </a:endParaRPr>
                    </a:p>
                  </a:txBody>
                  <a:tcPr>
                    <a:solidFill>
                      <a:schemeClr val="accent2"/>
                    </a:solidFill>
                  </a:tcPr>
                </a:tc>
                <a:tc>
                  <a:txBody>
                    <a:bodyPr/>
                    <a:lstStyle/>
                    <a:p>
                      <a:endParaRPr lang="en-US">
                        <a:solidFill>
                          <a:srgbClr val="0070C0"/>
                        </a:solidFill>
                      </a:endParaRPr>
                    </a:p>
                  </a:txBody>
                  <a:tcPr>
                    <a:solidFill>
                      <a:schemeClr val="accent2"/>
                    </a:solidFill>
                  </a:tcPr>
                </a:tc>
                <a:tc>
                  <a:txBody>
                    <a:bodyPr/>
                    <a:lstStyle/>
                    <a:p>
                      <a:endParaRPr lang="en-US">
                        <a:solidFill>
                          <a:srgbClr val="0070C0"/>
                        </a:solidFill>
                      </a:endParaRPr>
                    </a:p>
                  </a:txBody>
                  <a:tcPr>
                    <a:solidFill>
                      <a:schemeClr val="accent2"/>
                    </a:solidFill>
                  </a:tcPr>
                </a:tc>
                <a:tc>
                  <a:txBody>
                    <a:bodyPr/>
                    <a:lstStyle/>
                    <a:p>
                      <a:endParaRPr lang="en-US" dirty="0">
                        <a:solidFill>
                          <a:srgbClr val="0070C0"/>
                        </a:solidFill>
                      </a:endParaRPr>
                    </a:p>
                  </a:txBody>
                  <a:tcPr>
                    <a:solidFill>
                      <a:schemeClr val="accent2"/>
                    </a:solidFill>
                  </a:tcPr>
                </a:tc>
                <a:extLst>
                  <a:ext uri="{0D108BD9-81ED-4DB2-BD59-A6C34878D82A}">
                    <a16:rowId xmlns:a16="http://schemas.microsoft.com/office/drawing/2014/main" val="2856863491"/>
                  </a:ext>
                </a:extLst>
              </a:tr>
            </a:tbl>
          </a:graphicData>
        </a:graphic>
      </p:graphicFrame>
      <p:sp>
        <p:nvSpPr>
          <p:cNvPr id="5" name="TextBox 4">
            <a:extLst>
              <a:ext uri="{FF2B5EF4-FFF2-40B4-BE49-F238E27FC236}">
                <a16:creationId xmlns:a16="http://schemas.microsoft.com/office/drawing/2014/main" id="{2655CC19-6A7F-4D37-B2B0-66FEB568182E}"/>
              </a:ext>
            </a:extLst>
          </p:cNvPr>
          <p:cNvSpPr txBox="1"/>
          <p:nvPr/>
        </p:nvSpPr>
        <p:spPr>
          <a:xfrm>
            <a:off x="2462245" y="5752904"/>
            <a:ext cx="8127999" cy="369332"/>
          </a:xfrm>
          <a:prstGeom prst="rect">
            <a:avLst/>
          </a:prstGeom>
          <a:noFill/>
        </p:spPr>
        <p:txBody>
          <a:bodyPr wrap="square" rtlCol="0">
            <a:spAutoFit/>
          </a:bodyPr>
          <a:lstStyle/>
          <a:p>
            <a:r>
              <a:rPr lang="en-US" dirty="0"/>
              <a:t>    0		1           2	   3		4	    5		 6	     7		   8		9	    10</a:t>
            </a:r>
          </a:p>
        </p:txBody>
      </p:sp>
      <p:sp>
        <p:nvSpPr>
          <p:cNvPr id="6" name="TextBox 5">
            <a:extLst>
              <a:ext uri="{FF2B5EF4-FFF2-40B4-BE49-F238E27FC236}">
                <a16:creationId xmlns:a16="http://schemas.microsoft.com/office/drawing/2014/main" id="{63261FD2-2BD0-4A47-861F-95A1E4EF99F2}"/>
              </a:ext>
            </a:extLst>
          </p:cNvPr>
          <p:cNvSpPr txBox="1"/>
          <p:nvPr/>
        </p:nvSpPr>
        <p:spPr>
          <a:xfrm>
            <a:off x="4844929" y="6122236"/>
            <a:ext cx="415498" cy="369332"/>
          </a:xfrm>
          <a:prstGeom prst="rect">
            <a:avLst/>
          </a:prstGeom>
          <a:noFill/>
        </p:spPr>
        <p:txBody>
          <a:bodyPr wrap="none" rtlCol="0">
            <a:spAutoFit/>
          </a:bodyPr>
          <a:lstStyle/>
          <a:p>
            <a:r>
              <a:rPr lang="en-US" dirty="0">
                <a:solidFill>
                  <a:srgbClr val="0070C0"/>
                </a:solidFill>
              </a:rPr>
              <a:t>14</a:t>
            </a:r>
          </a:p>
        </p:txBody>
      </p:sp>
      <p:sp>
        <p:nvSpPr>
          <p:cNvPr id="8" name="TextBox 7">
            <a:extLst>
              <a:ext uri="{FF2B5EF4-FFF2-40B4-BE49-F238E27FC236}">
                <a16:creationId xmlns:a16="http://schemas.microsoft.com/office/drawing/2014/main" id="{173206FC-2D2D-46C8-9640-E7B493946C80}"/>
              </a:ext>
            </a:extLst>
          </p:cNvPr>
          <p:cNvSpPr txBox="1"/>
          <p:nvPr/>
        </p:nvSpPr>
        <p:spPr>
          <a:xfrm>
            <a:off x="7052271" y="6119600"/>
            <a:ext cx="415498" cy="369332"/>
          </a:xfrm>
          <a:prstGeom prst="rect">
            <a:avLst/>
          </a:prstGeom>
          <a:noFill/>
        </p:spPr>
        <p:txBody>
          <a:bodyPr wrap="none" rtlCol="0">
            <a:spAutoFit/>
          </a:bodyPr>
          <a:lstStyle/>
          <a:p>
            <a:r>
              <a:rPr lang="en-US" dirty="0">
                <a:solidFill>
                  <a:srgbClr val="0070C0"/>
                </a:solidFill>
              </a:rPr>
              <a:t>17</a:t>
            </a:r>
          </a:p>
        </p:txBody>
      </p:sp>
      <p:cxnSp>
        <p:nvCxnSpPr>
          <p:cNvPr id="10" name="Straight Arrow Connector 9">
            <a:extLst>
              <a:ext uri="{FF2B5EF4-FFF2-40B4-BE49-F238E27FC236}">
                <a16:creationId xmlns:a16="http://schemas.microsoft.com/office/drawing/2014/main" id="{3719CF78-E088-4035-A5D2-922E47AEDA0D}"/>
              </a:ext>
            </a:extLst>
          </p:cNvPr>
          <p:cNvCxnSpPr/>
          <p:nvPr/>
        </p:nvCxnSpPr>
        <p:spPr>
          <a:xfrm>
            <a:off x="5052678" y="5407742"/>
            <a:ext cx="0" cy="34516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C1DAB14-BF77-43A9-A422-253B79B2A80E}"/>
              </a:ext>
            </a:extLst>
          </p:cNvPr>
          <p:cNvSpPr txBox="1"/>
          <p:nvPr/>
        </p:nvSpPr>
        <p:spPr>
          <a:xfrm>
            <a:off x="4256266" y="5038410"/>
            <a:ext cx="2582310" cy="369332"/>
          </a:xfrm>
          <a:prstGeom prst="rect">
            <a:avLst/>
          </a:prstGeom>
          <a:noFill/>
        </p:spPr>
        <p:txBody>
          <a:bodyPr wrap="none" rtlCol="0">
            <a:spAutoFit/>
          </a:bodyPr>
          <a:lstStyle/>
          <a:p>
            <a:r>
              <a:rPr lang="en-US" dirty="0"/>
              <a:t>Uh oh! Already populated</a:t>
            </a:r>
          </a:p>
        </p:txBody>
      </p:sp>
      <p:sp>
        <p:nvSpPr>
          <p:cNvPr id="12" name="TextBox 11">
            <a:extLst>
              <a:ext uri="{FF2B5EF4-FFF2-40B4-BE49-F238E27FC236}">
                <a16:creationId xmlns:a16="http://schemas.microsoft.com/office/drawing/2014/main" id="{4EFE753B-0D65-4F90-9124-FCCDC7F9035A}"/>
              </a:ext>
            </a:extLst>
          </p:cNvPr>
          <p:cNvSpPr txBox="1"/>
          <p:nvPr/>
        </p:nvSpPr>
        <p:spPr>
          <a:xfrm>
            <a:off x="5059002" y="5069795"/>
            <a:ext cx="1957587" cy="369332"/>
          </a:xfrm>
          <a:prstGeom prst="rect">
            <a:avLst/>
          </a:prstGeom>
          <a:noFill/>
        </p:spPr>
        <p:txBody>
          <a:bodyPr wrap="none" rtlCol="0">
            <a:spAutoFit/>
          </a:bodyPr>
          <a:lstStyle/>
          <a:p>
            <a:r>
              <a:rPr lang="en-US" dirty="0"/>
              <a:t>Look at next index</a:t>
            </a:r>
          </a:p>
        </p:txBody>
      </p:sp>
      <p:cxnSp>
        <p:nvCxnSpPr>
          <p:cNvPr id="13" name="Straight Arrow Connector 12">
            <a:extLst>
              <a:ext uri="{FF2B5EF4-FFF2-40B4-BE49-F238E27FC236}">
                <a16:creationId xmlns:a16="http://schemas.microsoft.com/office/drawing/2014/main" id="{3DFED883-2012-4E55-A074-23186A2D7EB3}"/>
              </a:ext>
            </a:extLst>
          </p:cNvPr>
          <p:cNvCxnSpPr/>
          <p:nvPr/>
        </p:nvCxnSpPr>
        <p:spPr>
          <a:xfrm>
            <a:off x="5834342" y="5407742"/>
            <a:ext cx="0" cy="34516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8A339BA-C5BC-4FFB-9716-F4BE217123B7}"/>
              </a:ext>
            </a:extLst>
          </p:cNvPr>
          <p:cNvSpPr txBox="1"/>
          <p:nvPr/>
        </p:nvSpPr>
        <p:spPr>
          <a:xfrm>
            <a:off x="4928336" y="5062748"/>
            <a:ext cx="2212593" cy="369332"/>
          </a:xfrm>
          <a:prstGeom prst="rect">
            <a:avLst/>
          </a:prstGeom>
          <a:noFill/>
        </p:spPr>
        <p:txBody>
          <a:bodyPr wrap="none" rtlCol="0">
            <a:spAutoFit/>
          </a:bodyPr>
          <a:lstStyle/>
          <a:p>
            <a:r>
              <a:rPr lang="en-US" dirty="0"/>
              <a:t>Empty, so insert here!</a:t>
            </a:r>
          </a:p>
        </p:txBody>
      </p:sp>
      <p:sp>
        <p:nvSpPr>
          <p:cNvPr id="15" name="TextBox 14">
            <a:extLst>
              <a:ext uri="{FF2B5EF4-FFF2-40B4-BE49-F238E27FC236}">
                <a16:creationId xmlns:a16="http://schemas.microsoft.com/office/drawing/2014/main" id="{30B6B106-BFA2-4BA4-8DC6-12B7843CC60F}"/>
              </a:ext>
            </a:extLst>
          </p:cNvPr>
          <p:cNvSpPr txBox="1"/>
          <p:nvPr/>
        </p:nvSpPr>
        <p:spPr>
          <a:xfrm>
            <a:off x="5547421" y="6119600"/>
            <a:ext cx="415498" cy="369332"/>
          </a:xfrm>
          <a:prstGeom prst="rect">
            <a:avLst/>
          </a:prstGeom>
          <a:noFill/>
        </p:spPr>
        <p:txBody>
          <a:bodyPr wrap="none" rtlCol="0">
            <a:spAutoFit/>
          </a:bodyPr>
          <a:lstStyle/>
          <a:p>
            <a:r>
              <a:rPr lang="en-US" dirty="0">
                <a:solidFill>
                  <a:srgbClr val="0070C0"/>
                </a:solidFill>
              </a:rPr>
              <a:t>25</a:t>
            </a:r>
          </a:p>
        </p:txBody>
      </p:sp>
      <p:sp>
        <p:nvSpPr>
          <p:cNvPr id="16" name="TextBox 15">
            <a:extLst>
              <a:ext uri="{FF2B5EF4-FFF2-40B4-BE49-F238E27FC236}">
                <a16:creationId xmlns:a16="http://schemas.microsoft.com/office/drawing/2014/main" id="{0EAC71B8-0ECE-4FE8-9ABB-7E5A96FEC0A7}"/>
              </a:ext>
            </a:extLst>
          </p:cNvPr>
          <p:cNvSpPr txBox="1"/>
          <p:nvPr/>
        </p:nvSpPr>
        <p:spPr>
          <a:xfrm>
            <a:off x="6838576" y="2647000"/>
            <a:ext cx="3656329" cy="1754326"/>
          </a:xfrm>
          <a:prstGeom prst="rect">
            <a:avLst/>
          </a:prstGeom>
          <a:noFill/>
        </p:spPr>
        <p:txBody>
          <a:bodyPr wrap="square" rtlCol="0">
            <a:spAutoFit/>
          </a:bodyPr>
          <a:lstStyle/>
          <a:p>
            <a:pPr marL="285750" indent="-285750">
              <a:buFont typeface="Arial" panose="020B0604020202020204" pitchFamily="34" charset="0"/>
              <a:buChar char="•"/>
            </a:pPr>
            <a:r>
              <a:rPr lang="en-US" dirty="0"/>
              <a:t>Insert 37</a:t>
            </a:r>
          </a:p>
          <a:p>
            <a:pPr marL="742950" lvl="1" indent="-285750">
              <a:buFont typeface="Arial" panose="020B0604020202020204" pitchFamily="34" charset="0"/>
              <a:buChar char="•"/>
            </a:pPr>
            <a:r>
              <a:rPr lang="en-US" dirty="0"/>
              <a:t>37 mod 11 = 4</a:t>
            </a:r>
          </a:p>
          <a:p>
            <a:pPr marL="285750" indent="-285750">
              <a:buFont typeface="Arial" panose="020B0604020202020204" pitchFamily="34" charset="0"/>
              <a:buChar char="•"/>
            </a:pPr>
            <a:r>
              <a:rPr lang="en-US" dirty="0"/>
              <a:t>Insert 34</a:t>
            </a:r>
          </a:p>
          <a:p>
            <a:pPr marL="742950" lvl="1" indent="-285750">
              <a:buFont typeface="Arial" panose="020B0604020202020204" pitchFamily="34" charset="0"/>
              <a:buChar char="•"/>
            </a:pPr>
            <a:r>
              <a:rPr lang="en-US" dirty="0"/>
              <a:t>34 mod 11 = 1</a:t>
            </a:r>
          </a:p>
          <a:p>
            <a:pPr marL="285750" indent="-285750">
              <a:buFont typeface="Arial" panose="020B0604020202020204" pitchFamily="34" charset="0"/>
              <a:buChar char="•"/>
            </a:pPr>
            <a:r>
              <a:rPr lang="en-US" dirty="0"/>
              <a:t>Insert 16</a:t>
            </a:r>
          </a:p>
          <a:p>
            <a:pPr marL="742950" lvl="1" indent="-285750">
              <a:buFont typeface="Arial" panose="020B0604020202020204" pitchFamily="34" charset="0"/>
              <a:buChar char="•"/>
            </a:pPr>
            <a:r>
              <a:rPr lang="en-US" dirty="0"/>
              <a:t>16 mod 11 = 5</a:t>
            </a:r>
          </a:p>
        </p:txBody>
      </p:sp>
      <p:cxnSp>
        <p:nvCxnSpPr>
          <p:cNvPr id="17" name="Straight Arrow Connector 16">
            <a:extLst>
              <a:ext uri="{FF2B5EF4-FFF2-40B4-BE49-F238E27FC236}">
                <a16:creationId xmlns:a16="http://schemas.microsoft.com/office/drawing/2014/main" id="{CC9AFA3F-34F8-435E-8203-AAE5D622F815}"/>
              </a:ext>
            </a:extLst>
          </p:cNvPr>
          <p:cNvCxnSpPr/>
          <p:nvPr/>
        </p:nvCxnSpPr>
        <p:spPr>
          <a:xfrm>
            <a:off x="5834342" y="5407742"/>
            <a:ext cx="0" cy="34516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C03CF18-3C2B-4C3C-A086-5DC72C69CFD8}"/>
              </a:ext>
            </a:extLst>
          </p:cNvPr>
          <p:cNvSpPr txBox="1"/>
          <p:nvPr/>
        </p:nvSpPr>
        <p:spPr>
          <a:xfrm>
            <a:off x="4743477" y="5137317"/>
            <a:ext cx="2582310" cy="369332"/>
          </a:xfrm>
          <a:prstGeom prst="rect">
            <a:avLst/>
          </a:prstGeom>
          <a:noFill/>
        </p:spPr>
        <p:txBody>
          <a:bodyPr wrap="none" rtlCol="0">
            <a:spAutoFit/>
          </a:bodyPr>
          <a:lstStyle/>
          <a:p>
            <a:r>
              <a:rPr lang="en-US" dirty="0"/>
              <a:t>Uh oh! Already populated</a:t>
            </a:r>
          </a:p>
        </p:txBody>
      </p:sp>
      <p:cxnSp>
        <p:nvCxnSpPr>
          <p:cNvPr id="19" name="Straight Arrow Connector 18">
            <a:extLst>
              <a:ext uri="{FF2B5EF4-FFF2-40B4-BE49-F238E27FC236}">
                <a16:creationId xmlns:a16="http://schemas.microsoft.com/office/drawing/2014/main" id="{A084DF29-B524-43B5-968A-033838BEB6E2}"/>
              </a:ext>
            </a:extLst>
          </p:cNvPr>
          <p:cNvCxnSpPr/>
          <p:nvPr/>
        </p:nvCxnSpPr>
        <p:spPr>
          <a:xfrm>
            <a:off x="6526244" y="5407742"/>
            <a:ext cx="0" cy="34516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374F2363-C949-4CA5-B342-45E6BA224742}"/>
              </a:ext>
            </a:extLst>
          </p:cNvPr>
          <p:cNvSpPr txBox="1"/>
          <p:nvPr/>
        </p:nvSpPr>
        <p:spPr>
          <a:xfrm>
            <a:off x="5685525" y="5103556"/>
            <a:ext cx="1957587" cy="369332"/>
          </a:xfrm>
          <a:prstGeom prst="rect">
            <a:avLst/>
          </a:prstGeom>
          <a:noFill/>
        </p:spPr>
        <p:txBody>
          <a:bodyPr wrap="none" rtlCol="0">
            <a:spAutoFit/>
          </a:bodyPr>
          <a:lstStyle/>
          <a:p>
            <a:r>
              <a:rPr lang="en-US" dirty="0"/>
              <a:t>Look at next index</a:t>
            </a:r>
          </a:p>
        </p:txBody>
      </p:sp>
      <p:sp>
        <p:nvSpPr>
          <p:cNvPr id="21" name="TextBox 20">
            <a:extLst>
              <a:ext uri="{FF2B5EF4-FFF2-40B4-BE49-F238E27FC236}">
                <a16:creationId xmlns:a16="http://schemas.microsoft.com/office/drawing/2014/main" id="{41425424-1069-4121-9825-E7D6E39E1539}"/>
              </a:ext>
            </a:extLst>
          </p:cNvPr>
          <p:cNvSpPr txBox="1"/>
          <p:nvPr/>
        </p:nvSpPr>
        <p:spPr>
          <a:xfrm>
            <a:off x="5547048" y="5089784"/>
            <a:ext cx="2212593" cy="369332"/>
          </a:xfrm>
          <a:prstGeom prst="rect">
            <a:avLst/>
          </a:prstGeom>
          <a:noFill/>
        </p:spPr>
        <p:txBody>
          <a:bodyPr wrap="none" rtlCol="0">
            <a:spAutoFit/>
          </a:bodyPr>
          <a:lstStyle/>
          <a:p>
            <a:r>
              <a:rPr lang="en-US" dirty="0"/>
              <a:t>Empty, so insert here!</a:t>
            </a:r>
          </a:p>
        </p:txBody>
      </p:sp>
      <p:sp>
        <p:nvSpPr>
          <p:cNvPr id="22" name="TextBox 21">
            <a:extLst>
              <a:ext uri="{FF2B5EF4-FFF2-40B4-BE49-F238E27FC236}">
                <a16:creationId xmlns:a16="http://schemas.microsoft.com/office/drawing/2014/main" id="{D9A6D3C6-4095-4C6B-8FA3-797DA04F000E}"/>
              </a:ext>
            </a:extLst>
          </p:cNvPr>
          <p:cNvSpPr txBox="1"/>
          <p:nvPr/>
        </p:nvSpPr>
        <p:spPr>
          <a:xfrm>
            <a:off x="6310481" y="6117357"/>
            <a:ext cx="415498" cy="369332"/>
          </a:xfrm>
          <a:prstGeom prst="rect">
            <a:avLst/>
          </a:prstGeom>
          <a:noFill/>
        </p:spPr>
        <p:txBody>
          <a:bodyPr wrap="none" rtlCol="0">
            <a:spAutoFit/>
          </a:bodyPr>
          <a:lstStyle/>
          <a:p>
            <a:r>
              <a:rPr lang="en-US" dirty="0">
                <a:solidFill>
                  <a:srgbClr val="0070C0"/>
                </a:solidFill>
              </a:rPr>
              <a:t>37</a:t>
            </a:r>
          </a:p>
        </p:txBody>
      </p:sp>
      <p:sp>
        <p:nvSpPr>
          <p:cNvPr id="23" name="TextBox 22">
            <a:extLst>
              <a:ext uri="{FF2B5EF4-FFF2-40B4-BE49-F238E27FC236}">
                <a16:creationId xmlns:a16="http://schemas.microsoft.com/office/drawing/2014/main" id="{7F96A024-049A-488B-8502-4902F34126A4}"/>
              </a:ext>
            </a:extLst>
          </p:cNvPr>
          <p:cNvSpPr txBox="1"/>
          <p:nvPr/>
        </p:nvSpPr>
        <p:spPr>
          <a:xfrm>
            <a:off x="3340079" y="6117357"/>
            <a:ext cx="415498" cy="369332"/>
          </a:xfrm>
          <a:prstGeom prst="rect">
            <a:avLst/>
          </a:prstGeom>
          <a:noFill/>
        </p:spPr>
        <p:txBody>
          <a:bodyPr wrap="none" rtlCol="0">
            <a:spAutoFit/>
          </a:bodyPr>
          <a:lstStyle/>
          <a:p>
            <a:r>
              <a:rPr lang="en-US" dirty="0">
                <a:solidFill>
                  <a:srgbClr val="0070C0"/>
                </a:solidFill>
              </a:rPr>
              <a:t>34</a:t>
            </a:r>
          </a:p>
        </p:txBody>
      </p:sp>
      <p:cxnSp>
        <p:nvCxnSpPr>
          <p:cNvPr id="24" name="Straight Arrow Connector 23">
            <a:extLst>
              <a:ext uri="{FF2B5EF4-FFF2-40B4-BE49-F238E27FC236}">
                <a16:creationId xmlns:a16="http://schemas.microsoft.com/office/drawing/2014/main" id="{195E6E1C-E336-409C-A54C-7B7FB7786E57}"/>
              </a:ext>
            </a:extLst>
          </p:cNvPr>
          <p:cNvCxnSpPr/>
          <p:nvPr/>
        </p:nvCxnSpPr>
        <p:spPr>
          <a:xfrm>
            <a:off x="6530057" y="5407742"/>
            <a:ext cx="0" cy="34516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188097A4-C705-42D4-B073-9D09E70B6009}"/>
              </a:ext>
            </a:extLst>
          </p:cNvPr>
          <p:cNvSpPr txBox="1"/>
          <p:nvPr/>
        </p:nvSpPr>
        <p:spPr>
          <a:xfrm>
            <a:off x="5385640" y="5082672"/>
            <a:ext cx="2582310" cy="369332"/>
          </a:xfrm>
          <a:prstGeom prst="rect">
            <a:avLst/>
          </a:prstGeom>
          <a:noFill/>
        </p:spPr>
        <p:txBody>
          <a:bodyPr wrap="none" rtlCol="0">
            <a:spAutoFit/>
          </a:bodyPr>
          <a:lstStyle/>
          <a:p>
            <a:r>
              <a:rPr lang="en-US" dirty="0"/>
              <a:t>Uh oh! Already populated</a:t>
            </a:r>
          </a:p>
        </p:txBody>
      </p:sp>
      <p:cxnSp>
        <p:nvCxnSpPr>
          <p:cNvPr id="26" name="Straight Arrow Connector 25">
            <a:extLst>
              <a:ext uri="{FF2B5EF4-FFF2-40B4-BE49-F238E27FC236}">
                <a16:creationId xmlns:a16="http://schemas.microsoft.com/office/drawing/2014/main" id="{C92471AC-616C-4763-9458-D44164F2602F}"/>
              </a:ext>
            </a:extLst>
          </p:cNvPr>
          <p:cNvCxnSpPr/>
          <p:nvPr/>
        </p:nvCxnSpPr>
        <p:spPr>
          <a:xfrm>
            <a:off x="7246709" y="5394865"/>
            <a:ext cx="0" cy="34516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43B85FA-35E4-41D8-B4A8-4C22064A280C}"/>
              </a:ext>
            </a:extLst>
          </p:cNvPr>
          <p:cNvSpPr txBox="1"/>
          <p:nvPr/>
        </p:nvSpPr>
        <p:spPr>
          <a:xfrm>
            <a:off x="6312470" y="5120437"/>
            <a:ext cx="1957587" cy="369332"/>
          </a:xfrm>
          <a:prstGeom prst="rect">
            <a:avLst/>
          </a:prstGeom>
          <a:noFill/>
        </p:spPr>
        <p:txBody>
          <a:bodyPr wrap="none" rtlCol="0">
            <a:spAutoFit/>
          </a:bodyPr>
          <a:lstStyle/>
          <a:p>
            <a:r>
              <a:rPr lang="en-US" dirty="0"/>
              <a:t>Look at next index</a:t>
            </a:r>
          </a:p>
        </p:txBody>
      </p:sp>
      <p:sp>
        <p:nvSpPr>
          <p:cNvPr id="28" name="TextBox 27">
            <a:extLst>
              <a:ext uri="{FF2B5EF4-FFF2-40B4-BE49-F238E27FC236}">
                <a16:creationId xmlns:a16="http://schemas.microsoft.com/office/drawing/2014/main" id="{335EF76C-FD02-48DC-928C-FE7DB976FBA9}"/>
              </a:ext>
            </a:extLst>
          </p:cNvPr>
          <p:cNvSpPr txBox="1"/>
          <p:nvPr/>
        </p:nvSpPr>
        <p:spPr>
          <a:xfrm>
            <a:off x="6097778" y="5076285"/>
            <a:ext cx="2644827" cy="369332"/>
          </a:xfrm>
          <a:prstGeom prst="rect">
            <a:avLst/>
          </a:prstGeom>
          <a:noFill/>
        </p:spPr>
        <p:txBody>
          <a:bodyPr wrap="none" rtlCol="0">
            <a:spAutoFit/>
          </a:bodyPr>
          <a:lstStyle/>
          <a:p>
            <a:r>
              <a:rPr lang="en-US" dirty="0"/>
              <a:t>Uh oh! Already populated!</a:t>
            </a:r>
          </a:p>
        </p:txBody>
      </p:sp>
      <p:cxnSp>
        <p:nvCxnSpPr>
          <p:cNvPr id="29" name="Straight Arrow Connector 28">
            <a:extLst>
              <a:ext uri="{FF2B5EF4-FFF2-40B4-BE49-F238E27FC236}">
                <a16:creationId xmlns:a16="http://schemas.microsoft.com/office/drawing/2014/main" id="{80221CC1-AC7B-47D8-8326-1710753E3CA8}"/>
              </a:ext>
            </a:extLst>
          </p:cNvPr>
          <p:cNvCxnSpPr/>
          <p:nvPr/>
        </p:nvCxnSpPr>
        <p:spPr>
          <a:xfrm>
            <a:off x="7933872" y="5407742"/>
            <a:ext cx="0" cy="34516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B2E0A181-60CF-453B-A615-BF2F6EB56F29}"/>
              </a:ext>
            </a:extLst>
          </p:cNvPr>
          <p:cNvSpPr txBox="1"/>
          <p:nvPr/>
        </p:nvSpPr>
        <p:spPr>
          <a:xfrm>
            <a:off x="6960176" y="5099552"/>
            <a:ext cx="1957587" cy="369332"/>
          </a:xfrm>
          <a:prstGeom prst="rect">
            <a:avLst/>
          </a:prstGeom>
          <a:noFill/>
        </p:spPr>
        <p:txBody>
          <a:bodyPr wrap="none" rtlCol="0">
            <a:spAutoFit/>
          </a:bodyPr>
          <a:lstStyle/>
          <a:p>
            <a:r>
              <a:rPr lang="en-US" dirty="0"/>
              <a:t>Look at next index</a:t>
            </a:r>
          </a:p>
        </p:txBody>
      </p:sp>
      <p:sp>
        <p:nvSpPr>
          <p:cNvPr id="31" name="TextBox 30">
            <a:extLst>
              <a:ext uri="{FF2B5EF4-FFF2-40B4-BE49-F238E27FC236}">
                <a16:creationId xmlns:a16="http://schemas.microsoft.com/office/drawing/2014/main" id="{0188D633-6FB9-4416-B50D-8A841FD5E3CC}"/>
              </a:ext>
            </a:extLst>
          </p:cNvPr>
          <p:cNvSpPr txBox="1"/>
          <p:nvPr/>
        </p:nvSpPr>
        <p:spPr>
          <a:xfrm>
            <a:off x="6975284" y="5093755"/>
            <a:ext cx="2212593" cy="369332"/>
          </a:xfrm>
          <a:prstGeom prst="rect">
            <a:avLst/>
          </a:prstGeom>
          <a:noFill/>
        </p:spPr>
        <p:txBody>
          <a:bodyPr wrap="none" rtlCol="0">
            <a:spAutoFit/>
          </a:bodyPr>
          <a:lstStyle/>
          <a:p>
            <a:r>
              <a:rPr lang="en-US" dirty="0"/>
              <a:t>Empty, so insert here!</a:t>
            </a:r>
          </a:p>
        </p:txBody>
      </p:sp>
      <p:sp>
        <p:nvSpPr>
          <p:cNvPr id="32" name="TextBox 31">
            <a:extLst>
              <a:ext uri="{FF2B5EF4-FFF2-40B4-BE49-F238E27FC236}">
                <a16:creationId xmlns:a16="http://schemas.microsoft.com/office/drawing/2014/main" id="{201DA42E-611D-41C5-8FC0-500C51F7064D}"/>
              </a:ext>
            </a:extLst>
          </p:cNvPr>
          <p:cNvSpPr txBox="1"/>
          <p:nvPr/>
        </p:nvSpPr>
        <p:spPr>
          <a:xfrm>
            <a:off x="7743375" y="6109359"/>
            <a:ext cx="415498" cy="369332"/>
          </a:xfrm>
          <a:prstGeom prst="rect">
            <a:avLst/>
          </a:prstGeom>
          <a:noFill/>
        </p:spPr>
        <p:txBody>
          <a:bodyPr wrap="none" rtlCol="0">
            <a:spAutoFit/>
          </a:bodyPr>
          <a:lstStyle/>
          <a:p>
            <a:r>
              <a:rPr lang="en-US" dirty="0">
                <a:solidFill>
                  <a:srgbClr val="0070C0"/>
                </a:solidFill>
              </a:rPr>
              <a:t>16</a:t>
            </a:r>
          </a:p>
        </p:txBody>
      </p:sp>
      <p:pic>
        <p:nvPicPr>
          <p:cNvPr id="33" name="Picture 32">
            <a:extLst>
              <a:ext uri="{FF2B5EF4-FFF2-40B4-BE49-F238E27FC236}">
                <a16:creationId xmlns:a16="http://schemas.microsoft.com/office/drawing/2014/main" id="{C9ECDC7D-A04A-4805-A7A8-FF8F8F1EB360}"/>
              </a:ext>
            </a:extLst>
          </p:cNvPr>
          <p:cNvPicPr>
            <a:picLocks noChangeAspect="1"/>
          </p:cNvPicPr>
          <p:nvPr/>
        </p:nvPicPr>
        <p:blipFill>
          <a:blip r:embed="rId3"/>
          <a:stretch>
            <a:fillRect/>
          </a:stretch>
        </p:blipFill>
        <p:spPr>
          <a:xfrm>
            <a:off x="0" y="119974"/>
            <a:ext cx="12192000" cy="6738026"/>
          </a:xfrm>
          <a:prstGeom prst="rect">
            <a:avLst/>
          </a:prstGeom>
        </p:spPr>
      </p:pic>
    </p:spTree>
    <p:extLst>
      <p:ext uri="{BB962C8B-B14F-4D97-AF65-F5344CB8AC3E}">
        <p14:creationId xmlns:p14="http://schemas.microsoft.com/office/powerpoint/2010/main" val="1366067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3"/>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nodeType="clickEffect">
                                  <p:stCondLst>
                                    <p:cond delay="0"/>
                                  </p:stCondLst>
                                  <p:childTnLst>
                                    <p:set>
                                      <p:cBhvr>
                                        <p:cTn id="58" dur="1" fill="hold">
                                          <p:stCondLst>
                                            <p:cond delay="0"/>
                                          </p:stCondLst>
                                        </p:cTn>
                                        <p:tgtEl>
                                          <p:spTgt spid="10"/>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11"/>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grpId="1" nodeType="clickEffect">
                                  <p:stCondLst>
                                    <p:cond delay="0"/>
                                  </p:stCondLst>
                                  <p:childTnLst>
                                    <p:set>
                                      <p:cBhvr>
                                        <p:cTn id="74" dur="1" fill="hold">
                                          <p:stCondLst>
                                            <p:cond delay="0"/>
                                          </p:stCondLst>
                                        </p:cTn>
                                        <p:tgtEl>
                                          <p:spTgt spid="12"/>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xit" presetSubtype="0" fill="hold" grpId="1" nodeType="clickEffect">
                                  <p:stCondLst>
                                    <p:cond delay="0"/>
                                  </p:stCondLst>
                                  <p:childTnLst>
                                    <p:set>
                                      <p:cBhvr>
                                        <p:cTn id="86" dur="1" fill="hold">
                                          <p:stCondLst>
                                            <p:cond delay="0"/>
                                          </p:stCondLst>
                                        </p:cTn>
                                        <p:tgtEl>
                                          <p:spTgt spid="14"/>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nodeType="clickEffect">
                                  <p:stCondLst>
                                    <p:cond delay="0"/>
                                  </p:stCondLst>
                                  <p:childTnLst>
                                    <p:set>
                                      <p:cBhvr>
                                        <p:cTn id="90" dur="1" fill="hold">
                                          <p:stCondLst>
                                            <p:cond delay="0"/>
                                          </p:stCondLst>
                                        </p:cTn>
                                        <p:tgtEl>
                                          <p:spTgt spid="13"/>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16">
                                            <p:txEl>
                                              <p:pRg st="5" end="5"/>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17"/>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18"/>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xit" presetSubtype="0" fill="hold" nodeType="clickEffect">
                                  <p:stCondLst>
                                    <p:cond delay="0"/>
                                  </p:stCondLst>
                                  <p:childTnLst>
                                    <p:set>
                                      <p:cBhvr>
                                        <p:cTn id="126" dur="1" fill="hold">
                                          <p:stCondLst>
                                            <p:cond delay="0"/>
                                          </p:stCondLst>
                                        </p:cTn>
                                        <p:tgtEl>
                                          <p:spTgt spid="17"/>
                                        </p:tgtEl>
                                        <p:attrNameLst>
                                          <p:attrName>style.visibility</p:attrName>
                                        </p:attrNameLst>
                                      </p:cBhvr>
                                      <p:to>
                                        <p:strVal val="hidden"/>
                                      </p:to>
                                    </p:set>
                                  </p:childTnLst>
                                </p:cTn>
                              </p:par>
                            </p:childTnLst>
                          </p:cTn>
                        </p:par>
                      </p:childTnLst>
                    </p:cTn>
                  </p:par>
                  <p:par>
                    <p:cTn id="127" fill="hold">
                      <p:stCondLst>
                        <p:cond delay="indefinite"/>
                      </p:stCondLst>
                      <p:childTnLst>
                        <p:par>
                          <p:cTn id="128" fill="hold">
                            <p:stCondLst>
                              <p:cond delay="0"/>
                            </p:stCondLst>
                            <p:childTnLst>
                              <p:par>
                                <p:cTn id="129" presetID="1" presetClass="exit" presetSubtype="0" fill="hold" grpId="1" nodeType="clickEffect">
                                  <p:stCondLst>
                                    <p:cond delay="0"/>
                                  </p:stCondLst>
                                  <p:childTnLst>
                                    <p:set>
                                      <p:cBhvr>
                                        <p:cTn id="130" dur="1" fill="hold">
                                          <p:stCondLst>
                                            <p:cond delay="0"/>
                                          </p:stCondLst>
                                        </p:cTn>
                                        <p:tgtEl>
                                          <p:spTgt spid="18"/>
                                        </p:tgtEl>
                                        <p:attrNameLst>
                                          <p:attrName>style.visibility</p:attrName>
                                        </p:attrNameLst>
                                      </p:cBhvr>
                                      <p:to>
                                        <p:strVal val="hidden"/>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19"/>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20"/>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xit" presetSubtype="0" fill="hold" grpId="1" nodeType="clickEffect">
                                  <p:stCondLst>
                                    <p:cond delay="0"/>
                                  </p:stCondLst>
                                  <p:childTnLst>
                                    <p:set>
                                      <p:cBhvr>
                                        <p:cTn id="142" dur="1" fill="hold">
                                          <p:stCondLst>
                                            <p:cond delay="0"/>
                                          </p:stCondLst>
                                        </p:cTn>
                                        <p:tgtEl>
                                          <p:spTgt spid="20"/>
                                        </p:tgtEl>
                                        <p:attrNameLst>
                                          <p:attrName>style.visibility</p:attrName>
                                        </p:attrNameLst>
                                      </p:cBhvr>
                                      <p:to>
                                        <p:strVal val="hidden"/>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21"/>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22"/>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xit" presetSubtype="0" fill="hold" grpId="1" nodeType="clickEffect">
                                  <p:stCondLst>
                                    <p:cond delay="0"/>
                                  </p:stCondLst>
                                  <p:childTnLst>
                                    <p:set>
                                      <p:cBhvr>
                                        <p:cTn id="154" dur="1" fill="hold">
                                          <p:stCondLst>
                                            <p:cond delay="0"/>
                                          </p:stCondLst>
                                        </p:cTn>
                                        <p:tgtEl>
                                          <p:spTgt spid="21"/>
                                        </p:tgtEl>
                                        <p:attrNameLst>
                                          <p:attrName>style.visibility</p:attrName>
                                        </p:attrNameLst>
                                      </p:cBhvr>
                                      <p:to>
                                        <p:strVal val="hidden"/>
                                      </p:to>
                                    </p:set>
                                  </p:childTnLst>
                                </p:cTn>
                              </p:par>
                            </p:childTnLst>
                          </p:cTn>
                        </p:par>
                      </p:childTnLst>
                    </p:cTn>
                  </p:par>
                  <p:par>
                    <p:cTn id="155" fill="hold">
                      <p:stCondLst>
                        <p:cond delay="indefinite"/>
                      </p:stCondLst>
                      <p:childTnLst>
                        <p:par>
                          <p:cTn id="156" fill="hold">
                            <p:stCondLst>
                              <p:cond delay="0"/>
                            </p:stCondLst>
                            <p:childTnLst>
                              <p:par>
                                <p:cTn id="157" presetID="1" presetClass="exit" presetSubtype="0" fill="hold" nodeType="clickEffect">
                                  <p:stCondLst>
                                    <p:cond delay="0"/>
                                  </p:stCondLst>
                                  <p:childTnLst>
                                    <p:set>
                                      <p:cBhvr>
                                        <p:cTn id="158" dur="1" fill="hold">
                                          <p:stCondLst>
                                            <p:cond delay="0"/>
                                          </p:stCondLst>
                                        </p:cTn>
                                        <p:tgtEl>
                                          <p:spTgt spid="19"/>
                                        </p:tgtEl>
                                        <p:attrNameLst>
                                          <p:attrName>style.visibility</p:attrName>
                                        </p:attrNameLst>
                                      </p:cBhvr>
                                      <p:to>
                                        <p:strVal val="hidden"/>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23"/>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24"/>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25"/>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xit" presetSubtype="0" fill="hold" nodeType="clickEffect">
                                  <p:stCondLst>
                                    <p:cond delay="0"/>
                                  </p:stCondLst>
                                  <p:childTnLst>
                                    <p:set>
                                      <p:cBhvr>
                                        <p:cTn id="174" dur="1" fill="hold">
                                          <p:stCondLst>
                                            <p:cond delay="0"/>
                                          </p:stCondLst>
                                        </p:cTn>
                                        <p:tgtEl>
                                          <p:spTgt spid="24"/>
                                        </p:tgtEl>
                                        <p:attrNameLst>
                                          <p:attrName>style.visibility</p:attrName>
                                        </p:attrNameLst>
                                      </p:cBhvr>
                                      <p:to>
                                        <p:strVal val="hidden"/>
                                      </p:to>
                                    </p:set>
                                  </p:childTnLst>
                                </p:cTn>
                              </p:par>
                            </p:childTnLst>
                          </p:cTn>
                        </p:par>
                      </p:childTnLst>
                    </p:cTn>
                  </p:par>
                  <p:par>
                    <p:cTn id="175" fill="hold">
                      <p:stCondLst>
                        <p:cond delay="indefinite"/>
                      </p:stCondLst>
                      <p:childTnLst>
                        <p:par>
                          <p:cTn id="176" fill="hold">
                            <p:stCondLst>
                              <p:cond delay="0"/>
                            </p:stCondLst>
                            <p:childTnLst>
                              <p:par>
                                <p:cTn id="177" presetID="1" presetClass="exit" presetSubtype="0" fill="hold" grpId="1" nodeType="clickEffect">
                                  <p:stCondLst>
                                    <p:cond delay="0"/>
                                  </p:stCondLst>
                                  <p:childTnLst>
                                    <p:set>
                                      <p:cBhvr>
                                        <p:cTn id="178" dur="1" fill="hold">
                                          <p:stCondLst>
                                            <p:cond delay="0"/>
                                          </p:stCondLst>
                                        </p:cTn>
                                        <p:tgtEl>
                                          <p:spTgt spid="25"/>
                                        </p:tgtEl>
                                        <p:attrNameLst>
                                          <p:attrName>style.visibility</p:attrName>
                                        </p:attrNameLst>
                                      </p:cBhvr>
                                      <p:to>
                                        <p:strVal val="hidden"/>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26"/>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grpId="0" nodeType="clickEffect">
                                  <p:stCondLst>
                                    <p:cond delay="0"/>
                                  </p:stCondLst>
                                  <p:childTnLst>
                                    <p:set>
                                      <p:cBhvr>
                                        <p:cTn id="186" dur="1" fill="hold">
                                          <p:stCondLst>
                                            <p:cond delay="0"/>
                                          </p:stCondLst>
                                        </p:cTn>
                                        <p:tgtEl>
                                          <p:spTgt spid="27"/>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xit" presetSubtype="0" fill="hold" grpId="1" nodeType="clickEffect">
                                  <p:stCondLst>
                                    <p:cond delay="0"/>
                                  </p:stCondLst>
                                  <p:childTnLst>
                                    <p:set>
                                      <p:cBhvr>
                                        <p:cTn id="190" dur="1" fill="hold">
                                          <p:stCondLst>
                                            <p:cond delay="0"/>
                                          </p:stCondLst>
                                        </p:cTn>
                                        <p:tgtEl>
                                          <p:spTgt spid="27"/>
                                        </p:tgtEl>
                                        <p:attrNameLst>
                                          <p:attrName>style.visibility</p:attrName>
                                        </p:attrNameLst>
                                      </p:cBhvr>
                                      <p:to>
                                        <p:strVal val="hidden"/>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grpId="0" nodeType="clickEffect">
                                  <p:stCondLst>
                                    <p:cond delay="0"/>
                                  </p:stCondLst>
                                  <p:childTnLst>
                                    <p:set>
                                      <p:cBhvr>
                                        <p:cTn id="194" dur="1" fill="hold">
                                          <p:stCondLst>
                                            <p:cond delay="0"/>
                                          </p:stCondLst>
                                        </p:cTn>
                                        <p:tgtEl>
                                          <p:spTgt spid="28"/>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xit" presetSubtype="0" fill="hold" nodeType="clickEffect">
                                  <p:stCondLst>
                                    <p:cond delay="0"/>
                                  </p:stCondLst>
                                  <p:childTnLst>
                                    <p:set>
                                      <p:cBhvr>
                                        <p:cTn id="198" dur="1" fill="hold">
                                          <p:stCondLst>
                                            <p:cond delay="0"/>
                                          </p:stCondLst>
                                        </p:cTn>
                                        <p:tgtEl>
                                          <p:spTgt spid="26"/>
                                        </p:tgtEl>
                                        <p:attrNameLst>
                                          <p:attrName>style.visibility</p:attrName>
                                        </p:attrNameLst>
                                      </p:cBhvr>
                                      <p:to>
                                        <p:strVal val="hidden"/>
                                      </p:to>
                                    </p:set>
                                  </p:childTnLst>
                                </p:cTn>
                              </p:par>
                            </p:childTnLst>
                          </p:cTn>
                        </p:par>
                      </p:childTnLst>
                    </p:cTn>
                  </p:par>
                  <p:par>
                    <p:cTn id="199" fill="hold">
                      <p:stCondLst>
                        <p:cond delay="indefinite"/>
                      </p:stCondLst>
                      <p:childTnLst>
                        <p:par>
                          <p:cTn id="200" fill="hold">
                            <p:stCondLst>
                              <p:cond delay="0"/>
                            </p:stCondLst>
                            <p:childTnLst>
                              <p:par>
                                <p:cTn id="201" presetID="1" presetClass="exit" presetSubtype="0" fill="hold" grpId="1" nodeType="clickEffect">
                                  <p:stCondLst>
                                    <p:cond delay="0"/>
                                  </p:stCondLst>
                                  <p:childTnLst>
                                    <p:set>
                                      <p:cBhvr>
                                        <p:cTn id="202" dur="1" fill="hold">
                                          <p:stCondLst>
                                            <p:cond delay="0"/>
                                          </p:stCondLst>
                                        </p:cTn>
                                        <p:tgtEl>
                                          <p:spTgt spid="28"/>
                                        </p:tgtEl>
                                        <p:attrNameLst>
                                          <p:attrName>style.visibility</p:attrName>
                                        </p:attrNameLst>
                                      </p:cBhvr>
                                      <p:to>
                                        <p:strVal val="hidden"/>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29"/>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grpId="0" nodeType="clickEffect">
                                  <p:stCondLst>
                                    <p:cond delay="0"/>
                                  </p:stCondLst>
                                  <p:childTnLst>
                                    <p:set>
                                      <p:cBhvr>
                                        <p:cTn id="210" dur="1" fill="hold">
                                          <p:stCondLst>
                                            <p:cond delay="0"/>
                                          </p:stCondLst>
                                        </p:cTn>
                                        <p:tgtEl>
                                          <p:spTgt spid="30"/>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xit" presetSubtype="0" fill="hold" grpId="1" nodeType="clickEffect">
                                  <p:stCondLst>
                                    <p:cond delay="0"/>
                                  </p:stCondLst>
                                  <p:childTnLst>
                                    <p:set>
                                      <p:cBhvr>
                                        <p:cTn id="214" dur="1" fill="hold">
                                          <p:stCondLst>
                                            <p:cond delay="0"/>
                                          </p:stCondLst>
                                        </p:cTn>
                                        <p:tgtEl>
                                          <p:spTgt spid="30"/>
                                        </p:tgtEl>
                                        <p:attrNameLst>
                                          <p:attrName>style.visibility</p:attrName>
                                        </p:attrNameLst>
                                      </p:cBhvr>
                                      <p:to>
                                        <p:strVal val="hidden"/>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grpId="0" nodeType="clickEffect">
                                  <p:stCondLst>
                                    <p:cond delay="0"/>
                                  </p:stCondLst>
                                  <p:childTnLst>
                                    <p:set>
                                      <p:cBhvr>
                                        <p:cTn id="218" dur="1" fill="hold">
                                          <p:stCondLst>
                                            <p:cond delay="0"/>
                                          </p:stCondLst>
                                        </p:cTn>
                                        <p:tgtEl>
                                          <p:spTgt spid="31"/>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grpId="0" nodeType="clickEffect">
                                  <p:stCondLst>
                                    <p:cond delay="0"/>
                                  </p:stCondLst>
                                  <p:childTnLst>
                                    <p:set>
                                      <p:cBhvr>
                                        <p:cTn id="222" dur="1" fill="hold">
                                          <p:stCondLst>
                                            <p:cond delay="0"/>
                                          </p:stCondLst>
                                        </p:cTn>
                                        <p:tgtEl>
                                          <p:spTgt spid="32"/>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xit" presetSubtype="0" fill="hold" grpId="1" nodeType="clickEffect">
                                  <p:stCondLst>
                                    <p:cond delay="0"/>
                                  </p:stCondLst>
                                  <p:childTnLst>
                                    <p:set>
                                      <p:cBhvr>
                                        <p:cTn id="226" dur="1" fill="hold">
                                          <p:stCondLst>
                                            <p:cond delay="0"/>
                                          </p:stCondLst>
                                        </p:cTn>
                                        <p:tgtEl>
                                          <p:spTgt spid="31"/>
                                        </p:tgtEl>
                                        <p:attrNameLst>
                                          <p:attrName>style.visibility</p:attrName>
                                        </p:attrNameLst>
                                      </p:cBhvr>
                                      <p:to>
                                        <p:strVal val="hidden"/>
                                      </p:to>
                                    </p:set>
                                  </p:childTnLst>
                                </p:cTn>
                              </p:par>
                            </p:childTnLst>
                          </p:cTn>
                        </p:par>
                      </p:childTnLst>
                    </p:cTn>
                  </p:par>
                  <p:par>
                    <p:cTn id="227" fill="hold">
                      <p:stCondLst>
                        <p:cond delay="indefinite"/>
                      </p:stCondLst>
                      <p:childTnLst>
                        <p:par>
                          <p:cTn id="228" fill="hold">
                            <p:stCondLst>
                              <p:cond delay="0"/>
                            </p:stCondLst>
                            <p:childTnLst>
                              <p:par>
                                <p:cTn id="229" presetID="1" presetClass="exit" presetSubtype="0" fill="hold" nodeType="clickEffect">
                                  <p:stCondLst>
                                    <p:cond delay="0"/>
                                  </p:stCondLst>
                                  <p:childTnLst>
                                    <p:set>
                                      <p:cBhvr>
                                        <p:cTn id="230" dur="1" fill="hold">
                                          <p:stCondLst>
                                            <p:cond delay="0"/>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6" grpId="0"/>
      <p:bldP spid="8" grpId="0"/>
      <p:bldP spid="11" grpId="0"/>
      <p:bldP spid="11" grpId="1"/>
      <p:bldP spid="12" grpId="0"/>
      <p:bldP spid="12" grpId="1"/>
      <p:bldP spid="14" grpId="0"/>
      <p:bldP spid="14" grpId="1"/>
      <p:bldP spid="15" grpId="0"/>
      <p:bldP spid="18" grpId="0"/>
      <p:bldP spid="18" grpId="1"/>
      <p:bldP spid="20" grpId="0"/>
      <p:bldP spid="20" grpId="1"/>
      <p:bldP spid="21" grpId="0"/>
      <p:bldP spid="21" grpId="1"/>
      <p:bldP spid="22" grpId="0"/>
      <p:bldP spid="23" grpId="0"/>
      <p:bldP spid="25" grpId="0"/>
      <p:bldP spid="25" grpId="1"/>
      <p:bldP spid="27" grpId="0"/>
      <p:bldP spid="27" grpId="1"/>
      <p:bldP spid="28" grpId="0"/>
      <p:bldP spid="28" grpId="1"/>
      <p:bldP spid="30" grpId="0"/>
      <p:bldP spid="30" grpId="1"/>
      <p:bldP spid="31" grpId="0"/>
      <p:bldP spid="31" grpId="1"/>
      <p:bldP spid="3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FB4DB-AC1B-4C13-AA37-2DCD7E729E30}"/>
              </a:ext>
            </a:extLst>
          </p:cNvPr>
          <p:cNvSpPr>
            <a:spLocks noGrp="1"/>
          </p:cNvSpPr>
          <p:nvPr>
            <p:ph type="title"/>
          </p:nvPr>
        </p:nvSpPr>
        <p:spPr/>
        <p:txBody>
          <a:bodyPr/>
          <a:lstStyle/>
          <a:p>
            <a:r>
              <a:rPr lang="en-US" dirty="0"/>
              <a:t>Insertion Runtime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BF1D2DD-7D86-4F81-867B-FA326EE07351}"/>
                  </a:ext>
                </a:extLst>
              </p:cNvPr>
              <p:cNvSpPr>
                <a:spLocks noGrp="1"/>
              </p:cNvSpPr>
              <p:nvPr>
                <p:ph idx="1"/>
              </p:nvPr>
            </p:nvSpPr>
            <p:spPr/>
            <p:txBody>
              <a:bodyPr/>
              <a:lstStyle/>
              <a:p>
                <a:pPr marL="0" indent="0">
                  <a:buNone/>
                </a:pPr>
                <a:r>
                  <a:rPr lang="en-US" dirty="0"/>
                  <a:t>What’s the runtime for an Insertion using Linear Probing?</a:t>
                </a:r>
              </a:p>
              <a:p>
                <a:r>
                  <a:rPr lang="en-US" dirty="0"/>
                  <a:t>At the very worst, we will collide at every index except for one… </a:t>
                </a:r>
              </a:p>
              <a:p>
                <a:pPr lvl="1"/>
                <a:r>
                  <a:rPr lang="en-US" dirty="0"/>
                  <a:t>Thus, the runtime is </a:t>
                </a:r>
                <a14:m>
                  <m:oMath xmlns:m="http://schemas.openxmlformats.org/officeDocument/2006/math">
                    <m:r>
                      <a:rPr lang="en-US"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oMath>
                </a14:m>
                <a:endParaRPr lang="en-US" dirty="0"/>
              </a:p>
              <a:p>
                <a:pPr marL="228600" lvl="1"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FBF1D2DD-7D86-4F81-867B-FA326EE07351}"/>
                  </a:ext>
                </a:extLst>
              </p:cNvPr>
              <p:cNvSpPr>
                <a:spLocks noGrp="1" noRot="1" noChangeAspect="1" noMove="1" noResize="1" noEditPoints="1" noAdjustHandles="1" noChangeArrowheads="1" noChangeShapeType="1" noTextEdit="1"/>
              </p:cNvSpPr>
              <p:nvPr>
                <p:ph idx="1"/>
              </p:nvPr>
            </p:nvSpPr>
            <p:spPr>
              <a:blipFill>
                <a:blip r:embed="rId3"/>
                <a:stretch>
                  <a:fillRect l="-631" t="-1179"/>
                </a:stretch>
              </a:blipFill>
            </p:spPr>
            <p:txBody>
              <a:bodyPr/>
              <a:lstStyle/>
              <a:p>
                <a:r>
                  <a:rPr lang="en-US">
                    <a:noFill/>
                  </a:rPr>
                  <a:t> </a:t>
                </a:r>
              </a:p>
            </p:txBody>
          </p:sp>
        </mc:Fallback>
      </mc:AlternateContent>
    </p:spTree>
    <p:extLst>
      <p:ext uri="{BB962C8B-B14F-4D97-AF65-F5344CB8AC3E}">
        <p14:creationId xmlns:p14="http://schemas.microsoft.com/office/powerpoint/2010/main" val="4999329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9FEFC-4B0C-4DD9-AA53-C69DA7F15A27}"/>
              </a:ext>
            </a:extLst>
          </p:cNvPr>
          <p:cNvSpPr>
            <a:spLocks noGrp="1"/>
          </p:cNvSpPr>
          <p:nvPr>
            <p:ph type="title"/>
          </p:nvPr>
        </p:nvSpPr>
        <p:spPr/>
        <p:txBody>
          <a:bodyPr/>
          <a:lstStyle/>
          <a:p>
            <a:r>
              <a:rPr lang="en-US" dirty="0"/>
              <a:t>Handling Deletion</a:t>
            </a:r>
          </a:p>
        </p:txBody>
      </p:sp>
      <p:sp>
        <p:nvSpPr>
          <p:cNvPr id="3" name="Content Placeholder 2">
            <a:extLst>
              <a:ext uri="{FF2B5EF4-FFF2-40B4-BE49-F238E27FC236}">
                <a16:creationId xmlns:a16="http://schemas.microsoft.com/office/drawing/2014/main" id="{F2DAAC48-EDD9-4D46-AC0A-DE1D6829FB5C}"/>
              </a:ext>
            </a:extLst>
          </p:cNvPr>
          <p:cNvSpPr>
            <a:spLocks noGrp="1"/>
          </p:cNvSpPr>
          <p:nvPr>
            <p:ph idx="1"/>
          </p:nvPr>
        </p:nvSpPr>
        <p:spPr/>
        <p:txBody>
          <a:bodyPr/>
          <a:lstStyle/>
          <a:p>
            <a:pPr marL="0" indent="0">
              <a:buNone/>
            </a:pPr>
            <a:r>
              <a:rPr lang="en-US" dirty="0"/>
              <a:t>Well, we handled insertion, but what about deletion?</a:t>
            </a:r>
          </a:p>
          <a:p>
            <a:r>
              <a:rPr lang="en-US" dirty="0"/>
              <a:t>If we deleted 17, what would we have to do?</a:t>
            </a:r>
          </a:p>
          <a:p>
            <a:pPr lvl="1"/>
            <a:r>
              <a:rPr lang="en-US" dirty="0"/>
              <a:t>Rehash! If we try to look for 16, we wouldn’t be able to, since we would stop prematurely at index 5!</a:t>
            </a:r>
          </a:p>
          <a:p>
            <a:r>
              <a:rPr lang="en-US" dirty="0"/>
              <a:t>We need to </a:t>
            </a:r>
            <a:r>
              <a:rPr lang="en-US" b="1" dirty="0"/>
              <a:t>rehash until the next empty space</a:t>
            </a:r>
            <a:r>
              <a:rPr lang="en-US" dirty="0"/>
              <a:t>.</a:t>
            </a:r>
          </a:p>
          <a:p>
            <a:pPr lvl="1"/>
            <a:r>
              <a:rPr lang="en-US" dirty="0"/>
              <a:t>From the index 17 was deleted from, index 6, we would rehash up to the next empty space. </a:t>
            </a:r>
          </a:p>
          <a:p>
            <a:pPr lvl="1"/>
            <a:r>
              <a:rPr lang="en-US" dirty="0"/>
              <a:t>So, we would just reinsert 16.</a:t>
            </a:r>
          </a:p>
          <a:p>
            <a:pPr marL="228600" lvl="1" indent="0">
              <a:buNone/>
            </a:pPr>
            <a:endParaRPr lang="en-US" dirty="0"/>
          </a:p>
          <a:p>
            <a:endParaRPr lang="en-US" dirty="0"/>
          </a:p>
        </p:txBody>
      </p:sp>
      <p:graphicFrame>
        <p:nvGraphicFramePr>
          <p:cNvPr id="4" name="Table 4">
            <a:extLst>
              <a:ext uri="{FF2B5EF4-FFF2-40B4-BE49-F238E27FC236}">
                <a16:creationId xmlns:a16="http://schemas.microsoft.com/office/drawing/2014/main" id="{E8B96DE1-524C-4C50-84FB-A26CD8042666}"/>
              </a:ext>
            </a:extLst>
          </p:cNvPr>
          <p:cNvGraphicFramePr>
            <a:graphicFrameLocks noGrp="1"/>
          </p:cNvGraphicFramePr>
          <p:nvPr>
            <p:extLst>
              <p:ext uri="{D42A27DB-BD31-4B8C-83A1-F6EECF244321}">
                <p14:modId xmlns:p14="http://schemas.microsoft.com/office/powerpoint/2010/main" val="2460364534"/>
              </p:ext>
            </p:extLst>
          </p:nvPr>
        </p:nvGraphicFramePr>
        <p:xfrm>
          <a:off x="2462246" y="6122236"/>
          <a:ext cx="8127999" cy="370840"/>
        </p:xfrm>
        <a:graphic>
          <a:graphicData uri="http://schemas.openxmlformats.org/drawingml/2006/table">
            <a:tbl>
              <a:tblPr firstRow="1" bandRow="1">
                <a:tableStyleId>{5C22544A-7EE6-4342-B048-85BDC9FD1C3A}</a:tableStyleId>
              </a:tblPr>
              <a:tblGrid>
                <a:gridCol w="738909">
                  <a:extLst>
                    <a:ext uri="{9D8B030D-6E8A-4147-A177-3AD203B41FA5}">
                      <a16:colId xmlns:a16="http://schemas.microsoft.com/office/drawing/2014/main" val="4178111286"/>
                    </a:ext>
                  </a:extLst>
                </a:gridCol>
                <a:gridCol w="738909">
                  <a:extLst>
                    <a:ext uri="{9D8B030D-6E8A-4147-A177-3AD203B41FA5}">
                      <a16:colId xmlns:a16="http://schemas.microsoft.com/office/drawing/2014/main" val="3312107353"/>
                    </a:ext>
                  </a:extLst>
                </a:gridCol>
                <a:gridCol w="738909">
                  <a:extLst>
                    <a:ext uri="{9D8B030D-6E8A-4147-A177-3AD203B41FA5}">
                      <a16:colId xmlns:a16="http://schemas.microsoft.com/office/drawing/2014/main" val="213935834"/>
                    </a:ext>
                  </a:extLst>
                </a:gridCol>
                <a:gridCol w="738909">
                  <a:extLst>
                    <a:ext uri="{9D8B030D-6E8A-4147-A177-3AD203B41FA5}">
                      <a16:colId xmlns:a16="http://schemas.microsoft.com/office/drawing/2014/main" val="2398592152"/>
                    </a:ext>
                  </a:extLst>
                </a:gridCol>
                <a:gridCol w="738909">
                  <a:extLst>
                    <a:ext uri="{9D8B030D-6E8A-4147-A177-3AD203B41FA5}">
                      <a16:colId xmlns:a16="http://schemas.microsoft.com/office/drawing/2014/main" val="3505104868"/>
                    </a:ext>
                  </a:extLst>
                </a:gridCol>
                <a:gridCol w="738909">
                  <a:extLst>
                    <a:ext uri="{9D8B030D-6E8A-4147-A177-3AD203B41FA5}">
                      <a16:colId xmlns:a16="http://schemas.microsoft.com/office/drawing/2014/main" val="1476613679"/>
                    </a:ext>
                  </a:extLst>
                </a:gridCol>
                <a:gridCol w="738909">
                  <a:extLst>
                    <a:ext uri="{9D8B030D-6E8A-4147-A177-3AD203B41FA5}">
                      <a16:colId xmlns:a16="http://schemas.microsoft.com/office/drawing/2014/main" val="4132464943"/>
                    </a:ext>
                  </a:extLst>
                </a:gridCol>
                <a:gridCol w="738909">
                  <a:extLst>
                    <a:ext uri="{9D8B030D-6E8A-4147-A177-3AD203B41FA5}">
                      <a16:colId xmlns:a16="http://schemas.microsoft.com/office/drawing/2014/main" val="1702352792"/>
                    </a:ext>
                  </a:extLst>
                </a:gridCol>
                <a:gridCol w="738909">
                  <a:extLst>
                    <a:ext uri="{9D8B030D-6E8A-4147-A177-3AD203B41FA5}">
                      <a16:colId xmlns:a16="http://schemas.microsoft.com/office/drawing/2014/main" val="3794110443"/>
                    </a:ext>
                  </a:extLst>
                </a:gridCol>
                <a:gridCol w="738909">
                  <a:extLst>
                    <a:ext uri="{9D8B030D-6E8A-4147-A177-3AD203B41FA5}">
                      <a16:colId xmlns:a16="http://schemas.microsoft.com/office/drawing/2014/main" val="2398549442"/>
                    </a:ext>
                  </a:extLst>
                </a:gridCol>
                <a:gridCol w="738909">
                  <a:extLst>
                    <a:ext uri="{9D8B030D-6E8A-4147-A177-3AD203B41FA5}">
                      <a16:colId xmlns:a16="http://schemas.microsoft.com/office/drawing/2014/main" val="3345662330"/>
                    </a:ext>
                  </a:extLst>
                </a:gridCol>
              </a:tblGrid>
              <a:tr h="370840">
                <a:tc>
                  <a:txBody>
                    <a:bodyPr/>
                    <a:lstStyle/>
                    <a:p>
                      <a:endParaRPr lang="en-US">
                        <a:solidFill>
                          <a:srgbClr val="0070C0"/>
                        </a:solidFill>
                      </a:endParaRPr>
                    </a:p>
                  </a:txBody>
                  <a:tcPr>
                    <a:solidFill>
                      <a:schemeClr val="accent2"/>
                    </a:solidFill>
                  </a:tcPr>
                </a:tc>
                <a:tc>
                  <a:txBody>
                    <a:bodyPr/>
                    <a:lstStyle/>
                    <a:p>
                      <a:endParaRPr lang="en-US">
                        <a:solidFill>
                          <a:srgbClr val="0070C0"/>
                        </a:solidFill>
                      </a:endParaRPr>
                    </a:p>
                  </a:txBody>
                  <a:tcPr>
                    <a:solidFill>
                      <a:schemeClr val="accent2"/>
                    </a:solidFill>
                  </a:tcPr>
                </a:tc>
                <a:tc>
                  <a:txBody>
                    <a:bodyPr/>
                    <a:lstStyle/>
                    <a:p>
                      <a:endParaRPr lang="en-US" dirty="0">
                        <a:solidFill>
                          <a:srgbClr val="0070C0"/>
                        </a:solidFill>
                      </a:endParaRPr>
                    </a:p>
                  </a:txBody>
                  <a:tcPr>
                    <a:solidFill>
                      <a:schemeClr val="accent2"/>
                    </a:solidFill>
                  </a:tcPr>
                </a:tc>
                <a:tc>
                  <a:txBody>
                    <a:bodyPr/>
                    <a:lstStyle/>
                    <a:p>
                      <a:endParaRPr lang="en-US" dirty="0">
                        <a:solidFill>
                          <a:srgbClr val="0070C0"/>
                        </a:solidFill>
                      </a:endParaRPr>
                    </a:p>
                  </a:txBody>
                  <a:tcPr>
                    <a:solidFill>
                      <a:schemeClr val="accent2"/>
                    </a:solidFill>
                  </a:tcPr>
                </a:tc>
                <a:tc>
                  <a:txBody>
                    <a:bodyPr/>
                    <a:lstStyle/>
                    <a:p>
                      <a:endParaRPr lang="en-US" dirty="0">
                        <a:solidFill>
                          <a:srgbClr val="0070C0"/>
                        </a:solidFill>
                      </a:endParaRPr>
                    </a:p>
                  </a:txBody>
                  <a:tcPr>
                    <a:solidFill>
                      <a:schemeClr val="accent2"/>
                    </a:solidFill>
                  </a:tcPr>
                </a:tc>
                <a:tc>
                  <a:txBody>
                    <a:bodyPr/>
                    <a:lstStyle/>
                    <a:p>
                      <a:endParaRPr lang="en-US">
                        <a:solidFill>
                          <a:srgbClr val="0070C0"/>
                        </a:solidFill>
                      </a:endParaRPr>
                    </a:p>
                  </a:txBody>
                  <a:tcPr>
                    <a:solidFill>
                      <a:schemeClr val="accent2"/>
                    </a:solidFill>
                  </a:tcPr>
                </a:tc>
                <a:tc>
                  <a:txBody>
                    <a:bodyPr/>
                    <a:lstStyle/>
                    <a:p>
                      <a:endParaRPr lang="en-US">
                        <a:solidFill>
                          <a:srgbClr val="0070C0"/>
                        </a:solidFill>
                      </a:endParaRPr>
                    </a:p>
                  </a:txBody>
                  <a:tcPr>
                    <a:solidFill>
                      <a:schemeClr val="accent2"/>
                    </a:solidFill>
                  </a:tcPr>
                </a:tc>
                <a:tc>
                  <a:txBody>
                    <a:bodyPr/>
                    <a:lstStyle/>
                    <a:p>
                      <a:endParaRPr lang="en-US">
                        <a:solidFill>
                          <a:srgbClr val="0070C0"/>
                        </a:solidFill>
                      </a:endParaRPr>
                    </a:p>
                  </a:txBody>
                  <a:tcPr>
                    <a:solidFill>
                      <a:schemeClr val="accent2"/>
                    </a:solidFill>
                  </a:tcPr>
                </a:tc>
                <a:tc>
                  <a:txBody>
                    <a:bodyPr/>
                    <a:lstStyle/>
                    <a:p>
                      <a:endParaRPr lang="en-US">
                        <a:solidFill>
                          <a:srgbClr val="0070C0"/>
                        </a:solidFill>
                      </a:endParaRPr>
                    </a:p>
                  </a:txBody>
                  <a:tcPr>
                    <a:solidFill>
                      <a:schemeClr val="accent2"/>
                    </a:solidFill>
                  </a:tcPr>
                </a:tc>
                <a:tc>
                  <a:txBody>
                    <a:bodyPr/>
                    <a:lstStyle/>
                    <a:p>
                      <a:endParaRPr lang="en-US">
                        <a:solidFill>
                          <a:srgbClr val="0070C0"/>
                        </a:solidFill>
                      </a:endParaRPr>
                    </a:p>
                  </a:txBody>
                  <a:tcPr>
                    <a:solidFill>
                      <a:schemeClr val="accent2"/>
                    </a:solidFill>
                  </a:tcPr>
                </a:tc>
                <a:tc>
                  <a:txBody>
                    <a:bodyPr/>
                    <a:lstStyle/>
                    <a:p>
                      <a:endParaRPr lang="en-US" dirty="0">
                        <a:solidFill>
                          <a:srgbClr val="0070C0"/>
                        </a:solidFill>
                      </a:endParaRPr>
                    </a:p>
                  </a:txBody>
                  <a:tcPr>
                    <a:solidFill>
                      <a:schemeClr val="accent2"/>
                    </a:solidFill>
                  </a:tcPr>
                </a:tc>
                <a:extLst>
                  <a:ext uri="{0D108BD9-81ED-4DB2-BD59-A6C34878D82A}">
                    <a16:rowId xmlns:a16="http://schemas.microsoft.com/office/drawing/2014/main" val="2856863491"/>
                  </a:ext>
                </a:extLst>
              </a:tr>
            </a:tbl>
          </a:graphicData>
        </a:graphic>
      </p:graphicFrame>
      <p:sp>
        <p:nvSpPr>
          <p:cNvPr id="5" name="TextBox 4">
            <a:extLst>
              <a:ext uri="{FF2B5EF4-FFF2-40B4-BE49-F238E27FC236}">
                <a16:creationId xmlns:a16="http://schemas.microsoft.com/office/drawing/2014/main" id="{CCBD4039-6E27-46FF-82B9-CE563FA9219B}"/>
              </a:ext>
            </a:extLst>
          </p:cNvPr>
          <p:cNvSpPr txBox="1"/>
          <p:nvPr/>
        </p:nvSpPr>
        <p:spPr>
          <a:xfrm>
            <a:off x="2462245" y="5752904"/>
            <a:ext cx="8127999" cy="369332"/>
          </a:xfrm>
          <a:prstGeom prst="rect">
            <a:avLst/>
          </a:prstGeom>
          <a:noFill/>
        </p:spPr>
        <p:txBody>
          <a:bodyPr wrap="square" rtlCol="0">
            <a:spAutoFit/>
          </a:bodyPr>
          <a:lstStyle/>
          <a:p>
            <a:r>
              <a:rPr lang="en-US" dirty="0"/>
              <a:t>    0		1           2	   3		4	    5		 6	     7		   8		9	    10</a:t>
            </a:r>
          </a:p>
        </p:txBody>
      </p:sp>
      <p:sp>
        <p:nvSpPr>
          <p:cNvPr id="6" name="TextBox 5">
            <a:extLst>
              <a:ext uri="{FF2B5EF4-FFF2-40B4-BE49-F238E27FC236}">
                <a16:creationId xmlns:a16="http://schemas.microsoft.com/office/drawing/2014/main" id="{3701D19A-31D6-4DEC-A89F-0D2C7D98A349}"/>
              </a:ext>
            </a:extLst>
          </p:cNvPr>
          <p:cNvSpPr txBox="1"/>
          <p:nvPr/>
        </p:nvSpPr>
        <p:spPr>
          <a:xfrm>
            <a:off x="4844929" y="6122236"/>
            <a:ext cx="415498" cy="369332"/>
          </a:xfrm>
          <a:prstGeom prst="rect">
            <a:avLst/>
          </a:prstGeom>
          <a:noFill/>
        </p:spPr>
        <p:txBody>
          <a:bodyPr wrap="none" rtlCol="0">
            <a:spAutoFit/>
          </a:bodyPr>
          <a:lstStyle/>
          <a:p>
            <a:r>
              <a:rPr lang="en-US" dirty="0">
                <a:solidFill>
                  <a:srgbClr val="0070C0"/>
                </a:solidFill>
              </a:rPr>
              <a:t>14</a:t>
            </a:r>
          </a:p>
        </p:txBody>
      </p:sp>
      <p:sp>
        <p:nvSpPr>
          <p:cNvPr id="7" name="TextBox 6">
            <a:extLst>
              <a:ext uri="{FF2B5EF4-FFF2-40B4-BE49-F238E27FC236}">
                <a16:creationId xmlns:a16="http://schemas.microsoft.com/office/drawing/2014/main" id="{BDC2BE5F-5C6B-4D18-A9F6-B83BE176BE02}"/>
              </a:ext>
            </a:extLst>
          </p:cNvPr>
          <p:cNvSpPr txBox="1"/>
          <p:nvPr/>
        </p:nvSpPr>
        <p:spPr>
          <a:xfrm>
            <a:off x="7052271" y="6119600"/>
            <a:ext cx="415498" cy="369332"/>
          </a:xfrm>
          <a:prstGeom prst="rect">
            <a:avLst/>
          </a:prstGeom>
          <a:noFill/>
        </p:spPr>
        <p:txBody>
          <a:bodyPr wrap="none" rtlCol="0">
            <a:spAutoFit/>
          </a:bodyPr>
          <a:lstStyle/>
          <a:p>
            <a:r>
              <a:rPr lang="en-US" dirty="0">
                <a:solidFill>
                  <a:srgbClr val="0070C0"/>
                </a:solidFill>
              </a:rPr>
              <a:t>17</a:t>
            </a:r>
          </a:p>
        </p:txBody>
      </p:sp>
      <p:sp>
        <p:nvSpPr>
          <p:cNvPr id="8" name="TextBox 7">
            <a:extLst>
              <a:ext uri="{FF2B5EF4-FFF2-40B4-BE49-F238E27FC236}">
                <a16:creationId xmlns:a16="http://schemas.microsoft.com/office/drawing/2014/main" id="{68051F69-FD98-4538-8660-1AD0FCED33F0}"/>
              </a:ext>
            </a:extLst>
          </p:cNvPr>
          <p:cNvSpPr txBox="1"/>
          <p:nvPr/>
        </p:nvSpPr>
        <p:spPr>
          <a:xfrm>
            <a:off x="5547421" y="6119600"/>
            <a:ext cx="415498" cy="369332"/>
          </a:xfrm>
          <a:prstGeom prst="rect">
            <a:avLst/>
          </a:prstGeom>
          <a:noFill/>
        </p:spPr>
        <p:txBody>
          <a:bodyPr wrap="none" rtlCol="0">
            <a:spAutoFit/>
          </a:bodyPr>
          <a:lstStyle/>
          <a:p>
            <a:r>
              <a:rPr lang="en-US" dirty="0">
                <a:solidFill>
                  <a:srgbClr val="0070C0"/>
                </a:solidFill>
              </a:rPr>
              <a:t>25</a:t>
            </a:r>
          </a:p>
        </p:txBody>
      </p:sp>
      <p:sp>
        <p:nvSpPr>
          <p:cNvPr id="9" name="TextBox 8">
            <a:extLst>
              <a:ext uri="{FF2B5EF4-FFF2-40B4-BE49-F238E27FC236}">
                <a16:creationId xmlns:a16="http://schemas.microsoft.com/office/drawing/2014/main" id="{96A067BA-8479-468D-8B46-F665D3354E20}"/>
              </a:ext>
            </a:extLst>
          </p:cNvPr>
          <p:cNvSpPr txBox="1"/>
          <p:nvPr/>
        </p:nvSpPr>
        <p:spPr>
          <a:xfrm>
            <a:off x="6310481" y="6117357"/>
            <a:ext cx="415498" cy="369332"/>
          </a:xfrm>
          <a:prstGeom prst="rect">
            <a:avLst/>
          </a:prstGeom>
          <a:noFill/>
        </p:spPr>
        <p:txBody>
          <a:bodyPr wrap="none" rtlCol="0">
            <a:spAutoFit/>
          </a:bodyPr>
          <a:lstStyle/>
          <a:p>
            <a:r>
              <a:rPr lang="en-US" dirty="0">
                <a:solidFill>
                  <a:srgbClr val="0070C0"/>
                </a:solidFill>
              </a:rPr>
              <a:t>37</a:t>
            </a:r>
          </a:p>
        </p:txBody>
      </p:sp>
      <p:sp>
        <p:nvSpPr>
          <p:cNvPr id="10" name="TextBox 9">
            <a:extLst>
              <a:ext uri="{FF2B5EF4-FFF2-40B4-BE49-F238E27FC236}">
                <a16:creationId xmlns:a16="http://schemas.microsoft.com/office/drawing/2014/main" id="{083C2F66-9462-4BA8-9AE2-F73964B41981}"/>
              </a:ext>
            </a:extLst>
          </p:cNvPr>
          <p:cNvSpPr txBox="1"/>
          <p:nvPr/>
        </p:nvSpPr>
        <p:spPr>
          <a:xfrm>
            <a:off x="3340079" y="6117357"/>
            <a:ext cx="415498" cy="369332"/>
          </a:xfrm>
          <a:prstGeom prst="rect">
            <a:avLst/>
          </a:prstGeom>
          <a:noFill/>
        </p:spPr>
        <p:txBody>
          <a:bodyPr wrap="none" rtlCol="0">
            <a:spAutoFit/>
          </a:bodyPr>
          <a:lstStyle/>
          <a:p>
            <a:r>
              <a:rPr lang="en-US" dirty="0">
                <a:solidFill>
                  <a:srgbClr val="0070C0"/>
                </a:solidFill>
              </a:rPr>
              <a:t>34</a:t>
            </a:r>
          </a:p>
        </p:txBody>
      </p:sp>
      <p:sp>
        <p:nvSpPr>
          <p:cNvPr id="11" name="TextBox 10">
            <a:extLst>
              <a:ext uri="{FF2B5EF4-FFF2-40B4-BE49-F238E27FC236}">
                <a16:creationId xmlns:a16="http://schemas.microsoft.com/office/drawing/2014/main" id="{AFECA776-FBB0-44A9-85BF-C4BF6114C530}"/>
              </a:ext>
            </a:extLst>
          </p:cNvPr>
          <p:cNvSpPr txBox="1"/>
          <p:nvPr/>
        </p:nvSpPr>
        <p:spPr>
          <a:xfrm>
            <a:off x="7743375" y="6109359"/>
            <a:ext cx="415498" cy="369332"/>
          </a:xfrm>
          <a:prstGeom prst="rect">
            <a:avLst/>
          </a:prstGeom>
          <a:noFill/>
        </p:spPr>
        <p:txBody>
          <a:bodyPr wrap="none" rtlCol="0">
            <a:spAutoFit/>
          </a:bodyPr>
          <a:lstStyle/>
          <a:p>
            <a:r>
              <a:rPr lang="en-US" dirty="0">
                <a:solidFill>
                  <a:srgbClr val="0070C0"/>
                </a:solidFill>
              </a:rPr>
              <a:t>16</a:t>
            </a:r>
          </a:p>
        </p:txBody>
      </p:sp>
    </p:spTree>
    <p:extLst>
      <p:ext uri="{BB962C8B-B14F-4D97-AF65-F5344CB8AC3E}">
        <p14:creationId xmlns:p14="http://schemas.microsoft.com/office/powerpoint/2010/main" val="3586299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 end="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P spid="7" grpId="0"/>
      <p:bldP spid="8" grpId="0"/>
      <p:bldP spid="9" grpId="0"/>
      <p:bldP spid="10" grpId="0"/>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9FEFC-4B0C-4DD9-AA53-C69DA7F15A27}"/>
              </a:ext>
            </a:extLst>
          </p:cNvPr>
          <p:cNvSpPr>
            <a:spLocks noGrp="1"/>
          </p:cNvSpPr>
          <p:nvPr>
            <p:ph type="title"/>
          </p:nvPr>
        </p:nvSpPr>
        <p:spPr/>
        <p:txBody>
          <a:bodyPr/>
          <a:lstStyle/>
          <a:p>
            <a:r>
              <a:rPr lang="en-US" dirty="0"/>
              <a:t>Handling Deletion</a:t>
            </a:r>
          </a:p>
        </p:txBody>
      </p:sp>
      <p:sp>
        <p:nvSpPr>
          <p:cNvPr id="3" name="Content Placeholder 2">
            <a:extLst>
              <a:ext uri="{FF2B5EF4-FFF2-40B4-BE49-F238E27FC236}">
                <a16:creationId xmlns:a16="http://schemas.microsoft.com/office/drawing/2014/main" id="{F2DAAC48-EDD9-4D46-AC0A-DE1D6829FB5C}"/>
              </a:ext>
            </a:extLst>
          </p:cNvPr>
          <p:cNvSpPr>
            <a:spLocks noGrp="1"/>
          </p:cNvSpPr>
          <p:nvPr>
            <p:ph idx="1"/>
          </p:nvPr>
        </p:nvSpPr>
        <p:spPr/>
        <p:txBody>
          <a:bodyPr>
            <a:normAutofit fontScale="77500" lnSpcReduction="20000"/>
          </a:bodyPr>
          <a:lstStyle/>
          <a:p>
            <a:pPr marL="0" indent="0">
              <a:buNone/>
            </a:pPr>
            <a:r>
              <a:rPr lang="en-US" dirty="0"/>
              <a:t>Alternative Approach:</a:t>
            </a:r>
            <a:br>
              <a:rPr lang="en-US" dirty="0"/>
            </a:br>
            <a:endParaRPr lang="en-US" dirty="0"/>
          </a:p>
          <a:p>
            <a:pPr marL="342900" indent="-342900">
              <a:buAutoNum type="arabicParenR"/>
            </a:pPr>
            <a:r>
              <a:rPr lang="en-US" dirty="0"/>
              <a:t>Leave a flag to indicate that a value was deleted.</a:t>
            </a:r>
          </a:p>
          <a:p>
            <a:pPr lvl="1"/>
            <a:r>
              <a:rPr lang="en-US" dirty="0"/>
              <a:t>This is known as a </a:t>
            </a:r>
            <a:r>
              <a:rPr lang="en-US" b="1" dirty="0"/>
              <a:t>Sentinel Key/Tombstone</a:t>
            </a:r>
          </a:p>
          <a:p>
            <a:pPr marL="342900" indent="-342900">
              <a:buFont typeface="+mj-lt"/>
              <a:buAutoNum type="arabicParenR"/>
            </a:pPr>
            <a:r>
              <a:rPr lang="en-US" dirty="0"/>
              <a:t>Or we could maintain a parallel array of Booleans</a:t>
            </a:r>
          </a:p>
          <a:p>
            <a:pPr marL="0" indent="0">
              <a:buNone/>
            </a:pPr>
            <a:endParaRPr lang="en-US" dirty="0"/>
          </a:p>
          <a:p>
            <a:pPr marL="0" indent="0">
              <a:buNone/>
            </a:pPr>
            <a:r>
              <a:rPr lang="en-US" b="1" dirty="0"/>
              <a:t>Tradeoffs:</a:t>
            </a:r>
          </a:p>
          <a:p>
            <a:pPr marL="342900" indent="-342900">
              <a:buAutoNum type="arabicParenR"/>
            </a:pPr>
            <a:r>
              <a:rPr lang="en-US" dirty="0"/>
              <a:t>Tombstone/Sentinel Key</a:t>
            </a:r>
          </a:p>
          <a:p>
            <a:pPr lvl="1"/>
            <a:r>
              <a:rPr lang="en-US" dirty="0"/>
              <a:t>Deletes are very fast, but search takes unnecessarily long!</a:t>
            </a:r>
          </a:p>
          <a:p>
            <a:pPr marL="342900" indent="-342900">
              <a:buFont typeface="+mj-lt"/>
              <a:buAutoNum type="arabicParenR"/>
            </a:pPr>
            <a:r>
              <a:rPr lang="en-US" dirty="0"/>
              <a:t>Rehashing</a:t>
            </a:r>
          </a:p>
          <a:p>
            <a:pPr lvl="1"/>
            <a:r>
              <a:rPr lang="en-US" dirty="0"/>
              <a:t>Deletion very expensive, but search is fast!</a:t>
            </a:r>
          </a:p>
          <a:p>
            <a:pPr marL="228600" lvl="1" indent="0">
              <a:buNone/>
            </a:pPr>
            <a:endParaRPr lang="en-US" dirty="0"/>
          </a:p>
          <a:p>
            <a:endParaRPr lang="en-US" dirty="0"/>
          </a:p>
        </p:txBody>
      </p:sp>
      <p:graphicFrame>
        <p:nvGraphicFramePr>
          <p:cNvPr id="4" name="Table 4">
            <a:extLst>
              <a:ext uri="{FF2B5EF4-FFF2-40B4-BE49-F238E27FC236}">
                <a16:creationId xmlns:a16="http://schemas.microsoft.com/office/drawing/2014/main" id="{E8B96DE1-524C-4C50-84FB-A26CD8042666}"/>
              </a:ext>
            </a:extLst>
          </p:cNvPr>
          <p:cNvGraphicFramePr>
            <a:graphicFrameLocks noGrp="1"/>
          </p:cNvGraphicFramePr>
          <p:nvPr/>
        </p:nvGraphicFramePr>
        <p:xfrm>
          <a:off x="2462246" y="6122236"/>
          <a:ext cx="8127999" cy="370840"/>
        </p:xfrm>
        <a:graphic>
          <a:graphicData uri="http://schemas.openxmlformats.org/drawingml/2006/table">
            <a:tbl>
              <a:tblPr firstRow="1" bandRow="1">
                <a:tableStyleId>{5C22544A-7EE6-4342-B048-85BDC9FD1C3A}</a:tableStyleId>
              </a:tblPr>
              <a:tblGrid>
                <a:gridCol w="738909">
                  <a:extLst>
                    <a:ext uri="{9D8B030D-6E8A-4147-A177-3AD203B41FA5}">
                      <a16:colId xmlns:a16="http://schemas.microsoft.com/office/drawing/2014/main" val="4178111286"/>
                    </a:ext>
                  </a:extLst>
                </a:gridCol>
                <a:gridCol w="738909">
                  <a:extLst>
                    <a:ext uri="{9D8B030D-6E8A-4147-A177-3AD203B41FA5}">
                      <a16:colId xmlns:a16="http://schemas.microsoft.com/office/drawing/2014/main" val="3312107353"/>
                    </a:ext>
                  </a:extLst>
                </a:gridCol>
                <a:gridCol w="738909">
                  <a:extLst>
                    <a:ext uri="{9D8B030D-6E8A-4147-A177-3AD203B41FA5}">
                      <a16:colId xmlns:a16="http://schemas.microsoft.com/office/drawing/2014/main" val="213935834"/>
                    </a:ext>
                  </a:extLst>
                </a:gridCol>
                <a:gridCol w="738909">
                  <a:extLst>
                    <a:ext uri="{9D8B030D-6E8A-4147-A177-3AD203B41FA5}">
                      <a16:colId xmlns:a16="http://schemas.microsoft.com/office/drawing/2014/main" val="2398592152"/>
                    </a:ext>
                  </a:extLst>
                </a:gridCol>
                <a:gridCol w="738909">
                  <a:extLst>
                    <a:ext uri="{9D8B030D-6E8A-4147-A177-3AD203B41FA5}">
                      <a16:colId xmlns:a16="http://schemas.microsoft.com/office/drawing/2014/main" val="3505104868"/>
                    </a:ext>
                  </a:extLst>
                </a:gridCol>
                <a:gridCol w="738909">
                  <a:extLst>
                    <a:ext uri="{9D8B030D-6E8A-4147-A177-3AD203B41FA5}">
                      <a16:colId xmlns:a16="http://schemas.microsoft.com/office/drawing/2014/main" val="1476613679"/>
                    </a:ext>
                  </a:extLst>
                </a:gridCol>
                <a:gridCol w="738909">
                  <a:extLst>
                    <a:ext uri="{9D8B030D-6E8A-4147-A177-3AD203B41FA5}">
                      <a16:colId xmlns:a16="http://schemas.microsoft.com/office/drawing/2014/main" val="4132464943"/>
                    </a:ext>
                  </a:extLst>
                </a:gridCol>
                <a:gridCol w="738909">
                  <a:extLst>
                    <a:ext uri="{9D8B030D-6E8A-4147-A177-3AD203B41FA5}">
                      <a16:colId xmlns:a16="http://schemas.microsoft.com/office/drawing/2014/main" val="1702352792"/>
                    </a:ext>
                  </a:extLst>
                </a:gridCol>
                <a:gridCol w="738909">
                  <a:extLst>
                    <a:ext uri="{9D8B030D-6E8A-4147-A177-3AD203B41FA5}">
                      <a16:colId xmlns:a16="http://schemas.microsoft.com/office/drawing/2014/main" val="3794110443"/>
                    </a:ext>
                  </a:extLst>
                </a:gridCol>
                <a:gridCol w="738909">
                  <a:extLst>
                    <a:ext uri="{9D8B030D-6E8A-4147-A177-3AD203B41FA5}">
                      <a16:colId xmlns:a16="http://schemas.microsoft.com/office/drawing/2014/main" val="2398549442"/>
                    </a:ext>
                  </a:extLst>
                </a:gridCol>
                <a:gridCol w="738909">
                  <a:extLst>
                    <a:ext uri="{9D8B030D-6E8A-4147-A177-3AD203B41FA5}">
                      <a16:colId xmlns:a16="http://schemas.microsoft.com/office/drawing/2014/main" val="3345662330"/>
                    </a:ext>
                  </a:extLst>
                </a:gridCol>
              </a:tblGrid>
              <a:tr h="370840">
                <a:tc>
                  <a:txBody>
                    <a:bodyPr/>
                    <a:lstStyle/>
                    <a:p>
                      <a:endParaRPr lang="en-US">
                        <a:solidFill>
                          <a:srgbClr val="0070C0"/>
                        </a:solidFill>
                      </a:endParaRPr>
                    </a:p>
                  </a:txBody>
                  <a:tcPr>
                    <a:solidFill>
                      <a:schemeClr val="accent2"/>
                    </a:solidFill>
                  </a:tcPr>
                </a:tc>
                <a:tc>
                  <a:txBody>
                    <a:bodyPr/>
                    <a:lstStyle/>
                    <a:p>
                      <a:endParaRPr lang="en-US">
                        <a:solidFill>
                          <a:srgbClr val="0070C0"/>
                        </a:solidFill>
                      </a:endParaRPr>
                    </a:p>
                  </a:txBody>
                  <a:tcPr>
                    <a:solidFill>
                      <a:schemeClr val="accent2"/>
                    </a:solidFill>
                  </a:tcPr>
                </a:tc>
                <a:tc>
                  <a:txBody>
                    <a:bodyPr/>
                    <a:lstStyle/>
                    <a:p>
                      <a:endParaRPr lang="en-US" dirty="0">
                        <a:solidFill>
                          <a:srgbClr val="0070C0"/>
                        </a:solidFill>
                      </a:endParaRPr>
                    </a:p>
                  </a:txBody>
                  <a:tcPr>
                    <a:solidFill>
                      <a:schemeClr val="accent2"/>
                    </a:solidFill>
                  </a:tcPr>
                </a:tc>
                <a:tc>
                  <a:txBody>
                    <a:bodyPr/>
                    <a:lstStyle/>
                    <a:p>
                      <a:endParaRPr lang="en-US" dirty="0">
                        <a:solidFill>
                          <a:srgbClr val="0070C0"/>
                        </a:solidFill>
                      </a:endParaRPr>
                    </a:p>
                  </a:txBody>
                  <a:tcPr>
                    <a:solidFill>
                      <a:schemeClr val="accent2"/>
                    </a:solidFill>
                  </a:tcPr>
                </a:tc>
                <a:tc>
                  <a:txBody>
                    <a:bodyPr/>
                    <a:lstStyle/>
                    <a:p>
                      <a:endParaRPr lang="en-US" dirty="0">
                        <a:solidFill>
                          <a:srgbClr val="0070C0"/>
                        </a:solidFill>
                      </a:endParaRPr>
                    </a:p>
                  </a:txBody>
                  <a:tcPr>
                    <a:solidFill>
                      <a:schemeClr val="accent2"/>
                    </a:solidFill>
                  </a:tcPr>
                </a:tc>
                <a:tc>
                  <a:txBody>
                    <a:bodyPr/>
                    <a:lstStyle/>
                    <a:p>
                      <a:endParaRPr lang="en-US">
                        <a:solidFill>
                          <a:srgbClr val="0070C0"/>
                        </a:solidFill>
                      </a:endParaRPr>
                    </a:p>
                  </a:txBody>
                  <a:tcPr>
                    <a:solidFill>
                      <a:schemeClr val="accent2"/>
                    </a:solidFill>
                  </a:tcPr>
                </a:tc>
                <a:tc>
                  <a:txBody>
                    <a:bodyPr/>
                    <a:lstStyle/>
                    <a:p>
                      <a:endParaRPr lang="en-US">
                        <a:solidFill>
                          <a:srgbClr val="0070C0"/>
                        </a:solidFill>
                      </a:endParaRPr>
                    </a:p>
                  </a:txBody>
                  <a:tcPr>
                    <a:solidFill>
                      <a:schemeClr val="accent2"/>
                    </a:solidFill>
                  </a:tcPr>
                </a:tc>
                <a:tc>
                  <a:txBody>
                    <a:bodyPr/>
                    <a:lstStyle/>
                    <a:p>
                      <a:endParaRPr lang="en-US">
                        <a:solidFill>
                          <a:srgbClr val="0070C0"/>
                        </a:solidFill>
                      </a:endParaRPr>
                    </a:p>
                  </a:txBody>
                  <a:tcPr>
                    <a:solidFill>
                      <a:schemeClr val="accent2"/>
                    </a:solidFill>
                  </a:tcPr>
                </a:tc>
                <a:tc>
                  <a:txBody>
                    <a:bodyPr/>
                    <a:lstStyle/>
                    <a:p>
                      <a:endParaRPr lang="en-US">
                        <a:solidFill>
                          <a:srgbClr val="0070C0"/>
                        </a:solidFill>
                      </a:endParaRPr>
                    </a:p>
                  </a:txBody>
                  <a:tcPr>
                    <a:solidFill>
                      <a:schemeClr val="accent2"/>
                    </a:solidFill>
                  </a:tcPr>
                </a:tc>
                <a:tc>
                  <a:txBody>
                    <a:bodyPr/>
                    <a:lstStyle/>
                    <a:p>
                      <a:endParaRPr lang="en-US">
                        <a:solidFill>
                          <a:srgbClr val="0070C0"/>
                        </a:solidFill>
                      </a:endParaRPr>
                    </a:p>
                  </a:txBody>
                  <a:tcPr>
                    <a:solidFill>
                      <a:schemeClr val="accent2"/>
                    </a:solidFill>
                  </a:tcPr>
                </a:tc>
                <a:tc>
                  <a:txBody>
                    <a:bodyPr/>
                    <a:lstStyle/>
                    <a:p>
                      <a:endParaRPr lang="en-US" dirty="0">
                        <a:solidFill>
                          <a:srgbClr val="0070C0"/>
                        </a:solidFill>
                      </a:endParaRPr>
                    </a:p>
                  </a:txBody>
                  <a:tcPr>
                    <a:solidFill>
                      <a:schemeClr val="accent2"/>
                    </a:solidFill>
                  </a:tcPr>
                </a:tc>
                <a:extLst>
                  <a:ext uri="{0D108BD9-81ED-4DB2-BD59-A6C34878D82A}">
                    <a16:rowId xmlns:a16="http://schemas.microsoft.com/office/drawing/2014/main" val="2856863491"/>
                  </a:ext>
                </a:extLst>
              </a:tr>
            </a:tbl>
          </a:graphicData>
        </a:graphic>
      </p:graphicFrame>
      <p:sp>
        <p:nvSpPr>
          <p:cNvPr id="5" name="TextBox 4">
            <a:extLst>
              <a:ext uri="{FF2B5EF4-FFF2-40B4-BE49-F238E27FC236}">
                <a16:creationId xmlns:a16="http://schemas.microsoft.com/office/drawing/2014/main" id="{CCBD4039-6E27-46FF-82B9-CE563FA9219B}"/>
              </a:ext>
            </a:extLst>
          </p:cNvPr>
          <p:cNvSpPr txBox="1"/>
          <p:nvPr/>
        </p:nvSpPr>
        <p:spPr>
          <a:xfrm>
            <a:off x="2462245" y="5752904"/>
            <a:ext cx="8127999" cy="369332"/>
          </a:xfrm>
          <a:prstGeom prst="rect">
            <a:avLst/>
          </a:prstGeom>
          <a:noFill/>
        </p:spPr>
        <p:txBody>
          <a:bodyPr wrap="square" rtlCol="0">
            <a:spAutoFit/>
          </a:bodyPr>
          <a:lstStyle/>
          <a:p>
            <a:r>
              <a:rPr lang="en-US" dirty="0"/>
              <a:t>    0		1           2	   3		4	    5		 6	     7		   8		9	    10</a:t>
            </a:r>
          </a:p>
        </p:txBody>
      </p:sp>
      <p:sp>
        <p:nvSpPr>
          <p:cNvPr id="6" name="TextBox 5">
            <a:extLst>
              <a:ext uri="{FF2B5EF4-FFF2-40B4-BE49-F238E27FC236}">
                <a16:creationId xmlns:a16="http://schemas.microsoft.com/office/drawing/2014/main" id="{3701D19A-31D6-4DEC-A89F-0D2C7D98A349}"/>
              </a:ext>
            </a:extLst>
          </p:cNvPr>
          <p:cNvSpPr txBox="1"/>
          <p:nvPr/>
        </p:nvSpPr>
        <p:spPr>
          <a:xfrm>
            <a:off x="4844929" y="6122236"/>
            <a:ext cx="415498" cy="369332"/>
          </a:xfrm>
          <a:prstGeom prst="rect">
            <a:avLst/>
          </a:prstGeom>
          <a:noFill/>
        </p:spPr>
        <p:txBody>
          <a:bodyPr wrap="none" rtlCol="0">
            <a:spAutoFit/>
          </a:bodyPr>
          <a:lstStyle/>
          <a:p>
            <a:r>
              <a:rPr lang="en-US" dirty="0">
                <a:solidFill>
                  <a:srgbClr val="0070C0"/>
                </a:solidFill>
              </a:rPr>
              <a:t>14</a:t>
            </a:r>
          </a:p>
        </p:txBody>
      </p:sp>
      <p:sp>
        <p:nvSpPr>
          <p:cNvPr id="7" name="TextBox 6">
            <a:extLst>
              <a:ext uri="{FF2B5EF4-FFF2-40B4-BE49-F238E27FC236}">
                <a16:creationId xmlns:a16="http://schemas.microsoft.com/office/drawing/2014/main" id="{BDC2BE5F-5C6B-4D18-A9F6-B83BE176BE02}"/>
              </a:ext>
            </a:extLst>
          </p:cNvPr>
          <p:cNvSpPr txBox="1"/>
          <p:nvPr/>
        </p:nvSpPr>
        <p:spPr>
          <a:xfrm>
            <a:off x="7052271" y="6119600"/>
            <a:ext cx="415498" cy="369332"/>
          </a:xfrm>
          <a:prstGeom prst="rect">
            <a:avLst/>
          </a:prstGeom>
          <a:noFill/>
        </p:spPr>
        <p:txBody>
          <a:bodyPr wrap="none" rtlCol="0">
            <a:spAutoFit/>
          </a:bodyPr>
          <a:lstStyle/>
          <a:p>
            <a:r>
              <a:rPr lang="en-US" dirty="0">
                <a:solidFill>
                  <a:srgbClr val="0070C0"/>
                </a:solidFill>
              </a:rPr>
              <a:t>17</a:t>
            </a:r>
          </a:p>
        </p:txBody>
      </p:sp>
      <p:sp>
        <p:nvSpPr>
          <p:cNvPr id="8" name="TextBox 7">
            <a:extLst>
              <a:ext uri="{FF2B5EF4-FFF2-40B4-BE49-F238E27FC236}">
                <a16:creationId xmlns:a16="http://schemas.microsoft.com/office/drawing/2014/main" id="{68051F69-FD98-4538-8660-1AD0FCED33F0}"/>
              </a:ext>
            </a:extLst>
          </p:cNvPr>
          <p:cNvSpPr txBox="1"/>
          <p:nvPr/>
        </p:nvSpPr>
        <p:spPr>
          <a:xfrm>
            <a:off x="5547421" y="6119600"/>
            <a:ext cx="415498" cy="369332"/>
          </a:xfrm>
          <a:prstGeom prst="rect">
            <a:avLst/>
          </a:prstGeom>
          <a:noFill/>
        </p:spPr>
        <p:txBody>
          <a:bodyPr wrap="none" rtlCol="0">
            <a:spAutoFit/>
          </a:bodyPr>
          <a:lstStyle/>
          <a:p>
            <a:r>
              <a:rPr lang="en-US" dirty="0">
                <a:solidFill>
                  <a:srgbClr val="0070C0"/>
                </a:solidFill>
              </a:rPr>
              <a:t>25</a:t>
            </a:r>
          </a:p>
        </p:txBody>
      </p:sp>
      <p:sp>
        <p:nvSpPr>
          <p:cNvPr id="9" name="TextBox 8">
            <a:extLst>
              <a:ext uri="{FF2B5EF4-FFF2-40B4-BE49-F238E27FC236}">
                <a16:creationId xmlns:a16="http://schemas.microsoft.com/office/drawing/2014/main" id="{96A067BA-8479-468D-8B46-F665D3354E20}"/>
              </a:ext>
            </a:extLst>
          </p:cNvPr>
          <p:cNvSpPr txBox="1"/>
          <p:nvPr/>
        </p:nvSpPr>
        <p:spPr>
          <a:xfrm>
            <a:off x="6310481" y="6117357"/>
            <a:ext cx="415498" cy="369332"/>
          </a:xfrm>
          <a:prstGeom prst="rect">
            <a:avLst/>
          </a:prstGeom>
          <a:noFill/>
        </p:spPr>
        <p:txBody>
          <a:bodyPr wrap="none" rtlCol="0">
            <a:spAutoFit/>
          </a:bodyPr>
          <a:lstStyle/>
          <a:p>
            <a:r>
              <a:rPr lang="en-US" dirty="0">
                <a:solidFill>
                  <a:srgbClr val="0070C0"/>
                </a:solidFill>
              </a:rPr>
              <a:t>37</a:t>
            </a:r>
          </a:p>
        </p:txBody>
      </p:sp>
      <p:sp>
        <p:nvSpPr>
          <p:cNvPr id="10" name="TextBox 9">
            <a:extLst>
              <a:ext uri="{FF2B5EF4-FFF2-40B4-BE49-F238E27FC236}">
                <a16:creationId xmlns:a16="http://schemas.microsoft.com/office/drawing/2014/main" id="{083C2F66-9462-4BA8-9AE2-F73964B41981}"/>
              </a:ext>
            </a:extLst>
          </p:cNvPr>
          <p:cNvSpPr txBox="1"/>
          <p:nvPr/>
        </p:nvSpPr>
        <p:spPr>
          <a:xfrm>
            <a:off x="3340079" y="6117357"/>
            <a:ext cx="415498" cy="369332"/>
          </a:xfrm>
          <a:prstGeom prst="rect">
            <a:avLst/>
          </a:prstGeom>
          <a:noFill/>
        </p:spPr>
        <p:txBody>
          <a:bodyPr wrap="none" rtlCol="0">
            <a:spAutoFit/>
          </a:bodyPr>
          <a:lstStyle/>
          <a:p>
            <a:r>
              <a:rPr lang="en-US" dirty="0">
                <a:solidFill>
                  <a:srgbClr val="0070C0"/>
                </a:solidFill>
              </a:rPr>
              <a:t>34</a:t>
            </a:r>
          </a:p>
        </p:txBody>
      </p:sp>
      <p:sp>
        <p:nvSpPr>
          <p:cNvPr id="11" name="TextBox 10">
            <a:extLst>
              <a:ext uri="{FF2B5EF4-FFF2-40B4-BE49-F238E27FC236}">
                <a16:creationId xmlns:a16="http://schemas.microsoft.com/office/drawing/2014/main" id="{AFECA776-FBB0-44A9-85BF-C4BF6114C530}"/>
              </a:ext>
            </a:extLst>
          </p:cNvPr>
          <p:cNvSpPr txBox="1"/>
          <p:nvPr/>
        </p:nvSpPr>
        <p:spPr>
          <a:xfrm>
            <a:off x="7743375" y="6109359"/>
            <a:ext cx="415498" cy="369332"/>
          </a:xfrm>
          <a:prstGeom prst="rect">
            <a:avLst/>
          </a:prstGeom>
          <a:noFill/>
        </p:spPr>
        <p:txBody>
          <a:bodyPr wrap="none" rtlCol="0">
            <a:spAutoFit/>
          </a:bodyPr>
          <a:lstStyle/>
          <a:p>
            <a:r>
              <a:rPr lang="en-US" dirty="0">
                <a:solidFill>
                  <a:srgbClr val="0070C0"/>
                </a:solidFill>
              </a:rPr>
              <a:t>16</a:t>
            </a:r>
          </a:p>
        </p:txBody>
      </p:sp>
      <p:pic>
        <p:nvPicPr>
          <p:cNvPr id="2050" name="Picture 2">
            <a:extLst>
              <a:ext uri="{FF2B5EF4-FFF2-40B4-BE49-F238E27FC236}">
                <a16:creationId xmlns:a16="http://schemas.microsoft.com/office/drawing/2014/main" id="{06829EEB-0E36-4449-987D-02A6C163E68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51" b="5222"/>
          <a:stretch/>
        </p:blipFill>
        <p:spPr bwMode="auto">
          <a:xfrm>
            <a:off x="7260020" y="2281589"/>
            <a:ext cx="2567929" cy="33885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4799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05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6" grpId="0"/>
      <p:bldP spid="7" grpId="0"/>
      <p:bldP spid="8" grpId="0"/>
      <p:bldP spid="9" grpId="0"/>
      <p:bldP spid="10" grpId="0"/>
      <p:bldP spid="1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3CEAC-576C-42C0-A285-11D3149CC41E}"/>
              </a:ext>
            </a:extLst>
          </p:cNvPr>
          <p:cNvSpPr>
            <a:spLocks noGrp="1"/>
          </p:cNvSpPr>
          <p:nvPr>
            <p:ph type="title"/>
          </p:nvPr>
        </p:nvSpPr>
        <p:spPr/>
        <p:txBody>
          <a:bodyPr/>
          <a:lstStyle/>
          <a:p>
            <a:r>
              <a:rPr lang="en-US" dirty="0"/>
              <a:t>YAY! we solved collisions!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F7FCD3D-6A8A-4061-8D14-DAFC8D9AF25D}"/>
                  </a:ext>
                </a:extLst>
              </p:cNvPr>
              <p:cNvSpPr>
                <a:spLocks noGrp="1"/>
              </p:cNvSpPr>
              <p:nvPr>
                <p:ph idx="1"/>
              </p:nvPr>
            </p:nvSpPr>
            <p:spPr/>
            <p:txBody>
              <a:bodyPr/>
              <a:lstStyle/>
              <a:p>
                <a:r>
                  <a:rPr lang="en-US" dirty="0"/>
                  <a:t>Consider the </a:t>
                </a:r>
                <a:r>
                  <a:rPr lang="en-US" b="1" dirty="0"/>
                  <a:t>load factor </a:t>
                </a:r>
                <a14:m>
                  <m:oMath xmlns:m="http://schemas.openxmlformats.org/officeDocument/2006/math">
                    <m:r>
                      <a:rPr lang="en-US" b="1" i="1" smtClean="0">
                        <a:latin typeface="Cambria Math" panose="02040503050406030204" pitchFamily="18" charset="0"/>
                        <a:ea typeface="Cambria Math" panose="02040503050406030204" pitchFamily="18" charset="0"/>
                      </a:rPr>
                      <m:t>𝜶</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𝒏</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𝒎</m:t>
                    </m:r>
                  </m:oMath>
                </a14:m>
                <a:endParaRPr lang="en-US" dirty="0"/>
              </a:p>
              <a:p>
                <a:r>
                  <a:rPr lang="en-US" dirty="0"/>
                  <a:t>As </a:t>
                </a:r>
                <a14:m>
                  <m:oMath xmlns:m="http://schemas.openxmlformats.org/officeDocument/2006/math">
                    <m:r>
                      <a:rPr lang="en-US" i="1" smtClean="0">
                        <a:latin typeface="Cambria Math" panose="02040503050406030204" pitchFamily="18" charset="0"/>
                        <a:ea typeface="Cambria Math" panose="02040503050406030204" pitchFamily="18" charset="0"/>
                      </a:rPr>
                      <m:t>𝛼</m:t>
                    </m:r>
                    <m:r>
                      <a:rPr lang="en-US" i="1" smtClean="0">
                        <a:latin typeface="Cambria Math" panose="02040503050406030204" pitchFamily="18" charset="0"/>
                        <a:ea typeface="Cambria Math" panose="02040503050406030204" pitchFamily="18" charset="0"/>
                      </a:rPr>
                      <m:t>↑</m:t>
                    </m:r>
                  </m:oMath>
                </a14:m>
                <a:r>
                  <a:rPr lang="en-US" dirty="0"/>
                  <a:t>, hash table performance </a:t>
                </a:r>
                <a:r>
                  <a:rPr lang="en-US" b="1" dirty="0"/>
                  <a:t>DEGRADES</a:t>
                </a:r>
                <a:endParaRPr lang="en-US" dirty="0"/>
              </a:p>
              <a:p>
                <a:r>
                  <a:rPr lang="en-US" dirty="0"/>
                  <a:t>Consider an empty table using a good hash function:</a:t>
                </a:r>
              </a:p>
              <a:p>
                <a:pPr lvl="1"/>
                <a:r>
                  <a:rPr lang="en-US" dirty="0"/>
                  <a:t>What is the probability that a key </a:t>
                </a:r>
                <a14:m>
                  <m:oMath xmlns:m="http://schemas.openxmlformats.org/officeDocument/2006/math">
                    <m:r>
                      <a:rPr lang="en-US" b="0" i="1" smtClean="0">
                        <a:latin typeface="Cambria Math" panose="02040503050406030204" pitchFamily="18" charset="0"/>
                      </a:rPr>
                      <m:t>𝑥</m:t>
                    </m:r>
                  </m:oMath>
                </a14:m>
                <a:r>
                  <a:rPr lang="en-US" dirty="0"/>
                  <a:t> will be inserted into any one of the indices in the hash table?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𝑚</m:t>
                    </m:r>
                  </m:oMath>
                </a14:m>
                <a:endParaRPr lang="en-US" dirty="0"/>
              </a:p>
              <a:p>
                <a:r>
                  <a:rPr lang="en-US" dirty="0"/>
                  <a:t>Consider a table that has a cluster of </a:t>
                </a:r>
                <a14:m>
                  <m:oMath xmlns:m="http://schemas.openxmlformats.org/officeDocument/2006/math">
                    <m:r>
                      <a:rPr lang="en-US" b="0" i="1" smtClean="0">
                        <a:latin typeface="Cambria Math" panose="02040503050406030204" pitchFamily="18" charset="0"/>
                      </a:rPr>
                      <m:t>𝑐</m:t>
                    </m:r>
                  </m:oMath>
                </a14:m>
                <a:r>
                  <a:rPr lang="en-US" dirty="0"/>
                  <a:t> consecutive indices occupied:</a:t>
                </a:r>
              </a:p>
              <a:p>
                <a:pPr lvl="1"/>
                <a:r>
                  <a:rPr lang="en-US" dirty="0"/>
                  <a:t>What is the probability that a key </a:t>
                </a:r>
                <a14:m>
                  <m:oMath xmlns:m="http://schemas.openxmlformats.org/officeDocument/2006/math">
                    <m:r>
                      <a:rPr lang="en-US" b="0" i="1" smtClean="0">
                        <a:latin typeface="Cambria Math" panose="02040503050406030204" pitchFamily="18" charset="0"/>
                      </a:rPr>
                      <m:t>𝑥</m:t>
                    </m:r>
                  </m:oMath>
                </a14:m>
                <a:r>
                  <a:rPr lang="en-US" dirty="0"/>
                  <a:t> will be inserted into the index directly after the cluster?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+1)/</m:t>
                    </m:r>
                    <m:r>
                      <a:rPr lang="en-US" b="0" i="1" smtClean="0">
                        <a:latin typeface="Cambria Math" panose="02040503050406030204" pitchFamily="18" charset="0"/>
                      </a:rPr>
                      <m:t>𝑚</m:t>
                    </m:r>
                  </m:oMath>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7F7FCD3D-6A8A-4061-8D14-DAFC8D9AF25D}"/>
                  </a:ext>
                </a:extLst>
              </p:cNvPr>
              <p:cNvSpPr>
                <a:spLocks noGrp="1" noRot="1" noChangeAspect="1" noMove="1" noResize="1" noEditPoints="1" noAdjustHandles="1" noChangeArrowheads="1" noChangeShapeType="1" noTextEdit="1"/>
              </p:cNvSpPr>
              <p:nvPr>
                <p:ph idx="1"/>
              </p:nvPr>
            </p:nvSpPr>
            <p:spPr>
              <a:blipFill>
                <a:blip r:embed="rId3"/>
                <a:stretch>
                  <a:fillRect l="-473" t="-1179" r="-237"/>
                </a:stretch>
              </a:blipFill>
            </p:spPr>
            <p:txBody>
              <a:bodyPr/>
              <a:lstStyle/>
              <a:p>
                <a:r>
                  <a:rPr lang="en-US">
                    <a:noFill/>
                  </a:rPr>
                  <a:t> </a:t>
                </a:r>
              </a:p>
            </p:txBody>
          </p:sp>
        </mc:Fallback>
      </mc:AlternateContent>
      <p:pic>
        <p:nvPicPr>
          <p:cNvPr id="1028" name="Picture 4" descr="Well Yes, But Actually No | Know Your Meme">
            <a:extLst>
              <a:ext uri="{FF2B5EF4-FFF2-40B4-BE49-F238E27FC236}">
                <a16:creationId xmlns:a16="http://schemas.microsoft.com/office/drawing/2014/main" id="{A940B2BB-F1DD-4564-8E1C-18691241EE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53376" y="2252413"/>
            <a:ext cx="2914650" cy="1639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6396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DACE6-86ED-4A31-9D79-1A79765F44A0}"/>
              </a:ext>
            </a:extLst>
          </p:cNvPr>
          <p:cNvSpPr>
            <a:spLocks noGrp="1"/>
          </p:cNvSpPr>
          <p:nvPr>
            <p:ph type="title"/>
          </p:nvPr>
        </p:nvSpPr>
        <p:spPr/>
        <p:txBody>
          <a:bodyPr/>
          <a:lstStyle/>
          <a:p>
            <a:r>
              <a:rPr lang="en-US" dirty="0"/>
              <a:t>Avoiding Clustering</a:t>
            </a:r>
          </a:p>
        </p:txBody>
      </p:sp>
      <p:sp>
        <p:nvSpPr>
          <p:cNvPr id="3" name="Content Placeholder 2">
            <a:extLst>
              <a:ext uri="{FF2B5EF4-FFF2-40B4-BE49-F238E27FC236}">
                <a16:creationId xmlns:a16="http://schemas.microsoft.com/office/drawing/2014/main" id="{9B4924C3-F780-460F-A808-6F1F28439353}"/>
              </a:ext>
            </a:extLst>
          </p:cNvPr>
          <p:cNvSpPr>
            <a:spLocks noGrp="1"/>
          </p:cNvSpPr>
          <p:nvPr>
            <p:ph idx="1"/>
          </p:nvPr>
        </p:nvSpPr>
        <p:spPr/>
        <p:txBody>
          <a:bodyPr/>
          <a:lstStyle/>
          <a:p>
            <a:pPr marL="0" indent="0">
              <a:buNone/>
            </a:pPr>
            <a:r>
              <a:rPr lang="en-US" dirty="0"/>
              <a:t>We need to also make sure that </a:t>
            </a:r>
            <a:r>
              <a:rPr lang="en-US" b="1" dirty="0"/>
              <a:t>after </a:t>
            </a:r>
            <a:r>
              <a:rPr lang="en-US" dirty="0"/>
              <a:t>a collision, all the indices of the hash table are equally probable for the key.</a:t>
            </a:r>
          </a:p>
          <a:p>
            <a:r>
              <a:rPr lang="en-US" dirty="0"/>
              <a:t>The probability of filled locations needs to be evenly distributed throughout the table!</a:t>
            </a:r>
          </a:p>
          <a:p>
            <a:endParaRPr lang="en-US" dirty="0"/>
          </a:p>
        </p:txBody>
      </p:sp>
    </p:spTree>
    <p:extLst>
      <p:ext uri="{BB962C8B-B14F-4D97-AF65-F5344CB8AC3E}">
        <p14:creationId xmlns:p14="http://schemas.microsoft.com/office/powerpoint/2010/main" val="898547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48F30-CD42-4A0D-9738-2409965934C3}"/>
              </a:ext>
            </a:extLst>
          </p:cNvPr>
          <p:cNvSpPr>
            <a:spLocks noGrp="1"/>
          </p:cNvSpPr>
          <p:nvPr>
            <p:ph type="title"/>
          </p:nvPr>
        </p:nvSpPr>
        <p:spPr/>
        <p:txBody>
          <a:bodyPr/>
          <a:lstStyle/>
          <a:p>
            <a:r>
              <a:rPr lang="en-US" dirty="0"/>
              <a:t>Enter: Double Hashing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4194EC-10B6-4BEA-9717-C4D68F463C21}"/>
                  </a:ext>
                </a:extLst>
              </p:cNvPr>
              <p:cNvSpPr>
                <a:spLocks noGrp="1"/>
              </p:cNvSpPr>
              <p:nvPr>
                <p:ph idx="1"/>
              </p:nvPr>
            </p:nvSpPr>
            <p:spPr/>
            <p:txBody>
              <a:bodyPr/>
              <a:lstStyle/>
              <a:p>
                <a:pPr marL="0" indent="0">
                  <a:buNone/>
                </a:pPr>
                <a:r>
                  <a:rPr lang="en-US" dirty="0"/>
                  <a:t>After a collision, rather than attempting to place key </a:t>
                </a:r>
                <a14:m>
                  <m:oMath xmlns:m="http://schemas.openxmlformats.org/officeDocument/2006/math">
                    <m:r>
                      <a:rPr lang="en-US" b="0" i="1" smtClean="0">
                        <a:latin typeface="Cambria Math" panose="02040503050406030204" pitchFamily="18" charset="0"/>
                      </a:rPr>
                      <m:t>𝑥</m:t>
                    </m:r>
                  </m:oMath>
                </a14:m>
                <a:r>
                  <a:rPr lang="en-US" dirty="0"/>
                  <a:t> in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+1</m:t>
                        </m:r>
                      </m:e>
                    </m:d>
                    <m:r>
                      <a:rPr lang="en-US" b="0" i="1" smtClean="0">
                        <a:latin typeface="Cambria Math" panose="02040503050406030204" pitchFamily="18" charset="0"/>
                      </a:rPr>
                      <m:t> </m:t>
                    </m:r>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𝑚</m:t>
                    </m:r>
                  </m:oMath>
                </a14:m>
                <a:r>
                  <a:rPr lang="en-US" dirty="0"/>
                  <a:t>, look 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2</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 </m:t>
                    </m:r>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𝑚</m:t>
                    </m:r>
                    <m:r>
                      <a:rPr lang="en-US" b="0" i="1" smtClean="0">
                        <a:latin typeface="Cambria Math" panose="02040503050406030204" pitchFamily="18" charset="0"/>
                      </a:rPr>
                      <m:t>)</m:t>
                    </m:r>
                  </m:oMath>
                </a14:m>
                <a:r>
                  <a:rPr lang="en-US" dirty="0"/>
                  <a:t> instead!</a:t>
                </a:r>
              </a:p>
              <a:p>
                <a:r>
                  <a:rPr lang="en-US" dirty="0"/>
                  <a:t>h2() is a second different hash function.</a:t>
                </a:r>
              </a:p>
              <a:p>
                <a:pPr lvl="1"/>
                <a:r>
                  <a:rPr lang="en-US" dirty="0"/>
                  <a:t>Typically the mod we choose for the second hash function is the closest prime smaller than the initial mod, </a:t>
                </a:r>
                <a14:m>
                  <m:oMath xmlns:m="http://schemas.openxmlformats.org/officeDocument/2006/math">
                    <m:r>
                      <a:rPr lang="en-US" b="0" i="1" smtClean="0">
                        <a:latin typeface="Cambria Math" panose="02040503050406030204" pitchFamily="18" charset="0"/>
                      </a:rPr>
                      <m:t>𝑚</m:t>
                    </m:r>
                  </m:oMath>
                </a14:m>
                <a:r>
                  <a:rPr lang="en-US" dirty="0"/>
                  <a:t>. (initial mod 11, double hash mod would be 7)</a:t>
                </a:r>
              </a:p>
              <a:p>
                <a:pPr lvl="2"/>
                <a14:m>
                  <m:oMath xmlns:m="http://schemas.openxmlformats.org/officeDocument/2006/math">
                    <m:r>
                      <a:rPr lang="en-US" b="1" i="1" smtClean="0">
                        <a:latin typeface="Cambria Math" panose="02040503050406030204" pitchFamily="18" charset="0"/>
                      </a:rPr>
                      <m:t>𝒉</m:t>
                    </m:r>
                    <m:d>
                      <m:dPr>
                        <m:ctrlPr>
                          <a:rPr lang="en-US" b="1" i="1" smtClean="0">
                            <a:latin typeface="Cambria Math" panose="02040503050406030204" pitchFamily="18" charset="0"/>
                          </a:rPr>
                        </m:ctrlPr>
                      </m:dPr>
                      <m:e>
                        <m:r>
                          <a:rPr lang="en-US" b="1" i="1" smtClean="0">
                            <a:latin typeface="Cambria Math" panose="02040503050406030204" pitchFamily="18" charset="0"/>
                          </a:rPr>
                          <m:t>𝒙</m:t>
                        </m:r>
                      </m:e>
                    </m:d>
                    <m:r>
                      <a:rPr lang="en-US" b="1" i="1" smtClean="0">
                        <a:latin typeface="Cambria Math" panose="02040503050406030204" pitchFamily="18" charset="0"/>
                      </a:rPr>
                      <m:t>==</m:t>
                    </m:r>
                    <m:r>
                      <a:rPr lang="en-US" b="1" i="1" smtClean="0">
                        <a:latin typeface="Cambria Math" panose="02040503050406030204" pitchFamily="18" charset="0"/>
                      </a:rPr>
                      <m:t>𝒉</m:t>
                    </m:r>
                    <m:r>
                      <a:rPr lang="en-US" b="1" i="1" smtClean="0">
                        <a:latin typeface="Cambria Math" panose="02040503050406030204" pitchFamily="18" charset="0"/>
                      </a:rPr>
                      <m:t>(</m:t>
                    </m:r>
                    <m:r>
                      <a:rPr lang="en-US" b="1" i="1" smtClean="0">
                        <a:latin typeface="Cambria Math" panose="02040503050406030204" pitchFamily="18" charset="0"/>
                      </a:rPr>
                      <m:t>𝒚</m:t>
                    </m:r>
                    <m:r>
                      <a:rPr lang="en-US" b="1" i="1" smtClean="0">
                        <a:latin typeface="Cambria Math" panose="02040503050406030204" pitchFamily="18" charset="0"/>
                      </a:rPr>
                      <m:t>)</m:t>
                    </m:r>
                  </m:oMath>
                </a14:m>
                <a:r>
                  <a:rPr lang="en-US" b="1" dirty="0"/>
                  <a:t> and </a:t>
                </a:r>
                <a14:m>
                  <m:oMath xmlns:m="http://schemas.openxmlformats.org/officeDocument/2006/math">
                    <m:r>
                      <a:rPr lang="en-US" b="1" i="1" smtClean="0">
                        <a:latin typeface="Cambria Math" panose="02040503050406030204" pitchFamily="18" charset="0"/>
                      </a:rPr>
                      <m:t>𝒉</m:t>
                    </m:r>
                    <m:r>
                      <a:rPr lang="en-US" b="1" i="1" smtClean="0">
                        <a:latin typeface="Cambria Math" panose="02040503050406030204" pitchFamily="18" charset="0"/>
                      </a:rPr>
                      <m:t>𝟐</m:t>
                    </m:r>
                    <m:d>
                      <m:dPr>
                        <m:ctrlPr>
                          <a:rPr lang="en-US" b="1" i="1" smtClean="0">
                            <a:latin typeface="Cambria Math" panose="02040503050406030204" pitchFamily="18" charset="0"/>
                          </a:rPr>
                        </m:ctrlPr>
                      </m:dPr>
                      <m:e>
                        <m:r>
                          <a:rPr lang="en-US" b="1" i="1" smtClean="0">
                            <a:latin typeface="Cambria Math" panose="02040503050406030204" pitchFamily="18" charset="0"/>
                          </a:rPr>
                          <m:t>𝒙</m:t>
                        </m:r>
                      </m:e>
                    </m:d>
                    <m:r>
                      <a:rPr lang="en-US" b="1" i="1" smtClean="0">
                        <a:latin typeface="Cambria Math" panose="02040503050406030204" pitchFamily="18" charset="0"/>
                      </a:rPr>
                      <m:t>==</m:t>
                    </m:r>
                    <m:r>
                      <a:rPr lang="en-US" b="1" i="1" smtClean="0">
                        <a:latin typeface="Cambria Math" panose="02040503050406030204" pitchFamily="18" charset="0"/>
                      </a:rPr>
                      <m:t>𝒉</m:t>
                    </m:r>
                    <m:r>
                      <a:rPr lang="en-US" b="1" i="1" smtClean="0">
                        <a:latin typeface="Cambria Math" panose="02040503050406030204" pitchFamily="18" charset="0"/>
                      </a:rPr>
                      <m:t>𝟐</m:t>
                    </m:r>
                    <m:r>
                      <a:rPr lang="en-US" b="1" i="1" smtClean="0">
                        <a:latin typeface="Cambria Math" panose="02040503050406030204" pitchFamily="18" charset="0"/>
                      </a:rPr>
                      <m:t>(</m:t>
                    </m:r>
                    <m:r>
                      <a:rPr lang="en-US" b="1" i="1" smtClean="0">
                        <a:latin typeface="Cambria Math" panose="02040503050406030204" pitchFamily="18" charset="0"/>
                      </a:rPr>
                      <m:t>𝒚</m:t>
                    </m:r>
                    <m:r>
                      <a:rPr lang="en-US" b="1" i="1" smtClean="0">
                        <a:latin typeface="Cambria Math" panose="02040503050406030204" pitchFamily="18" charset="0"/>
                      </a:rPr>
                      <m:t>)</m:t>
                    </m:r>
                  </m:oMath>
                </a14:m>
                <a:r>
                  <a:rPr lang="en-US" dirty="0"/>
                  <a:t> should be very unlikely.</a:t>
                </a:r>
              </a:p>
              <a:p>
                <a:pPr lvl="3"/>
                <a:r>
                  <a:rPr lang="en-US" dirty="0"/>
                  <a:t>Thus, it should be unlikely for two keys to use the same increment (or we’d have another collision)</a:t>
                </a:r>
              </a:p>
              <a:p>
                <a:pPr marL="228600" lvl="1" indent="0">
                  <a:buNone/>
                </a:pPr>
                <a:r>
                  <a:rPr lang="en-US" b="1" dirty="0"/>
                  <a:t>Ideally, we want it to be unlikely for keys to collide again!</a:t>
                </a:r>
              </a:p>
            </p:txBody>
          </p:sp>
        </mc:Choice>
        <mc:Fallback xmlns="">
          <p:sp>
            <p:nvSpPr>
              <p:cNvPr id="3" name="Content Placeholder 2">
                <a:extLst>
                  <a:ext uri="{FF2B5EF4-FFF2-40B4-BE49-F238E27FC236}">
                    <a16:creationId xmlns:a16="http://schemas.microsoft.com/office/drawing/2014/main" id="{4A4194EC-10B6-4BEA-9717-C4D68F463C21}"/>
                  </a:ext>
                </a:extLst>
              </p:cNvPr>
              <p:cNvSpPr>
                <a:spLocks noGrp="1" noRot="1" noChangeAspect="1" noMove="1" noResize="1" noEditPoints="1" noAdjustHandles="1" noChangeArrowheads="1" noChangeShapeType="1" noTextEdit="1"/>
              </p:cNvSpPr>
              <p:nvPr>
                <p:ph idx="1"/>
              </p:nvPr>
            </p:nvSpPr>
            <p:spPr>
              <a:blipFill>
                <a:blip r:embed="rId2"/>
                <a:stretch>
                  <a:fillRect l="-631" t="-1179" r="-394"/>
                </a:stretch>
              </a:blipFill>
            </p:spPr>
            <p:txBody>
              <a:bodyPr/>
              <a:lstStyle/>
              <a:p>
                <a:r>
                  <a:rPr lang="en-US">
                    <a:noFill/>
                  </a:rPr>
                  <a:t> </a:t>
                </a:r>
              </a:p>
            </p:txBody>
          </p:sp>
        </mc:Fallback>
      </mc:AlternateContent>
    </p:spTree>
    <p:extLst>
      <p:ext uri="{BB962C8B-B14F-4D97-AF65-F5344CB8AC3E}">
        <p14:creationId xmlns:p14="http://schemas.microsoft.com/office/powerpoint/2010/main" val="408717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A45E9-2989-4A2D-9287-E89040905A63}"/>
              </a:ext>
            </a:extLst>
          </p:cNvPr>
          <p:cNvSpPr>
            <a:spLocks noGrp="1"/>
          </p:cNvSpPr>
          <p:nvPr>
            <p:ph type="title"/>
          </p:nvPr>
        </p:nvSpPr>
        <p:spPr/>
        <p:txBody>
          <a:bodyPr/>
          <a:lstStyle/>
          <a:p>
            <a:r>
              <a:rPr lang="en-US" dirty="0"/>
              <a:t>Double Hashing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D8D430C-8BAC-4502-8227-49692D661F7A}"/>
                  </a:ext>
                </a:extLst>
              </p:cNvPr>
              <p:cNvSpPr>
                <a:spLocks noGrp="1"/>
              </p:cNvSpPr>
              <p:nvPr>
                <p:ph idx="1"/>
              </p:nvPr>
            </p:nvSpPr>
            <p:spPr/>
            <p:txBody>
              <a:bodyPr/>
              <a:lstStyle/>
              <a:p>
                <a:pPr marL="0" indent="0">
                  <a:buNone/>
                </a:pPr>
                <a:r>
                  <a:rPr lang="en-US" dirty="0"/>
                  <a:t>Suppose </a:t>
                </a:r>
                <a14:m>
                  <m:oMath xmlns:m="http://schemas.openxmlformats.org/officeDocument/2006/math">
                    <m:r>
                      <a:rPr lang="en-US" b="0" i="1" smtClean="0">
                        <a:latin typeface="Cambria Math" panose="02040503050406030204" pitchFamily="18" charset="0"/>
                      </a:rPr>
                      <m:t>h</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𝑚𝑜𝑑</m:t>
                    </m:r>
                    <m:r>
                      <a:rPr lang="en-US" b="0" i="1" smtClean="0">
                        <a:latin typeface="Cambria Math" panose="02040503050406030204" pitchFamily="18" charset="0"/>
                      </a:rPr>
                      <m:t> 11</m:t>
                    </m:r>
                  </m:oMath>
                </a14:m>
                <a:r>
                  <a:rPr lang="en-US" dirty="0"/>
                  <a:t>, </a:t>
                </a:r>
                <a14:m>
                  <m:oMath xmlns:m="http://schemas.openxmlformats.org/officeDocument/2006/math">
                    <m:r>
                      <a:rPr lang="en-US" b="0" i="1" smtClean="0">
                        <a:latin typeface="Cambria Math" panose="02040503050406030204" pitchFamily="18" charset="0"/>
                      </a:rPr>
                      <m:t>h</m:t>
                    </m:r>
                    <m:r>
                      <a:rPr lang="en-US" b="0" i="1" smtClean="0">
                        <a:latin typeface="Cambria Math" panose="02040503050406030204" pitchFamily="18" charset="0"/>
                      </a:rPr>
                      <m:t>2</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𝑚𝑜𝑑</m:t>
                        </m:r>
                        <m:r>
                          <a:rPr lang="en-US" b="0" i="1" smtClean="0">
                            <a:latin typeface="Cambria Math" panose="02040503050406030204" pitchFamily="18" charset="0"/>
                          </a:rPr>
                          <m:t> 7</m:t>
                        </m:r>
                      </m:e>
                    </m:d>
                    <m:r>
                      <a:rPr lang="en-US" b="0" i="1" smtClean="0">
                        <a:latin typeface="Cambria Math" panose="02040503050406030204" pitchFamily="18" charset="0"/>
                      </a:rPr>
                      <m:t>+1</m:t>
                    </m:r>
                  </m:oMath>
                </a14:m>
                <a:endParaRPr lang="en-US" dirty="0"/>
              </a:p>
              <a:p>
                <a:r>
                  <a:rPr lang="en-US" dirty="0"/>
                  <a:t>We want to insert the following: </a:t>
                </a:r>
                <a14:m>
                  <m:oMath xmlns:m="http://schemas.openxmlformats.org/officeDocument/2006/math">
                    <m:r>
                      <a:rPr lang="en-US" b="0" i="1" smtClean="0">
                        <a:latin typeface="Cambria Math" panose="02040503050406030204" pitchFamily="18" charset="0"/>
                      </a:rPr>
                      <m:t>14, 17, 25, 37, 34, 16, 26</m:t>
                    </m:r>
                  </m:oMath>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ED8D430C-8BAC-4502-8227-49692D661F7A}"/>
                  </a:ext>
                </a:extLst>
              </p:cNvPr>
              <p:cNvSpPr>
                <a:spLocks noGrp="1" noRot="1" noChangeAspect="1" noMove="1" noResize="1" noEditPoints="1" noAdjustHandles="1" noChangeArrowheads="1" noChangeShapeType="1" noTextEdit="1"/>
              </p:cNvSpPr>
              <p:nvPr>
                <p:ph idx="1"/>
              </p:nvPr>
            </p:nvSpPr>
            <p:spPr>
              <a:blipFill>
                <a:blip r:embed="rId2"/>
                <a:stretch>
                  <a:fillRect l="-631" t="-1179"/>
                </a:stretch>
              </a:blipFill>
            </p:spPr>
            <p:txBody>
              <a:bodyPr/>
              <a:lstStyle/>
              <a:p>
                <a:r>
                  <a:rPr lang="en-US">
                    <a:noFill/>
                  </a:rPr>
                  <a:t> </a:t>
                </a:r>
              </a:p>
            </p:txBody>
          </p:sp>
        </mc:Fallback>
      </mc:AlternateContent>
    </p:spTree>
    <p:extLst>
      <p:ext uri="{BB962C8B-B14F-4D97-AF65-F5344CB8AC3E}">
        <p14:creationId xmlns:p14="http://schemas.microsoft.com/office/powerpoint/2010/main" val="3312840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739E2-C11B-4A50-9D01-6CFB1A44FB2A}"/>
              </a:ext>
            </a:extLst>
          </p:cNvPr>
          <p:cNvSpPr>
            <a:spLocks noGrp="1"/>
          </p:cNvSpPr>
          <p:nvPr>
            <p:ph type="title"/>
          </p:nvPr>
        </p:nvSpPr>
        <p:spPr/>
        <p:txBody>
          <a:bodyPr/>
          <a:lstStyle/>
          <a:p>
            <a:r>
              <a:rPr lang="en-US" dirty="0"/>
              <a:t>Double Hashing Insertion</a:t>
            </a:r>
          </a:p>
        </p:txBody>
      </p:sp>
      <p:sp>
        <p:nvSpPr>
          <p:cNvPr id="3" name="Content Placeholder 2">
            <a:extLst>
              <a:ext uri="{FF2B5EF4-FFF2-40B4-BE49-F238E27FC236}">
                <a16:creationId xmlns:a16="http://schemas.microsoft.com/office/drawing/2014/main" id="{61873A8A-99DD-4489-9D85-577C327CC857}"/>
              </a:ext>
            </a:extLst>
          </p:cNvPr>
          <p:cNvSpPr>
            <a:spLocks noGrp="1"/>
          </p:cNvSpPr>
          <p:nvPr>
            <p:ph idx="1"/>
          </p:nvPr>
        </p:nvSpPr>
        <p:spPr>
          <a:xfrm>
            <a:off x="2231136" y="2297286"/>
            <a:ext cx="7729728" cy="3101983"/>
          </a:xfrm>
        </p:spPr>
        <p:txBody>
          <a:bodyPr/>
          <a:lstStyle/>
          <a:p>
            <a:r>
              <a:rPr lang="en-US" dirty="0"/>
              <a:t>Insert 14</a:t>
            </a:r>
          </a:p>
          <a:p>
            <a:pPr lvl="1"/>
            <a:r>
              <a:rPr lang="en-US" dirty="0"/>
              <a:t>14 mod 11 = 3</a:t>
            </a:r>
          </a:p>
          <a:p>
            <a:r>
              <a:rPr lang="en-US" dirty="0"/>
              <a:t>Insert 17</a:t>
            </a:r>
          </a:p>
          <a:p>
            <a:pPr lvl="1"/>
            <a:r>
              <a:rPr lang="en-US" dirty="0"/>
              <a:t>17 mod 11 = 6</a:t>
            </a:r>
          </a:p>
          <a:p>
            <a:r>
              <a:rPr lang="en-US" dirty="0"/>
              <a:t>Insert 25 </a:t>
            </a:r>
          </a:p>
          <a:p>
            <a:pPr lvl="1"/>
            <a:r>
              <a:rPr lang="en-US" dirty="0"/>
              <a:t>25 mod 11 = 3</a:t>
            </a:r>
          </a:p>
          <a:p>
            <a:pPr lvl="1"/>
            <a:r>
              <a:rPr lang="en-US" dirty="0"/>
              <a:t>25 mod 7 + 1 = 4 + 1 = 5</a:t>
            </a:r>
          </a:p>
          <a:p>
            <a:pPr lvl="1"/>
            <a:r>
              <a:rPr lang="en-US" dirty="0"/>
              <a:t>(3 + 5) mod 11 = 8</a:t>
            </a:r>
          </a:p>
        </p:txBody>
      </p:sp>
      <p:graphicFrame>
        <p:nvGraphicFramePr>
          <p:cNvPr id="4" name="Table 4">
            <a:extLst>
              <a:ext uri="{FF2B5EF4-FFF2-40B4-BE49-F238E27FC236}">
                <a16:creationId xmlns:a16="http://schemas.microsoft.com/office/drawing/2014/main" id="{6C618C8E-1C7F-4668-8874-D602AA998408}"/>
              </a:ext>
            </a:extLst>
          </p:cNvPr>
          <p:cNvGraphicFramePr>
            <a:graphicFrameLocks noGrp="1"/>
          </p:cNvGraphicFramePr>
          <p:nvPr>
            <p:extLst>
              <p:ext uri="{D42A27DB-BD31-4B8C-83A1-F6EECF244321}">
                <p14:modId xmlns:p14="http://schemas.microsoft.com/office/powerpoint/2010/main" val="2415313601"/>
              </p:ext>
            </p:extLst>
          </p:nvPr>
        </p:nvGraphicFramePr>
        <p:xfrm>
          <a:off x="2452414" y="6435442"/>
          <a:ext cx="8127999" cy="370840"/>
        </p:xfrm>
        <a:graphic>
          <a:graphicData uri="http://schemas.openxmlformats.org/drawingml/2006/table">
            <a:tbl>
              <a:tblPr firstRow="1" bandRow="1">
                <a:tableStyleId>{5C22544A-7EE6-4342-B048-85BDC9FD1C3A}</a:tableStyleId>
              </a:tblPr>
              <a:tblGrid>
                <a:gridCol w="738909">
                  <a:extLst>
                    <a:ext uri="{9D8B030D-6E8A-4147-A177-3AD203B41FA5}">
                      <a16:colId xmlns:a16="http://schemas.microsoft.com/office/drawing/2014/main" val="4178111286"/>
                    </a:ext>
                  </a:extLst>
                </a:gridCol>
                <a:gridCol w="738909">
                  <a:extLst>
                    <a:ext uri="{9D8B030D-6E8A-4147-A177-3AD203B41FA5}">
                      <a16:colId xmlns:a16="http://schemas.microsoft.com/office/drawing/2014/main" val="3312107353"/>
                    </a:ext>
                  </a:extLst>
                </a:gridCol>
                <a:gridCol w="738909">
                  <a:extLst>
                    <a:ext uri="{9D8B030D-6E8A-4147-A177-3AD203B41FA5}">
                      <a16:colId xmlns:a16="http://schemas.microsoft.com/office/drawing/2014/main" val="213935834"/>
                    </a:ext>
                  </a:extLst>
                </a:gridCol>
                <a:gridCol w="738909">
                  <a:extLst>
                    <a:ext uri="{9D8B030D-6E8A-4147-A177-3AD203B41FA5}">
                      <a16:colId xmlns:a16="http://schemas.microsoft.com/office/drawing/2014/main" val="2398592152"/>
                    </a:ext>
                  </a:extLst>
                </a:gridCol>
                <a:gridCol w="738909">
                  <a:extLst>
                    <a:ext uri="{9D8B030D-6E8A-4147-A177-3AD203B41FA5}">
                      <a16:colId xmlns:a16="http://schemas.microsoft.com/office/drawing/2014/main" val="3505104868"/>
                    </a:ext>
                  </a:extLst>
                </a:gridCol>
                <a:gridCol w="738909">
                  <a:extLst>
                    <a:ext uri="{9D8B030D-6E8A-4147-A177-3AD203B41FA5}">
                      <a16:colId xmlns:a16="http://schemas.microsoft.com/office/drawing/2014/main" val="1476613679"/>
                    </a:ext>
                  </a:extLst>
                </a:gridCol>
                <a:gridCol w="738909">
                  <a:extLst>
                    <a:ext uri="{9D8B030D-6E8A-4147-A177-3AD203B41FA5}">
                      <a16:colId xmlns:a16="http://schemas.microsoft.com/office/drawing/2014/main" val="4132464943"/>
                    </a:ext>
                  </a:extLst>
                </a:gridCol>
                <a:gridCol w="738909">
                  <a:extLst>
                    <a:ext uri="{9D8B030D-6E8A-4147-A177-3AD203B41FA5}">
                      <a16:colId xmlns:a16="http://schemas.microsoft.com/office/drawing/2014/main" val="1702352792"/>
                    </a:ext>
                  </a:extLst>
                </a:gridCol>
                <a:gridCol w="738909">
                  <a:extLst>
                    <a:ext uri="{9D8B030D-6E8A-4147-A177-3AD203B41FA5}">
                      <a16:colId xmlns:a16="http://schemas.microsoft.com/office/drawing/2014/main" val="3794110443"/>
                    </a:ext>
                  </a:extLst>
                </a:gridCol>
                <a:gridCol w="738909">
                  <a:extLst>
                    <a:ext uri="{9D8B030D-6E8A-4147-A177-3AD203B41FA5}">
                      <a16:colId xmlns:a16="http://schemas.microsoft.com/office/drawing/2014/main" val="2398549442"/>
                    </a:ext>
                  </a:extLst>
                </a:gridCol>
                <a:gridCol w="738909">
                  <a:extLst>
                    <a:ext uri="{9D8B030D-6E8A-4147-A177-3AD203B41FA5}">
                      <a16:colId xmlns:a16="http://schemas.microsoft.com/office/drawing/2014/main" val="3345662330"/>
                    </a:ext>
                  </a:extLst>
                </a:gridCol>
              </a:tblGrid>
              <a:tr h="370840">
                <a:tc>
                  <a:txBody>
                    <a:bodyPr/>
                    <a:lstStyle/>
                    <a:p>
                      <a:endParaRPr lang="en-US">
                        <a:solidFill>
                          <a:srgbClr val="0070C0"/>
                        </a:solidFill>
                      </a:endParaRPr>
                    </a:p>
                  </a:txBody>
                  <a:tcPr>
                    <a:solidFill>
                      <a:schemeClr val="accent2"/>
                    </a:solidFill>
                  </a:tcPr>
                </a:tc>
                <a:tc>
                  <a:txBody>
                    <a:bodyPr/>
                    <a:lstStyle/>
                    <a:p>
                      <a:endParaRPr lang="en-US">
                        <a:solidFill>
                          <a:srgbClr val="0070C0"/>
                        </a:solidFill>
                      </a:endParaRPr>
                    </a:p>
                  </a:txBody>
                  <a:tcPr>
                    <a:solidFill>
                      <a:schemeClr val="accent2"/>
                    </a:solidFill>
                  </a:tcPr>
                </a:tc>
                <a:tc>
                  <a:txBody>
                    <a:bodyPr/>
                    <a:lstStyle/>
                    <a:p>
                      <a:endParaRPr lang="en-US" dirty="0">
                        <a:solidFill>
                          <a:srgbClr val="0070C0"/>
                        </a:solidFill>
                      </a:endParaRPr>
                    </a:p>
                  </a:txBody>
                  <a:tcPr>
                    <a:solidFill>
                      <a:schemeClr val="accent2"/>
                    </a:solidFill>
                  </a:tcPr>
                </a:tc>
                <a:tc>
                  <a:txBody>
                    <a:bodyPr/>
                    <a:lstStyle/>
                    <a:p>
                      <a:endParaRPr lang="en-US" dirty="0">
                        <a:solidFill>
                          <a:srgbClr val="0070C0"/>
                        </a:solidFill>
                      </a:endParaRPr>
                    </a:p>
                  </a:txBody>
                  <a:tcPr>
                    <a:solidFill>
                      <a:schemeClr val="accent2"/>
                    </a:solidFill>
                  </a:tcPr>
                </a:tc>
                <a:tc>
                  <a:txBody>
                    <a:bodyPr/>
                    <a:lstStyle/>
                    <a:p>
                      <a:endParaRPr lang="en-US" dirty="0">
                        <a:solidFill>
                          <a:srgbClr val="0070C0"/>
                        </a:solidFill>
                      </a:endParaRPr>
                    </a:p>
                  </a:txBody>
                  <a:tcPr>
                    <a:solidFill>
                      <a:schemeClr val="accent2"/>
                    </a:solidFill>
                  </a:tcPr>
                </a:tc>
                <a:tc>
                  <a:txBody>
                    <a:bodyPr/>
                    <a:lstStyle/>
                    <a:p>
                      <a:endParaRPr lang="en-US">
                        <a:solidFill>
                          <a:srgbClr val="0070C0"/>
                        </a:solidFill>
                      </a:endParaRPr>
                    </a:p>
                  </a:txBody>
                  <a:tcPr>
                    <a:solidFill>
                      <a:schemeClr val="accent2"/>
                    </a:solidFill>
                  </a:tcPr>
                </a:tc>
                <a:tc>
                  <a:txBody>
                    <a:bodyPr/>
                    <a:lstStyle/>
                    <a:p>
                      <a:endParaRPr lang="en-US">
                        <a:solidFill>
                          <a:srgbClr val="0070C0"/>
                        </a:solidFill>
                      </a:endParaRPr>
                    </a:p>
                  </a:txBody>
                  <a:tcPr>
                    <a:solidFill>
                      <a:schemeClr val="accent2"/>
                    </a:solidFill>
                  </a:tcPr>
                </a:tc>
                <a:tc>
                  <a:txBody>
                    <a:bodyPr/>
                    <a:lstStyle/>
                    <a:p>
                      <a:endParaRPr lang="en-US">
                        <a:solidFill>
                          <a:srgbClr val="0070C0"/>
                        </a:solidFill>
                      </a:endParaRPr>
                    </a:p>
                  </a:txBody>
                  <a:tcPr>
                    <a:solidFill>
                      <a:schemeClr val="accent2"/>
                    </a:solidFill>
                  </a:tcPr>
                </a:tc>
                <a:tc>
                  <a:txBody>
                    <a:bodyPr/>
                    <a:lstStyle/>
                    <a:p>
                      <a:endParaRPr lang="en-US">
                        <a:solidFill>
                          <a:srgbClr val="0070C0"/>
                        </a:solidFill>
                      </a:endParaRPr>
                    </a:p>
                  </a:txBody>
                  <a:tcPr>
                    <a:solidFill>
                      <a:schemeClr val="accent2"/>
                    </a:solidFill>
                  </a:tcPr>
                </a:tc>
                <a:tc>
                  <a:txBody>
                    <a:bodyPr/>
                    <a:lstStyle/>
                    <a:p>
                      <a:endParaRPr lang="en-US">
                        <a:solidFill>
                          <a:srgbClr val="0070C0"/>
                        </a:solidFill>
                      </a:endParaRPr>
                    </a:p>
                  </a:txBody>
                  <a:tcPr>
                    <a:solidFill>
                      <a:schemeClr val="accent2"/>
                    </a:solidFill>
                  </a:tcPr>
                </a:tc>
                <a:tc>
                  <a:txBody>
                    <a:bodyPr/>
                    <a:lstStyle/>
                    <a:p>
                      <a:endParaRPr lang="en-US" dirty="0">
                        <a:solidFill>
                          <a:srgbClr val="0070C0"/>
                        </a:solidFill>
                      </a:endParaRPr>
                    </a:p>
                  </a:txBody>
                  <a:tcPr>
                    <a:solidFill>
                      <a:schemeClr val="accent2"/>
                    </a:solidFill>
                  </a:tcPr>
                </a:tc>
                <a:extLst>
                  <a:ext uri="{0D108BD9-81ED-4DB2-BD59-A6C34878D82A}">
                    <a16:rowId xmlns:a16="http://schemas.microsoft.com/office/drawing/2014/main" val="2856863491"/>
                  </a:ext>
                </a:extLst>
              </a:tr>
            </a:tbl>
          </a:graphicData>
        </a:graphic>
      </p:graphicFrame>
      <p:sp>
        <p:nvSpPr>
          <p:cNvPr id="5" name="TextBox 4">
            <a:extLst>
              <a:ext uri="{FF2B5EF4-FFF2-40B4-BE49-F238E27FC236}">
                <a16:creationId xmlns:a16="http://schemas.microsoft.com/office/drawing/2014/main" id="{B154DAE7-0159-4621-A051-1668C6D3661C}"/>
              </a:ext>
            </a:extLst>
          </p:cNvPr>
          <p:cNvSpPr txBox="1"/>
          <p:nvPr/>
        </p:nvSpPr>
        <p:spPr>
          <a:xfrm>
            <a:off x="2452414" y="6066110"/>
            <a:ext cx="8127999" cy="369332"/>
          </a:xfrm>
          <a:prstGeom prst="rect">
            <a:avLst/>
          </a:prstGeom>
          <a:noFill/>
        </p:spPr>
        <p:txBody>
          <a:bodyPr wrap="square" rtlCol="0">
            <a:spAutoFit/>
          </a:bodyPr>
          <a:lstStyle/>
          <a:p>
            <a:r>
              <a:rPr lang="en-US" dirty="0"/>
              <a:t>    0		1           2	   3		4	    5		 6	     7		   8		9	    10</a:t>
            </a:r>
          </a:p>
        </p:txBody>
      </p:sp>
      <p:sp>
        <p:nvSpPr>
          <p:cNvPr id="13" name="TextBox 12">
            <a:extLst>
              <a:ext uri="{FF2B5EF4-FFF2-40B4-BE49-F238E27FC236}">
                <a16:creationId xmlns:a16="http://schemas.microsoft.com/office/drawing/2014/main" id="{6208F9A0-D866-4440-B285-0E188D81C519}"/>
              </a:ext>
            </a:extLst>
          </p:cNvPr>
          <p:cNvSpPr txBox="1"/>
          <p:nvPr/>
        </p:nvSpPr>
        <p:spPr>
          <a:xfrm>
            <a:off x="4830096" y="6421909"/>
            <a:ext cx="415498" cy="369332"/>
          </a:xfrm>
          <a:prstGeom prst="rect">
            <a:avLst/>
          </a:prstGeom>
          <a:noFill/>
        </p:spPr>
        <p:txBody>
          <a:bodyPr wrap="none" rtlCol="0">
            <a:spAutoFit/>
          </a:bodyPr>
          <a:lstStyle/>
          <a:p>
            <a:r>
              <a:rPr lang="en-US" dirty="0">
                <a:solidFill>
                  <a:srgbClr val="0070C0"/>
                </a:solidFill>
              </a:rPr>
              <a:t>14</a:t>
            </a:r>
          </a:p>
        </p:txBody>
      </p:sp>
      <p:sp>
        <p:nvSpPr>
          <p:cNvPr id="14" name="TextBox 13">
            <a:extLst>
              <a:ext uri="{FF2B5EF4-FFF2-40B4-BE49-F238E27FC236}">
                <a16:creationId xmlns:a16="http://schemas.microsoft.com/office/drawing/2014/main" id="{5993C5B4-7AF5-4501-83B6-C6ADB9A5A095}"/>
              </a:ext>
            </a:extLst>
          </p:cNvPr>
          <p:cNvSpPr txBox="1"/>
          <p:nvPr/>
        </p:nvSpPr>
        <p:spPr>
          <a:xfrm>
            <a:off x="7027605" y="6421909"/>
            <a:ext cx="415498" cy="369332"/>
          </a:xfrm>
          <a:prstGeom prst="rect">
            <a:avLst/>
          </a:prstGeom>
          <a:noFill/>
        </p:spPr>
        <p:txBody>
          <a:bodyPr wrap="none" rtlCol="0">
            <a:spAutoFit/>
          </a:bodyPr>
          <a:lstStyle/>
          <a:p>
            <a:r>
              <a:rPr lang="en-US" dirty="0">
                <a:solidFill>
                  <a:srgbClr val="0070C0"/>
                </a:solidFill>
              </a:rPr>
              <a:t>17</a:t>
            </a:r>
          </a:p>
        </p:txBody>
      </p:sp>
      <p:cxnSp>
        <p:nvCxnSpPr>
          <p:cNvPr id="16" name="Straight Arrow Connector 15">
            <a:extLst>
              <a:ext uri="{FF2B5EF4-FFF2-40B4-BE49-F238E27FC236}">
                <a16:creationId xmlns:a16="http://schemas.microsoft.com/office/drawing/2014/main" id="{100FFF38-54B1-46CB-87A6-F87BC9946979}"/>
              </a:ext>
            </a:extLst>
          </p:cNvPr>
          <p:cNvCxnSpPr/>
          <p:nvPr/>
        </p:nvCxnSpPr>
        <p:spPr>
          <a:xfrm>
            <a:off x="5043949" y="5770109"/>
            <a:ext cx="0" cy="29600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DC16473A-0B39-47A2-B0EE-419FDD225C06}"/>
              </a:ext>
            </a:extLst>
          </p:cNvPr>
          <p:cNvSpPr txBox="1"/>
          <p:nvPr/>
        </p:nvSpPr>
        <p:spPr>
          <a:xfrm>
            <a:off x="3871585" y="5385736"/>
            <a:ext cx="2644827" cy="369332"/>
          </a:xfrm>
          <a:prstGeom prst="rect">
            <a:avLst/>
          </a:prstGeom>
          <a:noFill/>
        </p:spPr>
        <p:txBody>
          <a:bodyPr wrap="none" rtlCol="0">
            <a:spAutoFit/>
          </a:bodyPr>
          <a:lstStyle/>
          <a:p>
            <a:r>
              <a:rPr lang="en-US" dirty="0"/>
              <a:t>Uh oh! Already populated</a:t>
            </a:r>
          </a:p>
        </p:txBody>
      </p:sp>
      <p:sp>
        <p:nvSpPr>
          <p:cNvPr id="19" name="TextBox 18">
            <a:extLst>
              <a:ext uri="{FF2B5EF4-FFF2-40B4-BE49-F238E27FC236}">
                <a16:creationId xmlns:a16="http://schemas.microsoft.com/office/drawing/2014/main" id="{FB747C75-2657-4A39-8262-441B634DCC82}"/>
              </a:ext>
            </a:extLst>
          </p:cNvPr>
          <p:cNvSpPr txBox="1"/>
          <p:nvPr/>
        </p:nvSpPr>
        <p:spPr>
          <a:xfrm>
            <a:off x="3871584" y="5370695"/>
            <a:ext cx="2815194" cy="369332"/>
          </a:xfrm>
          <a:prstGeom prst="rect">
            <a:avLst/>
          </a:prstGeom>
          <a:noFill/>
        </p:spPr>
        <p:txBody>
          <a:bodyPr wrap="none" rtlCol="0">
            <a:spAutoFit/>
          </a:bodyPr>
          <a:lstStyle/>
          <a:p>
            <a:r>
              <a:rPr lang="en-US" dirty="0"/>
              <a:t>Compute second hash value</a:t>
            </a:r>
          </a:p>
        </p:txBody>
      </p:sp>
      <p:sp>
        <p:nvSpPr>
          <p:cNvPr id="20" name="TextBox 19">
            <a:extLst>
              <a:ext uri="{FF2B5EF4-FFF2-40B4-BE49-F238E27FC236}">
                <a16:creationId xmlns:a16="http://schemas.microsoft.com/office/drawing/2014/main" id="{120C30E5-1083-44E1-902D-C94898F61AA4}"/>
              </a:ext>
            </a:extLst>
          </p:cNvPr>
          <p:cNvSpPr txBox="1"/>
          <p:nvPr/>
        </p:nvSpPr>
        <p:spPr>
          <a:xfrm>
            <a:off x="7945953" y="5404328"/>
            <a:ext cx="1539204" cy="369332"/>
          </a:xfrm>
          <a:prstGeom prst="rect">
            <a:avLst/>
          </a:prstGeom>
          <a:noFill/>
        </p:spPr>
        <p:txBody>
          <a:bodyPr wrap="none" rtlCol="0">
            <a:spAutoFit/>
          </a:bodyPr>
          <a:lstStyle/>
          <a:p>
            <a:r>
              <a:rPr lang="en-US" dirty="0"/>
              <a:t>Check index 8</a:t>
            </a:r>
          </a:p>
        </p:txBody>
      </p:sp>
      <p:cxnSp>
        <p:nvCxnSpPr>
          <p:cNvPr id="21" name="Straight Arrow Connector 20">
            <a:extLst>
              <a:ext uri="{FF2B5EF4-FFF2-40B4-BE49-F238E27FC236}">
                <a16:creationId xmlns:a16="http://schemas.microsoft.com/office/drawing/2014/main" id="{28B5F61F-1FB2-41AE-A944-E8F6F5D46F54}"/>
              </a:ext>
            </a:extLst>
          </p:cNvPr>
          <p:cNvCxnSpPr/>
          <p:nvPr/>
        </p:nvCxnSpPr>
        <p:spPr>
          <a:xfrm>
            <a:off x="8715555" y="5768601"/>
            <a:ext cx="0" cy="29600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A0628120-BBE4-4A30-BCF5-973F1476A40C}"/>
              </a:ext>
            </a:extLst>
          </p:cNvPr>
          <p:cNvSpPr txBox="1"/>
          <p:nvPr/>
        </p:nvSpPr>
        <p:spPr>
          <a:xfrm>
            <a:off x="7732987" y="5399269"/>
            <a:ext cx="2212593" cy="369332"/>
          </a:xfrm>
          <a:prstGeom prst="rect">
            <a:avLst/>
          </a:prstGeom>
          <a:noFill/>
        </p:spPr>
        <p:txBody>
          <a:bodyPr wrap="none" rtlCol="0">
            <a:spAutoFit/>
          </a:bodyPr>
          <a:lstStyle/>
          <a:p>
            <a:r>
              <a:rPr lang="en-US" dirty="0"/>
              <a:t>Empty, so insert here!</a:t>
            </a:r>
          </a:p>
        </p:txBody>
      </p:sp>
      <p:sp>
        <p:nvSpPr>
          <p:cNvPr id="23" name="TextBox 22">
            <a:extLst>
              <a:ext uri="{FF2B5EF4-FFF2-40B4-BE49-F238E27FC236}">
                <a16:creationId xmlns:a16="http://schemas.microsoft.com/office/drawing/2014/main" id="{5221CE81-A0DA-4B95-9420-2657CBEC6B38}"/>
              </a:ext>
            </a:extLst>
          </p:cNvPr>
          <p:cNvSpPr txBox="1"/>
          <p:nvPr/>
        </p:nvSpPr>
        <p:spPr>
          <a:xfrm>
            <a:off x="8507806" y="6421909"/>
            <a:ext cx="415498" cy="369332"/>
          </a:xfrm>
          <a:prstGeom prst="rect">
            <a:avLst/>
          </a:prstGeom>
          <a:noFill/>
        </p:spPr>
        <p:txBody>
          <a:bodyPr wrap="none" rtlCol="0">
            <a:spAutoFit/>
          </a:bodyPr>
          <a:lstStyle/>
          <a:p>
            <a:r>
              <a:rPr lang="en-US" dirty="0">
                <a:solidFill>
                  <a:srgbClr val="0070C0"/>
                </a:solidFill>
              </a:rPr>
              <a:t>25</a:t>
            </a:r>
          </a:p>
        </p:txBody>
      </p:sp>
      <p:sp>
        <p:nvSpPr>
          <p:cNvPr id="24" name="TextBox 23">
            <a:extLst>
              <a:ext uri="{FF2B5EF4-FFF2-40B4-BE49-F238E27FC236}">
                <a16:creationId xmlns:a16="http://schemas.microsoft.com/office/drawing/2014/main" id="{15C180FE-21EB-4F97-A72F-B68EDBD93093}"/>
              </a:ext>
            </a:extLst>
          </p:cNvPr>
          <p:cNvSpPr txBox="1"/>
          <p:nvPr/>
        </p:nvSpPr>
        <p:spPr>
          <a:xfrm>
            <a:off x="7297863" y="2266925"/>
            <a:ext cx="3656329" cy="3970318"/>
          </a:xfrm>
          <a:prstGeom prst="rect">
            <a:avLst/>
          </a:prstGeom>
          <a:noFill/>
        </p:spPr>
        <p:txBody>
          <a:bodyPr wrap="square" rtlCol="0">
            <a:spAutoFit/>
          </a:bodyPr>
          <a:lstStyle/>
          <a:p>
            <a:pPr marL="285750" indent="-285750">
              <a:buFont typeface="Arial" panose="020B0604020202020204" pitchFamily="34" charset="0"/>
              <a:buChar char="•"/>
            </a:pPr>
            <a:r>
              <a:rPr lang="en-US" dirty="0"/>
              <a:t>Insert 37</a:t>
            </a:r>
          </a:p>
          <a:p>
            <a:pPr marL="742950" lvl="1" indent="-285750">
              <a:buFont typeface="Arial" panose="020B0604020202020204" pitchFamily="34" charset="0"/>
              <a:buChar char="•"/>
            </a:pPr>
            <a:r>
              <a:rPr lang="en-US" dirty="0"/>
              <a:t>37 mod 11 = 4</a:t>
            </a:r>
          </a:p>
          <a:p>
            <a:pPr marL="285750" indent="-285750">
              <a:buFont typeface="Arial" panose="020B0604020202020204" pitchFamily="34" charset="0"/>
              <a:buChar char="•"/>
            </a:pPr>
            <a:r>
              <a:rPr lang="en-US" dirty="0"/>
              <a:t>Insert 34</a:t>
            </a:r>
          </a:p>
          <a:p>
            <a:pPr marL="742950" lvl="1" indent="-285750">
              <a:buFont typeface="Arial" panose="020B0604020202020204" pitchFamily="34" charset="0"/>
              <a:buChar char="•"/>
            </a:pPr>
            <a:r>
              <a:rPr lang="en-US" dirty="0"/>
              <a:t>34 mod 11 = 1</a:t>
            </a:r>
          </a:p>
          <a:p>
            <a:pPr marL="285750" indent="-285750">
              <a:buFont typeface="Arial" panose="020B0604020202020204" pitchFamily="34" charset="0"/>
              <a:buChar char="•"/>
            </a:pPr>
            <a:r>
              <a:rPr lang="en-US" dirty="0"/>
              <a:t>Insert 16</a:t>
            </a:r>
          </a:p>
          <a:p>
            <a:pPr marL="742950" lvl="1" indent="-285750">
              <a:buFont typeface="Arial" panose="020B0604020202020204" pitchFamily="34" charset="0"/>
              <a:buChar char="•"/>
            </a:pPr>
            <a:r>
              <a:rPr lang="en-US" dirty="0"/>
              <a:t>16 mod 11 = 5</a:t>
            </a:r>
          </a:p>
          <a:p>
            <a:pPr marL="285750" indent="-285750">
              <a:buFont typeface="Arial" panose="020B0604020202020204" pitchFamily="34" charset="0"/>
              <a:buChar char="•"/>
            </a:pPr>
            <a:r>
              <a:rPr lang="en-US" dirty="0"/>
              <a:t>Insert 26</a:t>
            </a:r>
          </a:p>
          <a:p>
            <a:pPr marL="742950" lvl="1" indent="-285750">
              <a:buFont typeface="Arial" panose="020B0604020202020204" pitchFamily="34" charset="0"/>
              <a:buChar char="•"/>
            </a:pPr>
            <a:r>
              <a:rPr lang="en-US" dirty="0"/>
              <a:t>26 mod 11 = 4</a:t>
            </a:r>
          </a:p>
          <a:p>
            <a:pPr marL="742950" lvl="1" indent="-285750">
              <a:buFont typeface="Arial" panose="020B0604020202020204" pitchFamily="34" charset="0"/>
              <a:buChar char="•"/>
            </a:pPr>
            <a:r>
              <a:rPr lang="en-US" dirty="0"/>
              <a:t>26 mod 7 + 1 = 5 +1 = 6</a:t>
            </a:r>
          </a:p>
          <a:p>
            <a:pPr marL="742950" lvl="1" indent="-285750">
              <a:buFont typeface="Arial" panose="020B0604020202020204" pitchFamily="34" charset="0"/>
              <a:buChar char="•"/>
            </a:pPr>
            <a:r>
              <a:rPr lang="en-US" dirty="0"/>
              <a:t>(4 + 6) mod 11 = 10</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lvl="1"/>
            <a:endParaRPr lang="en-US" dirty="0"/>
          </a:p>
        </p:txBody>
      </p:sp>
      <p:sp>
        <p:nvSpPr>
          <p:cNvPr id="26" name="TextBox 25">
            <a:extLst>
              <a:ext uri="{FF2B5EF4-FFF2-40B4-BE49-F238E27FC236}">
                <a16:creationId xmlns:a16="http://schemas.microsoft.com/office/drawing/2014/main" id="{980046A5-940C-4AE2-A4C5-BB30A49F3684}"/>
              </a:ext>
            </a:extLst>
          </p:cNvPr>
          <p:cNvSpPr txBox="1"/>
          <p:nvPr/>
        </p:nvSpPr>
        <p:spPr>
          <a:xfrm>
            <a:off x="5547404" y="6427758"/>
            <a:ext cx="415498" cy="369332"/>
          </a:xfrm>
          <a:prstGeom prst="rect">
            <a:avLst/>
          </a:prstGeom>
          <a:noFill/>
        </p:spPr>
        <p:txBody>
          <a:bodyPr wrap="none" rtlCol="0">
            <a:spAutoFit/>
          </a:bodyPr>
          <a:lstStyle/>
          <a:p>
            <a:r>
              <a:rPr lang="en-US" dirty="0">
                <a:solidFill>
                  <a:srgbClr val="0070C0"/>
                </a:solidFill>
              </a:rPr>
              <a:t>37</a:t>
            </a:r>
          </a:p>
        </p:txBody>
      </p:sp>
      <p:sp>
        <p:nvSpPr>
          <p:cNvPr id="27" name="TextBox 26">
            <a:extLst>
              <a:ext uri="{FF2B5EF4-FFF2-40B4-BE49-F238E27FC236}">
                <a16:creationId xmlns:a16="http://schemas.microsoft.com/office/drawing/2014/main" id="{AB51E38D-2596-4702-8E8B-5CDC04C5CC2D}"/>
              </a:ext>
            </a:extLst>
          </p:cNvPr>
          <p:cNvSpPr txBox="1"/>
          <p:nvPr/>
        </p:nvSpPr>
        <p:spPr>
          <a:xfrm>
            <a:off x="3349895" y="6425611"/>
            <a:ext cx="415498" cy="369332"/>
          </a:xfrm>
          <a:prstGeom prst="rect">
            <a:avLst/>
          </a:prstGeom>
          <a:noFill/>
        </p:spPr>
        <p:txBody>
          <a:bodyPr wrap="none" rtlCol="0">
            <a:spAutoFit/>
          </a:bodyPr>
          <a:lstStyle/>
          <a:p>
            <a:r>
              <a:rPr lang="en-US" dirty="0">
                <a:solidFill>
                  <a:srgbClr val="0070C0"/>
                </a:solidFill>
              </a:rPr>
              <a:t>34</a:t>
            </a:r>
          </a:p>
        </p:txBody>
      </p:sp>
      <p:sp>
        <p:nvSpPr>
          <p:cNvPr id="28" name="TextBox 27">
            <a:extLst>
              <a:ext uri="{FF2B5EF4-FFF2-40B4-BE49-F238E27FC236}">
                <a16:creationId xmlns:a16="http://schemas.microsoft.com/office/drawing/2014/main" id="{AD322CD2-B8DC-4626-B470-EBFDBAE13663}"/>
              </a:ext>
            </a:extLst>
          </p:cNvPr>
          <p:cNvSpPr txBox="1"/>
          <p:nvPr/>
        </p:nvSpPr>
        <p:spPr>
          <a:xfrm>
            <a:off x="6310296" y="6421909"/>
            <a:ext cx="415498" cy="369332"/>
          </a:xfrm>
          <a:prstGeom prst="rect">
            <a:avLst/>
          </a:prstGeom>
          <a:noFill/>
        </p:spPr>
        <p:txBody>
          <a:bodyPr wrap="none" rtlCol="0">
            <a:spAutoFit/>
          </a:bodyPr>
          <a:lstStyle/>
          <a:p>
            <a:r>
              <a:rPr lang="en-US" dirty="0">
                <a:solidFill>
                  <a:srgbClr val="0070C0"/>
                </a:solidFill>
              </a:rPr>
              <a:t>16</a:t>
            </a:r>
          </a:p>
        </p:txBody>
      </p:sp>
      <p:cxnSp>
        <p:nvCxnSpPr>
          <p:cNvPr id="30" name="Straight Arrow Connector 29">
            <a:extLst>
              <a:ext uri="{FF2B5EF4-FFF2-40B4-BE49-F238E27FC236}">
                <a16:creationId xmlns:a16="http://schemas.microsoft.com/office/drawing/2014/main" id="{7F05F3D3-0AB8-44DC-BCE2-639EBD89D2B9}"/>
              </a:ext>
            </a:extLst>
          </p:cNvPr>
          <p:cNvCxnSpPr/>
          <p:nvPr/>
        </p:nvCxnSpPr>
        <p:spPr>
          <a:xfrm>
            <a:off x="5777945" y="5770109"/>
            <a:ext cx="0" cy="29600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57FCF4-000C-4E14-9D72-97007207CB09}"/>
              </a:ext>
            </a:extLst>
          </p:cNvPr>
          <p:cNvSpPr txBox="1"/>
          <p:nvPr/>
        </p:nvSpPr>
        <p:spPr>
          <a:xfrm>
            <a:off x="4714535" y="5399269"/>
            <a:ext cx="2644827" cy="369332"/>
          </a:xfrm>
          <a:prstGeom prst="rect">
            <a:avLst/>
          </a:prstGeom>
          <a:noFill/>
        </p:spPr>
        <p:txBody>
          <a:bodyPr wrap="none" rtlCol="0">
            <a:spAutoFit/>
          </a:bodyPr>
          <a:lstStyle/>
          <a:p>
            <a:r>
              <a:rPr lang="en-US" dirty="0"/>
              <a:t>Uh oh! Already populated!</a:t>
            </a:r>
          </a:p>
        </p:txBody>
      </p:sp>
      <p:sp>
        <p:nvSpPr>
          <p:cNvPr id="32" name="TextBox 31">
            <a:extLst>
              <a:ext uri="{FF2B5EF4-FFF2-40B4-BE49-F238E27FC236}">
                <a16:creationId xmlns:a16="http://schemas.microsoft.com/office/drawing/2014/main" id="{1DFC3EF2-E0FD-4072-A629-0169FC4B535F}"/>
              </a:ext>
            </a:extLst>
          </p:cNvPr>
          <p:cNvSpPr txBox="1"/>
          <p:nvPr/>
        </p:nvSpPr>
        <p:spPr>
          <a:xfrm>
            <a:off x="4531448" y="5371969"/>
            <a:ext cx="2815194" cy="369332"/>
          </a:xfrm>
          <a:prstGeom prst="rect">
            <a:avLst/>
          </a:prstGeom>
          <a:noFill/>
        </p:spPr>
        <p:txBody>
          <a:bodyPr wrap="none" rtlCol="0">
            <a:spAutoFit/>
          </a:bodyPr>
          <a:lstStyle/>
          <a:p>
            <a:r>
              <a:rPr lang="en-US" dirty="0"/>
              <a:t>Compute second hash value</a:t>
            </a:r>
          </a:p>
        </p:txBody>
      </p:sp>
      <p:cxnSp>
        <p:nvCxnSpPr>
          <p:cNvPr id="33" name="Straight Arrow Connector 32">
            <a:extLst>
              <a:ext uri="{FF2B5EF4-FFF2-40B4-BE49-F238E27FC236}">
                <a16:creationId xmlns:a16="http://schemas.microsoft.com/office/drawing/2014/main" id="{A263F3EE-18FE-4C88-BCED-0E927F591C36}"/>
              </a:ext>
            </a:extLst>
          </p:cNvPr>
          <p:cNvCxnSpPr/>
          <p:nvPr/>
        </p:nvCxnSpPr>
        <p:spPr>
          <a:xfrm>
            <a:off x="10207378" y="5768601"/>
            <a:ext cx="0" cy="29600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FD163724-E1FC-4508-9C0D-9FDC9E2E0E82}"/>
              </a:ext>
            </a:extLst>
          </p:cNvPr>
          <p:cNvSpPr txBox="1"/>
          <p:nvPr/>
        </p:nvSpPr>
        <p:spPr>
          <a:xfrm>
            <a:off x="9450029" y="5429630"/>
            <a:ext cx="1654620" cy="369332"/>
          </a:xfrm>
          <a:prstGeom prst="rect">
            <a:avLst/>
          </a:prstGeom>
          <a:noFill/>
        </p:spPr>
        <p:txBody>
          <a:bodyPr wrap="none" rtlCol="0">
            <a:spAutoFit/>
          </a:bodyPr>
          <a:lstStyle/>
          <a:p>
            <a:r>
              <a:rPr lang="en-US" dirty="0"/>
              <a:t>Check index 10</a:t>
            </a:r>
          </a:p>
        </p:txBody>
      </p:sp>
      <p:sp>
        <p:nvSpPr>
          <p:cNvPr id="35" name="TextBox 34">
            <a:extLst>
              <a:ext uri="{FF2B5EF4-FFF2-40B4-BE49-F238E27FC236}">
                <a16:creationId xmlns:a16="http://schemas.microsoft.com/office/drawing/2014/main" id="{621E182E-DBF5-4B98-BC88-B38454F0979A}"/>
              </a:ext>
            </a:extLst>
          </p:cNvPr>
          <p:cNvSpPr txBox="1"/>
          <p:nvPr/>
        </p:nvSpPr>
        <p:spPr>
          <a:xfrm>
            <a:off x="9181784" y="5457674"/>
            <a:ext cx="2212593" cy="369332"/>
          </a:xfrm>
          <a:prstGeom prst="rect">
            <a:avLst/>
          </a:prstGeom>
          <a:noFill/>
        </p:spPr>
        <p:txBody>
          <a:bodyPr wrap="none" rtlCol="0">
            <a:spAutoFit/>
          </a:bodyPr>
          <a:lstStyle/>
          <a:p>
            <a:r>
              <a:rPr lang="en-US" dirty="0"/>
              <a:t>Empty, so insert here!</a:t>
            </a:r>
          </a:p>
        </p:txBody>
      </p:sp>
      <p:sp>
        <p:nvSpPr>
          <p:cNvPr id="36" name="TextBox 35">
            <a:extLst>
              <a:ext uri="{FF2B5EF4-FFF2-40B4-BE49-F238E27FC236}">
                <a16:creationId xmlns:a16="http://schemas.microsoft.com/office/drawing/2014/main" id="{940B8124-094F-4C86-9CFA-3F9E4734AB88}"/>
              </a:ext>
            </a:extLst>
          </p:cNvPr>
          <p:cNvSpPr txBox="1"/>
          <p:nvPr/>
        </p:nvSpPr>
        <p:spPr>
          <a:xfrm>
            <a:off x="9988007" y="6420746"/>
            <a:ext cx="415498" cy="369332"/>
          </a:xfrm>
          <a:prstGeom prst="rect">
            <a:avLst/>
          </a:prstGeom>
          <a:noFill/>
        </p:spPr>
        <p:txBody>
          <a:bodyPr wrap="none" rtlCol="0">
            <a:spAutoFit/>
          </a:bodyPr>
          <a:lstStyle/>
          <a:p>
            <a:r>
              <a:rPr lang="en-US" dirty="0">
                <a:solidFill>
                  <a:srgbClr val="0070C0"/>
                </a:solidFill>
              </a:rPr>
              <a:t>26</a:t>
            </a:r>
          </a:p>
        </p:txBody>
      </p:sp>
      <p:pic>
        <p:nvPicPr>
          <p:cNvPr id="37" name="Picture 36">
            <a:extLst>
              <a:ext uri="{FF2B5EF4-FFF2-40B4-BE49-F238E27FC236}">
                <a16:creationId xmlns:a16="http://schemas.microsoft.com/office/drawing/2014/main" id="{7347519E-B8B6-403B-94BD-2FCCBC9B9BEF}"/>
              </a:ext>
            </a:extLst>
          </p:cNvPr>
          <p:cNvPicPr>
            <a:picLocks noChangeAspect="1"/>
          </p:cNvPicPr>
          <p:nvPr/>
        </p:nvPicPr>
        <p:blipFill>
          <a:blip r:embed="rId3"/>
          <a:stretch>
            <a:fillRect/>
          </a:stretch>
        </p:blipFill>
        <p:spPr>
          <a:xfrm>
            <a:off x="0" y="21459"/>
            <a:ext cx="12192000" cy="6815082"/>
          </a:xfrm>
          <a:prstGeom prst="rect">
            <a:avLst/>
          </a:prstGeom>
        </p:spPr>
      </p:pic>
    </p:spTree>
    <p:extLst>
      <p:ext uri="{BB962C8B-B14F-4D97-AF65-F5344CB8AC3E}">
        <p14:creationId xmlns:p14="http://schemas.microsoft.com/office/powerpoint/2010/main" val="2175133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nodeType="clickEffect">
                                  <p:stCondLst>
                                    <p:cond delay="0"/>
                                  </p:stCondLst>
                                  <p:childTnLst>
                                    <p:set>
                                      <p:cBhvr>
                                        <p:cTn id="58" dur="1" fill="hold">
                                          <p:stCondLst>
                                            <p:cond delay="0"/>
                                          </p:stCondLst>
                                        </p:cTn>
                                        <p:tgtEl>
                                          <p:spTgt spid="16"/>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18"/>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grpId="1" nodeType="clickEffect">
                                  <p:stCondLst>
                                    <p:cond delay="0"/>
                                  </p:stCondLst>
                                  <p:childTnLst>
                                    <p:set>
                                      <p:cBhvr>
                                        <p:cTn id="70" dur="1" fill="hold">
                                          <p:stCondLst>
                                            <p:cond delay="0"/>
                                          </p:stCondLst>
                                        </p:cTn>
                                        <p:tgtEl>
                                          <p:spTgt spid="19"/>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21"/>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grpId="1" nodeType="clickEffect">
                                  <p:stCondLst>
                                    <p:cond delay="0"/>
                                  </p:stCondLst>
                                  <p:childTnLst>
                                    <p:set>
                                      <p:cBhvr>
                                        <p:cTn id="90" dur="1" fill="hold">
                                          <p:stCondLst>
                                            <p:cond delay="0"/>
                                          </p:stCondLst>
                                        </p:cTn>
                                        <p:tgtEl>
                                          <p:spTgt spid="20"/>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2"/>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2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1"/>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 presetClass="exit" presetSubtype="0" fill="hold" grpId="1" nodeType="clickEffect">
                                  <p:stCondLst>
                                    <p:cond delay="0"/>
                                  </p:stCondLst>
                                  <p:childTnLst>
                                    <p:set>
                                      <p:cBhvr>
                                        <p:cTn id="106" dur="1" fill="hold">
                                          <p:stCondLst>
                                            <p:cond delay="0"/>
                                          </p:stCondLst>
                                        </p:cTn>
                                        <p:tgtEl>
                                          <p:spTgt spid="22"/>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26"/>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24">
                                            <p:txEl>
                                              <p:pRg st="2" end="2"/>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24">
                                            <p:txEl>
                                              <p:pRg st="3" end="3"/>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27"/>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24">
                                            <p:txEl>
                                              <p:pRg st="4" end="4"/>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24">
                                            <p:txEl>
                                              <p:pRg st="5" end="5"/>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28"/>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24">
                                            <p:txEl>
                                              <p:pRg st="6" end="6"/>
                                            </p:txEl>
                                          </p:spTgt>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24">
                                            <p:txEl>
                                              <p:pRg st="7" end="7"/>
                                            </p:txEl>
                                          </p:spTgt>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30"/>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31"/>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xit" presetSubtype="0" fill="hold" grpId="1" nodeType="clickEffect">
                                  <p:stCondLst>
                                    <p:cond delay="0"/>
                                  </p:stCondLst>
                                  <p:childTnLst>
                                    <p:set>
                                      <p:cBhvr>
                                        <p:cTn id="162" dur="1" fill="hold">
                                          <p:stCondLst>
                                            <p:cond delay="0"/>
                                          </p:stCondLst>
                                        </p:cTn>
                                        <p:tgtEl>
                                          <p:spTgt spid="31"/>
                                        </p:tgtEl>
                                        <p:attrNameLst>
                                          <p:attrName>style.visibility</p:attrName>
                                        </p:attrNameLst>
                                      </p:cBhvr>
                                      <p:to>
                                        <p:strVal val="hidden"/>
                                      </p:to>
                                    </p:set>
                                  </p:childTnLst>
                                </p:cTn>
                              </p:par>
                            </p:childTnLst>
                          </p:cTn>
                        </p:par>
                      </p:childTnLst>
                    </p:cTn>
                  </p:par>
                  <p:par>
                    <p:cTn id="163" fill="hold">
                      <p:stCondLst>
                        <p:cond delay="indefinite"/>
                      </p:stCondLst>
                      <p:childTnLst>
                        <p:par>
                          <p:cTn id="164" fill="hold">
                            <p:stCondLst>
                              <p:cond delay="0"/>
                            </p:stCondLst>
                            <p:childTnLst>
                              <p:par>
                                <p:cTn id="165" presetID="1" presetClass="exit" presetSubtype="0" fill="hold" nodeType="clickEffect">
                                  <p:stCondLst>
                                    <p:cond delay="0"/>
                                  </p:stCondLst>
                                  <p:childTnLst>
                                    <p:set>
                                      <p:cBhvr>
                                        <p:cTn id="166" dur="1" fill="hold">
                                          <p:stCondLst>
                                            <p:cond delay="0"/>
                                          </p:stCondLst>
                                        </p:cTn>
                                        <p:tgtEl>
                                          <p:spTgt spid="30"/>
                                        </p:tgtEl>
                                        <p:attrNameLst>
                                          <p:attrName>style.visibility</p:attrName>
                                        </p:attrNameLst>
                                      </p:cBhvr>
                                      <p:to>
                                        <p:strVal val="hidden"/>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32"/>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xit" presetSubtype="0" fill="hold" grpId="1" nodeType="clickEffect">
                                  <p:stCondLst>
                                    <p:cond delay="0"/>
                                  </p:stCondLst>
                                  <p:childTnLst>
                                    <p:set>
                                      <p:cBhvr>
                                        <p:cTn id="174" dur="1" fill="hold">
                                          <p:stCondLst>
                                            <p:cond delay="0"/>
                                          </p:stCondLst>
                                        </p:cTn>
                                        <p:tgtEl>
                                          <p:spTgt spid="32"/>
                                        </p:tgtEl>
                                        <p:attrNameLst>
                                          <p:attrName>style.visibility</p:attrName>
                                        </p:attrNameLst>
                                      </p:cBhvr>
                                      <p:to>
                                        <p:strVal val="hidden"/>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24">
                                            <p:txEl>
                                              <p:pRg st="8" end="8"/>
                                            </p:txEl>
                                          </p:spTgt>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24">
                                            <p:txEl>
                                              <p:pRg st="9" end="9"/>
                                            </p:txEl>
                                          </p:spTgt>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33"/>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grpId="0" nodeType="clickEffect">
                                  <p:stCondLst>
                                    <p:cond delay="0"/>
                                  </p:stCondLst>
                                  <p:childTnLst>
                                    <p:set>
                                      <p:cBhvr>
                                        <p:cTn id="190" dur="1" fill="hold">
                                          <p:stCondLst>
                                            <p:cond delay="0"/>
                                          </p:stCondLst>
                                        </p:cTn>
                                        <p:tgtEl>
                                          <p:spTgt spid="34"/>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xit" presetSubtype="0" fill="hold" grpId="1" nodeType="clickEffect">
                                  <p:stCondLst>
                                    <p:cond delay="0"/>
                                  </p:stCondLst>
                                  <p:childTnLst>
                                    <p:set>
                                      <p:cBhvr>
                                        <p:cTn id="194" dur="1" fill="hold">
                                          <p:stCondLst>
                                            <p:cond delay="0"/>
                                          </p:stCondLst>
                                        </p:cTn>
                                        <p:tgtEl>
                                          <p:spTgt spid="34"/>
                                        </p:tgtEl>
                                        <p:attrNameLst>
                                          <p:attrName>style.visibility</p:attrName>
                                        </p:attrNameLst>
                                      </p:cBhvr>
                                      <p:to>
                                        <p:strVal val="hidden"/>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grpId="0" nodeType="clickEffect">
                                  <p:stCondLst>
                                    <p:cond delay="0"/>
                                  </p:stCondLst>
                                  <p:childTnLst>
                                    <p:set>
                                      <p:cBhvr>
                                        <p:cTn id="198" dur="1" fill="hold">
                                          <p:stCondLst>
                                            <p:cond delay="0"/>
                                          </p:stCondLst>
                                        </p:cTn>
                                        <p:tgtEl>
                                          <p:spTgt spid="35"/>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xit" presetSubtype="0" fill="hold" grpId="1" nodeType="clickEffect">
                                  <p:stCondLst>
                                    <p:cond delay="0"/>
                                  </p:stCondLst>
                                  <p:childTnLst>
                                    <p:set>
                                      <p:cBhvr>
                                        <p:cTn id="202" dur="1" fill="hold">
                                          <p:stCondLst>
                                            <p:cond delay="0"/>
                                          </p:stCondLst>
                                        </p:cTn>
                                        <p:tgtEl>
                                          <p:spTgt spid="35"/>
                                        </p:tgtEl>
                                        <p:attrNameLst>
                                          <p:attrName>style.visibility</p:attrName>
                                        </p:attrNameLst>
                                      </p:cBhvr>
                                      <p:to>
                                        <p:strVal val="hidden"/>
                                      </p:to>
                                    </p:set>
                                  </p:childTnLst>
                                </p:cTn>
                              </p:par>
                            </p:childTnLst>
                          </p:cTn>
                        </p:par>
                      </p:childTnLst>
                    </p:cTn>
                  </p:par>
                  <p:par>
                    <p:cTn id="203" fill="hold">
                      <p:stCondLst>
                        <p:cond delay="indefinite"/>
                      </p:stCondLst>
                      <p:childTnLst>
                        <p:par>
                          <p:cTn id="204" fill="hold">
                            <p:stCondLst>
                              <p:cond delay="0"/>
                            </p:stCondLst>
                            <p:childTnLst>
                              <p:par>
                                <p:cTn id="205" presetID="1" presetClass="exit" presetSubtype="0" fill="hold" nodeType="clickEffect">
                                  <p:stCondLst>
                                    <p:cond delay="0"/>
                                  </p:stCondLst>
                                  <p:childTnLst>
                                    <p:set>
                                      <p:cBhvr>
                                        <p:cTn id="206" dur="1" fill="hold">
                                          <p:stCondLst>
                                            <p:cond delay="0"/>
                                          </p:stCondLst>
                                        </p:cTn>
                                        <p:tgtEl>
                                          <p:spTgt spid="33"/>
                                        </p:tgtEl>
                                        <p:attrNameLst>
                                          <p:attrName>style.visibility</p:attrName>
                                        </p:attrNameLst>
                                      </p:cBhvr>
                                      <p:to>
                                        <p:strVal val="hidden"/>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grpId="0" nodeType="clickEffect">
                                  <p:stCondLst>
                                    <p:cond delay="0"/>
                                  </p:stCondLst>
                                  <p:childTnLst>
                                    <p:set>
                                      <p:cBhvr>
                                        <p:cTn id="21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13" grpId="0"/>
      <p:bldP spid="14" grpId="0"/>
      <p:bldP spid="18" grpId="0"/>
      <p:bldP spid="18" grpId="1"/>
      <p:bldP spid="19" grpId="0"/>
      <p:bldP spid="19" grpId="1"/>
      <p:bldP spid="20" grpId="0"/>
      <p:bldP spid="20" grpId="1"/>
      <p:bldP spid="22" grpId="0"/>
      <p:bldP spid="22" grpId="1"/>
      <p:bldP spid="23" grpId="0"/>
      <p:bldP spid="26" grpId="0"/>
      <p:bldP spid="27" grpId="0"/>
      <p:bldP spid="28" grpId="0"/>
      <p:bldP spid="31" grpId="0"/>
      <p:bldP spid="31" grpId="1"/>
      <p:bldP spid="32" grpId="0"/>
      <p:bldP spid="32" grpId="1"/>
      <p:bldP spid="34" grpId="0"/>
      <p:bldP spid="34" grpId="1"/>
      <p:bldP spid="35" grpId="0"/>
      <p:bldP spid="35" grpId="1"/>
      <p:bldP spid="3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FA8A5-BCD6-45A7-886B-E439C5C03C9A}"/>
              </a:ext>
            </a:extLst>
          </p:cNvPr>
          <p:cNvSpPr>
            <a:spLocks noGrp="1"/>
          </p:cNvSpPr>
          <p:nvPr>
            <p:ph type="title"/>
          </p:nvPr>
        </p:nvSpPr>
        <p:spPr/>
        <p:txBody>
          <a:bodyPr/>
          <a:lstStyle/>
          <a:p>
            <a:r>
              <a:rPr lang="en-US" dirty="0"/>
              <a:t>Hm…There’s something weird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422FA22-6F92-418B-8376-AA797C84C5B2}"/>
                  </a:ext>
                </a:extLst>
              </p:cNvPr>
              <p:cNvSpPr>
                <a:spLocks noGrp="1"/>
              </p:cNvSpPr>
              <p:nvPr>
                <p:ph idx="1"/>
              </p:nvPr>
            </p:nvSpPr>
            <p:spPr/>
            <p:txBody>
              <a:bodyPr/>
              <a:lstStyle/>
              <a:p>
                <a:pPr marL="0" indent="0">
                  <a:buNone/>
                </a:pPr>
                <a:r>
                  <a:rPr lang="en-US" dirty="0"/>
                  <a:t>Notice how the second hash function is calculated like: </a:t>
                </a:r>
                <a14:m>
                  <m:oMath xmlns:m="http://schemas.openxmlformats.org/officeDocument/2006/math">
                    <m:r>
                      <a:rPr lang="en-US" b="0" i="1" smtClean="0">
                        <a:latin typeface="Cambria Math" panose="02040503050406030204" pitchFamily="18" charset="0"/>
                      </a:rPr>
                      <m:t>h</m:t>
                    </m:r>
                    <m:r>
                      <a:rPr lang="en-US" b="0" i="1" smtClean="0">
                        <a:latin typeface="Cambria Math" panose="02040503050406030204" pitchFamily="18" charset="0"/>
                      </a:rPr>
                      <m:t>2</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+1</m:t>
                    </m:r>
                  </m:oMath>
                </a14:m>
                <a:endParaRPr lang="en-US" dirty="0"/>
              </a:p>
              <a:p>
                <a:r>
                  <a:rPr lang="en-US" dirty="0"/>
                  <a:t>Why not </a:t>
                </a:r>
                <a14:m>
                  <m:oMath xmlns:m="http://schemas.openxmlformats.org/officeDocument/2006/math">
                    <m:r>
                      <a:rPr lang="en-US" b="0" i="1" smtClean="0">
                        <a:latin typeface="Cambria Math" panose="02040503050406030204" pitchFamily="18" charset="0"/>
                      </a:rPr>
                      <m:t>h</m:t>
                    </m:r>
                    <m:r>
                      <a:rPr lang="en-US" b="0" i="1" smtClean="0">
                        <a:latin typeface="Cambria Math" panose="02040503050406030204" pitchFamily="18" charset="0"/>
                      </a:rPr>
                      <m:t>2</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oMath>
                </a14:m>
                <a:r>
                  <a:rPr lang="en-US" dirty="0"/>
                  <a:t>?</a:t>
                </a:r>
              </a:p>
              <a:p>
                <a:r>
                  <a:rPr lang="en-US" dirty="0"/>
                  <a:t>Well, if the second hash value mapped to 0, we wouldn’t increment by anything, and we would get another collision!!</a:t>
                </a:r>
              </a:p>
              <a:p>
                <a:pPr marL="0" indent="0">
                  <a:buNone/>
                </a:pPr>
                <a:endParaRPr lang="en-US" dirty="0"/>
              </a:p>
            </p:txBody>
          </p:sp>
        </mc:Choice>
        <mc:Fallback>
          <p:sp>
            <p:nvSpPr>
              <p:cNvPr id="3" name="Content Placeholder 2">
                <a:extLst>
                  <a:ext uri="{FF2B5EF4-FFF2-40B4-BE49-F238E27FC236}">
                    <a16:creationId xmlns:a16="http://schemas.microsoft.com/office/drawing/2014/main" id="{E422FA22-6F92-418B-8376-AA797C84C5B2}"/>
                  </a:ext>
                </a:extLst>
              </p:cNvPr>
              <p:cNvSpPr>
                <a:spLocks noGrp="1" noRot="1" noChangeAspect="1" noMove="1" noResize="1" noEditPoints="1" noAdjustHandles="1" noChangeArrowheads="1" noChangeShapeType="1" noTextEdit="1"/>
              </p:cNvSpPr>
              <p:nvPr>
                <p:ph idx="1"/>
              </p:nvPr>
            </p:nvSpPr>
            <p:spPr>
              <a:blipFill>
                <a:blip r:embed="rId2"/>
                <a:stretch>
                  <a:fillRect l="-631" t="-1179" r="-552"/>
                </a:stretch>
              </a:blipFill>
            </p:spPr>
            <p:txBody>
              <a:bodyPr/>
              <a:lstStyle/>
              <a:p>
                <a:r>
                  <a:rPr lang="en-US">
                    <a:noFill/>
                  </a:rPr>
                  <a:t> </a:t>
                </a:r>
              </a:p>
            </p:txBody>
          </p:sp>
        </mc:Fallback>
      </mc:AlternateContent>
    </p:spTree>
    <p:extLst>
      <p:ext uri="{BB962C8B-B14F-4D97-AF65-F5344CB8AC3E}">
        <p14:creationId xmlns:p14="http://schemas.microsoft.com/office/powerpoint/2010/main" val="37786570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82F6E-B00A-4565-BDF3-E519527D529A}"/>
              </a:ext>
            </a:extLst>
          </p:cNvPr>
          <p:cNvSpPr>
            <a:spLocks noGrp="1"/>
          </p:cNvSpPr>
          <p:nvPr>
            <p:ph type="title"/>
          </p:nvPr>
        </p:nvSpPr>
        <p:spPr/>
        <p:txBody>
          <a:bodyPr/>
          <a:lstStyle/>
          <a:p>
            <a:r>
              <a:rPr lang="en-US" dirty="0"/>
              <a:t>Extra rules for the second hash function</a:t>
            </a:r>
          </a:p>
        </p:txBody>
      </p:sp>
      <p:sp>
        <p:nvSpPr>
          <p:cNvPr id="3" name="Content Placeholder 2">
            <a:extLst>
              <a:ext uri="{FF2B5EF4-FFF2-40B4-BE49-F238E27FC236}">
                <a16:creationId xmlns:a16="http://schemas.microsoft.com/office/drawing/2014/main" id="{2F50F748-AB9B-42F1-8288-156F7ED56C36}"/>
              </a:ext>
            </a:extLst>
          </p:cNvPr>
          <p:cNvSpPr>
            <a:spLocks noGrp="1"/>
          </p:cNvSpPr>
          <p:nvPr>
            <p:ph idx="1"/>
          </p:nvPr>
        </p:nvSpPr>
        <p:spPr/>
        <p:txBody>
          <a:bodyPr/>
          <a:lstStyle/>
          <a:p>
            <a:pPr marL="342900" indent="-342900">
              <a:buFont typeface="+mj-lt"/>
              <a:buAutoNum type="arabicParenR"/>
            </a:pPr>
            <a:r>
              <a:rPr lang="en-US" dirty="0"/>
              <a:t>The second hash function cannot map to a value of 0.</a:t>
            </a:r>
          </a:p>
          <a:p>
            <a:pPr lvl="1"/>
            <a:r>
              <a:rPr lang="en-US" dirty="0"/>
              <a:t>Otherwise, we’d end up with a collision!</a:t>
            </a:r>
          </a:p>
          <a:p>
            <a:pPr marL="342900" indent="-342900">
              <a:buFont typeface="+mj-lt"/>
              <a:buAutoNum type="arabicParenR"/>
            </a:pPr>
            <a:r>
              <a:rPr lang="en-US" dirty="0"/>
              <a:t>We must try all indices once before trying one again</a:t>
            </a:r>
          </a:p>
          <a:p>
            <a:pPr lvl="1"/>
            <a:r>
              <a:rPr lang="en-US" dirty="0"/>
              <a:t>Every index must have an equal probability of being inserted into. </a:t>
            </a:r>
          </a:p>
        </p:txBody>
      </p:sp>
    </p:spTree>
    <p:extLst>
      <p:ext uri="{BB962C8B-B14F-4D97-AF65-F5344CB8AC3E}">
        <p14:creationId xmlns:p14="http://schemas.microsoft.com/office/powerpoint/2010/main" val="1756833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AEE12B49-2257-483F-878F-150B34751F42}"/>
                  </a:ext>
                </a:extLst>
              </p:cNvPr>
              <p:cNvSpPr>
                <a:spLocks noGrp="1"/>
              </p:cNvSpPr>
              <p:nvPr>
                <p:ph type="title"/>
              </p:nvPr>
            </p:nvSpPr>
            <p:spPr/>
            <p:txBody>
              <a:bodyPr/>
              <a:lstStyle/>
              <a:p>
                <a:r>
                  <a:rPr lang="en-US" dirty="0"/>
                  <a:t>As </a:t>
                </a:r>
                <a14:m>
                  <m:oMath xmlns:m="http://schemas.openxmlformats.org/officeDocument/2006/math">
                    <m:r>
                      <a:rPr lang="en-US" i="1" smtClean="0">
                        <a:latin typeface="Cambria Math" panose="02040503050406030204" pitchFamily="18" charset="0"/>
                        <a:ea typeface="Cambria Math" panose="02040503050406030204" pitchFamily="18" charset="0"/>
                      </a:rPr>
                      <m:t>𝛼</m:t>
                    </m:r>
                    <m:r>
                      <a:rPr lang="en-US" i="1" smtClean="0">
                        <a:latin typeface="Cambria Math" panose="02040503050406030204" pitchFamily="18" charset="0"/>
                        <a:ea typeface="Cambria Math" panose="02040503050406030204" pitchFamily="18" charset="0"/>
                      </a:rPr>
                      <m:t>→1</m:t>
                    </m:r>
                  </m:oMath>
                </a14:m>
                <a:r>
                  <a:rPr lang="en-US" dirty="0"/>
                  <a:t>…</a:t>
                </a:r>
              </a:p>
            </p:txBody>
          </p:sp>
        </mc:Choice>
        <mc:Fallback>
          <p:sp>
            <p:nvSpPr>
              <p:cNvPr id="2" name="Title 1">
                <a:extLst>
                  <a:ext uri="{FF2B5EF4-FFF2-40B4-BE49-F238E27FC236}">
                    <a16:creationId xmlns:a16="http://schemas.microsoft.com/office/drawing/2014/main" id="{AEE12B49-2257-483F-878F-150B34751F42}"/>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68D0D36-9345-4626-A2BF-CD03B7AEA72F}"/>
                  </a:ext>
                </a:extLst>
              </p:cNvPr>
              <p:cNvSpPr>
                <a:spLocks noGrp="1"/>
              </p:cNvSpPr>
              <p:nvPr>
                <p:ph idx="1"/>
              </p:nvPr>
            </p:nvSpPr>
            <p:spPr/>
            <p:txBody>
              <a:bodyPr>
                <a:normAutofit fontScale="92500" lnSpcReduction="10000"/>
              </a:bodyPr>
              <a:lstStyle/>
              <a:p>
                <a:pPr marL="0" indent="0">
                  <a:buNone/>
                </a:pPr>
                <a:r>
                  <a:rPr lang="en-US" dirty="0"/>
                  <a:t>In other words, as the hash map gets more full, what happens?</a:t>
                </a:r>
                <a:br>
                  <a:rPr lang="en-US" dirty="0"/>
                </a:br>
                <a:endParaRPr lang="en-US" dirty="0"/>
              </a:p>
              <a:p>
                <a:pPr marL="342900" indent="-342900">
                  <a:buFont typeface="+mj-lt"/>
                  <a:buAutoNum type="arabicParenR"/>
                </a:pPr>
                <a:r>
                  <a:rPr lang="en-US" dirty="0"/>
                  <a:t>Both linear probing and double hashing will degrade to </a:t>
                </a:r>
                <a14:m>
                  <m:oMath xmlns:m="http://schemas.openxmlformats.org/officeDocument/2006/math">
                    <m:r>
                      <a:rPr lang="en-US"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oMath>
                </a14:m>
                <a:endParaRPr lang="en-US" dirty="0"/>
              </a:p>
              <a:p>
                <a:pPr lvl="1"/>
                <a:r>
                  <a:rPr lang="en-US" dirty="0"/>
                  <a:t>How?</a:t>
                </a:r>
              </a:p>
              <a:p>
                <a:pPr lvl="2"/>
                <a:r>
                  <a:rPr lang="en-US" dirty="0"/>
                  <a:t>Multiple collisions will occur</a:t>
                </a:r>
              </a:p>
              <a:p>
                <a:pPr lvl="2"/>
                <a:r>
                  <a:rPr lang="en-US" dirty="0"/>
                  <a:t>Consider inserts and misses…</a:t>
                </a:r>
              </a:p>
              <a:p>
                <a:pPr lvl="3"/>
                <a:r>
                  <a:rPr lang="en-US" dirty="0"/>
                  <a:t>Both will continue until an empty index is found</a:t>
                </a:r>
              </a:p>
              <a:p>
                <a:pPr lvl="4"/>
                <a:r>
                  <a:rPr lang="en-US" dirty="0"/>
                  <a:t>With the few indices available, close to </a:t>
                </a:r>
                <a14:m>
                  <m:oMath xmlns:m="http://schemas.openxmlformats.org/officeDocument/2006/math">
                    <m:r>
                      <a:rPr lang="en-US" b="0" i="1" smtClean="0">
                        <a:latin typeface="Cambria Math" panose="02040503050406030204" pitchFamily="18" charset="0"/>
                      </a:rPr>
                      <m:t>𝑚</m:t>
                    </m:r>
                  </m:oMath>
                </a14:m>
                <a:r>
                  <a:rPr lang="en-US" dirty="0"/>
                  <a:t> probes will need to be performed: </a:t>
                </a:r>
                <a14:m>
                  <m:oMath xmlns:m="http://schemas.openxmlformats.org/officeDocument/2006/math">
                    <m:r>
                      <a:rPr lang="en-US"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m:t>
                    </m:r>
                  </m:oMath>
                </a14:m>
                <a:endParaRPr lang="en-US" dirty="0"/>
              </a:p>
              <a:p>
                <a:pPr lvl="3"/>
                <a:r>
                  <a:rPr lang="en-US" dirty="0"/>
                  <a:t>But </a:t>
                </a:r>
                <a14:m>
                  <m:oMath xmlns:m="http://schemas.openxmlformats.org/officeDocument/2006/math">
                    <m:r>
                      <a:rPr lang="en-US" b="0" i="1" smtClean="0">
                        <a:latin typeface="Cambria Math" panose="02040503050406030204" pitchFamily="18" charset="0"/>
                      </a:rPr>
                      <m:t>𝑛</m:t>
                    </m:r>
                  </m:oMath>
                </a14:m>
                <a:r>
                  <a:rPr lang="en-US" dirty="0"/>
                  <a:t> is approaching </a:t>
                </a:r>
                <a14:m>
                  <m:oMath xmlns:m="http://schemas.openxmlformats.org/officeDocument/2006/math">
                    <m:r>
                      <a:rPr lang="en-US" b="0" i="1" smtClean="0">
                        <a:latin typeface="Cambria Math" panose="02040503050406030204" pitchFamily="18" charset="0"/>
                      </a:rPr>
                      <m:t>𝑚</m:t>
                    </m:r>
                  </m:oMath>
                </a14:m>
                <a:r>
                  <a:rPr lang="en-US" dirty="0"/>
                  <a:t>, so we end up with </a:t>
                </a:r>
                <a14:m>
                  <m:oMath xmlns:m="http://schemas.openxmlformats.org/officeDocument/2006/math">
                    <m:r>
                      <a:rPr lang="en-US"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oMath>
                </a14:m>
                <a:endParaRPr lang="en-US" dirty="0"/>
              </a:p>
            </p:txBody>
          </p:sp>
        </mc:Choice>
        <mc:Fallback>
          <p:sp>
            <p:nvSpPr>
              <p:cNvPr id="3" name="Content Placeholder 2">
                <a:extLst>
                  <a:ext uri="{FF2B5EF4-FFF2-40B4-BE49-F238E27FC236}">
                    <a16:creationId xmlns:a16="http://schemas.microsoft.com/office/drawing/2014/main" id="{868D0D36-9345-4626-A2BF-CD03B7AEA72F}"/>
                  </a:ext>
                </a:extLst>
              </p:cNvPr>
              <p:cNvSpPr>
                <a:spLocks noGrp="1" noRot="1" noChangeAspect="1" noMove="1" noResize="1" noEditPoints="1" noAdjustHandles="1" noChangeArrowheads="1" noChangeShapeType="1" noTextEdit="1"/>
              </p:cNvSpPr>
              <p:nvPr>
                <p:ph idx="1"/>
              </p:nvPr>
            </p:nvSpPr>
            <p:spPr>
              <a:blipFill>
                <a:blip r:embed="rId3"/>
                <a:stretch>
                  <a:fillRect l="-473" t="-1572"/>
                </a:stretch>
              </a:blipFill>
            </p:spPr>
            <p:txBody>
              <a:bodyPr/>
              <a:lstStyle/>
              <a:p>
                <a:r>
                  <a:rPr lang="en-US">
                    <a:noFill/>
                  </a:rPr>
                  <a:t> </a:t>
                </a:r>
              </a:p>
            </p:txBody>
          </p:sp>
        </mc:Fallback>
      </mc:AlternateContent>
    </p:spTree>
    <p:extLst>
      <p:ext uri="{BB962C8B-B14F-4D97-AF65-F5344CB8AC3E}">
        <p14:creationId xmlns:p14="http://schemas.microsoft.com/office/powerpoint/2010/main" val="12144877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9C3E0-1D54-47BA-9361-F2B5729C56B9}"/>
              </a:ext>
            </a:extLst>
          </p:cNvPr>
          <p:cNvSpPr>
            <a:spLocks noGrp="1"/>
          </p:cNvSpPr>
          <p:nvPr>
            <p:ph type="title"/>
          </p:nvPr>
        </p:nvSpPr>
        <p:spPr/>
        <p:txBody>
          <a:bodyPr/>
          <a:lstStyle/>
          <a:p>
            <a:r>
              <a:rPr lang="en-US" dirty="0"/>
              <a:t>Open Addressing Issues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DD166A1-3399-415C-9F52-2B93970859A7}"/>
                  </a:ext>
                </a:extLst>
              </p:cNvPr>
              <p:cNvSpPr>
                <a:spLocks noGrp="1"/>
              </p:cNvSpPr>
              <p:nvPr>
                <p:ph idx="1"/>
              </p:nvPr>
            </p:nvSpPr>
            <p:spPr/>
            <p:txBody>
              <a:bodyPr/>
              <a:lstStyle/>
              <a:p>
                <a:pPr marL="0" indent="0">
                  <a:buNone/>
                </a:pPr>
                <a:r>
                  <a:rPr lang="en-US" dirty="0"/>
                  <a:t>In order to maintain respectable performance, we must keep a portion of the table empty.</a:t>
                </a:r>
              </a:p>
              <a:p>
                <a:r>
                  <a:rPr lang="en-US" dirty="0"/>
                  <a:t>For linear probing,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oMath>
                </a14:m>
                <a:r>
                  <a:rPr lang="en-US" dirty="0"/>
                  <a:t> full is a good rule of thumb</a:t>
                </a:r>
              </a:p>
              <a:p>
                <a:r>
                  <a:rPr lang="en-US" dirty="0"/>
                  <a:t>For double hashing,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oMath>
                </a14:m>
                <a:r>
                  <a:rPr lang="en-US" dirty="0"/>
                  <a:t> full is a good rule of thumb</a:t>
                </a:r>
              </a:p>
            </p:txBody>
          </p:sp>
        </mc:Choice>
        <mc:Fallback>
          <p:sp>
            <p:nvSpPr>
              <p:cNvPr id="3" name="Content Placeholder 2">
                <a:extLst>
                  <a:ext uri="{FF2B5EF4-FFF2-40B4-BE49-F238E27FC236}">
                    <a16:creationId xmlns:a16="http://schemas.microsoft.com/office/drawing/2014/main" id="{5DD166A1-3399-415C-9F52-2B93970859A7}"/>
                  </a:ext>
                </a:extLst>
              </p:cNvPr>
              <p:cNvSpPr>
                <a:spLocks noGrp="1" noRot="1" noChangeAspect="1" noMove="1" noResize="1" noEditPoints="1" noAdjustHandles="1" noChangeArrowheads="1" noChangeShapeType="1" noTextEdit="1"/>
              </p:cNvSpPr>
              <p:nvPr>
                <p:ph idx="1"/>
              </p:nvPr>
            </p:nvSpPr>
            <p:spPr>
              <a:blipFill>
                <a:blip r:embed="rId2"/>
                <a:stretch>
                  <a:fillRect l="-631" t="-1179"/>
                </a:stretch>
              </a:blipFill>
            </p:spPr>
            <p:txBody>
              <a:bodyPr/>
              <a:lstStyle/>
              <a:p>
                <a:r>
                  <a:rPr lang="en-US">
                    <a:noFill/>
                  </a:rPr>
                  <a:t> </a:t>
                </a:r>
              </a:p>
            </p:txBody>
          </p:sp>
        </mc:Fallback>
      </mc:AlternateContent>
    </p:spTree>
    <p:extLst>
      <p:ext uri="{BB962C8B-B14F-4D97-AF65-F5344CB8AC3E}">
        <p14:creationId xmlns:p14="http://schemas.microsoft.com/office/powerpoint/2010/main" val="29860356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5E80B-DF23-4964-8D50-304B5C3E1D74}"/>
              </a:ext>
            </a:extLst>
          </p:cNvPr>
          <p:cNvSpPr>
            <a:spLocks noGrp="1"/>
          </p:cNvSpPr>
          <p:nvPr>
            <p:ph type="title"/>
          </p:nvPr>
        </p:nvSpPr>
        <p:spPr/>
        <p:txBody>
          <a:bodyPr/>
          <a:lstStyle/>
          <a:p>
            <a:r>
              <a:rPr lang="en-US" dirty="0"/>
              <a:t>Enter: Closed Addressing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B021777-2BB0-4BCE-B515-D115CE10D770}"/>
                  </a:ext>
                </a:extLst>
              </p:cNvPr>
              <p:cNvSpPr>
                <a:spLocks noGrp="1"/>
              </p:cNvSpPr>
              <p:nvPr>
                <p:ph idx="1"/>
              </p:nvPr>
            </p:nvSpPr>
            <p:spPr/>
            <p:txBody>
              <a:bodyPr>
                <a:normAutofit fontScale="85000" lnSpcReduction="10000"/>
              </a:bodyPr>
              <a:lstStyle/>
              <a:p>
                <a:pPr marL="0" indent="0">
                  <a:buNone/>
                </a:pPr>
                <a:r>
                  <a:rPr lang="en-US" dirty="0"/>
                  <a:t>If a pigeon’s hole is taken, it lives with a roommate.</a:t>
                </a:r>
              </a:p>
              <a:p>
                <a:pPr marL="342900" indent="-342900">
                  <a:buFont typeface="+mj-lt"/>
                  <a:buAutoNum type="arabicParenR"/>
                </a:pPr>
                <a:r>
                  <a:rPr lang="en-US" dirty="0"/>
                  <a:t>This is typically done with </a:t>
                </a:r>
                <a:r>
                  <a:rPr lang="en-US" b="1" dirty="0"/>
                  <a:t>Separate Chaining</a:t>
                </a:r>
                <a:r>
                  <a:rPr lang="en-US" dirty="0"/>
                  <a:t>.</a:t>
                </a:r>
              </a:p>
              <a:p>
                <a:pPr lvl="1"/>
                <a:r>
                  <a:rPr lang="en-US" dirty="0"/>
                  <a:t>Create a linked-list of keys at each index in the table.</a:t>
                </a:r>
              </a:p>
              <a:p>
                <a:pPr lvl="1"/>
                <a:r>
                  <a:rPr lang="en-US" dirty="0"/>
                  <a:t>However, like we saw with DLBs, the performance depends on the chain length.</a:t>
                </a:r>
              </a:p>
              <a:p>
                <a:pPr lvl="1"/>
                <a:r>
                  <a:rPr lang="en-US" dirty="0"/>
                  <a:t>…and the chain length is determined by </a:t>
                </a:r>
                <a14:m>
                  <m:oMath xmlns:m="http://schemas.openxmlformats.org/officeDocument/2006/math">
                    <m:r>
                      <a:rPr lang="en-US" i="1" smtClean="0">
                        <a:latin typeface="Cambria Math" panose="02040503050406030204" pitchFamily="18" charset="0"/>
                        <a:ea typeface="Cambria Math" panose="02040503050406030204" pitchFamily="18" charset="0"/>
                      </a:rPr>
                      <m:t>𝛼</m:t>
                    </m:r>
                  </m:oMath>
                </a14:m>
                <a:r>
                  <a:rPr lang="en-US" dirty="0"/>
                  <a:t> and the equality of the hash function. </a:t>
                </a:r>
              </a:p>
              <a:p>
                <a:pPr lvl="2"/>
                <a:r>
                  <a:rPr lang="en-US" dirty="0"/>
                  <a:t>If it’s a bad hash function, we’ll get close to linear runtime</a:t>
                </a:r>
              </a:p>
              <a:p>
                <a:pPr marL="0" indent="0">
                  <a:buNone/>
                </a:pPr>
                <a:r>
                  <a:rPr lang="en-US" dirty="0"/>
                  <a:t>If all of the elements hash to the same index, we’ll just end up with a </a:t>
                </a:r>
                <a:r>
                  <a:rPr lang="en-US" b="1" dirty="0"/>
                  <a:t>Sequential Search</a:t>
                </a:r>
                <a:r>
                  <a:rPr lang="en-US" dirty="0"/>
                  <a:t>.</a:t>
                </a:r>
              </a:p>
              <a:p>
                <a:r>
                  <a:rPr lang="en-US" dirty="0"/>
                  <a:t>How can we get around this?</a:t>
                </a:r>
              </a:p>
              <a:p>
                <a:pPr lvl="1"/>
                <a:r>
                  <a:rPr lang="en-US" dirty="0"/>
                  <a:t>By focusing on the chain lengths, we can resize and rehash the hash table once the chain lengths reach a certain threshold!</a:t>
                </a:r>
              </a:p>
            </p:txBody>
          </p:sp>
        </mc:Choice>
        <mc:Fallback>
          <p:sp>
            <p:nvSpPr>
              <p:cNvPr id="3" name="Content Placeholder 2">
                <a:extLst>
                  <a:ext uri="{FF2B5EF4-FFF2-40B4-BE49-F238E27FC236}">
                    <a16:creationId xmlns:a16="http://schemas.microsoft.com/office/drawing/2014/main" id="{0B021777-2BB0-4BCE-B515-D115CE10D770}"/>
                  </a:ext>
                </a:extLst>
              </p:cNvPr>
              <p:cNvSpPr>
                <a:spLocks noGrp="1" noRot="1" noChangeAspect="1" noMove="1" noResize="1" noEditPoints="1" noAdjustHandles="1" noChangeArrowheads="1" noChangeShapeType="1" noTextEdit="1"/>
              </p:cNvSpPr>
              <p:nvPr>
                <p:ph idx="1"/>
              </p:nvPr>
            </p:nvSpPr>
            <p:spPr>
              <a:blipFill>
                <a:blip r:embed="rId2"/>
                <a:stretch>
                  <a:fillRect l="-315" t="-1179" b="-1375"/>
                </a:stretch>
              </a:blipFill>
            </p:spPr>
            <p:txBody>
              <a:bodyPr/>
              <a:lstStyle/>
              <a:p>
                <a:r>
                  <a:rPr lang="en-US">
                    <a:noFill/>
                  </a:rPr>
                  <a:t> </a:t>
                </a:r>
              </a:p>
            </p:txBody>
          </p:sp>
        </mc:Fallback>
      </mc:AlternateContent>
    </p:spTree>
    <p:extLst>
      <p:ext uri="{BB962C8B-B14F-4D97-AF65-F5344CB8AC3E}">
        <p14:creationId xmlns:p14="http://schemas.microsoft.com/office/powerpoint/2010/main" val="15487811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EBB8B-CA8B-49E7-AA6E-7ACA258B08F0}"/>
              </a:ext>
            </a:extLst>
          </p:cNvPr>
          <p:cNvSpPr>
            <a:spLocks noGrp="1"/>
          </p:cNvSpPr>
          <p:nvPr>
            <p:ph type="title"/>
          </p:nvPr>
        </p:nvSpPr>
        <p:spPr/>
        <p:txBody>
          <a:bodyPr/>
          <a:lstStyle/>
          <a:p>
            <a:r>
              <a:rPr lang="en-US" dirty="0"/>
              <a:t>Closed Addressing Caveats</a:t>
            </a:r>
          </a:p>
        </p:txBody>
      </p:sp>
      <p:sp>
        <p:nvSpPr>
          <p:cNvPr id="3" name="Content Placeholder 2">
            <a:extLst>
              <a:ext uri="{FF2B5EF4-FFF2-40B4-BE49-F238E27FC236}">
                <a16:creationId xmlns:a16="http://schemas.microsoft.com/office/drawing/2014/main" id="{F39E4650-2EEB-4913-97C4-D493ABA9F133}"/>
              </a:ext>
            </a:extLst>
          </p:cNvPr>
          <p:cNvSpPr>
            <a:spLocks noGrp="1"/>
          </p:cNvSpPr>
          <p:nvPr>
            <p:ph idx="1"/>
          </p:nvPr>
        </p:nvSpPr>
        <p:spPr/>
        <p:txBody>
          <a:bodyPr/>
          <a:lstStyle/>
          <a:p>
            <a:r>
              <a:rPr lang="en-US" dirty="0"/>
              <a:t>You don’t necessarily need to use a linked-list for each key in the hash table.</a:t>
            </a:r>
          </a:p>
          <a:p>
            <a:pPr lvl="1"/>
            <a:r>
              <a:rPr lang="en-US" dirty="0"/>
              <a:t>If we want something faster, we can use a </a:t>
            </a:r>
            <a:r>
              <a:rPr lang="en-US" dirty="0" err="1"/>
              <a:t>trie</a:t>
            </a:r>
            <a:r>
              <a:rPr lang="en-US" dirty="0"/>
              <a:t>, or a self-balancing BST</a:t>
            </a:r>
          </a:p>
        </p:txBody>
      </p:sp>
    </p:spTree>
    <p:extLst>
      <p:ext uri="{BB962C8B-B14F-4D97-AF65-F5344CB8AC3E}">
        <p14:creationId xmlns:p14="http://schemas.microsoft.com/office/powerpoint/2010/main" val="2270765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02A70-AEC6-45E3-9461-FC5A3C8D2177}"/>
              </a:ext>
            </a:extLst>
          </p:cNvPr>
          <p:cNvSpPr>
            <a:spLocks noGrp="1"/>
          </p:cNvSpPr>
          <p:nvPr>
            <p:ph type="title"/>
          </p:nvPr>
        </p:nvSpPr>
        <p:spPr/>
        <p:txBody>
          <a:bodyPr/>
          <a:lstStyle/>
          <a:p>
            <a:r>
              <a:rPr lang="en-US" dirty="0"/>
              <a:t>In General…</a:t>
            </a:r>
          </a:p>
        </p:txBody>
      </p:sp>
      <p:sp>
        <p:nvSpPr>
          <p:cNvPr id="3" name="Content Placeholder 2">
            <a:extLst>
              <a:ext uri="{FF2B5EF4-FFF2-40B4-BE49-F238E27FC236}">
                <a16:creationId xmlns:a16="http://schemas.microsoft.com/office/drawing/2014/main" id="{8C7C0D8E-E561-416B-994D-63C74DCA8569}"/>
              </a:ext>
            </a:extLst>
          </p:cNvPr>
          <p:cNvSpPr>
            <a:spLocks noGrp="1"/>
          </p:cNvSpPr>
          <p:nvPr>
            <p:ph idx="1"/>
          </p:nvPr>
        </p:nvSpPr>
        <p:spPr/>
        <p:txBody>
          <a:bodyPr/>
          <a:lstStyle/>
          <a:p>
            <a:pPr marL="0" indent="0">
              <a:buNone/>
            </a:pPr>
            <a:r>
              <a:rPr lang="en-US" dirty="0"/>
              <a:t>Generally, </a:t>
            </a:r>
            <a:r>
              <a:rPr lang="en-US" b="1" dirty="0"/>
              <a:t>Closed-Addressing Hash Tables </a:t>
            </a:r>
            <a:r>
              <a:rPr lang="en-US" dirty="0"/>
              <a:t>are fast and efficient for many applications!</a:t>
            </a:r>
          </a:p>
          <a:p>
            <a:pPr marL="0" indent="0">
              <a:buNone/>
            </a:pPr>
            <a:endParaRPr lang="en-US" dirty="0"/>
          </a:p>
          <a:p>
            <a:pPr marL="0" indent="0">
              <a:buNone/>
            </a:pPr>
            <a:r>
              <a:rPr lang="en-US" b="1" dirty="0"/>
              <a:t>But…</a:t>
            </a:r>
            <a:r>
              <a:rPr lang="en-US" dirty="0"/>
              <a:t> it really depends:</a:t>
            </a:r>
            <a:br>
              <a:rPr lang="en-US" dirty="0"/>
            </a:br>
            <a:endParaRPr lang="en-US" dirty="0"/>
          </a:p>
          <a:p>
            <a:pPr marL="342900" indent="-342900">
              <a:buFont typeface="+mj-lt"/>
              <a:buAutoNum type="arabicParenR"/>
            </a:pPr>
            <a:r>
              <a:rPr lang="en-US" b="1" dirty="0"/>
              <a:t>Strict Memory</a:t>
            </a:r>
            <a:r>
              <a:rPr lang="en-US" dirty="0"/>
              <a:t>: Open Addressing</a:t>
            </a:r>
          </a:p>
          <a:p>
            <a:pPr marL="342900" indent="-342900">
              <a:buFont typeface="+mj-lt"/>
              <a:buAutoNum type="arabicParenR"/>
            </a:pPr>
            <a:r>
              <a:rPr lang="en-US" b="1" dirty="0"/>
              <a:t>Memory Available</a:t>
            </a:r>
            <a:r>
              <a:rPr lang="en-US" dirty="0"/>
              <a:t>: Closed Addressing</a:t>
            </a:r>
          </a:p>
          <a:p>
            <a:pPr marL="0" indent="0">
              <a:buNone/>
            </a:pPr>
            <a:endParaRPr lang="en-US" dirty="0"/>
          </a:p>
        </p:txBody>
      </p:sp>
    </p:spTree>
    <p:extLst>
      <p:ext uri="{BB962C8B-B14F-4D97-AF65-F5344CB8AC3E}">
        <p14:creationId xmlns:p14="http://schemas.microsoft.com/office/powerpoint/2010/main" val="136823639"/>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651E360FFF8E045BC9E794BF0F8E060" ma:contentTypeVersion="4" ma:contentTypeDescription="Create a new document." ma:contentTypeScope="" ma:versionID="601fb0477c1a00ea6c9cdda8af407385">
  <xsd:schema xmlns:xsd="http://www.w3.org/2001/XMLSchema" xmlns:xs="http://www.w3.org/2001/XMLSchema" xmlns:p="http://schemas.microsoft.com/office/2006/metadata/properties" xmlns:ns3="b12b050b-08b8-4c9a-9e6b-d2ba71f76ee2" targetNamespace="http://schemas.microsoft.com/office/2006/metadata/properties" ma:root="true" ma:fieldsID="f3c9c52ccd6619c053e6551ce3886dd6" ns3:_="">
    <xsd:import namespace="b12b050b-08b8-4c9a-9e6b-d2ba71f76ee2"/>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2b050b-08b8-4c9a-9e6b-d2ba71f76e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AD6361B-42F3-4F16-BF0D-EEAD814363A9}">
  <ds:schemaRefs>
    <ds:schemaRef ds:uri="http://schemas.microsoft.com/sharepoint/v3/contenttype/forms"/>
  </ds:schemaRefs>
</ds:datastoreItem>
</file>

<file path=customXml/itemProps2.xml><?xml version="1.0" encoding="utf-8"?>
<ds:datastoreItem xmlns:ds="http://schemas.openxmlformats.org/officeDocument/2006/customXml" ds:itemID="{71D625F4-66D5-475F-926E-637DA85674DA}">
  <ds:schemaRefs>
    <ds:schemaRef ds:uri="http://schemas.microsoft.com/office/infopath/2007/PartnerControls"/>
    <ds:schemaRef ds:uri="http://schemas.microsoft.com/office/2006/metadata/properties"/>
    <ds:schemaRef ds:uri="b12b050b-08b8-4c9a-9e6b-d2ba71f76ee2"/>
    <ds:schemaRef ds:uri="http://schemas.microsoft.com/office/2006/documentManagement/types"/>
    <ds:schemaRef ds:uri="http://purl.org/dc/dcmitype/"/>
    <ds:schemaRef ds:uri="http://www.w3.org/XML/1998/namespace"/>
    <ds:schemaRef ds:uri="http://schemas.openxmlformats.org/package/2006/metadata/core-properties"/>
    <ds:schemaRef ds:uri="http://purl.org/dc/terms/"/>
    <ds:schemaRef ds:uri="http://purl.org/dc/elements/1.1/"/>
  </ds:schemaRefs>
</ds:datastoreItem>
</file>

<file path=customXml/itemProps3.xml><?xml version="1.0" encoding="utf-8"?>
<ds:datastoreItem xmlns:ds="http://schemas.openxmlformats.org/officeDocument/2006/customXml" ds:itemID="{12A8F262-ADEB-426B-9547-C1288F064D3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12b050b-08b8-4c9a-9e6b-d2ba71f76e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Parcel</Template>
  <TotalTime>6745</TotalTime>
  <Words>3235</Words>
  <Application>Microsoft Office PowerPoint</Application>
  <PresentationFormat>Widescreen</PresentationFormat>
  <Paragraphs>328</Paragraphs>
  <Slides>36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Cambria Math</vt:lpstr>
      <vt:lpstr>Gill Sans MT</vt:lpstr>
      <vt:lpstr>Symbol</vt:lpstr>
      <vt:lpstr>Parcel</vt:lpstr>
      <vt:lpstr>CS 1501: Hashing</vt:lpstr>
      <vt:lpstr>A brief note on these slides</vt:lpstr>
      <vt:lpstr>An introduction to the problem</vt:lpstr>
      <vt:lpstr>Let’s Try something new</vt:lpstr>
      <vt:lpstr>Hash Map: Insertion</vt:lpstr>
      <vt:lpstr>Hash Map: Search </vt:lpstr>
      <vt:lpstr>Hm… are there any problems with this approach??</vt:lpstr>
      <vt:lpstr>Pigeonhole Principle Tip:</vt:lpstr>
      <vt:lpstr>Pigeonhole Principle Example:</vt:lpstr>
      <vt:lpstr>Caveats: Avoiding collisions?</vt:lpstr>
      <vt:lpstr>Handling Collisions</vt:lpstr>
      <vt:lpstr>Hash Function: Examples</vt:lpstr>
      <vt:lpstr>Hash Function: Examples (Continued)</vt:lpstr>
      <vt:lpstr>Horner’s Method: A way to get efficient Hash values</vt:lpstr>
      <vt:lpstr>Enter: Modular Hashing</vt:lpstr>
      <vt:lpstr>Back to collisions</vt:lpstr>
      <vt:lpstr>Collision Resolution</vt:lpstr>
      <vt:lpstr>Open addressing</vt:lpstr>
      <vt:lpstr>Linear Probing</vt:lpstr>
      <vt:lpstr>Linear Probing Example</vt:lpstr>
      <vt:lpstr>Linear Probing Insertion</vt:lpstr>
      <vt:lpstr>Insertion Runtime </vt:lpstr>
      <vt:lpstr>Handling Deletion</vt:lpstr>
      <vt:lpstr>Handling Deletion</vt:lpstr>
      <vt:lpstr>YAY! we solved collisions! </vt:lpstr>
      <vt:lpstr>Avoiding Clustering</vt:lpstr>
      <vt:lpstr>Enter: Double Hashing</vt:lpstr>
      <vt:lpstr>Double Hashing Example</vt:lpstr>
      <vt:lpstr>Double Hashing Insertion</vt:lpstr>
      <vt:lpstr>Hm…There’s something weird</vt:lpstr>
      <vt:lpstr>Extra rules for the second hash function</vt:lpstr>
      <vt:lpstr>As α→1…</vt:lpstr>
      <vt:lpstr>Open Addressing Issues</vt:lpstr>
      <vt:lpstr>Enter: Closed Addressing</vt:lpstr>
      <vt:lpstr>Closed Addressing Caveats</vt:lpstr>
      <vt:lpstr>In General…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1501: Hashing</dc:title>
  <dc:creator>Lu, Gordon</dc:creator>
  <cp:lastModifiedBy>Lu, Gordon</cp:lastModifiedBy>
  <cp:revision>3</cp:revision>
  <dcterms:created xsi:type="dcterms:W3CDTF">2020-08-08T06:24:03Z</dcterms:created>
  <dcterms:modified xsi:type="dcterms:W3CDTF">2020-08-14T19:45:06Z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0x0101004651E360FFF8E045BC9E794BF0F8E060</vt:lpwstr>
  </property>
</Properties>
</file>