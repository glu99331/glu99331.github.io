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4"/>
  </p:sldMasterIdLst>
  <p:notesMasterIdLst>
    <p:notesMasterId r:id="rId43"/>
  </p:notesMasterIdLst>
  <p:sldIdLst>
    <p:sldId id="256" r:id="rId5"/>
    <p:sldId id="297" r:id="rId6"/>
    <p:sldId id="257" r:id="rId7"/>
    <p:sldId id="319" r:id="rId8"/>
    <p:sldId id="320" r:id="rId9"/>
    <p:sldId id="321" r:id="rId10"/>
    <p:sldId id="322" r:id="rId11"/>
    <p:sldId id="323" r:id="rId12"/>
    <p:sldId id="324" r:id="rId13"/>
    <p:sldId id="258" r:id="rId14"/>
    <p:sldId id="325" r:id="rId15"/>
    <p:sldId id="326" r:id="rId16"/>
    <p:sldId id="327" r:id="rId17"/>
    <p:sldId id="329" r:id="rId18"/>
    <p:sldId id="331" r:id="rId19"/>
    <p:sldId id="333" r:id="rId20"/>
    <p:sldId id="332" r:id="rId21"/>
    <p:sldId id="334" r:id="rId22"/>
    <p:sldId id="335" r:id="rId23"/>
    <p:sldId id="259" r:id="rId24"/>
    <p:sldId id="336" r:id="rId25"/>
    <p:sldId id="337" r:id="rId26"/>
    <p:sldId id="338" r:id="rId27"/>
    <p:sldId id="339" r:id="rId28"/>
    <p:sldId id="340" r:id="rId29"/>
    <p:sldId id="347" r:id="rId30"/>
    <p:sldId id="341" r:id="rId31"/>
    <p:sldId id="342" r:id="rId32"/>
    <p:sldId id="343" r:id="rId33"/>
    <p:sldId id="344" r:id="rId34"/>
    <p:sldId id="345" r:id="rId35"/>
    <p:sldId id="346" r:id="rId36"/>
    <p:sldId id="348" r:id="rId37"/>
    <p:sldId id="349" r:id="rId38"/>
    <p:sldId id="351" r:id="rId39"/>
    <p:sldId id="350" r:id="rId40"/>
    <p:sldId id="352" r:id="rId41"/>
    <p:sldId id="35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F90C36-0215-48FF-A7C5-D8B677D970B4}" v="1742" dt="2020-08-01T18:46:54.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58CCA-429F-458E-9D04-1CD0B5AE7013}" type="datetimeFigureOut">
              <a:rPr lang="en-US" smtClean="0"/>
              <a:t>11/29/2020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524AD-880F-4018-8BFC-9A5A6F83DC7A}" type="slidenum">
              <a:rPr lang="en-US" smtClean="0"/>
              <a:t>‹#›</a:t>
            </a:fld>
            <a:endParaRPr lang="en-US"/>
          </a:p>
        </p:txBody>
      </p:sp>
    </p:spTree>
    <p:extLst>
      <p:ext uri="{BB962C8B-B14F-4D97-AF65-F5344CB8AC3E}">
        <p14:creationId xmlns:p14="http://schemas.microsoft.com/office/powerpoint/2010/main" val="572655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DA4C203-3353-45B6-92C6-78F0A2901DB5}" type="datetimeFigureOut">
              <a:rPr lang="en-US" smtClean="0"/>
              <a:t>11/29/2020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33075367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A4C203-3353-45B6-92C6-78F0A2901DB5}" type="datetimeFigureOut">
              <a:rPr lang="en-US" smtClean="0"/>
              <a:t>11/29/2020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2296569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DA4C203-3353-45B6-92C6-78F0A2901DB5}" type="datetimeFigureOut">
              <a:rPr lang="en-US" smtClean="0"/>
              <a:t>11/29/2020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27492760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DA4C203-3353-45B6-92C6-78F0A2901DB5}" type="datetimeFigureOut">
              <a:rPr lang="en-US" smtClean="0"/>
              <a:t>11/29/2020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569825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DA4C203-3353-45B6-92C6-78F0A2901DB5}" type="datetimeFigureOut">
              <a:rPr lang="en-US" smtClean="0"/>
              <a:t>11/29/2020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23E-3638-40F3-8A7D-79E3C4E8DE74}"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0707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A4C203-3353-45B6-92C6-78F0A2901DB5}" type="datetimeFigureOut">
              <a:rPr lang="en-US" smtClean="0"/>
              <a:t>11/29/2020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2021468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A4C203-3353-45B6-92C6-78F0A2901DB5}" type="datetimeFigureOut">
              <a:rPr lang="en-US" smtClean="0"/>
              <a:t>11/29/2020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3695756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DA4C203-3353-45B6-92C6-78F0A2901DB5}" type="datetimeFigureOut">
              <a:rPr lang="en-US" smtClean="0"/>
              <a:t>11/29/2020</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4229917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DA4C203-3353-45B6-92C6-78F0A2901DB5}" type="datetimeFigureOut">
              <a:rPr lang="en-US" smtClean="0"/>
              <a:t>11/29/2020</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792316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A4C203-3353-45B6-92C6-78F0A2901DB5}" type="datetimeFigureOut">
              <a:rPr lang="en-US" smtClean="0"/>
              <a:t>11/29/2020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3514237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A4C203-3353-45B6-92C6-78F0A2901DB5}" type="datetimeFigureOut">
              <a:rPr lang="en-US" smtClean="0"/>
              <a:t>11/29/2020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23E-3638-40F3-8A7D-79E3C4E8DE74}" type="slidenum">
              <a:rPr lang="en-US" smtClean="0"/>
              <a:t>‹#›</a:t>
            </a:fld>
            <a:endParaRPr lang="en-US"/>
          </a:p>
        </p:txBody>
      </p:sp>
    </p:spTree>
    <p:extLst>
      <p:ext uri="{BB962C8B-B14F-4D97-AF65-F5344CB8AC3E}">
        <p14:creationId xmlns:p14="http://schemas.microsoft.com/office/powerpoint/2010/main" val="1088548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DA4C203-3353-45B6-92C6-78F0A2901DB5}" type="datetimeFigureOut">
              <a:rPr lang="en-US" smtClean="0"/>
              <a:t>11/29/2020</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934023E-3638-40F3-8A7D-79E3C4E8DE74}" type="slidenum">
              <a:rPr lang="en-US" smtClean="0"/>
              <a:t>‹#›</a:t>
            </a:fld>
            <a:endParaRPr lang="en-US"/>
          </a:p>
        </p:txBody>
      </p:sp>
    </p:spTree>
    <p:extLst>
      <p:ext uri="{BB962C8B-B14F-4D97-AF65-F5344CB8AC3E}">
        <p14:creationId xmlns:p14="http://schemas.microsoft.com/office/powerpoint/2010/main" val="583052966"/>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25ED-CE20-4260-A723-6C559CEE0F5D}"/>
              </a:ext>
            </a:extLst>
          </p:cNvPr>
          <p:cNvSpPr>
            <a:spLocks noGrp="1"/>
          </p:cNvSpPr>
          <p:nvPr>
            <p:ph type="ctrTitle"/>
          </p:nvPr>
        </p:nvSpPr>
        <p:spPr>
          <a:xfrm>
            <a:off x="792483" y="821265"/>
            <a:ext cx="6098705" cy="5222117"/>
          </a:xfrm>
        </p:spPr>
        <p:txBody>
          <a:bodyPr anchor="ctr">
            <a:normAutofit/>
          </a:bodyPr>
          <a:lstStyle/>
          <a:p>
            <a:pPr algn="r"/>
            <a:r>
              <a:rPr lang="en-US" sz="5400" dirty="0">
                <a:solidFill>
                  <a:schemeClr val="tx1"/>
                </a:solidFill>
              </a:rPr>
              <a:t>CS 1501: B-trees</a:t>
            </a:r>
          </a:p>
        </p:txBody>
      </p:sp>
      <p:sp>
        <p:nvSpPr>
          <p:cNvPr id="3" name="Subtitle 2">
            <a:extLst>
              <a:ext uri="{FF2B5EF4-FFF2-40B4-BE49-F238E27FC236}">
                <a16:creationId xmlns:a16="http://schemas.microsoft.com/office/drawing/2014/main" id="{63DA9EAE-84EA-4695-84F8-F9D36856989B}"/>
              </a:ext>
            </a:extLst>
          </p:cNvPr>
          <p:cNvSpPr>
            <a:spLocks noGrp="1"/>
          </p:cNvSpPr>
          <p:nvPr>
            <p:ph type="subTitle" idx="1"/>
          </p:nvPr>
        </p:nvSpPr>
        <p:spPr>
          <a:xfrm>
            <a:off x="7903028" y="821265"/>
            <a:ext cx="3265713" cy="5222117"/>
          </a:xfrm>
        </p:spPr>
        <p:txBody>
          <a:bodyPr anchor="ctr">
            <a:normAutofit/>
          </a:bodyPr>
          <a:lstStyle/>
          <a:p>
            <a:r>
              <a:rPr lang="en-US" dirty="0"/>
              <a:t>Gordon Lu</a:t>
            </a:r>
          </a:p>
        </p:txBody>
      </p:sp>
    </p:spTree>
    <p:extLst>
      <p:ext uri="{BB962C8B-B14F-4D97-AF65-F5344CB8AC3E}">
        <p14:creationId xmlns:p14="http://schemas.microsoft.com/office/powerpoint/2010/main" val="185244892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2559-7F14-4F93-96B0-9F4F082707C8}"/>
              </a:ext>
            </a:extLst>
          </p:cNvPr>
          <p:cNvSpPr>
            <a:spLocks noGrp="1"/>
          </p:cNvSpPr>
          <p:nvPr>
            <p:ph type="title"/>
          </p:nvPr>
        </p:nvSpPr>
        <p:spPr/>
        <p:txBody>
          <a:bodyPr/>
          <a:lstStyle/>
          <a:p>
            <a:r>
              <a:rPr lang="en-US" dirty="0"/>
              <a:t>A brief note on these slides</a:t>
            </a:r>
          </a:p>
        </p:txBody>
      </p:sp>
      <p:sp>
        <p:nvSpPr>
          <p:cNvPr id="3" name="Content Placeholder 2">
            <a:extLst>
              <a:ext uri="{FF2B5EF4-FFF2-40B4-BE49-F238E27FC236}">
                <a16:creationId xmlns:a16="http://schemas.microsoft.com/office/drawing/2014/main" id="{4AC27C56-47D1-4ECC-83E5-5345C34C452D}"/>
              </a:ext>
            </a:extLst>
          </p:cNvPr>
          <p:cNvSpPr>
            <a:spLocks noGrp="1"/>
          </p:cNvSpPr>
          <p:nvPr>
            <p:ph idx="1"/>
          </p:nvPr>
        </p:nvSpPr>
        <p:spPr/>
        <p:txBody>
          <a:bodyPr/>
          <a:lstStyle/>
          <a:p>
            <a:r>
              <a:rPr lang="en-US" dirty="0"/>
              <a:t>Visually, slides don’t look the most appealing….</a:t>
            </a:r>
          </a:p>
          <a:p>
            <a:r>
              <a:rPr lang="en-US" dirty="0"/>
              <a:t>Work best in present mode! </a:t>
            </a:r>
          </a:p>
        </p:txBody>
      </p:sp>
    </p:spTree>
    <p:extLst>
      <p:ext uri="{BB962C8B-B14F-4D97-AF65-F5344CB8AC3E}">
        <p14:creationId xmlns:p14="http://schemas.microsoft.com/office/powerpoint/2010/main" val="3196868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3D7A-3E58-4BF0-94DF-7F84B75302D6}"/>
              </a:ext>
            </a:extLst>
          </p:cNvPr>
          <p:cNvSpPr>
            <a:spLocks noGrp="1"/>
          </p:cNvSpPr>
          <p:nvPr>
            <p:ph type="title"/>
          </p:nvPr>
        </p:nvSpPr>
        <p:spPr/>
        <p:txBody>
          <a:bodyPr/>
          <a:lstStyle/>
          <a:p>
            <a:r>
              <a:rPr lang="en-US" dirty="0"/>
              <a:t>An introduction to the problem</a:t>
            </a:r>
          </a:p>
        </p:txBody>
      </p:sp>
      <p:sp>
        <p:nvSpPr>
          <p:cNvPr id="3" name="Content Placeholder 2">
            <a:extLst>
              <a:ext uri="{FF2B5EF4-FFF2-40B4-BE49-F238E27FC236}">
                <a16:creationId xmlns:a16="http://schemas.microsoft.com/office/drawing/2014/main" id="{08757FAE-A409-443C-8ABD-D9F712965984}"/>
              </a:ext>
            </a:extLst>
          </p:cNvPr>
          <p:cNvSpPr>
            <a:spLocks noGrp="1"/>
          </p:cNvSpPr>
          <p:nvPr>
            <p:ph idx="1"/>
          </p:nvPr>
        </p:nvSpPr>
        <p:spPr/>
        <p:txBody>
          <a:bodyPr/>
          <a:lstStyle/>
          <a:p>
            <a:r>
              <a:rPr lang="en-US" dirty="0"/>
              <a:t>Most symbol table implementations assume &lt;Key, Value&gt; pairs will be stored in memory</a:t>
            </a:r>
          </a:p>
          <a:p>
            <a:r>
              <a:rPr lang="en-US" dirty="0"/>
              <a:t>But… what if we need to store it on disk?</a:t>
            </a:r>
          </a:p>
        </p:txBody>
      </p:sp>
    </p:spTree>
    <p:extLst>
      <p:ext uri="{BB962C8B-B14F-4D97-AF65-F5344CB8AC3E}">
        <p14:creationId xmlns:p14="http://schemas.microsoft.com/office/powerpoint/2010/main" val="394729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B2A0-C73B-495C-9CEB-6801925A4E88}"/>
              </a:ext>
            </a:extLst>
          </p:cNvPr>
          <p:cNvSpPr>
            <a:spLocks noGrp="1"/>
          </p:cNvSpPr>
          <p:nvPr>
            <p:ph type="title"/>
          </p:nvPr>
        </p:nvSpPr>
        <p:spPr/>
        <p:txBody>
          <a:bodyPr/>
          <a:lstStyle/>
          <a:p>
            <a:r>
              <a:rPr lang="en-US" dirty="0"/>
              <a:t>A motivating Example</a:t>
            </a:r>
          </a:p>
        </p:txBody>
      </p:sp>
      <p:sp>
        <p:nvSpPr>
          <p:cNvPr id="3" name="Content Placeholder 2">
            <a:extLst>
              <a:ext uri="{FF2B5EF4-FFF2-40B4-BE49-F238E27FC236}">
                <a16:creationId xmlns:a16="http://schemas.microsoft.com/office/drawing/2014/main" id="{0CD7EE4D-04DF-4A7A-8BFC-13529E74CE5B}"/>
              </a:ext>
            </a:extLst>
          </p:cNvPr>
          <p:cNvSpPr>
            <a:spLocks noGrp="1"/>
          </p:cNvSpPr>
          <p:nvPr>
            <p:ph idx="1"/>
          </p:nvPr>
        </p:nvSpPr>
        <p:spPr/>
        <p:txBody>
          <a:bodyPr/>
          <a:lstStyle/>
          <a:p>
            <a:r>
              <a:rPr lang="en-US" dirty="0"/>
              <a:t>Suppose you’re writing a database to store records of online store transactions, each with a unique id…</a:t>
            </a:r>
          </a:p>
          <a:p>
            <a:r>
              <a:rPr lang="en-US" dirty="0"/>
              <a:t>Ideally, you’d want to store these records on disk </a:t>
            </a:r>
          </a:p>
          <a:p>
            <a:pPr marL="0" indent="0">
              <a:buNone/>
            </a:pPr>
            <a:r>
              <a:rPr lang="en-US" dirty="0"/>
              <a:t>Why? You have a high expectation of a large volume of transaction records.</a:t>
            </a:r>
          </a:p>
          <a:p>
            <a:r>
              <a:rPr lang="en-US" dirty="0"/>
              <a:t>And… you want transaction records stored in non-volatile memory</a:t>
            </a:r>
          </a:p>
        </p:txBody>
      </p:sp>
    </p:spTree>
    <p:extLst>
      <p:ext uri="{BB962C8B-B14F-4D97-AF65-F5344CB8AC3E}">
        <p14:creationId xmlns:p14="http://schemas.microsoft.com/office/powerpoint/2010/main" val="1299645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12A2-6332-46A2-9553-824A2DFE5419}"/>
              </a:ext>
            </a:extLst>
          </p:cNvPr>
          <p:cNvSpPr>
            <a:spLocks noGrp="1"/>
          </p:cNvSpPr>
          <p:nvPr>
            <p:ph type="title"/>
          </p:nvPr>
        </p:nvSpPr>
        <p:spPr/>
        <p:txBody>
          <a:bodyPr/>
          <a:lstStyle/>
          <a:p>
            <a:r>
              <a:rPr lang="en-US" dirty="0"/>
              <a:t>A review of disk i/o</a:t>
            </a:r>
          </a:p>
        </p:txBody>
      </p:sp>
      <p:sp>
        <p:nvSpPr>
          <p:cNvPr id="3" name="Content Placeholder 2">
            <a:extLst>
              <a:ext uri="{FF2B5EF4-FFF2-40B4-BE49-F238E27FC236}">
                <a16:creationId xmlns:a16="http://schemas.microsoft.com/office/drawing/2014/main" id="{7835ABF8-7B5A-44E8-BE05-04145E24924B}"/>
              </a:ext>
            </a:extLst>
          </p:cNvPr>
          <p:cNvSpPr>
            <a:spLocks noGrp="1"/>
          </p:cNvSpPr>
          <p:nvPr>
            <p:ph idx="1"/>
          </p:nvPr>
        </p:nvSpPr>
        <p:spPr/>
        <p:txBody>
          <a:bodyPr/>
          <a:lstStyle/>
          <a:p>
            <a:r>
              <a:rPr lang="en-US" dirty="0"/>
              <a:t>Data stored on disk is grouped in 4kb blocks (pages)</a:t>
            </a:r>
          </a:p>
          <a:p>
            <a:r>
              <a:rPr lang="en-US" dirty="0"/>
              <a:t>Disk i/o is performed at the block level</a:t>
            </a:r>
          </a:p>
          <a:p>
            <a:r>
              <a:rPr lang="en-US" dirty="0"/>
              <a:t>In order to read a file from disk, the OS will fetch all blocks that store some portion of that file and read the data from each block.</a:t>
            </a:r>
          </a:p>
        </p:txBody>
      </p:sp>
    </p:spTree>
    <p:extLst>
      <p:ext uri="{BB962C8B-B14F-4D97-AF65-F5344CB8AC3E}">
        <p14:creationId xmlns:p14="http://schemas.microsoft.com/office/powerpoint/2010/main" val="2068076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8BAC-88CA-4371-84FA-07C755454588}"/>
              </a:ext>
            </a:extLst>
          </p:cNvPr>
          <p:cNvSpPr>
            <a:spLocks noGrp="1"/>
          </p:cNvSpPr>
          <p:nvPr>
            <p:ph type="title"/>
          </p:nvPr>
        </p:nvSpPr>
        <p:spPr/>
        <p:txBody>
          <a:bodyPr/>
          <a:lstStyle/>
          <a:p>
            <a:r>
              <a:rPr lang="en-US"/>
              <a:t>Enter: B-Trees</a:t>
            </a:r>
          </a:p>
        </p:txBody>
      </p:sp>
      <p:sp>
        <p:nvSpPr>
          <p:cNvPr id="3" name="Content Placeholder 2">
            <a:extLst>
              <a:ext uri="{FF2B5EF4-FFF2-40B4-BE49-F238E27FC236}">
                <a16:creationId xmlns:a16="http://schemas.microsoft.com/office/drawing/2014/main" id="{5BCA4A8A-9565-4C1A-901E-5D381A124B01}"/>
              </a:ext>
            </a:extLst>
          </p:cNvPr>
          <p:cNvSpPr>
            <a:spLocks noGrp="1"/>
          </p:cNvSpPr>
          <p:nvPr>
            <p:ph idx="1"/>
          </p:nvPr>
        </p:nvSpPr>
        <p:spPr/>
        <p:txBody>
          <a:bodyPr/>
          <a:lstStyle/>
          <a:p>
            <a:r>
              <a:rPr lang="en-US" dirty="0"/>
              <a:t>You can Kind of think of a </a:t>
            </a:r>
            <a:r>
              <a:rPr lang="en-US" b="1" dirty="0"/>
              <a:t>B tree </a:t>
            </a:r>
            <a:r>
              <a:rPr lang="en-US" dirty="0"/>
              <a:t>as a </a:t>
            </a:r>
            <a:r>
              <a:rPr lang="en-US" dirty="0">
                <a:effectLst>
                  <a:glow rad="38100">
                    <a:schemeClr val="bg1">
                      <a:lumMod val="50000"/>
                      <a:lumOff val="50000"/>
                      <a:alpha val="20000"/>
                    </a:schemeClr>
                  </a:glow>
                </a:effectLst>
              </a:rPr>
              <a:t>Generalized BST.</a:t>
            </a:r>
          </a:p>
          <a:p>
            <a:r>
              <a:rPr lang="en-US" dirty="0">
                <a:effectLst>
                  <a:glow rad="38100">
                    <a:schemeClr val="bg1">
                      <a:lumMod val="50000"/>
                      <a:lumOff val="50000"/>
                      <a:alpha val="20000"/>
                    </a:schemeClr>
                  </a:glow>
                </a:effectLst>
              </a:rPr>
              <a:t>Rather than being a limited to a branching factor of 2, there’s no real limit to the number of branches.</a:t>
            </a:r>
          </a:p>
          <a:p>
            <a:r>
              <a:rPr lang="en-US" dirty="0"/>
              <a:t>The order of a b-tree determines the max branching factor.</a:t>
            </a:r>
          </a:p>
          <a:p>
            <a:pPr marL="0" indent="0">
              <a:buNone/>
            </a:pPr>
            <a:endParaRPr lang="en-US" dirty="0">
              <a:effectLst>
                <a:glow rad="38100">
                  <a:schemeClr val="bg1">
                    <a:lumMod val="50000"/>
                    <a:lumOff val="50000"/>
                    <a:alpha val="20000"/>
                  </a:schemeClr>
                </a:glow>
              </a:effectLst>
            </a:endParaRPr>
          </a:p>
          <a:p>
            <a:pPr marL="0" indent="0">
              <a:buNone/>
            </a:pPr>
            <a:endParaRPr lang="en-US" dirty="0"/>
          </a:p>
        </p:txBody>
      </p:sp>
    </p:spTree>
    <p:extLst>
      <p:ext uri="{BB962C8B-B14F-4D97-AF65-F5344CB8AC3E}">
        <p14:creationId xmlns:p14="http://schemas.microsoft.com/office/powerpoint/2010/main" val="92408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F75A-8C59-4002-8895-5BEEF923CFFB}"/>
              </a:ext>
            </a:extLst>
          </p:cNvPr>
          <p:cNvSpPr>
            <a:spLocks noGrp="1"/>
          </p:cNvSpPr>
          <p:nvPr>
            <p:ph type="title"/>
          </p:nvPr>
        </p:nvSpPr>
        <p:spPr/>
        <p:txBody>
          <a:bodyPr/>
          <a:lstStyle/>
          <a:p>
            <a:r>
              <a:rPr lang="en-US" dirty="0"/>
              <a:t>B-tree Rules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39226-129F-46CC-89A9-4CD9FCC0700A}"/>
                  </a:ext>
                </a:extLst>
              </p:cNvPr>
              <p:cNvSpPr>
                <a:spLocks noGrp="1"/>
              </p:cNvSpPr>
              <p:nvPr>
                <p:ph idx="1"/>
              </p:nvPr>
            </p:nvSpPr>
            <p:spPr/>
            <p:txBody>
              <a:bodyPr/>
              <a:lstStyle/>
              <a:p>
                <a:pPr marL="0" indent="0">
                  <a:buNone/>
                </a:pPr>
                <a:r>
                  <a:rPr lang="en-US" dirty="0"/>
                  <a:t>For an m-order b-tree:</a:t>
                </a:r>
              </a:p>
              <a:p>
                <a:pPr marL="457200" indent="-457200">
                  <a:buAutoNum type="arabicParenR"/>
                </a:pPr>
                <a:r>
                  <a:rPr lang="en-US" dirty="0"/>
                  <a:t>Nodes have a max of </a:t>
                </a:r>
                <a:r>
                  <a:rPr lang="en-US" b="1" dirty="0"/>
                  <a:t>m </a:t>
                </a:r>
                <a:r>
                  <a:rPr lang="en-US" dirty="0"/>
                  <a:t>children.</a:t>
                </a:r>
              </a:p>
              <a:p>
                <a:pPr marL="457200" indent="-457200">
                  <a:buAutoNum type="arabicParenR"/>
                </a:pPr>
                <a:r>
                  <a:rPr lang="en-US" dirty="0"/>
                  <a:t>Interior Nodes have a min of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/2</m:t>
                        </m:r>
                      </m:e>
                    </m:d>
                  </m:oMath>
                </a14:m>
                <a:r>
                  <a:rPr lang="en-US" dirty="0"/>
                  <a:t> children. (Non-leaf or root nodes).</a:t>
                </a:r>
              </a:p>
              <a:p>
                <a:pPr marL="0" indent="0">
                  <a:buNone/>
                </a:pPr>
                <a:endParaRPr lang="en-US" dirty="0"/>
              </a:p>
              <a:p>
                <a:pPr marL="0" indent="0">
                  <a:buNone/>
                </a:pPr>
                <a:r>
                  <a:rPr lang="en-US" b="1" dirty="0"/>
                  <a:t>Corollary: </a:t>
                </a:r>
                <a:r>
                  <a:rPr lang="en-US" dirty="0"/>
                  <a:t>All interior nodes must be at least half full.</a:t>
                </a:r>
                <a:endParaRPr lang="en-US" b="1" dirty="0"/>
              </a:p>
              <a:p>
                <a:endParaRPr lang="en-US" dirty="0"/>
              </a:p>
            </p:txBody>
          </p:sp>
        </mc:Choice>
        <mc:Fallback xmlns="">
          <p:sp>
            <p:nvSpPr>
              <p:cNvPr id="3" name="Content Placeholder 2">
                <a:extLst>
                  <a:ext uri="{FF2B5EF4-FFF2-40B4-BE49-F238E27FC236}">
                    <a16:creationId xmlns:a16="http://schemas.microsoft.com/office/drawing/2014/main" id="{30839226-129F-46CC-89A9-4CD9FCC0700A}"/>
                  </a:ext>
                </a:extLst>
              </p:cNvPr>
              <p:cNvSpPr>
                <a:spLocks noGrp="1" noRot="1" noChangeAspect="1" noMove="1" noResize="1" noEditPoints="1" noAdjustHandles="1" noChangeArrowheads="1" noChangeShapeType="1" noTextEdit="1"/>
              </p:cNvSpPr>
              <p:nvPr>
                <p:ph idx="1"/>
              </p:nvPr>
            </p:nvSpPr>
            <p:spPr>
              <a:blipFill>
                <a:blip r:embed="rId2"/>
                <a:stretch>
                  <a:fillRect l="-1046"/>
                </a:stretch>
              </a:blipFill>
            </p:spPr>
            <p:txBody>
              <a:bodyPr/>
              <a:lstStyle/>
              <a:p>
                <a:r>
                  <a:rPr lang="en-US">
                    <a:noFill/>
                  </a:rPr>
                  <a:t> </a:t>
                </a:r>
              </a:p>
            </p:txBody>
          </p:sp>
        </mc:Fallback>
      </mc:AlternateContent>
    </p:spTree>
    <p:extLst>
      <p:ext uri="{BB962C8B-B14F-4D97-AF65-F5344CB8AC3E}">
        <p14:creationId xmlns:p14="http://schemas.microsoft.com/office/powerpoint/2010/main" val="2397004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0EE9A-A040-4B2A-B603-EF52AC0A47B3}"/>
              </a:ext>
            </a:extLst>
          </p:cNvPr>
          <p:cNvSpPr>
            <a:spLocks noGrp="1"/>
          </p:cNvSpPr>
          <p:nvPr>
            <p:ph type="title"/>
          </p:nvPr>
        </p:nvSpPr>
        <p:spPr/>
        <p:txBody>
          <a:bodyPr/>
          <a:lstStyle/>
          <a:p>
            <a:r>
              <a:rPr lang="en-US" dirty="0"/>
              <a:t>B-Tree Rules (continued)</a:t>
            </a:r>
          </a:p>
        </p:txBody>
      </p:sp>
      <p:sp>
        <p:nvSpPr>
          <p:cNvPr id="3" name="Content Placeholder 2">
            <a:extLst>
              <a:ext uri="{FF2B5EF4-FFF2-40B4-BE49-F238E27FC236}">
                <a16:creationId xmlns:a16="http://schemas.microsoft.com/office/drawing/2014/main" id="{E18125BF-34EF-489B-99EF-516E3DFC033E}"/>
              </a:ext>
            </a:extLst>
          </p:cNvPr>
          <p:cNvSpPr>
            <a:spLocks noGrp="1"/>
          </p:cNvSpPr>
          <p:nvPr>
            <p:ph idx="1"/>
          </p:nvPr>
        </p:nvSpPr>
        <p:spPr/>
        <p:txBody>
          <a:bodyPr/>
          <a:lstStyle/>
          <a:p>
            <a:r>
              <a:rPr lang="en-US" dirty="0"/>
              <a:t>Any node that is not half full, is considered </a:t>
            </a:r>
            <a:r>
              <a:rPr lang="en-US" b="1" dirty="0"/>
              <a:t>deficient</a:t>
            </a:r>
            <a:endParaRPr lang="en-US" dirty="0"/>
          </a:p>
          <a:p>
            <a:r>
              <a:rPr lang="en-US" dirty="0"/>
              <a:t>Only the root node can be deficient.</a:t>
            </a:r>
          </a:p>
          <a:p>
            <a:r>
              <a:rPr lang="en-US" dirty="0"/>
              <a:t>The root node must have at least two children.</a:t>
            </a:r>
          </a:p>
          <a:p>
            <a:r>
              <a:rPr lang="en-US" dirty="0"/>
              <a:t>Non-leaf nodes with k children, have k-1 keys stored.</a:t>
            </a:r>
          </a:p>
          <a:p>
            <a:r>
              <a:rPr lang="en-US" dirty="0"/>
              <a:t>All leaves must appear on the same level.</a:t>
            </a:r>
          </a:p>
        </p:txBody>
      </p:sp>
    </p:spTree>
    <p:extLst>
      <p:ext uri="{BB962C8B-B14F-4D97-AF65-F5344CB8AC3E}">
        <p14:creationId xmlns:p14="http://schemas.microsoft.com/office/powerpoint/2010/main" val="537481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9C78C-DB0B-40FB-BBFC-9903EBC5181C}"/>
              </a:ext>
            </a:extLst>
          </p:cNvPr>
          <p:cNvSpPr>
            <a:spLocks noGrp="1"/>
          </p:cNvSpPr>
          <p:nvPr>
            <p:ph type="title"/>
          </p:nvPr>
        </p:nvSpPr>
        <p:spPr/>
        <p:txBody>
          <a:bodyPr/>
          <a:lstStyle/>
          <a:p>
            <a:r>
              <a:rPr lang="en-US" dirty="0"/>
              <a:t>B-Tree Insertion</a:t>
            </a:r>
          </a:p>
        </p:txBody>
      </p:sp>
      <p:sp>
        <p:nvSpPr>
          <p:cNvPr id="3" name="Content Placeholder 2">
            <a:extLst>
              <a:ext uri="{FF2B5EF4-FFF2-40B4-BE49-F238E27FC236}">
                <a16:creationId xmlns:a16="http://schemas.microsoft.com/office/drawing/2014/main" id="{AEFF172F-E587-46AE-84B3-6E8CD3D5331B}"/>
              </a:ext>
            </a:extLst>
          </p:cNvPr>
          <p:cNvSpPr>
            <a:spLocks noGrp="1"/>
          </p:cNvSpPr>
          <p:nvPr>
            <p:ph idx="1"/>
          </p:nvPr>
        </p:nvSpPr>
        <p:spPr/>
        <p:txBody>
          <a:bodyPr>
            <a:normAutofit/>
          </a:bodyPr>
          <a:lstStyle/>
          <a:p>
            <a:pPr marL="0" indent="0">
              <a:buNone/>
            </a:pPr>
            <a:r>
              <a:rPr lang="en-US" dirty="0"/>
              <a:t>1) Start with a single node.</a:t>
            </a:r>
          </a:p>
          <a:p>
            <a:pPr marL="0" indent="0">
              <a:buNone/>
            </a:pPr>
            <a:r>
              <a:rPr lang="en-US" dirty="0"/>
              <a:t>2) Add keys until the node is filled up</a:t>
            </a:r>
          </a:p>
          <a:p>
            <a:r>
              <a:rPr lang="en-US" dirty="0"/>
              <a:t>I.e. Until is contains m-1 keys and has M children</a:t>
            </a:r>
          </a:p>
          <a:p>
            <a:pPr marL="0" indent="0">
              <a:buNone/>
            </a:pPr>
            <a:r>
              <a:rPr lang="en-US" dirty="0"/>
              <a:t>3) In adding the </a:t>
            </a:r>
            <a:r>
              <a:rPr lang="en-US" dirty="0" err="1"/>
              <a:t>mth</a:t>
            </a:r>
            <a:r>
              <a:rPr lang="en-US" dirty="0"/>
              <a:t> key, split the node in half.</a:t>
            </a:r>
          </a:p>
          <a:p>
            <a:r>
              <a:rPr lang="en-US" dirty="0"/>
              <a:t>Promote the median of the keys up to the parent node (this is regarded as a </a:t>
            </a:r>
            <a:r>
              <a:rPr lang="en-US" b="1" dirty="0"/>
              <a:t>promotion</a:t>
            </a:r>
            <a:r>
              <a:rPr lang="en-US" dirty="0"/>
              <a:t>)</a:t>
            </a:r>
          </a:p>
          <a:p>
            <a:r>
              <a:rPr lang="en-US" dirty="0"/>
              <a:t>This could potentially cause us to create a new parent node, cascade, and split the parent, </a:t>
            </a:r>
            <a:r>
              <a:rPr lang="en-US" dirty="0" err="1"/>
              <a:t>etc</a:t>
            </a:r>
            <a:r>
              <a:rPr lang="en-US" dirty="0"/>
              <a:t>….</a:t>
            </a:r>
          </a:p>
        </p:txBody>
      </p:sp>
    </p:spTree>
    <p:extLst>
      <p:ext uri="{BB962C8B-B14F-4D97-AF65-F5344CB8AC3E}">
        <p14:creationId xmlns:p14="http://schemas.microsoft.com/office/powerpoint/2010/main" val="2521550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D400-607A-4B3A-9DF7-2291C9D0D9F9}"/>
              </a:ext>
            </a:extLst>
          </p:cNvPr>
          <p:cNvSpPr>
            <a:spLocks noGrp="1"/>
          </p:cNvSpPr>
          <p:nvPr>
            <p:ph type="title"/>
          </p:nvPr>
        </p:nvSpPr>
        <p:spPr/>
        <p:txBody>
          <a:bodyPr/>
          <a:lstStyle/>
          <a:p>
            <a:pPr algn="ctr"/>
            <a:r>
              <a:rPr lang="en-US" dirty="0"/>
              <a:t>B-tree Example</a:t>
            </a:r>
          </a:p>
        </p:txBody>
      </p:sp>
      <p:sp>
        <p:nvSpPr>
          <p:cNvPr id="3" name="Content Placeholder 2">
            <a:extLst>
              <a:ext uri="{FF2B5EF4-FFF2-40B4-BE49-F238E27FC236}">
                <a16:creationId xmlns:a16="http://schemas.microsoft.com/office/drawing/2014/main" id="{F0478EAF-0FE9-4217-8DD1-B132B20FCA0A}"/>
              </a:ext>
            </a:extLst>
          </p:cNvPr>
          <p:cNvSpPr>
            <a:spLocks noGrp="1"/>
          </p:cNvSpPr>
          <p:nvPr>
            <p:ph idx="1"/>
          </p:nvPr>
        </p:nvSpPr>
        <p:spPr/>
        <p:txBody>
          <a:bodyPr>
            <a:normAutofit fontScale="92500" lnSpcReduction="10000"/>
          </a:bodyPr>
          <a:lstStyle/>
          <a:p>
            <a:r>
              <a:rPr lang="en-US" dirty="0"/>
              <a:t>In order to make the concept of a b-tree more concrete, the following is an example of how an order 5 b-tree could look like:</a:t>
            </a:r>
          </a:p>
          <a:p>
            <a:pPr marL="0" indent="0">
              <a:buNone/>
            </a:pPr>
            <a:endParaRPr lang="en-US" dirty="0"/>
          </a:p>
          <a:p>
            <a:pPr marL="0" indent="0">
              <a:buNone/>
            </a:pPr>
            <a:endParaRPr lang="en-US" dirty="0"/>
          </a:p>
          <a:p>
            <a:pPr marL="0" indent="0">
              <a:buNone/>
            </a:pPr>
            <a:endParaRPr lang="en-US" dirty="0"/>
          </a:p>
          <a:p>
            <a:pPr marL="0" indent="0">
              <a:buNone/>
            </a:pPr>
            <a:r>
              <a:rPr lang="en-US" dirty="0"/>
              <a:t>Notice, we have 5 references, and 4 entries. </a:t>
            </a:r>
          </a:p>
          <a:p>
            <a:r>
              <a:rPr lang="en-US" dirty="0"/>
              <a:t>If we were to add another entry, say 42, we would promote the median, 42, and split. </a:t>
            </a:r>
          </a:p>
          <a:p>
            <a:r>
              <a:rPr lang="en-US" dirty="0"/>
              <a:t>Everything on the left would be &lt; 42, and everything on the right would be &gt; 42.</a:t>
            </a:r>
          </a:p>
          <a:p>
            <a:pPr marL="0" indent="0">
              <a:buNone/>
            </a:pPr>
            <a:endParaRPr lang="en-US" dirty="0"/>
          </a:p>
        </p:txBody>
      </p:sp>
      <p:pic>
        <p:nvPicPr>
          <p:cNvPr id="4" name="Picture 3">
            <a:extLst>
              <a:ext uri="{FF2B5EF4-FFF2-40B4-BE49-F238E27FC236}">
                <a16:creationId xmlns:a16="http://schemas.microsoft.com/office/drawing/2014/main" id="{34093971-7CC0-455E-9F13-BF392CB614EA}"/>
              </a:ext>
            </a:extLst>
          </p:cNvPr>
          <p:cNvPicPr/>
          <p:nvPr/>
        </p:nvPicPr>
        <p:blipFill>
          <a:blip r:embed="rId2">
            <a:extLst>
              <a:ext uri="{28A0092B-C50C-407E-A947-70E740481C1C}">
                <a14:useLocalDpi xmlns:a14="http://schemas.microsoft.com/office/drawing/2010/main" val="0"/>
              </a:ext>
            </a:extLst>
          </a:blip>
          <a:stretch>
            <a:fillRect/>
          </a:stretch>
        </p:blipFill>
        <p:spPr>
          <a:xfrm>
            <a:off x="4040220" y="3252050"/>
            <a:ext cx="3284407" cy="977049"/>
          </a:xfrm>
          <a:prstGeom prst="rect">
            <a:avLst/>
          </a:prstGeom>
        </p:spPr>
      </p:pic>
    </p:spTree>
    <p:extLst>
      <p:ext uri="{BB962C8B-B14F-4D97-AF65-F5344CB8AC3E}">
        <p14:creationId xmlns:p14="http://schemas.microsoft.com/office/powerpoint/2010/main" val="417571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C0BED-697D-4746-ABE4-CE0ADFF41A56}"/>
              </a:ext>
            </a:extLst>
          </p:cNvPr>
          <p:cNvSpPr>
            <a:spLocks noGrp="1"/>
          </p:cNvSpPr>
          <p:nvPr>
            <p:ph type="title"/>
          </p:nvPr>
        </p:nvSpPr>
        <p:spPr/>
        <p:txBody>
          <a:bodyPr/>
          <a:lstStyle/>
          <a:p>
            <a:r>
              <a:rPr lang="en-US" dirty="0"/>
              <a:t>B-tree Insertion Example:</a:t>
            </a:r>
          </a:p>
        </p:txBody>
      </p:sp>
      <p:sp>
        <p:nvSpPr>
          <p:cNvPr id="3" name="Content Placeholder 2">
            <a:extLst>
              <a:ext uri="{FF2B5EF4-FFF2-40B4-BE49-F238E27FC236}">
                <a16:creationId xmlns:a16="http://schemas.microsoft.com/office/drawing/2014/main" id="{6886F23C-FBCE-4339-A9A6-3617EEF3E239}"/>
              </a:ext>
            </a:extLst>
          </p:cNvPr>
          <p:cNvSpPr>
            <a:spLocks noGrp="1"/>
          </p:cNvSpPr>
          <p:nvPr>
            <p:ph idx="1"/>
          </p:nvPr>
        </p:nvSpPr>
        <p:spPr/>
        <p:txBody>
          <a:bodyPr/>
          <a:lstStyle/>
          <a:p>
            <a:r>
              <a:rPr lang="en-US" dirty="0"/>
              <a:t>Let’s say we’re working with an order 5 B-Tree.</a:t>
            </a:r>
          </a:p>
          <a:p>
            <a:pPr marL="0" indent="0">
              <a:buNone/>
            </a:pPr>
            <a:endParaRPr lang="en-US" dirty="0"/>
          </a:p>
        </p:txBody>
      </p:sp>
    </p:spTree>
    <p:extLst>
      <p:ext uri="{BB962C8B-B14F-4D97-AF65-F5344CB8AC3E}">
        <p14:creationId xmlns:p14="http://schemas.microsoft.com/office/powerpoint/2010/main" val="4187640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EF51-BE9E-4F4F-917F-AAC609AAAB04}"/>
              </a:ext>
            </a:extLst>
          </p:cNvPr>
          <p:cNvSpPr>
            <a:spLocks noGrp="1"/>
          </p:cNvSpPr>
          <p:nvPr>
            <p:ph type="title"/>
          </p:nvPr>
        </p:nvSpPr>
        <p:spPr/>
        <p:txBody>
          <a:bodyPr/>
          <a:lstStyle/>
          <a:p>
            <a:r>
              <a:rPr lang="en-US" dirty="0"/>
              <a:t>B-tree Insert: 10</a:t>
            </a:r>
          </a:p>
        </p:txBody>
      </p:sp>
      <p:sp>
        <p:nvSpPr>
          <p:cNvPr id="3" name="Content Placeholder 2">
            <a:extLst>
              <a:ext uri="{FF2B5EF4-FFF2-40B4-BE49-F238E27FC236}">
                <a16:creationId xmlns:a16="http://schemas.microsoft.com/office/drawing/2014/main" id="{95722D96-EE77-49F0-A491-C65B53701456}"/>
              </a:ext>
            </a:extLst>
          </p:cNvPr>
          <p:cNvSpPr>
            <a:spLocks noGrp="1"/>
          </p:cNvSpPr>
          <p:nvPr>
            <p:ph idx="1"/>
          </p:nvPr>
        </p:nvSpPr>
        <p:spPr/>
        <p:txBody>
          <a:bodyPr/>
          <a:lstStyle/>
          <a:p>
            <a:r>
              <a:rPr lang="en-US" dirty="0"/>
              <a:t>Let’s try to insert 10:</a:t>
            </a:r>
          </a:p>
        </p:txBody>
      </p:sp>
      <p:graphicFrame>
        <p:nvGraphicFramePr>
          <p:cNvPr id="4" name="Table 4">
            <a:extLst>
              <a:ext uri="{FF2B5EF4-FFF2-40B4-BE49-F238E27FC236}">
                <a16:creationId xmlns:a16="http://schemas.microsoft.com/office/drawing/2014/main" id="{8ED612DA-D2B8-4438-AE9A-EFB95D2526D9}"/>
              </a:ext>
            </a:extLst>
          </p:cNvPr>
          <p:cNvGraphicFramePr>
            <a:graphicFrameLocks noGrp="1"/>
          </p:cNvGraphicFramePr>
          <p:nvPr>
            <p:extLst>
              <p:ext uri="{D42A27DB-BD31-4B8C-83A1-F6EECF244321}">
                <p14:modId xmlns:p14="http://schemas.microsoft.com/office/powerpoint/2010/main" val="4034920693"/>
              </p:ext>
            </p:extLst>
          </p:nvPr>
        </p:nvGraphicFramePr>
        <p:xfrm>
          <a:off x="7055946" y="3021361"/>
          <a:ext cx="4347040" cy="624455"/>
        </p:xfrm>
        <a:graphic>
          <a:graphicData uri="http://schemas.openxmlformats.org/drawingml/2006/table">
            <a:tbl>
              <a:tblPr firstRow="1" bandRow="1">
                <a:tableStyleId>{5C22544A-7EE6-4342-B048-85BDC9FD1C3A}</a:tableStyleId>
              </a:tblPr>
              <a:tblGrid>
                <a:gridCol w="259254">
                  <a:extLst>
                    <a:ext uri="{9D8B030D-6E8A-4147-A177-3AD203B41FA5}">
                      <a16:colId xmlns:a16="http://schemas.microsoft.com/office/drawing/2014/main" val="1561399583"/>
                    </a:ext>
                  </a:extLst>
                </a:gridCol>
                <a:gridCol w="722417">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52082">
                  <a:extLst>
                    <a:ext uri="{9D8B030D-6E8A-4147-A177-3AD203B41FA5}">
                      <a16:colId xmlns:a16="http://schemas.microsoft.com/office/drawing/2014/main" val="932132242"/>
                    </a:ext>
                  </a:extLst>
                </a:gridCol>
                <a:gridCol w="659876">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 name="TextBox 5">
            <a:extLst>
              <a:ext uri="{FF2B5EF4-FFF2-40B4-BE49-F238E27FC236}">
                <a16:creationId xmlns:a16="http://schemas.microsoft.com/office/drawing/2014/main" id="{EDA37482-2D26-454C-B8DE-805D460EF7B8}"/>
              </a:ext>
            </a:extLst>
          </p:cNvPr>
          <p:cNvSpPr txBox="1"/>
          <p:nvPr/>
        </p:nvSpPr>
        <p:spPr>
          <a:xfrm>
            <a:off x="4591281" y="2660244"/>
            <a:ext cx="1875835" cy="369332"/>
          </a:xfrm>
          <a:prstGeom prst="rect">
            <a:avLst/>
          </a:prstGeom>
          <a:noFill/>
        </p:spPr>
        <p:txBody>
          <a:bodyPr wrap="none" rtlCol="0">
            <a:spAutoFit/>
          </a:bodyPr>
          <a:lstStyle/>
          <a:p>
            <a:r>
              <a:rPr lang="en-US" dirty="0"/>
              <a:t>Root node null!</a:t>
            </a:r>
          </a:p>
        </p:txBody>
      </p:sp>
      <p:sp>
        <p:nvSpPr>
          <p:cNvPr id="7" name="TextBox 6">
            <a:extLst>
              <a:ext uri="{FF2B5EF4-FFF2-40B4-BE49-F238E27FC236}">
                <a16:creationId xmlns:a16="http://schemas.microsoft.com/office/drawing/2014/main" id="{3D46DE68-BA54-4DF2-A1BD-6CE55AFD26F4}"/>
              </a:ext>
            </a:extLst>
          </p:cNvPr>
          <p:cNvSpPr txBox="1"/>
          <p:nvPr/>
        </p:nvSpPr>
        <p:spPr>
          <a:xfrm>
            <a:off x="4556347" y="3107185"/>
            <a:ext cx="2677336" cy="646331"/>
          </a:xfrm>
          <a:prstGeom prst="rect">
            <a:avLst/>
          </a:prstGeom>
          <a:noFill/>
        </p:spPr>
        <p:txBody>
          <a:bodyPr wrap="none" rtlCol="0">
            <a:spAutoFit/>
          </a:bodyPr>
          <a:lstStyle/>
          <a:p>
            <a:r>
              <a:rPr lang="en-US" dirty="0"/>
              <a:t>Create root node and</a:t>
            </a:r>
          </a:p>
          <a:p>
            <a:r>
              <a:rPr lang="en-US" dirty="0"/>
              <a:t>insert 10!</a:t>
            </a:r>
          </a:p>
        </p:txBody>
      </p:sp>
      <p:sp>
        <p:nvSpPr>
          <p:cNvPr id="8" name="TextBox 7">
            <a:extLst>
              <a:ext uri="{FF2B5EF4-FFF2-40B4-BE49-F238E27FC236}">
                <a16:creationId xmlns:a16="http://schemas.microsoft.com/office/drawing/2014/main" id="{CE19F52F-2E33-4229-8447-F666110AA9D8}"/>
              </a:ext>
            </a:extLst>
          </p:cNvPr>
          <p:cNvSpPr txBox="1"/>
          <p:nvPr/>
        </p:nvSpPr>
        <p:spPr>
          <a:xfrm>
            <a:off x="7435792" y="3148922"/>
            <a:ext cx="415498" cy="369332"/>
          </a:xfrm>
          <a:prstGeom prst="rect">
            <a:avLst/>
          </a:prstGeom>
          <a:noFill/>
        </p:spPr>
        <p:txBody>
          <a:bodyPr wrap="none" rtlCol="0">
            <a:spAutoFit/>
          </a:bodyPr>
          <a:lstStyle/>
          <a:p>
            <a:r>
              <a:rPr lang="en-US" dirty="0">
                <a:solidFill>
                  <a:srgbClr val="0070C0"/>
                </a:solidFill>
              </a:rPr>
              <a:t>10</a:t>
            </a:r>
          </a:p>
        </p:txBody>
      </p:sp>
    </p:spTree>
    <p:extLst>
      <p:ext uri="{BB962C8B-B14F-4D97-AF65-F5344CB8AC3E}">
        <p14:creationId xmlns:p14="http://schemas.microsoft.com/office/powerpoint/2010/main" val="242407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EF51-BE9E-4F4F-917F-AAC609AAAB04}"/>
              </a:ext>
            </a:extLst>
          </p:cNvPr>
          <p:cNvSpPr>
            <a:spLocks noGrp="1"/>
          </p:cNvSpPr>
          <p:nvPr>
            <p:ph type="title"/>
          </p:nvPr>
        </p:nvSpPr>
        <p:spPr/>
        <p:txBody>
          <a:bodyPr/>
          <a:lstStyle/>
          <a:p>
            <a:r>
              <a:rPr lang="en-US" dirty="0"/>
              <a:t>B-tree Insert: 20</a:t>
            </a:r>
          </a:p>
        </p:txBody>
      </p:sp>
      <p:sp>
        <p:nvSpPr>
          <p:cNvPr id="3" name="Content Placeholder 2">
            <a:extLst>
              <a:ext uri="{FF2B5EF4-FFF2-40B4-BE49-F238E27FC236}">
                <a16:creationId xmlns:a16="http://schemas.microsoft.com/office/drawing/2014/main" id="{95722D96-EE77-49F0-A491-C65B53701456}"/>
              </a:ext>
            </a:extLst>
          </p:cNvPr>
          <p:cNvSpPr>
            <a:spLocks noGrp="1"/>
          </p:cNvSpPr>
          <p:nvPr>
            <p:ph idx="1"/>
          </p:nvPr>
        </p:nvSpPr>
        <p:spPr/>
        <p:txBody>
          <a:bodyPr/>
          <a:lstStyle/>
          <a:p>
            <a:r>
              <a:rPr lang="en-US" dirty="0"/>
              <a:t>Let’s try to insert 20:</a:t>
            </a:r>
          </a:p>
        </p:txBody>
      </p:sp>
      <p:graphicFrame>
        <p:nvGraphicFramePr>
          <p:cNvPr id="4" name="Table 4">
            <a:extLst>
              <a:ext uri="{FF2B5EF4-FFF2-40B4-BE49-F238E27FC236}">
                <a16:creationId xmlns:a16="http://schemas.microsoft.com/office/drawing/2014/main" id="{8ED612DA-D2B8-4438-AE9A-EFB95D2526D9}"/>
              </a:ext>
            </a:extLst>
          </p:cNvPr>
          <p:cNvGraphicFramePr>
            <a:graphicFrameLocks noGrp="1"/>
          </p:cNvGraphicFramePr>
          <p:nvPr>
            <p:extLst>
              <p:ext uri="{D42A27DB-BD31-4B8C-83A1-F6EECF244321}">
                <p14:modId xmlns:p14="http://schemas.microsoft.com/office/powerpoint/2010/main" val="1088285217"/>
              </p:ext>
            </p:extLst>
          </p:nvPr>
        </p:nvGraphicFramePr>
        <p:xfrm>
          <a:off x="7055946" y="3021361"/>
          <a:ext cx="4347040" cy="624455"/>
        </p:xfrm>
        <a:graphic>
          <a:graphicData uri="http://schemas.openxmlformats.org/drawingml/2006/table">
            <a:tbl>
              <a:tblPr firstRow="1" bandRow="1">
                <a:tableStyleId>{5C22544A-7EE6-4342-B048-85BDC9FD1C3A}</a:tableStyleId>
              </a:tblPr>
              <a:tblGrid>
                <a:gridCol w="2463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52082">
                  <a:extLst>
                    <a:ext uri="{9D8B030D-6E8A-4147-A177-3AD203B41FA5}">
                      <a16:colId xmlns:a16="http://schemas.microsoft.com/office/drawing/2014/main" val="932132242"/>
                    </a:ext>
                  </a:extLst>
                </a:gridCol>
                <a:gridCol w="659876">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 name="TextBox 5">
            <a:extLst>
              <a:ext uri="{FF2B5EF4-FFF2-40B4-BE49-F238E27FC236}">
                <a16:creationId xmlns:a16="http://schemas.microsoft.com/office/drawing/2014/main" id="{EDA37482-2D26-454C-B8DE-805D460EF7B8}"/>
              </a:ext>
            </a:extLst>
          </p:cNvPr>
          <p:cNvSpPr txBox="1"/>
          <p:nvPr/>
        </p:nvSpPr>
        <p:spPr>
          <a:xfrm>
            <a:off x="4591281" y="2871923"/>
            <a:ext cx="2318263" cy="646331"/>
          </a:xfrm>
          <a:prstGeom prst="rect">
            <a:avLst/>
          </a:prstGeom>
          <a:noFill/>
        </p:spPr>
        <p:txBody>
          <a:bodyPr wrap="none" rtlCol="0">
            <a:spAutoFit/>
          </a:bodyPr>
          <a:lstStyle/>
          <a:p>
            <a:r>
              <a:rPr lang="en-US" dirty="0"/>
              <a:t>Root node non-null</a:t>
            </a:r>
          </a:p>
          <a:p>
            <a:r>
              <a:rPr lang="en-US" dirty="0"/>
              <a:t>and not full!</a:t>
            </a:r>
          </a:p>
        </p:txBody>
      </p:sp>
      <p:sp>
        <p:nvSpPr>
          <p:cNvPr id="7" name="TextBox 6">
            <a:extLst>
              <a:ext uri="{FF2B5EF4-FFF2-40B4-BE49-F238E27FC236}">
                <a16:creationId xmlns:a16="http://schemas.microsoft.com/office/drawing/2014/main" id="{3D46DE68-BA54-4DF2-A1BD-6CE55AFD26F4}"/>
              </a:ext>
            </a:extLst>
          </p:cNvPr>
          <p:cNvSpPr txBox="1"/>
          <p:nvPr/>
        </p:nvSpPr>
        <p:spPr>
          <a:xfrm>
            <a:off x="4591281" y="3567467"/>
            <a:ext cx="2610010" cy="369332"/>
          </a:xfrm>
          <a:prstGeom prst="rect">
            <a:avLst/>
          </a:prstGeom>
          <a:noFill/>
        </p:spPr>
        <p:txBody>
          <a:bodyPr wrap="none" rtlCol="0">
            <a:spAutoFit/>
          </a:bodyPr>
          <a:lstStyle/>
          <a:p>
            <a:r>
              <a:rPr lang="en-US" dirty="0"/>
              <a:t>Insert 20 to right of 10!</a:t>
            </a:r>
          </a:p>
        </p:txBody>
      </p:sp>
      <p:sp>
        <p:nvSpPr>
          <p:cNvPr id="8" name="TextBox 7">
            <a:extLst>
              <a:ext uri="{FF2B5EF4-FFF2-40B4-BE49-F238E27FC236}">
                <a16:creationId xmlns:a16="http://schemas.microsoft.com/office/drawing/2014/main" id="{CE19F52F-2E33-4229-8447-F666110AA9D8}"/>
              </a:ext>
            </a:extLst>
          </p:cNvPr>
          <p:cNvSpPr txBox="1"/>
          <p:nvPr/>
        </p:nvSpPr>
        <p:spPr>
          <a:xfrm>
            <a:off x="7435792" y="3148922"/>
            <a:ext cx="415498" cy="369332"/>
          </a:xfrm>
          <a:prstGeom prst="rect">
            <a:avLst/>
          </a:prstGeom>
          <a:noFill/>
        </p:spPr>
        <p:txBody>
          <a:bodyPr wrap="none" rtlCol="0">
            <a:spAutoFit/>
          </a:bodyPr>
          <a:lstStyle/>
          <a:p>
            <a:r>
              <a:rPr lang="en-US" dirty="0">
                <a:solidFill>
                  <a:srgbClr val="0070C0"/>
                </a:solidFill>
              </a:rPr>
              <a:t>10</a:t>
            </a:r>
          </a:p>
        </p:txBody>
      </p:sp>
      <p:sp>
        <p:nvSpPr>
          <p:cNvPr id="9" name="TextBox 8">
            <a:extLst>
              <a:ext uri="{FF2B5EF4-FFF2-40B4-BE49-F238E27FC236}">
                <a16:creationId xmlns:a16="http://schemas.microsoft.com/office/drawing/2014/main" id="{63186E36-96B5-4EEB-B4E2-086F54B51126}"/>
              </a:ext>
            </a:extLst>
          </p:cNvPr>
          <p:cNvSpPr txBox="1"/>
          <p:nvPr/>
        </p:nvSpPr>
        <p:spPr>
          <a:xfrm>
            <a:off x="8537331" y="3148922"/>
            <a:ext cx="415498" cy="369332"/>
          </a:xfrm>
          <a:prstGeom prst="rect">
            <a:avLst/>
          </a:prstGeom>
          <a:noFill/>
        </p:spPr>
        <p:txBody>
          <a:bodyPr wrap="none" rtlCol="0">
            <a:spAutoFit/>
          </a:bodyPr>
          <a:lstStyle/>
          <a:p>
            <a:r>
              <a:rPr lang="en-US" dirty="0">
                <a:solidFill>
                  <a:srgbClr val="0070C0"/>
                </a:solidFill>
              </a:rPr>
              <a:t>20</a:t>
            </a:r>
          </a:p>
        </p:txBody>
      </p:sp>
    </p:spTree>
    <p:extLst>
      <p:ext uri="{BB962C8B-B14F-4D97-AF65-F5344CB8AC3E}">
        <p14:creationId xmlns:p14="http://schemas.microsoft.com/office/powerpoint/2010/main" val="63065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EF51-BE9E-4F4F-917F-AAC609AAAB04}"/>
              </a:ext>
            </a:extLst>
          </p:cNvPr>
          <p:cNvSpPr>
            <a:spLocks noGrp="1"/>
          </p:cNvSpPr>
          <p:nvPr>
            <p:ph type="title"/>
          </p:nvPr>
        </p:nvSpPr>
        <p:spPr>
          <a:xfrm>
            <a:off x="2207225" y="438371"/>
            <a:ext cx="7729728" cy="1188720"/>
          </a:xfrm>
        </p:spPr>
        <p:txBody>
          <a:bodyPr/>
          <a:lstStyle/>
          <a:p>
            <a:r>
              <a:rPr lang="en-US" dirty="0"/>
              <a:t>B-tree Insert: 15</a:t>
            </a:r>
          </a:p>
        </p:txBody>
      </p:sp>
      <p:sp>
        <p:nvSpPr>
          <p:cNvPr id="3" name="Content Placeholder 2">
            <a:extLst>
              <a:ext uri="{FF2B5EF4-FFF2-40B4-BE49-F238E27FC236}">
                <a16:creationId xmlns:a16="http://schemas.microsoft.com/office/drawing/2014/main" id="{95722D96-EE77-49F0-A491-C65B53701456}"/>
              </a:ext>
            </a:extLst>
          </p:cNvPr>
          <p:cNvSpPr>
            <a:spLocks noGrp="1"/>
          </p:cNvSpPr>
          <p:nvPr>
            <p:ph idx="1"/>
          </p:nvPr>
        </p:nvSpPr>
        <p:spPr/>
        <p:txBody>
          <a:bodyPr/>
          <a:lstStyle/>
          <a:p>
            <a:r>
              <a:rPr lang="en-US" dirty="0"/>
              <a:t>Let’s try to insert 15:</a:t>
            </a:r>
          </a:p>
          <a:p>
            <a:r>
              <a:rPr lang="en-US" dirty="0"/>
              <a:t>We need to move elements around until elements in the node are in </a:t>
            </a:r>
            <a:r>
              <a:rPr lang="en-US" b="1" dirty="0"/>
              <a:t>sorted order</a:t>
            </a:r>
          </a:p>
          <a:p>
            <a:r>
              <a:rPr lang="en-US" b="1" dirty="0"/>
              <a:t>In every node of a b-tree</a:t>
            </a:r>
            <a:r>
              <a:rPr lang="en-US" dirty="0"/>
              <a:t>, </a:t>
            </a:r>
            <a:r>
              <a:rPr lang="en-US" b="1" dirty="0"/>
              <a:t>all values are sorted!</a:t>
            </a:r>
          </a:p>
        </p:txBody>
      </p:sp>
      <p:graphicFrame>
        <p:nvGraphicFramePr>
          <p:cNvPr id="4" name="Table 4">
            <a:extLst>
              <a:ext uri="{FF2B5EF4-FFF2-40B4-BE49-F238E27FC236}">
                <a16:creationId xmlns:a16="http://schemas.microsoft.com/office/drawing/2014/main" id="{8ED612DA-D2B8-4438-AE9A-EFB95D2526D9}"/>
              </a:ext>
            </a:extLst>
          </p:cNvPr>
          <p:cNvGraphicFramePr>
            <a:graphicFrameLocks noGrp="1"/>
          </p:cNvGraphicFramePr>
          <p:nvPr>
            <p:extLst>
              <p:ext uri="{D42A27DB-BD31-4B8C-83A1-F6EECF244321}">
                <p14:modId xmlns:p14="http://schemas.microsoft.com/office/powerpoint/2010/main" val="3786814641"/>
              </p:ext>
            </p:extLst>
          </p:nvPr>
        </p:nvGraphicFramePr>
        <p:xfrm>
          <a:off x="7577644" y="2117946"/>
          <a:ext cx="4347040" cy="624455"/>
        </p:xfrm>
        <a:graphic>
          <a:graphicData uri="http://schemas.openxmlformats.org/drawingml/2006/table">
            <a:tbl>
              <a:tblPr firstRow="1" bandRow="1">
                <a:tableStyleId>{5C22544A-7EE6-4342-B048-85BDC9FD1C3A}</a:tableStyleId>
              </a:tblPr>
              <a:tblGrid>
                <a:gridCol w="2463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 name="TextBox 5">
            <a:extLst>
              <a:ext uri="{FF2B5EF4-FFF2-40B4-BE49-F238E27FC236}">
                <a16:creationId xmlns:a16="http://schemas.microsoft.com/office/drawing/2014/main" id="{EDA37482-2D26-454C-B8DE-805D460EF7B8}"/>
              </a:ext>
            </a:extLst>
          </p:cNvPr>
          <p:cNvSpPr txBox="1"/>
          <p:nvPr/>
        </p:nvSpPr>
        <p:spPr>
          <a:xfrm>
            <a:off x="4700391" y="1967281"/>
            <a:ext cx="2318263" cy="646331"/>
          </a:xfrm>
          <a:prstGeom prst="rect">
            <a:avLst/>
          </a:prstGeom>
          <a:noFill/>
        </p:spPr>
        <p:txBody>
          <a:bodyPr wrap="none" rtlCol="0">
            <a:spAutoFit/>
          </a:bodyPr>
          <a:lstStyle/>
          <a:p>
            <a:r>
              <a:rPr lang="en-US" dirty="0"/>
              <a:t>Root node non-null</a:t>
            </a:r>
          </a:p>
          <a:p>
            <a:r>
              <a:rPr lang="en-US" dirty="0"/>
              <a:t>and not full!</a:t>
            </a:r>
          </a:p>
        </p:txBody>
      </p:sp>
      <p:sp>
        <p:nvSpPr>
          <p:cNvPr id="7" name="TextBox 6">
            <a:extLst>
              <a:ext uri="{FF2B5EF4-FFF2-40B4-BE49-F238E27FC236}">
                <a16:creationId xmlns:a16="http://schemas.microsoft.com/office/drawing/2014/main" id="{3D46DE68-BA54-4DF2-A1BD-6CE55AFD26F4}"/>
              </a:ext>
            </a:extLst>
          </p:cNvPr>
          <p:cNvSpPr txBox="1"/>
          <p:nvPr/>
        </p:nvSpPr>
        <p:spPr>
          <a:xfrm>
            <a:off x="4700391" y="2638044"/>
            <a:ext cx="3046027" cy="369332"/>
          </a:xfrm>
          <a:prstGeom prst="rect">
            <a:avLst/>
          </a:prstGeom>
          <a:noFill/>
        </p:spPr>
        <p:txBody>
          <a:bodyPr wrap="none" rtlCol="0">
            <a:spAutoFit/>
          </a:bodyPr>
          <a:lstStyle/>
          <a:p>
            <a:r>
              <a:rPr lang="en-US" dirty="0"/>
              <a:t>Shift 20 down and add 15</a:t>
            </a:r>
          </a:p>
        </p:txBody>
      </p:sp>
      <p:sp>
        <p:nvSpPr>
          <p:cNvPr id="8" name="TextBox 7">
            <a:extLst>
              <a:ext uri="{FF2B5EF4-FFF2-40B4-BE49-F238E27FC236}">
                <a16:creationId xmlns:a16="http://schemas.microsoft.com/office/drawing/2014/main" id="{CE19F52F-2E33-4229-8447-F666110AA9D8}"/>
              </a:ext>
            </a:extLst>
          </p:cNvPr>
          <p:cNvSpPr txBox="1"/>
          <p:nvPr/>
        </p:nvSpPr>
        <p:spPr>
          <a:xfrm>
            <a:off x="7942702" y="2250870"/>
            <a:ext cx="415498" cy="369332"/>
          </a:xfrm>
          <a:prstGeom prst="rect">
            <a:avLst/>
          </a:prstGeom>
          <a:noFill/>
        </p:spPr>
        <p:txBody>
          <a:bodyPr wrap="none" rtlCol="0">
            <a:spAutoFit/>
          </a:bodyPr>
          <a:lstStyle/>
          <a:p>
            <a:r>
              <a:rPr lang="en-US" dirty="0">
                <a:solidFill>
                  <a:srgbClr val="0070C0"/>
                </a:solidFill>
              </a:rPr>
              <a:t>10</a:t>
            </a:r>
          </a:p>
        </p:txBody>
      </p:sp>
      <p:sp>
        <p:nvSpPr>
          <p:cNvPr id="9" name="TextBox 8">
            <a:extLst>
              <a:ext uri="{FF2B5EF4-FFF2-40B4-BE49-F238E27FC236}">
                <a16:creationId xmlns:a16="http://schemas.microsoft.com/office/drawing/2014/main" id="{63186E36-96B5-4EEB-B4E2-086F54B51126}"/>
              </a:ext>
            </a:extLst>
          </p:cNvPr>
          <p:cNvSpPr txBox="1"/>
          <p:nvPr/>
        </p:nvSpPr>
        <p:spPr>
          <a:xfrm>
            <a:off x="9044241" y="2250870"/>
            <a:ext cx="415498" cy="369332"/>
          </a:xfrm>
          <a:prstGeom prst="rect">
            <a:avLst/>
          </a:prstGeom>
          <a:noFill/>
        </p:spPr>
        <p:txBody>
          <a:bodyPr wrap="none" rtlCol="0">
            <a:spAutoFit/>
          </a:bodyPr>
          <a:lstStyle/>
          <a:p>
            <a:r>
              <a:rPr lang="en-US" dirty="0">
                <a:solidFill>
                  <a:srgbClr val="0070C0"/>
                </a:solidFill>
              </a:rPr>
              <a:t>20</a:t>
            </a:r>
          </a:p>
        </p:txBody>
      </p:sp>
      <p:sp>
        <p:nvSpPr>
          <p:cNvPr id="10" name="TextBox 9">
            <a:extLst>
              <a:ext uri="{FF2B5EF4-FFF2-40B4-BE49-F238E27FC236}">
                <a16:creationId xmlns:a16="http://schemas.microsoft.com/office/drawing/2014/main" id="{81702DDF-CBF2-475D-8D21-80D82F9913AD}"/>
              </a:ext>
            </a:extLst>
          </p:cNvPr>
          <p:cNvSpPr txBox="1"/>
          <p:nvPr/>
        </p:nvSpPr>
        <p:spPr>
          <a:xfrm>
            <a:off x="10078708" y="2250870"/>
            <a:ext cx="415498" cy="369332"/>
          </a:xfrm>
          <a:prstGeom prst="rect">
            <a:avLst/>
          </a:prstGeom>
          <a:noFill/>
        </p:spPr>
        <p:txBody>
          <a:bodyPr wrap="none" rtlCol="0">
            <a:spAutoFit/>
          </a:bodyPr>
          <a:lstStyle/>
          <a:p>
            <a:r>
              <a:rPr lang="en-US" dirty="0">
                <a:solidFill>
                  <a:srgbClr val="0070C0"/>
                </a:solidFill>
              </a:rPr>
              <a:t>15</a:t>
            </a:r>
          </a:p>
        </p:txBody>
      </p:sp>
      <p:sp>
        <p:nvSpPr>
          <p:cNvPr id="11" name="TextBox 10">
            <a:extLst>
              <a:ext uri="{FF2B5EF4-FFF2-40B4-BE49-F238E27FC236}">
                <a16:creationId xmlns:a16="http://schemas.microsoft.com/office/drawing/2014/main" id="{431CF8ED-1F78-4384-9F2C-ACA446BEE5C6}"/>
              </a:ext>
            </a:extLst>
          </p:cNvPr>
          <p:cNvSpPr txBox="1"/>
          <p:nvPr/>
        </p:nvSpPr>
        <p:spPr>
          <a:xfrm>
            <a:off x="7942702" y="2770968"/>
            <a:ext cx="3345788" cy="369332"/>
          </a:xfrm>
          <a:prstGeom prst="rect">
            <a:avLst/>
          </a:prstGeom>
          <a:noFill/>
        </p:spPr>
        <p:txBody>
          <a:bodyPr wrap="none" rtlCol="0">
            <a:spAutoFit/>
          </a:bodyPr>
          <a:lstStyle/>
          <a:p>
            <a:r>
              <a:rPr lang="en-US" dirty="0"/>
              <a:t>Move elements until in order</a:t>
            </a:r>
          </a:p>
        </p:txBody>
      </p:sp>
      <p:sp>
        <p:nvSpPr>
          <p:cNvPr id="12" name="TextBox 11">
            <a:extLst>
              <a:ext uri="{FF2B5EF4-FFF2-40B4-BE49-F238E27FC236}">
                <a16:creationId xmlns:a16="http://schemas.microsoft.com/office/drawing/2014/main" id="{D6B6FAC1-B41E-4571-8BF5-BA076D4CC859}"/>
              </a:ext>
            </a:extLst>
          </p:cNvPr>
          <p:cNvSpPr txBox="1"/>
          <p:nvPr/>
        </p:nvSpPr>
        <p:spPr>
          <a:xfrm>
            <a:off x="10087344" y="2250870"/>
            <a:ext cx="415498" cy="369332"/>
          </a:xfrm>
          <a:prstGeom prst="rect">
            <a:avLst/>
          </a:prstGeom>
          <a:noFill/>
        </p:spPr>
        <p:txBody>
          <a:bodyPr wrap="none" rtlCol="0">
            <a:spAutoFit/>
          </a:bodyPr>
          <a:lstStyle/>
          <a:p>
            <a:r>
              <a:rPr lang="en-US" dirty="0">
                <a:solidFill>
                  <a:srgbClr val="0070C0"/>
                </a:solidFill>
              </a:rPr>
              <a:t>20</a:t>
            </a:r>
          </a:p>
        </p:txBody>
      </p:sp>
      <p:sp>
        <p:nvSpPr>
          <p:cNvPr id="13" name="TextBox 12">
            <a:extLst>
              <a:ext uri="{FF2B5EF4-FFF2-40B4-BE49-F238E27FC236}">
                <a16:creationId xmlns:a16="http://schemas.microsoft.com/office/drawing/2014/main" id="{49CE01D3-2264-4769-953E-4A08403BBDA4}"/>
              </a:ext>
            </a:extLst>
          </p:cNvPr>
          <p:cNvSpPr txBox="1"/>
          <p:nvPr/>
        </p:nvSpPr>
        <p:spPr>
          <a:xfrm>
            <a:off x="9057065" y="2240915"/>
            <a:ext cx="415498" cy="369332"/>
          </a:xfrm>
          <a:prstGeom prst="rect">
            <a:avLst/>
          </a:prstGeom>
          <a:noFill/>
        </p:spPr>
        <p:txBody>
          <a:bodyPr wrap="none" rtlCol="0">
            <a:spAutoFit/>
          </a:bodyPr>
          <a:lstStyle/>
          <a:p>
            <a:r>
              <a:rPr lang="en-US" dirty="0">
                <a:solidFill>
                  <a:srgbClr val="0070C0"/>
                </a:solidFill>
              </a:rPr>
              <a:t>15</a:t>
            </a:r>
          </a:p>
        </p:txBody>
      </p:sp>
      <p:pic>
        <p:nvPicPr>
          <p:cNvPr id="14" name="Picture 13">
            <a:extLst>
              <a:ext uri="{FF2B5EF4-FFF2-40B4-BE49-F238E27FC236}">
                <a16:creationId xmlns:a16="http://schemas.microsoft.com/office/drawing/2014/main" id="{4D79448B-9A42-4A9C-B317-32A62F223721}"/>
              </a:ext>
            </a:extLst>
          </p:cNvPr>
          <p:cNvPicPr>
            <a:picLocks noChangeAspect="1"/>
          </p:cNvPicPr>
          <p:nvPr/>
        </p:nvPicPr>
        <p:blipFill>
          <a:blip r:embed="rId2"/>
          <a:stretch>
            <a:fillRect/>
          </a:stretch>
        </p:blipFill>
        <p:spPr>
          <a:xfrm>
            <a:off x="0" y="138943"/>
            <a:ext cx="12192000" cy="6580113"/>
          </a:xfrm>
          <a:prstGeom prst="rect">
            <a:avLst/>
          </a:prstGeom>
        </p:spPr>
      </p:pic>
    </p:spTree>
    <p:extLst>
      <p:ext uri="{BB962C8B-B14F-4D97-AF65-F5344CB8AC3E}">
        <p14:creationId xmlns:p14="http://schemas.microsoft.com/office/powerpoint/2010/main" val="147729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P spid="9" grpId="1"/>
      <p:bldP spid="10" grpId="0"/>
      <p:bldP spid="10" grpId="1"/>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EF51-BE9E-4F4F-917F-AAC609AAAB04}"/>
              </a:ext>
            </a:extLst>
          </p:cNvPr>
          <p:cNvSpPr>
            <a:spLocks noGrp="1"/>
          </p:cNvSpPr>
          <p:nvPr>
            <p:ph type="title"/>
          </p:nvPr>
        </p:nvSpPr>
        <p:spPr>
          <a:xfrm>
            <a:off x="2231136" y="431292"/>
            <a:ext cx="7729728" cy="1188720"/>
          </a:xfrm>
        </p:spPr>
        <p:txBody>
          <a:bodyPr/>
          <a:lstStyle/>
          <a:p>
            <a:r>
              <a:rPr lang="en-US" dirty="0"/>
              <a:t>B-tree Insert: 7</a:t>
            </a:r>
          </a:p>
        </p:txBody>
      </p:sp>
      <p:sp>
        <p:nvSpPr>
          <p:cNvPr id="3" name="Content Placeholder 2">
            <a:extLst>
              <a:ext uri="{FF2B5EF4-FFF2-40B4-BE49-F238E27FC236}">
                <a16:creationId xmlns:a16="http://schemas.microsoft.com/office/drawing/2014/main" id="{95722D96-EE77-49F0-A491-C65B53701456}"/>
              </a:ext>
            </a:extLst>
          </p:cNvPr>
          <p:cNvSpPr>
            <a:spLocks noGrp="1"/>
          </p:cNvSpPr>
          <p:nvPr>
            <p:ph idx="1"/>
          </p:nvPr>
        </p:nvSpPr>
        <p:spPr/>
        <p:txBody>
          <a:bodyPr/>
          <a:lstStyle/>
          <a:p>
            <a:r>
              <a:rPr lang="en-US" dirty="0"/>
              <a:t>Let’s try to insert 7:</a:t>
            </a:r>
          </a:p>
        </p:txBody>
      </p:sp>
      <p:graphicFrame>
        <p:nvGraphicFramePr>
          <p:cNvPr id="4" name="Table 4">
            <a:extLst>
              <a:ext uri="{FF2B5EF4-FFF2-40B4-BE49-F238E27FC236}">
                <a16:creationId xmlns:a16="http://schemas.microsoft.com/office/drawing/2014/main" id="{8ED612DA-D2B8-4438-AE9A-EFB95D2526D9}"/>
              </a:ext>
            </a:extLst>
          </p:cNvPr>
          <p:cNvGraphicFramePr>
            <a:graphicFrameLocks noGrp="1"/>
          </p:cNvGraphicFramePr>
          <p:nvPr>
            <p:extLst>
              <p:ext uri="{D42A27DB-BD31-4B8C-83A1-F6EECF244321}">
                <p14:modId xmlns:p14="http://schemas.microsoft.com/office/powerpoint/2010/main" val="1900582597"/>
              </p:ext>
            </p:extLst>
          </p:nvPr>
        </p:nvGraphicFramePr>
        <p:xfrm>
          <a:off x="7094046" y="3021361"/>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 name="TextBox 5">
            <a:extLst>
              <a:ext uri="{FF2B5EF4-FFF2-40B4-BE49-F238E27FC236}">
                <a16:creationId xmlns:a16="http://schemas.microsoft.com/office/drawing/2014/main" id="{EDA37482-2D26-454C-B8DE-805D460EF7B8}"/>
              </a:ext>
            </a:extLst>
          </p:cNvPr>
          <p:cNvSpPr txBox="1"/>
          <p:nvPr/>
        </p:nvSpPr>
        <p:spPr>
          <a:xfrm>
            <a:off x="4420550" y="1991713"/>
            <a:ext cx="2318263" cy="646331"/>
          </a:xfrm>
          <a:prstGeom prst="rect">
            <a:avLst/>
          </a:prstGeom>
          <a:noFill/>
        </p:spPr>
        <p:txBody>
          <a:bodyPr wrap="none" rtlCol="0">
            <a:spAutoFit/>
          </a:bodyPr>
          <a:lstStyle/>
          <a:p>
            <a:r>
              <a:rPr lang="en-US" dirty="0"/>
              <a:t>Root node non-null</a:t>
            </a:r>
          </a:p>
          <a:p>
            <a:r>
              <a:rPr lang="en-US" dirty="0"/>
              <a:t>and not full!</a:t>
            </a:r>
          </a:p>
        </p:txBody>
      </p:sp>
      <p:sp>
        <p:nvSpPr>
          <p:cNvPr id="7" name="TextBox 6">
            <a:extLst>
              <a:ext uri="{FF2B5EF4-FFF2-40B4-BE49-F238E27FC236}">
                <a16:creationId xmlns:a16="http://schemas.microsoft.com/office/drawing/2014/main" id="{3D46DE68-BA54-4DF2-A1BD-6CE55AFD26F4}"/>
              </a:ext>
            </a:extLst>
          </p:cNvPr>
          <p:cNvSpPr txBox="1"/>
          <p:nvPr/>
        </p:nvSpPr>
        <p:spPr>
          <a:xfrm>
            <a:off x="4420550" y="2699274"/>
            <a:ext cx="2082621" cy="369332"/>
          </a:xfrm>
          <a:prstGeom prst="rect">
            <a:avLst/>
          </a:prstGeom>
          <a:noFill/>
        </p:spPr>
        <p:txBody>
          <a:bodyPr wrap="none" rtlCol="0">
            <a:spAutoFit/>
          </a:bodyPr>
          <a:lstStyle/>
          <a:p>
            <a:r>
              <a:rPr lang="en-US" dirty="0"/>
              <a:t>Make room for 7</a:t>
            </a:r>
          </a:p>
        </p:txBody>
      </p:sp>
      <p:sp>
        <p:nvSpPr>
          <p:cNvPr id="8" name="TextBox 7">
            <a:extLst>
              <a:ext uri="{FF2B5EF4-FFF2-40B4-BE49-F238E27FC236}">
                <a16:creationId xmlns:a16="http://schemas.microsoft.com/office/drawing/2014/main" id="{CE19F52F-2E33-4229-8447-F666110AA9D8}"/>
              </a:ext>
            </a:extLst>
          </p:cNvPr>
          <p:cNvSpPr txBox="1"/>
          <p:nvPr/>
        </p:nvSpPr>
        <p:spPr>
          <a:xfrm>
            <a:off x="7435792" y="3148922"/>
            <a:ext cx="415498" cy="369332"/>
          </a:xfrm>
          <a:prstGeom prst="rect">
            <a:avLst/>
          </a:prstGeom>
          <a:noFill/>
        </p:spPr>
        <p:txBody>
          <a:bodyPr wrap="none" rtlCol="0">
            <a:spAutoFit/>
          </a:bodyPr>
          <a:lstStyle/>
          <a:p>
            <a:r>
              <a:rPr lang="en-US" dirty="0">
                <a:solidFill>
                  <a:srgbClr val="0070C0"/>
                </a:solidFill>
              </a:rPr>
              <a:t>10</a:t>
            </a:r>
          </a:p>
        </p:txBody>
      </p:sp>
      <p:sp>
        <p:nvSpPr>
          <p:cNvPr id="9" name="TextBox 8">
            <a:extLst>
              <a:ext uri="{FF2B5EF4-FFF2-40B4-BE49-F238E27FC236}">
                <a16:creationId xmlns:a16="http://schemas.microsoft.com/office/drawing/2014/main" id="{63186E36-96B5-4EEB-B4E2-086F54B51126}"/>
              </a:ext>
            </a:extLst>
          </p:cNvPr>
          <p:cNvSpPr txBox="1"/>
          <p:nvPr/>
        </p:nvSpPr>
        <p:spPr>
          <a:xfrm>
            <a:off x="8537331" y="3148922"/>
            <a:ext cx="415498" cy="369332"/>
          </a:xfrm>
          <a:prstGeom prst="rect">
            <a:avLst/>
          </a:prstGeom>
          <a:noFill/>
        </p:spPr>
        <p:txBody>
          <a:bodyPr wrap="none" rtlCol="0">
            <a:spAutoFit/>
          </a:bodyPr>
          <a:lstStyle/>
          <a:p>
            <a:r>
              <a:rPr lang="en-US" dirty="0">
                <a:solidFill>
                  <a:srgbClr val="0070C0"/>
                </a:solidFill>
              </a:rPr>
              <a:t>20</a:t>
            </a:r>
          </a:p>
        </p:txBody>
      </p:sp>
      <p:sp>
        <p:nvSpPr>
          <p:cNvPr id="10" name="TextBox 9">
            <a:extLst>
              <a:ext uri="{FF2B5EF4-FFF2-40B4-BE49-F238E27FC236}">
                <a16:creationId xmlns:a16="http://schemas.microsoft.com/office/drawing/2014/main" id="{81702DDF-CBF2-475D-8D21-80D82F9913AD}"/>
              </a:ext>
            </a:extLst>
          </p:cNvPr>
          <p:cNvSpPr txBox="1"/>
          <p:nvPr/>
        </p:nvSpPr>
        <p:spPr>
          <a:xfrm>
            <a:off x="9571798" y="3148922"/>
            <a:ext cx="415498" cy="369332"/>
          </a:xfrm>
          <a:prstGeom prst="rect">
            <a:avLst/>
          </a:prstGeom>
          <a:noFill/>
        </p:spPr>
        <p:txBody>
          <a:bodyPr wrap="none" rtlCol="0">
            <a:spAutoFit/>
          </a:bodyPr>
          <a:lstStyle/>
          <a:p>
            <a:r>
              <a:rPr lang="en-US" dirty="0">
                <a:solidFill>
                  <a:srgbClr val="0070C0"/>
                </a:solidFill>
              </a:rPr>
              <a:t>15</a:t>
            </a:r>
          </a:p>
        </p:txBody>
      </p:sp>
      <p:sp>
        <p:nvSpPr>
          <p:cNvPr id="12" name="TextBox 11">
            <a:extLst>
              <a:ext uri="{FF2B5EF4-FFF2-40B4-BE49-F238E27FC236}">
                <a16:creationId xmlns:a16="http://schemas.microsoft.com/office/drawing/2014/main" id="{2967A1D9-B29C-48E1-BAD4-7412C33A9402}"/>
              </a:ext>
            </a:extLst>
          </p:cNvPr>
          <p:cNvSpPr txBox="1"/>
          <p:nvPr/>
        </p:nvSpPr>
        <p:spPr>
          <a:xfrm>
            <a:off x="8563467" y="3146532"/>
            <a:ext cx="415498" cy="369332"/>
          </a:xfrm>
          <a:prstGeom prst="rect">
            <a:avLst/>
          </a:prstGeom>
          <a:noFill/>
        </p:spPr>
        <p:txBody>
          <a:bodyPr wrap="none" rtlCol="0">
            <a:spAutoFit/>
          </a:bodyPr>
          <a:lstStyle/>
          <a:p>
            <a:r>
              <a:rPr lang="en-US" dirty="0">
                <a:solidFill>
                  <a:srgbClr val="0070C0"/>
                </a:solidFill>
              </a:rPr>
              <a:t>10</a:t>
            </a:r>
          </a:p>
        </p:txBody>
      </p:sp>
      <p:sp>
        <p:nvSpPr>
          <p:cNvPr id="13" name="TextBox 12">
            <a:extLst>
              <a:ext uri="{FF2B5EF4-FFF2-40B4-BE49-F238E27FC236}">
                <a16:creationId xmlns:a16="http://schemas.microsoft.com/office/drawing/2014/main" id="{19524D1A-529B-426E-859C-DB55CC40D36B}"/>
              </a:ext>
            </a:extLst>
          </p:cNvPr>
          <p:cNvSpPr txBox="1"/>
          <p:nvPr/>
        </p:nvSpPr>
        <p:spPr>
          <a:xfrm>
            <a:off x="9586540" y="3145307"/>
            <a:ext cx="415498" cy="369332"/>
          </a:xfrm>
          <a:prstGeom prst="rect">
            <a:avLst/>
          </a:prstGeom>
          <a:noFill/>
        </p:spPr>
        <p:txBody>
          <a:bodyPr wrap="none" rtlCol="0">
            <a:spAutoFit/>
          </a:bodyPr>
          <a:lstStyle/>
          <a:p>
            <a:r>
              <a:rPr lang="en-US" dirty="0">
                <a:solidFill>
                  <a:srgbClr val="0070C0"/>
                </a:solidFill>
              </a:rPr>
              <a:t>20</a:t>
            </a:r>
          </a:p>
        </p:txBody>
      </p:sp>
      <p:sp>
        <p:nvSpPr>
          <p:cNvPr id="14" name="TextBox 13">
            <a:extLst>
              <a:ext uri="{FF2B5EF4-FFF2-40B4-BE49-F238E27FC236}">
                <a16:creationId xmlns:a16="http://schemas.microsoft.com/office/drawing/2014/main" id="{BCE48835-967F-4E83-A5F6-955BB9ABC3A9}"/>
              </a:ext>
            </a:extLst>
          </p:cNvPr>
          <p:cNvSpPr txBox="1"/>
          <p:nvPr/>
        </p:nvSpPr>
        <p:spPr>
          <a:xfrm>
            <a:off x="10489642" y="3147466"/>
            <a:ext cx="415498" cy="369332"/>
          </a:xfrm>
          <a:prstGeom prst="rect">
            <a:avLst/>
          </a:prstGeom>
          <a:noFill/>
        </p:spPr>
        <p:txBody>
          <a:bodyPr wrap="none" rtlCol="0">
            <a:spAutoFit/>
          </a:bodyPr>
          <a:lstStyle/>
          <a:p>
            <a:r>
              <a:rPr lang="en-US" dirty="0">
                <a:solidFill>
                  <a:srgbClr val="0070C0"/>
                </a:solidFill>
              </a:rPr>
              <a:t>15</a:t>
            </a:r>
          </a:p>
        </p:txBody>
      </p:sp>
      <p:sp>
        <p:nvSpPr>
          <p:cNvPr id="17" name="TextBox 16">
            <a:extLst>
              <a:ext uri="{FF2B5EF4-FFF2-40B4-BE49-F238E27FC236}">
                <a16:creationId xmlns:a16="http://schemas.microsoft.com/office/drawing/2014/main" id="{6C238CBE-7E32-4281-A8B6-349AF05DBA40}"/>
              </a:ext>
            </a:extLst>
          </p:cNvPr>
          <p:cNvSpPr txBox="1"/>
          <p:nvPr/>
        </p:nvSpPr>
        <p:spPr>
          <a:xfrm>
            <a:off x="4420550" y="3097192"/>
            <a:ext cx="3193503" cy="369332"/>
          </a:xfrm>
          <a:prstGeom prst="rect">
            <a:avLst/>
          </a:prstGeom>
          <a:noFill/>
        </p:spPr>
        <p:txBody>
          <a:bodyPr wrap="none" rtlCol="0">
            <a:spAutoFit/>
          </a:bodyPr>
          <a:lstStyle/>
          <a:p>
            <a:r>
              <a:rPr lang="en-US" dirty="0"/>
              <a:t>Move elements until sorted</a:t>
            </a:r>
          </a:p>
        </p:txBody>
      </p:sp>
      <p:sp>
        <p:nvSpPr>
          <p:cNvPr id="18" name="TextBox 17">
            <a:extLst>
              <a:ext uri="{FF2B5EF4-FFF2-40B4-BE49-F238E27FC236}">
                <a16:creationId xmlns:a16="http://schemas.microsoft.com/office/drawing/2014/main" id="{83390481-902A-4C86-A138-155BB054596F}"/>
              </a:ext>
            </a:extLst>
          </p:cNvPr>
          <p:cNvSpPr txBox="1"/>
          <p:nvPr/>
        </p:nvSpPr>
        <p:spPr>
          <a:xfrm>
            <a:off x="10493262" y="3145307"/>
            <a:ext cx="415498" cy="369332"/>
          </a:xfrm>
          <a:prstGeom prst="rect">
            <a:avLst/>
          </a:prstGeom>
          <a:noFill/>
        </p:spPr>
        <p:txBody>
          <a:bodyPr wrap="none" rtlCol="0">
            <a:spAutoFit/>
          </a:bodyPr>
          <a:lstStyle/>
          <a:p>
            <a:r>
              <a:rPr lang="en-US" dirty="0">
                <a:solidFill>
                  <a:srgbClr val="0070C0"/>
                </a:solidFill>
              </a:rPr>
              <a:t>20</a:t>
            </a:r>
          </a:p>
        </p:txBody>
      </p:sp>
      <p:sp>
        <p:nvSpPr>
          <p:cNvPr id="19" name="TextBox 18">
            <a:extLst>
              <a:ext uri="{FF2B5EF4-FFF2-40B4-BE49-F238E27FC236}">
                <a16:creationId xmlns:a16="http://schemas.microsoft.com/office/drawing/2014/main" id="{8EB7D1CB-9D20-40A4-B456-FCC379594F2D}"/>
              </a:ext>
            </a:extLst>
          </p:cNvPr>
          <p:cNvSpPr txBox="1"/>
          <p:nvPr/>
        </p:nvSpPr>
        <p:spPr>
          <a:xfrm>
            <a:off x="9607851" y="3152537"/>
            <a:ext cx="415498" cy="369332"/>
          </a:xfrm>
          <a:prstGeom prst="rect">
            <a:avLst/>
          </a:prstGeom>
          <a:noFill/>
        </p:spPr>
        <p:txBody>
          <a:bodyPr wrap="none" rtlCol="0">
            <a:spAutoFit/>
          </a:bodyPr>
          <a:lstStyle/>
          <a:p>
            <a:r>
              <a:rPr lang="en-US" dirty="0">
                <a:solidFill>
                  <a:srgbClr val="0070C0"/>
                </a:solidFill>
              </a:rPr>
              <a:t>15</a:t>
            </a:r>
          </a:p>
        </p:txBody>
      </p:sp>
      <p:sp>
        <p:nvSpPr>
          <p:cNvPr id="20" name="TextBox 19">
            <a:extLst>
              <a:ext uri="{FF2B5EF4-FFF2-40B4-BE49-F238E27FC236}">
                <a16:creationId xmlns:a16="http://schemas.microsoft.com/office/drawing/2014/main" id="{AED9C6ED-9824-4083-9406-C37CB31F1D21}"/>
              </a:ext>
            </a:extLst>
          </p:cNvPr>
          <p:cNvSpPr txBox="1"/>
          <p:nvPr/>
        </p:nvSpPr>
        <p:spPr>
          <a:xfrm>
            <a:off x="4420550" y="3618923"/>
            <a:ext cx="1494320" cy="369332"/>
          </a:xfrm>
          <a:prstGeom prst="rect">
            <a:avLst/>
          </a:prstGeom>
          <a:noFill/>
        </p:spPr>
        <p:txBody>
          <a:bodyPr wrap="none" rtlCol="0">
            <a:spAutoFit/>
          </a:bodyPr>
          <a:lstStyle/>
          <a:p>
            <a:r>
              <a:rPr lang="en-US" dirty="0"/>
              <a:t>Now, add 7</a:t>
            </a:r>
          </a:p>
        </p:txBody>
      </p:sp>
      <p:sp>
        <p:nvSpPr>
          <p:cNvPr id="5" name="TextBox 4">
            <a:extLst>
              <a:ext uri="{FF2B5EF4-FFF2-40B4-BE49-F238E27FC236}">
                <a16:creationId xmlns:a16="http://schemas.microsoft.com/office/drawing/2014/main" id="{5536C26D-E98A-4BA2-95F4-96E95B3B0750}"/>
              </a:ext>
            </a:extLst>
          </p:cNvPr>
          <p:cNvSpPr txBox="1"/>
          <p:nvPr/>
        </p:nvSpPr>
        <p:spPr>
          <a:xfrm>
            <a:off x="7492860" y="3147466"/>
            <a:ext cx="312906" cy="369332"/>
          </a:xfrm>
          <a:prstGeom prst="rect">
            <a:avLst/>
          </a:prstGeom>
          <a:noFill/>
        </p:spPr>
        <p:txBody>
          <a:bodyPr wrap="square" rtlCol="0">
            <a:spAutoFit/>
          </a:bodyPr>
          <a:lstStyle/>
          <a:p>
            <a:r>
              <a:rPr lang="en-US" dirty="0">
                <a:solidFill>
                  <a:srgbClr val="0070C0"/>
                </a:solidFill>
              </a:rPr>
              <a:t>7</a:t>
            </a:r>
          </a:p>
        </p:txBody>
      </p:sp>
      <p:pic>
        <p:nvPicPr>
          <p:cNvPr id="11" name="Picture 10">
            <a:extLst>
              <a:ext uri="{FF2B5EF4-FFF2-40B4-BE49-F238E27FC236}">
                <a16:creationId xmlns:a16="http://schemas.microsoft.com/office/drawing/2014/main" id="{2508E9D7-E27F-47FA-B699-EFF3AE9A11F8}"/>
              </a:ext>
            </a:extLst>
          </p:cNvPr>
          <p:cNvPicPr>
            <a:picLocks noChangeAspect="1"/>
          </p:cNvPicPr>
          <p:nvPr/>
        </p:nvPicPr>
        <p:blipFill>
          <a:blip r:embed="rId2"/>
          <a:stretch>
            <a:fillRect/>
          </a:stretch>
        </p:blipFill>
        <p:spPr>
          <a:xfrm>
            <a:off x="0" y="77982"/>
            <a:ext cx="12192000" cy="6702035"/>
          </a:xfrm>
          <a:prstGeom prst="rect">
            <a:avLst/>
          </a:prstGeom>
        </p:spPr>
      </p:pic>
    </p:spTree>
    <p:extLst>
      <p:ext uri="{BB962C8B-B14F-4D97-AF65-F5344CB8AC3E}">
        <p14:creationId xmlns:p14="http://schemas.microsoft.com/office/powerpoint/2010/main" val="66370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2" nodeType="click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0"/>
                                        </p:tgtEl>
                                        <p:attrNameLst>
                                          <p:attrName>style.visibility</p:attrName>
                                        </p:attrNameLst>
                                      </p:cBhvr>
                                      <p:to>
                                        <p:strVal val="hidden"/>
                                      </p:to>
                                    </p:set>
                                  </p:childTnLst>
                                </p:cTn>
                              </p:par>
                              <p:par>
                                <p:cTn id="41" presetID="1" presetClass="entr" presetSubtype="0" fill="hold" grpId="0" nodeType="withEffect">
                                  <p:stCondLst>
                                    <p:cond delay="50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2"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8" grpId="2"/>
      <p:bldP spid="9" grpId="0"/>
      <p:bldP spid="9" grpId="1"/>
      <p:bldP spid="10" grpId="0"/>
      <p:bldP spid="10" grpId="1"/>
      <p:bldP spid="12" grpId="0"/>
      <p:bldP spid="12" grpId="1"/>
      <p:bldP spid="12" grpId="2"/>
      <p:bldP spid="13" grpId="0"/>
      <p:bldP spid="13" grpId="1"/>
      <p:bldP spid="14" grpId="0"/>
      <p:bldP spid="14" grpId="1"/>
      <p:bldP spid="17" grpId="0"/>
      <p:bldP spid="18" grpId="0"/>
      <p:bldP spid="19" grpId="0"/>
      <p:bldP spid="20"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EF51-BE9E-4F4F-917F-AAC609AAAB04}"/>
              </a:ext>
            </a:extLst>
          </p:cNvPr>
          <p:cNvSpPr>
            <a:spLocks noGrp="1"/>
          </p:cNvSpPr>
          <p:nvPr>
            <p:ph type="title"/>
          </p:nvPr>
        </p:nvSpPr>
        <p:spPr>
          <a:xfrm>
            <a:off x="2349769" y="178008"/>
            <a:ext cx="7729728" cy="1188720"/>
          </a:xfrm>
        </p:spPr>
        <p:txBody>
          <a:bodyPr/>
          <a:lstStyle/>
          <a:p>
            <a:r>
              <a:rPr lang="en-US" dirty="0"/>
              <a:t>B-tree Insert: 11</a:t>
            </a:r>
          </a:p>
        </p:txBody>
      </p:sp>
      <p:sp>
        <p:nvSpPr>
          <p:cNvPr id="3" name="Content Placeholder 2">
            <a:extLst>
              <a:ext uri="{FF2B5EF4-FFF2-40B4-BE49-F238E27FC236}">
                <a16:creationId xmlns:a16="http://schemas.microsoft.com/office/drawing/2014/main" id="{95722D96-EE77-49F0-A491-C65B53701456}"/>
              </a:ext>
            </a:extLst>
          </p:cNvPr>
          <p:cNvSpPr>
            <a:spLocks noGrp="1"/>
          </p:cNvSpPr>
          <p:nvPr>
            <p:ph idx="1"/>
          </p:nvPr>
        </p:nvSpPr>
        <p:spPr>
          <a:xfrm>
            <a:off x="1816395" y="3653398"/>
            <a:ext cx="7729728" cy="3101983"/>
          </a:xfrm>
        </p:spPr>
        <p:txBody>
          <a:bodyPr/>
          <a:lstStyle/>
          <a:p>
            <a:r>
              <a:rPr lang="en-US" dirty="0"/>
              <a:t>Let’s try to insert 11:</a:t>
            </a:r>
          </a:p>
        </p:txBody>
      </p:sp>
      <p:graphicFrame>
        <p:nvGraphicFramePr>
          <p:cNvPr id="4" name="Table 4">
            <a:extLst>
              <a:ext uri="{FF2B5EF4-FFF2-40B4-BE49-F238E27FC236}">
                <a16:creationId xmlns:a16="http://schemas.microsoft.com/office/drawing/2014/main" id="{8ED612DA-D2B8-4438-AE9A-EFB95D2526D9}"/>
              </a:ext>
            </a:extLst>
          </p:cNvPr>
          <p:cNvGraphicFramePr>
            <a:graphicFrameLocks noGrp="1"/>
          </p:cNvGraphicFramePr>
          <p:nvPr>
            <p:extLst>
              <p:ext uri="{D42A27DB-BD31-4B8C-83A1-F6EECF244321}">
                <p14:modId xmlns:p14="http://schemas.microsoft.com/office/powerpoint/2010/main" val="1920901949"/>
              </p:ext>
            </p:extLst>
          </p:nvPr>
        </p:nvGraphicFramePr>
        <p:xfrm>
          <a:off x="7094046" y="3021361"/>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 name="TextBox 5">
            <a:extLst>
              <a:ext uri="{FF2B5EF4-FFF2-40B4-BE49-F238E27FC236}">
                <a16:creationId xmlns:a16="http://schemas.microsoft.com/office/drawing/2014/main" id="{EDA37482-2D26-454C-B8DE-805D460EF7B8}"/>
              </a:ext>
            </a:extLst>
          </p:cNvPr>
          <p:cNvSpPr txBox="1"/>
          <p:nvPr/>
        </p:nvSpPr>
        <p:spPr>
          <a:xfrm>
            <a:off x="3804141" y="1944468"/>
            <a:ext cx="2318263" cy="646331"/>
          </a:xfrm>
          <a:prstGeom prst="rect">
            <a:avLst/>
          </a:prstGeom>
          <a:noFill/>
        </p:spPr>
        <p:txBody>
          <a:bodyPr wrap="none" rtlCol="0">
            <a:spAutoFit/>
          </a:bodyPr>
          <a:lstStyle/>
          <a:p>
            <a:r>
              <a:rPr lang="en-US" dirty="0"/>
              <a:t>Root node non-null</a:t>
            </a:r>
          </a:p>
          <a:p>
            <a:r>
              <a:rPr lang="en-US" dirty="0"/>
              <a:t>but full!</a:t>
            </a:r>
          </a:p>
        </p:txBody>
      </p:sp>
      <p:sp>
        <p:nvSpPr>
          <p:cNvPr id="8" name="TextBox 7">
            <a:extLst>
              <a:ext uri="{FF2B5EF4-FFF2-40B4-BE49-F238E27FC236}">
                <a16:creationId xmlns:a16="http://schemas.microsoft.com/office/drawing/2014/main" id="{CE19F52F-2E33-4229-8447-F666110AA9D8}"/>
              </a:ext>
            </a:extLst>
          </p:cNvPr>
          <p:cNvSpPr txBox="1"/>
          <p:nvPr/>
        </p:nvSpPr>
        <p:spPr>
          <a:xfrm>
            <a:off x="7435792" y="3148922"/>
            <a:ext cx="300082" cy="369332"/>
          </a:xfrm>
          <a:prstGeom prst="rect">
            <a:avLst/>
          </a:prstGeom>
          <a:noFill/>
        </p:spPr>
        <p:txBody>
          <a:bodyPr wrap="none" rtlCol="0">
            <a:spAutoFit/>
          </a:bodyPr>
          <a:lstStyle/>
          <a:p>
            <a:r>
              <a:rPr lang="en-US" dirty="0">
                <a:solidFill>
                  <a:srgbClr val="0070C0"/>
                </a:solidFill>
              </a:rPr>
              <a:t>7</a:t>
            </a:r>
          </a:p>
        </p:txBody>
      </p:sp>
      <p:sp>
        <p:nvSpPr>
          <p:cNvPr id="9" name="TextBox 8">
            <a:extLst>
              <a:ext uri="{FF2B5EF4-FFF2-40B4-BE49-F238E27FC236}">
                <a16:creationId xmlns:a16="http://schemas.microsoft.com/office/drawing/2014/main" id="{63186E36-96B5-4EEB-B4E2-086F54B51126}"/>
              </a:ext>
            </a:extLst>
          </p:cNvPr>
          <p:cNvSpPr txBox="1"/>
          <p:nvPr/>
        </p:nvSpPr>
        <p:spPr>
          <a:xfrm>
            <a:off x="8537331" y="3148922"/>
            <a:ext cx="415498" cy="369332"/>
          </a:xfrm>
          <a:prstGeom prst="rect">
            <a:avLst/>
          </a:prstGeom>
          <a:noFill/>
        </p:spPr>
        <p:txBody>
          <a:bodyPr wrap="none" rtlCol="0">
            <a:spAutoFit/>
          </a:bodyPr>
          <a:lstStyle/>
          <a:p>
            <a:r>
              <a:rPr lang="en-US" dirty="0">
                <a:solidFill>
                  <a:srgbClr val="0070C0"/>
                </a:solidFill>
              </a:rPr>
              <a:t>10</a:t>
            </a:r>
          </a:p>
        </p:txBody>
      </p:sp>
      <p:sp>
        <p:nvSpPr>
          <p:cNvPr id="10" name="TextBox 9">
            <a:extLst>
              <a:ext uri="{FF2B5EF4-FFF2-40B4-BE49-F238E27FC236}">
                <a16:creationId xmlns:a16="http://schemas.microsoft.com/office/drawing/2014/main" id="{81702DDF-CBF2-475D-8D21-80D82F9913AD}"/>
              </a:ext>
            </a:extLst>
          </p:cNvPr>
          <p:cNvSpPr txBox="1"/>
          <p:nvPr/>
        </p:nvSpPr>
        <p:spPr>
          <a:xfrm>
            <a:off x="9571798" y="3148922"/>
            <a:ext cx="415498" cy="369332"/>
          </a:xfrm>
          <a:prstGeom prst="rect">
            <a:avLst/>
          </a:prstGeom>
          <a:noFill/>
        </p:spPr>
        <p:txBody>
          <a:bodyPr wrap="none" rtlCol="0">
            <a:spAutoFit/>
          </a:bodyPr>
          <a:lstStyle/>
          <a:p>
            <a:r>
              <a:rPr lang="en-US" dirty="0">
                <a:solidFill>
                  <a:srgbClr val="0070C0"/>
                </a:solidFill>
              </a:rPr>
              <a:t>15</a:t>
            </a:r>
          </a:p>
        </p:txBody>
      </p:sp>
      <p:sp>
        <p:nvSpPr>
          <p:cNvPr id="14" name="TextBox 13">
            <a:extLst>
              <a:ext uri="{FF2B5EF4-FFF2-40B4-BE49-F238E27FC236}">
                <a16:creationId xmlns:a16="http://schemas.microsoft.com/office/drawing/2014/main" id="{BCE48835-967F-4E83-A5F6-955BB9ABC3A9}"/>
              </a:ext>
            </a:extLst>
          </p:cNvPr>
          <p:cNvSpPr txBox="1"/>
          <p:nvPr/>
        </p:nvSpPr>
        <p:spPr>
          <a:xfrm>
            <a:off x="10489642" y="3147466"/>
            <a:ext cx="415498" cy="369332"/>
          </a:xfrm>
          <a:prstGeom prst="rect">
            <a:avLst/>
          </a:prstGeom>
          <a:noFill/>
        </p:spPr>
        <p:txBody>
          <a:bodyPr wrap="none" rtlCol="0">
            <a:spAutoFit/>
          </a:bodyPr>
          <a:lstStyle/>
          <a:p>
            <a:r>
              <a:rPr lang="en-US" dirty="0">
                <a:solidFill>
                  <a:srgbClr val="0070C0"/>
                </a:solidFill>
              </a:rPr>
              <a:t>20</a:t>
            </a:r>
          </a:p>
        </p:txBody>
      </p:sp>
      <p:sp>
        <p:nvSpPr>
          <p:cNvPr id="21" name="TextBox 20">
            <a:extLst>
              <a:ext uri="{FF2B5EF4-FFF2-40B4-BE49-F238E27FC236}">
                <a16:creationId xmlns:a16="http://schemas.microsoft.com/office/drawing/2014/main" id="{E4AB122D-A376-44D1-92DC-026302ADF990}"/>
              </a:ext>
            </a:extLst>
          </p:cNvPr>
          <p:cNvSpPr txBox="1"/>
          <p:nvPr/>
        </p:nvSpPr>
        <p:spPr>
          <a:xfrm>
            <a:off x="3804141" y="2685801"/>
            <a:ext cx="2236510" cy="646331"/>
          </a:xfrm>
          <a:prstGeom prst="rect">
            <a:avLst/>
          </a:prstGeom>
          <a:noFill/>
        </p:spPr>
        <p:txBody>
          <a:bodyPr wrap="none" rtlCol="0">
            <a:spAutoFit/>
          </a:bodyPr>
          <a:lstStyle/>
          <a:p>
            <a:r>
              <a:rPr lang="en-US" dirty="0"/>
              <a:t>Determine median of:</a:t>
            </a:r>
          </a:p>
          <a:p>
            <a:r>
              <a:rPr lang="en-US" dirty="0"/>
              <a:t>7, 10, 11, 15, 20</a:t>
            </a:r>
          </a:p>
        </p:txBody>
      </p:sp>
      <p:sp>
        <p:nvSpPr>
          <p:cNvPr id="22" name="TextBox 21">
            <a:extLst>
              <a:ext uri="{FF2B5EF4-FFF2-40B4-BE49-F238E27FC236}">
                <a16:creationId xmlns:a16="http://schemas.microsoft.com/office/drawing/2014/main" id="{8493D69C-9040-490D-A3E7-2378F2FF3623}"/>
              </a:ext>
            </a:extLst>
          </p:cNvPr>
          <p:cNvSpPr txBox="1"/>
          <p:nvPr/>
        </p:nvSpPr>
        <p:spPr>
          <a:xfrm>
            <a:off x="3775317" y="3332132"/>
            <a:ext cx="3105337" cy="369332"/>
          </a:xfrm>
          <a:prstGeom prst="rect">
            <a:avLst/>
          </a:prstGeom>
          <a:noFill/>
        </p:spPr>
        <p:txBody>
          <a:bodyPr wrap="none" rtlCol="0">
            <a:spAutoFit/>
          </a:bodyPr>
          <a:lstStyle/>
          <a:p>
            <a:r>
              <a:rPr lang="en-US" dirty="0"/>
              <a:t>Promote 11, and split root!</a:t>
            </a:r>
          </a:p>
        </p:txBody>
      </p:sp>
      <p:graphicFrame>
        <p:nvGraphicFramePr>
          <p:cNvPr id="23" name="Table 4">
            <a:extLst>
              <a:ext uri="{FF2B5EF4-FFF2-40B4-BE49-F238E27FC236}">
                <a16:creationId xmlns:a16="http://schemas.microsoft.com/office/drawing/2014/main" id="{9ACE4DEB-112C-4B38-9917-1BAD745AA7D7}"/>
              </a:ext>
            </a:extLst>
          </p:cNvPr>
          <p:cNvGraphicFramePr>
            <a:graphicFrameLocks noGrp="1"/>
          </p:cNvGraphicFramePr>
          <p:nvPr>
            <p:extLst>
              <p:ext uri="{D42A27DB-BD31-4B8C-83A1-F6EECF244321}">
                <p14:modId xmlns:p14="http://schemas.microsoft.com/office/powerpoint/2010/main" val="264644837"/>
              </p:ext>
            </p:extLst>
          </p:nvPr>
        </p:nvGraphicFramePr>
        <p:xfrm>
          <a:off x="5594228" y="1666536"/>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28" name="TextBox 27">
            <a:extLst>
              <a:ext uri="{FF2B5EF4-FFF2-40B4-BE49-F238E27FC236}">
                <a16:creationId xmlns:a16="http://schemas.microsoft.com/office/drawing/2014/main" id="{94DED0C1-A9E0-432A-86ED-171F84B96A2B}"/>
              </a:ext>
            </a:extLst>
          </p:cNvPr>
          <p:cNvSpPr txBox="1"/>
          <p:nvPr/>
        </p:nvSpPr>
        <p:spPr>
          <a:xfrm>
            <a:off x="5935974" y="1814774"/>
            <a:ext cx="415498" cy="369332"/>
          </a:xfrm>
          <a:prstGeom prst="rect">
            <a:avLst/>
          </a:prstGeom>
          <a:noFill/>
        </p:spPr>
        <p:txBody>
          <a:bodyPr wrap="none" rtlCol="0">
            <a:spAutoFit/>
          </a:bodyPr>
          <a:lstStyle/>
          <a:p>
            <a:r>
              <a:rPr lang="en-US" dirty="0">
                <a:solidFill>
                  <a:srgbClr val="0070C0"/>
                </a:solidFill>
              </a:rPr>
              <a:t>11</a:t>
            </a:r>
          </a:p>
        </p:txBody>
      </p:sp>
      <p:sp>
        <p:nvSpPr>
          <p:cNvPr id="29" name="TextBox 28">
            <a:extLst>
              <a:ext uri="{FF2B5EF4-FFF2-40B4-BE49-F238E27FC236}">
                <a16:creationId xmlns:a16="http://schemas.microsoft.com/office/drawing/2014/main" id="{EDC58ED9-EB16-46D3-A930-BA4A691853AC}"/>
              </a:ext>
            </a:extLst>
          </p:cNvPr>
          <p:cNvSpPr txBox="1"/>
          <p:nvPr/>
        </p:nvSpPr>
        <p:spPr>
          <a:xfrm>
            <a:off x="1003404" y="2444233"/>
            <a:ext cx="2771913" cy="369332"/>
          </a:xfrm>
          <a:prstGeom prst="rect">
            <a:avLst/>
          </a:prstGeom>
          <a:noFill/>
        </p:spPr>
        <p:txBody>
          <a:bodyPr wrap="none" rtlCol="0">
            <a:spAutoFit/>
          </a:bodyPr>
          <a:lstStyle/>
          <a:p>
            <a:r>
              <a:rPr lang="en-US" dirty="0"/>
              <a:t>Everything to left is &lt; 11</a:t>
            </a:r>
          </a:p>
        </p:txBody>
      </p:sp>
      <p:cxnSp>
        <p:nvCxnSpPr>
          <p:cNvPr id="15" name="Straight Arrow Connector 14">
            <a:extLst>
              <a:ext uri="{FF2B5EF4-FFF2-40B4-BE49-F238E27FC236}">
                <a16:creationId xmlns:a16="http://schemas.microsoft.com/office/drawing/2014/main" id="{A54D6E6D-AD19-44A0-AB16-62AF1B29D14F}"/>
              </a:ext>
            </a:extLst>
          </p:cNvPr>
          <p:cNvCxnSpPr>
            <a:cxnSpLocks/>
          </p:cNvCxnSpPr>
          <p:nvPr/>
        </p:nvCxnSpPr>
        <p:spPr>
          <a:xfrm flipH="1">
            <a:off x="4643120" y="2134750"/>
            <a:ext cx="1038139" cy="5784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4">
            <a:extLst>
              <a:ext uri="{FF2B5EF4-FFF2-40B4-BE49-F238E27FC236}">
                <a16:creationId xmlns:a16="http://schemas.microsoft.com/office/drawing/2014/main" id="{44850496-1D94-4395-8E30-8B074E976074}"/>
              </a:ext>
            </a:extLst>
          </p:cNvPr>
          <p:cNvGraphicFramePr>
            <a:graphicFrameLocks noGrp="1"/>
          </p:cNvGraphicFramePr>
          <p:nvPr>
            <p:extLst>
              <p:ext uri="{D42A27DB-BD31-4B8C-83A1-F6EECF244321}">
                <p14:modId xmlns:p14="http://schemas.microsoft.com/office/powerpoint/2010/main" val="2229930983"/>
              </p:ext>
            </p:extLst>
          </p:nvPr>
        </p:nvGraphicFramePr>
        <p:xfrm>
          <a:off x="2799002" y="2797138"/>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1" name="TextBox 30">
            <a:extLst>
              <a:ext uri="{FF2B5EF4-FFF2-40B4-BE49-F238E27FC236}">
                <a16:creationId xmlns:a16="http://schemas.microsoft.com/office/drawing/2014/main" id="{5A7415A8-DE33-457D-9ABE-F51EFC6CA757}"/>
              </a:ext>
            </a:extLst>
          </p:cNvPr>
          <p:cNvSpPr txBox="1"/>
          <p:nvPr/>
        </p:nvSpPr>
        <p:spPr>
          <a:xfrm>
            <a:off x="3084823" y="2899492"/>
            <a:ext cx="300082" cy="369332"/>
          </a:xfrm>
          <a:prstGeom prst="rect">
            <a:avLst/>
          </a:prstGeom>
          <a:noFill/>
        </p:spPr>
        <p:txBody>
          <a:bodyPr wrap="none" rtlCol="0">
            <a:spAutoFit/>
          </a:bodyPr>
          <a:lstStyle/>
          <a:p>
            <a:r>
              <a:rPr lang="en-US" dirty="0">
                <a:solidFill>
                  <a:srgbClr val="0070C0"/>
                </a:solidFill>
              </a:rPr>
              <a:t>7</a:t>
            </a:r>
          </a:p>
        </p:txBody>
      </p:sp>
      <p:sp>
        <p:nvSpPr>
          <p:cNvPr id="32" name="TextBox 31">
            <a:extLst>
              <a:ext uri="{FF2B5EF4-FFF2-40B4-BE49-F238E27FC236}">
                <a16:creationId xmlns:a16="http://schemas.microsoft.com/office/drawing/2014/main" id="{4433FD1B-40A0-4FB5-941E-18926A884593}"/>
              </a:ext>
            </a:extLst>
          </p:cNvPr>
          <p:cNvSpPr txBox="1"/>
          <p:nvPr/>
        </p:nvSpPr>
        <p:spPr>
          <a:xfrm>
            <a:off x="4082314" y="2899492"/>
            <a:ext cx="415498" cy="369332"/>
          </a:xfrm>
          <a:prstGeom prst="rect">
            <a:avLst/>
          </a:prstGeom>
          <a:noFill/>
        </p:spPr>
        <p:txBody>
          <a:bodyPr wrap="none" rtlCol="0">
            <a:spAutoFit/>
          </a:bodyPr>
          <a:lstStyle/>
          <a:p>
            <a:r>
              <a:rPr lang="en-US" dirty="0">
                <a:solidFill>
                  <a:srgbClr val="0070C0"/>
                </a:solidFill>
              </a:rPr>
              <a:t>10</a:t>
            </a:r>
          </a:p>
        </p:txBody>
      </p:sp>
      <p:cxnSp>
        <p:nvCxnSpPr>
          <p:cNvPr id="38" name="Straight Arrow Connector 37">
            <a:extLst>
              <a:ext uri="{FF2B5EF4-FFF2-40B4-BE49-F238E27FC236}">
                <a16:creationId xmlns:a16="http://schemas.microsoft.com/office/drawing/2014/main" id="{E178D3AF-E895-440C-9A6C-858D0307E59D}"/>
              </a:ext>
            </a:extLst>
          </p:cNvPr>
          <p:cNvCxnSpPr>
            <a:cxnSpLocks/>
          </p:cNvCxnSpPr>
          <p:nvPr/>
        </p:nvCxnSpPr>
        <p:spPr>
          <a:xfrm>
            <a:off x="6697846" y="2123260"/>
            <a:ext cx="737946" cy="686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6C7389A-BB80-4CC6-8699-3685E0CAED16}"/>
              </a:ext>
            </a:extLst>
          </p:cNvPr>
          <p:cNvSpPr txBox="1"/>
          <p:nvPr/>
        </p:nvSpPr>
        <p:spPr>
          <a:xfrm>
            <a:off x="7592520" y="2343834"/>
            <a:ext cx="2625078" cy="369332"/>
          </a:xfrm>
          <a:prstGeom prst="rect">
            <a:avLst/>
          </a:prstGeom>
          <a:noFill/>
        </p:spPr>
        <p:txBody>
          <a:bodyPr wrap="none" rtlCol="0">
            <a:spAutoFit/>
          </a:bodyPr>
          <a:lstStyle/>
          <a:p>
            <a:r>
              <a:rPr lang="en-US" dirty="0"/>
              <a:t>Everything to right is &gt; 11</a:t>
            </a:r>
          </a:p>
        </p:txBody>
      </p:sp>
      <p:graphicFrame>
        <p:nvGraphicFramePr>
          <p:cNvPr id="42" name="Table 4">
            <a:extLst>
              <a:ext uri="{FF2B5EF4-FFF2-40B4-BE49-F238E27FC236}">
                <a16:creationId xmlns:a16="http://schemas.microsoft.com/office/drawing/2014/main" id="{3ADCB13F-972B-48E7-8A5E-77FE8B0E415A}"/>
              </a:ext>
            </a:extLst>
          </p:cNvPr>
          <p:cNvGraphicFramePr>
            <a:graphicFrameLocks noGrp="1"/>
          </p:cNvGraphicFramePr>
          <p:nvPr>
            <p:extLst>
              <p:ext uri="{D42A27DB-BD31-4B8C-83A1-F6EECF244321}">
                <p14:modId xmlns:p14="http://schemas.microsoft.com/office/powerpoint/2010/main" val="340553277"/>
              </p:ext>
            </p:extLst>
          </p:nvPr>
        </p:nvGraphicFramePr>
        <p:xfrm>
          <a:off x="7307438" y="2804545"/>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592494">
                  <a:extLst>
                    <a:ext uri="{9D8B030D-6E8A-4147-A177-3AD203B41FA5}">
                      <a16:colId xmlns:a16="http://schemas.microsoft.com/office/drawing/2014/main" val="682152013"/>
                    </a:ext>
                  </a:extLst>
                </a:gridCol>
                <a:gridCol w="476096">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7" name="TextBox 36">
            <a:extLst>
              <a:ext uri="{FF2B5EF4-FFF2-40B4-BE49-F238E27FC236}">
                <a16:creationId xmlns:a16="http://schemas.microsoft.com/office/drawing/2014/main" id="{AAB19474-ACBB-4E26-AFC6-26CA3A2FFE2A}"/>
              </a:ext>
            </a:extLst>
          </p:cNvPr>
          <p:cNvSpPr txBox="1"/>
          <p:nvPr/>
        </p:nvSpPr>
        <p:spPr>
          <a:xfrm>
            <a:off x="8653954" y="2899492"/>
            <a:ext cx="415498" cy="369332"/>
          </a:xfrm>
          <a:prstGeom prst="rect">
            <a:avLst/>
          </a:prstGeom>
          <a:noFill/>
        </p:spPr>
        <p:txBody>
          <a:bodyPr wrap="none" rtlCol="0">
            <a:spAutoFit/>
          </a:bodyPr>
          <a:lstStyle/>
          <a:p>
            <a:r>
              <a:rPr lang="en-US" dirty="0">
                <a:solidFill>
                  <a:srgbClr val="0070C0"/>
                </a:solidFill>
              </a:rPr>
              <a:t>20</a:t>
            </a:r>
          </a:p>
        </p:txBody>
      </p:sp>
      <p:sp>
        <p:nvSpPr>
          <p:cNvPr id="36" name="TextBox 35">
            <a:extLst>
              <a:ext uri="{FF2B5EF4-FFF2-40B4-BE49-F238E27FC236}">
                <a16:creationId xmlns:a16="http://schemas.microsoft.com/office/drawing/2014/main" id="{8C4C8BAC-7A40-43C7-9CEB-A757BB7A7C58}"/>
              </a:ext>
            </a:extLst>
          </p:cNvPr>
          <p:cNvSpPr txBox="1"/>
          <p:nvPr/>
        </p:nvSpPr>
        <p:spPr>
          <a:xfrm>
            <a:off x="7666134" y="2899492"/>
            <a:ext cx="415498" cy="369332"/>
          </a:xfrm>
          <a:prstGeom prst="rect">
            <a:avLst/>
          </a:prstGeom>
          <a:noFill/>
        </p:spPr>
        <p:txBody>
          <a:bodyPr wrap="none" rtlCol="0">
            <a:spAutoFit/>
          </a:bodyPr>
          <a:lstStyle/>
          <a:p>
            <a:r>
              <a:rPr lang="en-US" dirty="0">
                <a:solidFill>
                  <a:srgbClr val="0070C0"/>
                </a:solidFill>
              </a:rPr>
              <a:t>15</a:t>
            </a:r>
          </a:p>
        </p:txBody>
      </p:sp>
      <p:pic>
        <p:nvPicPr>
          <p:cNvPr id="5" name="Picture 4">
            <a:extLst>
              <a:ext uri="{FF2B5EF4-FFF2-40B4-BE49-F238E27FC236}">
                <a16:creationId xmlns:a16="http://schemas.microsoft.com/office/drawing/2014/main" id="{D95F520A-D269-4F29-AC74-024B4CBB3C7C}"/>
              </a:ext>
            </a:extLst>
          </p:cNvPr>
          <p:cNvPicPr>
            <a:picLocks noChangeAspect="1"/>
          </p:cNvPicPr>
          <p:nvPr/>
        </p:nvPicPr>
        <p:blipFill>
          <a:blip r:embed="rId2"/>
          <a:stretch>
            <a:fillRect/>
          </a:stretch>
        </p:blipFill>
        <p:spPr>
          <a:xfrm>
            <a:off x="14681" y="0"/>
            <a:ext cx="12162637" cy="6858000"/>
          </a:xfrm>
          <a:prstGeom prst="rect">
            <a:avLst/>
          </a:prstGeom>
        </p:spPr>
      </p:pic>
    </p:spTree>
    <p:extLst>
      <p:ext uri="{BB962C8B-B14F-4D97-AF65-F5344CB8AC3E}">
        <p14:creationId xmlns:p14="http://schemas.microsoft.com/office/powerpoint/2010/main" val="342671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4"/>
                                        </p:tgtEl>
                                        <p:attrNameLst>
                                          <p:attrName>style.visibility</p:attrName>
                                        </p:attrNameLst>
                                      </p:cBhvr>
                                      <p:to>
                                        <p:strVal val="hidden"/>
                                      </p:to>
                                    </p:set>
                                  </p:childTnLst>
                                </p:cTn>
                              </p:par>
                              <p:par>
                                <p:cTn id="47" presetID="1" presetClass="exit" presetSubtype="0" fill="hold" grpId="2" nodeType="with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1" presetClass="exit" presetSubtype="0" fill="hold" grpId="2"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xit" presetSubtype="0" fill="hold" grpId="2" nodeType="withEffect">
                                  <p:stCondLst>
                                    <p:cond delay="0"/>
                                  </p:stCondLst>
                                  <p:childTnLst>
                                    <p:set>
                                      <p:cBhvr>
                                        <p:cTn id="52" dur="1" fill="hold">
                                          <p:stCondLst>
                                            <p:cond delay="0"/>
                                          </p:stCondLst>
                                        </p:cTn>
                                        <p:tgtEl>
                                          <p:spTgt spid="10"/>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1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8"/>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8"/>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9"/>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0"/>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4"/>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6" grpId="1"/>
      <p:bldP spid="8" grpId="0"/>
      <p:bldP spid="8" grpId="1"/>
      <p:bldP spid="8" grpId="2"/>
      <p:bldP spid="9" grpId="0"/>
      <p:bldP spid="9" grpId="1"/>
      <p:bldP spid="9" grpId="2"/>
      <p:bldP spid="10" grpId="0"/>
      <p:bldP spid="10" grpId="1"/>
      <p:bldP spid="10" grpId="2"/>
      <p:bldP spid="14" grpId="0"/>
      <p:bldP spid="14" grpId="1"/>
      <p:bldP spid="14" grpId="2"/>
      <p:bldP spid="21" grpId="0"/>
      <p:bldP spid="21" grpId="1"/>
      <p:bldP spid="22" grpId="0"/>
      <p:bldP spid="28" grpId="0"/>
      <p:bldP spid="29" grpId="0"/>
      <p:bldP spid="31" grpId="0"/>
      <p:bldP spid="32" grpId="0"/>
      <p:bldP spid="39" grpId="0"/>
      <p:bldP spid="37" grpId="0"/>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E02B-AE2C-437F-8FCB-FF152FF48C17}"/>
              </a:ext>
            </a:extLst>
          </p:cNvPr>
          <p:cNvSpPr>
            <a:spLocks noGrp="1"/>
          </p:cNvSpPr>
          <p:nvPr>
            <p:ph type="title"/>
          </p:nvPr>
        </p:nvSpPr>
        <p:spPr>
          <a:xfrm>
            <a:off x="2364486" y="251925"/>
            <a:ext cx="7729728" cy="1188720"/>
          </a:xfrm>
        </p:spPr>
        <p:txBody>
          <a:bodyPr/>
          <a:lstStyle/>
          <a:p>
            <a:r>
              <a:rPr lang="en-US" dirty="0"/>
              <a:t>B-Tree Insert: 1</a:t>
            </a:r>
          </a:p>
        </p:txBody>
      </p:sp>
      <p:sp>
        <p:nvSpPr>
          <p:cNvPr id="3" name="Content Placeholder 2">
            <a:extLst>
              <a:ext uri="{FF2B5EF4-FFF2-40B4-BE49-F238E27FC236}">
                <a16:creationId xmlns:a16="http://schemas.microsoft.com/office/drawing/2014/main" id="{02DCFB08-57A5-4242-B965-CFCBB35C1771}"/>
              </a:ext>
            </a:extLst>
          </p:cNvPr>
          <p:cNvSpPr>
            <a:spLocks noGrp="1"/>
          </p:cNvSpPr>
          <p:nvPr>
            <p:ph idx="1"/>
          </p:nvPr>
        </p:nvSpPr>
        <p:spPr>
          <a:xfrm>
            <a:off x="1842070" y="3516462"/>
            <a:ext cx="7729728" cy="3101983"/>
          </a:xfrm>
        </p:spPr>
        <p:txBody>
          <a:bodyPr/>
          <a:lstStyle/>
          <a:p>
            <a:r>
              <a:rPr lang="en-US" dirty="0"/>
              <a:t>Let’s try to insert 1</a:t>
            </a:r>
          </a:p>
        </p:txBody>
      </p:sp>
      <p:sp>
        <p:nvSpPr>
          <p:cNvPr id="25" name="TextBox 24">
            <a:extLst>
              <a:ext uri="{FF2B5EF4-FFF2-40B4-BE49-F238E27FC236}">
                <a16:creationId xmlns:a16="http://schemas.microsoft.com/office/drawing/2014/main" id="{C181182C-B44C-43BB-B26E-867F68E7526A}"/>
              </a:ext>
            </a:extLst>
          </p:cNvPr>
          <p:cNvSpPr txBox="1"/>
          <p:nvPr/>
        </p:nvSpPr>
        <p:spPr>
          <a:xfrm>
            <a:off x="7435792" y="3148922"/>
            <a:ext cx="312906" cy="369332"/>
          </a:xfrm>
          <a:prstGeom prst="rect">
            <a:avLst/>
          </a:prstGeom>
          <a:noFill/>
        </p:spPr>
        <p:txBody>
          <a:bodyPr wrap="none" rtlCol="0">
            <a:spAutoFit/>
          </a:bodyPr>
          <a:lstStyle/>
          <a:p>
            <a:r>
              <a:rPr lang="en-US" dirty="0">
                <a:solidFill>
                  <a:schemeClr val="accent3">
                    <a:lumMod val="50000"/>
                  </a:schemeClr>
                </a:solidFill>
              </a:rPr>
              <a:t>7</a:t>
            </a:r>
          </a:p>
        </p:txBody>
      </p:sp>
      <p:sp>
        <p:nvSpPr>
          <p:cNvPr id="26" name="TextBox 25">
            <a:extLst>
              <a:ext uri="{FF2B5EF4-FFF2-40B4-BE49-F238E27FC236}">
                <a16:creationId xmlns:a16="http://schemas.microsoft.com/office/drawing/2014/main" id="{4E947C9F-C2C9-4BA7-BA15-A036E31EE975}"/>
              </a:ext>
            </a:extLst>
          </p:cNvPr>
          <p:cNvSpPr txBox="1"/>
          <p:nvPr/>
        </p:nvSpPr>
        <p:spPr>
          <a:xfrm>
            <a:off x="8537331" y="3148922"/>
            <a:ext cx="441146" cy="369332"/>
          </a:xfrm>
          <a:prstGeom prst="rect">
            <a:avLst/>
          </a:prstGeom>
          <a:noFill/>
        </p:spPr>
        <p:txBody>
          <a:bodyPr wrap="none" rtlCol="0">
            <a:spAutoFit/>
          </a:bodyPr>
          <a:lstStyle/>
          <a:p>
            <a:r>
              <a:rPr lang="en-US" dirty="0">
                <a:solidFill>
                  <a:schemeClr val="accent3">
                    <a:lumMod val="50000"/>
                  </a:schemeClr>
                </a:solidFill>
              </a:rPr>
              <a:t>10</a:t>
            </a:r>
          </a:p>
        </p:txBody>
      </p:sp>
      <p:sp>
        <p:nvSpPr>
          <p:cNvPr id="27" name="TextBox 26">
            <a:extLst>
              <a:ext uri="{FF2B5EF4-FFF2-40B4-BE49-F238E27FC236}">
                <a16:creationId xmlns:a16="http://schemas.microsoft.com/office/drawing/2014/main" id="{8964267A-44C6-4F2E-A17B-6DAFD43D27B0}"/>
              </a:ext>
            </a:extLst>
          </p:cNvPr>
          <p:cNvSpPr txBox="1"/>
          <p:nvPr/>
        </p:nvSpPr>
        <p:spPr>
          <a:xfrm>
            <a:off x="9571798" y="3148922"/>
            <a:ext cx="441146" cy="369332"/>
          </a:xfrm>
          <a:prstGeom prst="rect">
            <a:avLst/>
          </a:prstGeom>
          <a:noFill/>
        </p:spPr>
        <p:txBody>
          <a:bodyPr wrap="none" rtlCol="0">
            <a:spAutoFit/>
          </a:bodyPr>
          <a:lstStyle/>
          <a:p>
            <a:r>
              <a:rPr lang="en-US" dirty="0">
                <a:solidFill>
                  <a:schemeClr val="accent3">
                    <a:lumMod val="50000"/>
                  </a:schemeClr>
                </a:solidFill>
              </a:rPr>
              <a:t>15</a:t>
            </a:r>
          </a:p>
        </p:txBody>
      </p:sp>
      <p:sp>
        <p:nvSpPr>
          <p:cNvPr id="28" name="TextBox 27">
            <a:extLst>
              <a:ext uri="{FF2B5EF4-FFF2-40B4-BE49-F238E27FC236}">
                <a16:creationId xmlns:a16="http://schemas.microsoft.com/office/drawing/2014/main" id="{DFBE932E-CECB-44F9-91AC-6457E49DC3ED}"/>
              </a:ext>
            </a:extLst>
          </p:cNvPr>
          <p:cNvSpPr txBox="1"/>
          <p:nvPr/>
        </p:nvSpPr>
        <p:spPr>
          <a:xfrm>
            <a:off x="10489642" y="3147466"/>
            <a:ext cx="441146" cy="369332"/>
          </a:xfrm>
          <a:prstGeom prst="rect">
            <a:avLst/>
          </a:prstGeom>
          <a:noFill/>
        </p:spPr>
        <p:txBody>
          <a:bodyPr wrap="none" rtlCol="0">
            <a:spAutoFit/>
          </a:bodyPr>
          <a:lstStyle/>
          <a:p>
            <a:r>
              <a:rPr lang="en-US" dirty="0">
                <a:solidFill>
                  <a:schemeClr val="accent3">
                    <a:lumMod val="50000"/>
                  </a:schemeClr>
                </a:solidFill>
              </a:rPr>
              <a:t>20</a:t>
            </a:r>
          </a:p>
        </p:txBody>
      </p:sp>
      <p:graphicFrame>
        <p:nvGraphicFramePr>
          <p:cNvPr id="31" name="Table 4">
            <a:extLst>
              <a:ext uri="{FF2B5EF4-FFF2-40B4-BE49-F238E27FC236}">
                <a16:creationId xmlns:a16="http://schemas.microsoft.com/office/drawing/2014/main" id="{ED85AEF7-BBD6-4E8D-A173-D434357AA7FD}"/>
              </a:ext>
            </a:extLst>
          </p:cNvPr>
          <p:cNvGraphicFramePr>
            <a:graphicFrameLocks noGrp="1"/>
          </p:cNvGraphicFramePr>
          <p:nvPr>
            <p:extLst>
              <p:ext uri="{D42A27DB-BD31-4B8C-83A1-F6EECF244321}">
                <p14:modId xmlns:p14="http://schemas.microsoft.com/office/powerpoint/2010/main" val="383646611"/>
              </p:ext>
            </p:extLst>
          </p:nvPr>
        </p:nvGraphicFramePr>
        <p:xfrm>
          <a:off x="5594228" y="1666536"/>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2" name="TextBox 31">
            <a:extLst>
              <a:ext uri="{FF2B5EF4-FFF2-40B4-BE49-F238E27FC236}">
                <a16:creationId xmlns:a16="http://schemas.microsoft.com/office/drawing/2014/main" id="{AD879710-FC7B-4725-AEDC-AADCEABBADD3}"/>
              </a:ext>
            </a:extLst>
          </p:cNvPr>
          <p:cNvSpPr txBox="1"/>
          <p:nvPr/>
        </p:nvSpPr>
        <p:spPr>
          <a:xfrm>
            <a:off x="5935974" y="1814774"/>
            <a:ext cx="415498" cy="369332"/>
          </a:xfrm>
          <a:prstGeom prst="rect">
            <a:avLst/>
          </a:prstGeom>
          <a:noFill/>
        </p:spPr>
        <p:txBody>
          <a:bodyPr wrap="none" rtlCol="0">
            <a:spAutoFit/>
          </a:bodyPr>
          <a:lstStyle/>
          <a:p>
            <a:r>
              <a:rPr lang="en-US" dirty="0">
                <a:solidFill>
                  <a:srgbClr val="0070C0"/>
                </a:solidFill>
              </a:rPr>
              <a:t>11</a:t>
            </a:r>
          </a:p>
        </p:txBody>
      </p:sp>
      <p:cxnSp>
        <p:nvCxnSpPr>
          <p:cNvPr id="33" name="Straight Arrow Connector 32">
            <a:extLst>
              <a:ext uri="{FF2B5EF4-FFF2-40B4-BE49-F238E27FC236}">
                <a16:creationId xmlns:a16="http://schemas.microsoft.com/office/drawing/2014/main" id="{67E81921-C66E-4732-894E-BDA238D0AD97}"/>
              </a:ext>
            </a:extLst>
          </p:cNvPr>
          <p:cNvCxnSpPr>
            <a:cxnSpLocks/>
          </p:cNvCxnSpPr>
          <p:nvPr/>
        </p:nvCxnSpPr>
        <p:spPr>
          <a:xfrm flipH="1">
            <a:off x="4643120" y="2134750"/>
            <a:ext cx="1038139" cy="5784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4">
            <a:extLst>
              <a:ext uri="{FF2B5EF4-FFF2-40B4-BE49-F238E27FC236}">
                <a16:creationId xmlns:a16="http://schemas.microsoft.com/office/drawing/2014/main" id="{D73B77A1-FEDA-4F4D-B566-04616E305C24}"/>
              </a:ext>
            </a:extLst>
          </p:cNvPr>
          <p:cNvGraphicFramePr>
            <a:graphicFrameLocks noGrp="1"/>
          </p:cNvGraphicFramePr>
          <p:nvPr>
            <p:extLst>
              <p:ext uri="{D42A27DB-BD31-4B8C-83A1-F6EECF244321}">
                <p14:modId xmlns:p14="http://schemas.microsoft.com/office/powerpoint/2010/main" val="3096433728"/>
              </p:ext>
            </p:extLst>
          </p:nvPr>
        </p:nvGraphicFramePr>
        <p:xfrm>
          <a:off x="2843999" y="2782500"/>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5" name="TextBox 34">
            <a:extLst>
              <a:ext uri="{FF2B5EF4-FFF2-40B4-BE49-F238E27FC236}">
                <a16:creationId xmlns:a16="http://schemas.microsoft.com/office/drawing/2014/main" id="{685F1B65-8F99-449D-AF58-ADA77E2E6E5A}"/>
              </a:ext>
            </a:extLst>
          </p:cNvPr>
          <p:cNvSpPr txBox="1"/>
          <p:nvPr/>
        </p:nvSpPr>
        <p:spPr>
          <a:xfrm>
            <a:off x="3256902" y="2899492"/>
            <a:ext cx="300082" cy="369332"/>
          </a:xfrm>
          <a:prstGeom prst="rect">
            <a:avLst/>
          </a:prstGeom>
          <a:noFill/>
        </p:spPr>
        <p:txBody>
          <a:bodyPr wrap="none" rtlCol="0">
            <a:spAutoFit/>
          </a:bodyPr>
          <a:lstStyle/>
          <a:p>
            <a:r>
              <a:rPr lang="en-US" dirty="0">
                <a:solidFill>
                  <a:srgbClr val="0070C0"/>
                </a:solidFill>
              </a:rPr>
              <a:t>7</a:t>
            </a:r>
          </a:p>
        </p:txBody>
      </p:sp>
      <p:sp>
        <p:nvSpPr>
          <p:cNvPr id="36" name="TextBox 35">
            <a:extLst>
              <a:ext uri="{FF2B5EF4-FFF2-40B4-BE49-F238E27FC236}">
                <a16:creationId xmlns:a16="http://schemas.microsoft.com/office/drawing/2014/main" id="{3DF89C26-6928-4859-8343-7EBC20110419}"/>
              </a:ext>
            </a:extLst>
          </p:cNvPr>
          <p:cNvSpPr txBox="1"/>
          <p:nvPr/>
        </p:nvSpPr>
        <p:spPr>
          <a:xfrm>
            <a:off x="4231470" y="2899492"/>
            <a:ext cx="415498" cy="369332"/>
          </a:xfrm>
          <a:prstGeom prst="rect">
            <a:avLst/>
          </a:prstGeom>
          <a:noFill/>
        </p:spPr>
        <p:txBody>
          <a:bodyPr wrap="none" rtlCol="0">
            <a:spAutoFit/>
          </a:bodyPr>
          <a:lstStyle/>
          <a:p>
            <a:r>
              <a:rPr lang="en-US" dirty="0">
                <a:solidFill>
                  <a:srgbClr val="0070C0"/>
                </a:solidFill>
              </a:rPr>
              <a:t>10</a:t>
            </a:r>
          </a:p>
        </p:txBody>
      </p:sp>
      <p:cxnSp>
        <p:nvCxnSpPr>
          <p:cNvPr id="37" name="Straight Arrow Connector 36">
            <a:extLst>
              <a:ext uri="{FF2B5EF4-FFF2-40B4-BE49-F238E27FC236}">
                <a16:creationId xmlns:a16="http://schemas.microsoft.com/office/drawing/2014/main" id="{F17703D0-5589-4736-B1CE-74E48DC8F00D}"/>
              </a:ext>
            </a:extLst>
          </p:cNvPr>
          <p:cNvCxnSpPr>
            <a:cxnSpLocks/>
          </p:cNvCxnSpPr>
          <p:nvPr/>
        </p:nvCxnSpPr>
        <p:spPr>
          <a:xfrm>
            <a:off x="6697846" y="2123260"/>
            <a:ext cx="737946" cy="686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4">
            <a:extLst>
              <a:ext uri="{FF2B5EF4-FFF2-40B4-BE49-F238E27FC236}">
                <a16:creationId xmlns:a16="http://schemas.microsoft.com/office/drawing/2014/main" id="{414C20A0-84AB-4014-8565-A30DE638E544}"/>
              </a:ext>
            </a:extLst>
          </p:cNvPr>
          <p:cNvGraphicFramePr>
            <a:graphicFrameLocks noGrp="1"/>
          </p:cNvGraphicFramePr>
          <p:nvPr>
            <p:extLst>
              <p:ext uri="{D42A27DB-BD31-4B8C-83A1-F6EECF244321}">
                <p14:modId xmlns:p14="http://schemas.microsoft.com/office/powerpoint/2010/main" val="4237894442"/>
              </p:ext>
            </p:extLst>
          </p:nvPr>
        </p:nvGraphicFramePr>
        <p:xfrm>
          <a:off x="7287066" y="2781300"/>
          <a:ext cx="4308940" cy="624106"/>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106">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40" name="TextBox 39">
            <a:extLst>
              <a:ext uri="{FF2B5EF4-FFF2-40B4-BE49-F238E27FC236}">
                <a16:creationId xmlns:a16="http://schemas.microsoft.com/office/drawing/2014/main" id="{D20121DE-FCBD-4210-81D7-3949E02191EB}"/>
              </a:ext>
            </a:extLst>
          </p:cNvPr>
          <p:cNvSpPr txBox="1"/>
          <p:nvPr/>
        </p:nvSpPr>
        <p:spPr>
          <a:xfrm>
            <a:off x="8653954" y="2899492"/>
            <a:ext cx="415498" cy="369332"/>
          </a:xfrm>
          <a:prstGeom prst="rect">
            <a:avLst/>
          </a:prstGeom>
          <a:noFill/>
        </p:spPr>
        <p:txBody>
          <a:bodyPr wrap="none" rtlCol="0">
            <a:spAutoFit/>
          </a:bodyPr>
          <a:lstStyle/>
          <a:p>
            <a:r>
              <a:rPr lang="en-US" dirty="0">
                <a:solidFill>
                  <a:srgbClr val="0070C0"/>
                </a:solidFill>
              </a:rPr>
              <a:t>20</a:t>
            </a:r>
          </a:p>
        </p:txBody>
      </p:sp>
      <p:sp>
        <p:nvSpPr>
          <p:cNvPr id="41" name="TextBox 40">
            <a:extLst>
              <a:ext uri="{FF2B5EF4-FFF2-40B4-BE49-F238E27FC236}">
                <a16:creationId xmlns:a16="http://schemas.microsoft.com/office/drawing/2014/main" id="{F1B863F1-F7E8-485E-8171-41ADA49C1F44}"/>
              </a:ext>
            </a:extLst>
          </p:cNvPr>
          <p:cNvSpPr txBox="1"/>
          <p:nvPr/>
        </p:nvSpPr>
        <p:spPr>
          <a:xfrm>
            <a:off x="7666134" y="2899492"/>
            <a:ext cx="415498" cy="369332"/>
          </a:xfrm>
          <a:prstGeom prst="rect">
            <a:avLst/>
          </a:prstGeom>
          <a:noFill/>
        </p:spPr>
        <p:txBody>
          <a:bodyPr wrap="none" rtlCol="0">
            <a:spAutoFit/>
          </a:bodyPr>
          <a:lstStyle/>
          <a:p>
            <a:r>
              <a:rPr lang="en-US" dirty="0">
                <a:solidFill>
                  <a:srgbClr val="0070C0"/>
                </a:solidFill>
              </a:rPr>
              <a:t>15</a:t>
            </a:r>
          </a:p>
        </p:txBody>
      </p:sp>
      <p:sp>
        <p:nvSpPr>
          <p:cNvPr id="42" name="TextBox 41">
            <a:extLst>
              <a:ext uri="{FF2B5EF4-FFF2-40B4-BE49-F238E27FC236}">
                <a16:creationId xmlns:a16="http://schemas.microsoft.com/office/drawing/2014/main" id="{1236656A-F150-4F43-886A-9757841C37BB}"/>
              </a:ext>
            </a:extLst>
          </p:cNvPr>
          <p:cNvSpPr txBox="1"/>
          <p:nvPr/>
        </p:nvSpPr>
        <p:spPr>
          <a:xfrm>
            <a:off x="3362097" y="1794097"/>
            <a:ext cx="1720343" cy="369332"/>
          </a:xfrm>
          <a:prstGeom prst="rect">
            <a:avLst/>
          </a:prstGeom>
          <a:noFill/>
        </p:spPr>
        <p:txBody>
          <a:bodyPr wrap="none" rtlCol="0">
            <a:spAutoFit/>
          </a:bodyPr>
          <a:lstStyle/>
          <a:p>
            <a:r>
              <a:rPr lang="en-US" dirty="0"/>
              <a:t>Root non-null!</a:t>
            </a:r>
          </a:p>
        </p:txBody>
      </p:sp>
      <p:sp>
        <p:nvSpPr>
          <p:cNvPr id="43" name="TextBox 42">
            <a:extLst>
              <a:ext uri="{FF2B5EF4-FFF2-40B4-BE49-F238E27FC236}">
                <a16:creationId xmlns:a16="http://schemas.microsoft.com/office/drawing/2014/main" id="{7F1DCD3D-1762-48DE-BCAD-DAD8A2E92742}"/>
              </a:ext>
            </a:extLst>
          </p:cNvPr>
          <p:cNvSpPr txBox="1"/>
          <p:nvPr/>
        </p:nvSpPr>
        <p:spPr>
          <a:xfrm>
            <a:off x="217107" y="2189023"/>
            <a:ext cx="2563522" cy="646331"/>
          </a:xfrm>
          <a:prstGeom prst="rect">
            <a:avLst/>
          </a:prstGeom>
          <a:noFill/>
        </p:spPr>
        <p:txBody>
          <a:bodyPr wrap="none" rtlCol="0">
            <a:spAutoFit/>
          </a:bodyPr>
          <a:lstStyle/>
          <a:p>
            <a:r>
              <a:rPr lang="en-US" dirty="0"/>
              <a:t>Since 1 &lt; 11, go left, </a:t>
            </a:r>
          </a:p>
          <a:p>
            <a:r>
              <a:rPr lang="en-US" dirty="0"/>
              <a:t>and try to insert there</a:t>
            </a:r>
          </a:p>
        </p:txBody>
      </p:sp>
      <p:sp>
        <p:nvSpPr>
          <p:cNvPr id="44" name="TextBox 43">
            <a:extLst>
              <a:ext uri="{FF2B5EF4-FFF2-40B4-BE49-F238E27FC236}">
                <a16:creationId xmlns:a16="http://schemas.microsoft.com/office/drawing/2014/main" id="{E488F04A-E88C-4C16-BF37-407B66A43FCA}"/>
              </a:ext>
            </a:extLst>
          </p:cNvPr>
          <p:cNvSpPr txBox="1"/>
          <p:nvPr/>
        </p:nvSpPr>
        <p:spPr>
          <a:xfrm>
            <a:off x="297271" y="2908512"/>
            <a:ext cx="1688283" cy="369332"/>
          </a:xfrm>
          <a:prstGeom prst="rect">
            <a:avLst/>
          </a:prstGeom>
          <a:noFill/>
        </p:spPr>
        <p:txBody>
          <a:bodyPr wrap="none" rtlCol="0">
            <a:spAutoFit/>
          </a:bodyPr>
          <a:lstStyle/>
          <a:p>
            <a:r>
              <a:rPr lang="en-US" dirty="0"/>
              <a:t>Node not full!</a:t>
            </a:r>
          </a:p>
        </p:txBody>
      </p:sp>
      <p:sp>
        <p:nvSpPr>
          <p:cNvPr id="46" name="TextBox 45">
            <a:extLst>
              <a:ext uri="{FF2B5EF4-FFF2-40B4-BE49-F238E27FC236}">
                <a16:creationId xmlns:a16="http://schemas.microsoft.com/office/drawing/2014/main" id="{BB00BBF5-38EC-4F79-B846-3EE8AF07B2BE}"/>
              </a:ext>
            </a:extLst>
          </p:cNvPr>
          <p:cNvSpPr txBox="1"/>
          <p:nvPr/>
        </p:nvSpPr>
        <p:spPr>
          <a:xfrm>
            <a:off x="5980" y="3279776"/>
            <a:ext cx="3382657" cy="369332"/>
          </a:xfrm>
          <a:prstGeom prst="rect">
            <a:avLst/>
          </a:prstGeom>
          <a:noFill/>
        </p:spPr>
        <p:txBody>
          <a:bodyPr wrap="none" rtlCol="0">
            <a:spAutoFit/>
          </a:bodyPr>
          <a:lstStyle/>
          <a:p>
            <a:r>
              <a:rPr lang="en-US" dirty="0"/>
              <a:t>Move 7, 10 over and insert 1!</a:t>
            </a:r>
          </a:p>
        </p:txBody>
      </p:sp>
      <p:sp>
        <p:nvSpPr>
          <p:cNvPr id="47" name="TextBox 46">
            <a:extLst>
              <a:ext uri="{FF2B5EF4-FFF2-40B4-BE49-F238E27FC236}">
                <a16:creationId xmlns:a16="http://schemas.microsoft.com/office/drawing/2014/main" id="{44ADE7E5-9FAB-42A7-BE9F-967FCFCA833B}"/>
              </a:ext>
            </a:extLst>
          </p:cNvPr>
          <p:cNvSpPr txBox="1"/>
          <p:nvPr/>
        </p:nvSpPr>
        <p:spPr>
          <a:xfrm>
            <a:off x="4323047" y="2889798"/>
            <a:ext cx="300082" cy="369332"/>
          </a:xfrm>
          <a:prstGeom prst="rect">
            <a:avLst/>
          </a:prstGeom>
          <a:noFill/>
        </p:spPr>
        <p:txBody>
          <a:bodyPr wrap="none" rtlCol="0">
            <a:spAutoFit/>
          </a:bodyPr>
          <a:lstStyle/>
          <a:p>
            <a:r>
              <a:rPr lang="en-US" dirty="0">
                <a:solidFill>
                  <a:srgbClr val="0070C0"/>
                </a:solidFill>
              </a:rPr>
              <a:t>7</a:t>
            </a:r>
          </a:p>
        </p:txBody>
      </p:sp>
      <p:sp>
        <p:nvSpPr>
          <p:cNvPr id="48" name="TextBox 47">
            <a:extLst>
              <a:ext uri="{FF2B5EF4-FFF2-40B4-BE49-F238E27FC236}">
                <a16:creationId xmlns:a16="http://schemas.microsoft.com/office/drawing/2014/main" id="{1AE445F4-54FC-4848-993A-F5FA58DC01F7}"/>
              </a:ext>
            </a:extLst>
          </p:cNvPr>
          <p:cNvSpPr txBox="1"/>
          <p:nvPr/>
        </p:nvSpPr>
        <p:spPr>
          <a:xfrm>
            <a:off x="5336933" y="2883660"/>
            <a:ext cx="415498" cy="369332"/>
          </a:xfrm>
          <a:prstGeom prst="rect">
            <a:avLst/>
          </a:prstGeom>
          <a:noFill/>
        </p:spPr>
        <p:txBody>
          <a:bodyPr wrap="none" rtlCol="0">
            <a:spAutoFit/>
          </a:bodyPr>
          <a:lstStyle/>
          <a:p>
            <a:r>
              <a:rPr lang="en-US" dirty="0">
                <a:solidFill>
                  <a:srgbClr val="0070C0"/>
                </a:solidFill>
              </a:rPr>
              <a:t>10</a:t>
            </a:r>
          </a:p>
        </p:txBody>
      </p:sp>
      <p:sp>
        <p:nvSpPr>
          <p:cNvPr id="49" name="TextBox 48">
            <a:extLst>
              <a:ext uri="{FF2B5EF4-FFF2-40B4-BE49-F238E27FC236}">
                <a16:creationId xmlns:a16="http://schemas.microsoft.com/office/drawing/2014/main" id="{351845BF-AAAB-4C91-A6D5-481778108242}"/>
              </a:ext>
            </a:extLst>
          </p:cNvPr>
          <p:cNvSpPr txBox="1"/>
          <p:nvPr/>
        </p:nvSpPr>
        <p:spPr>
          <a:xfrm>
            <a:off x="3256902" y="2883660"/>
            <a:ext cx="300082" cy="369332"/>
          </a:xfrm>
          <a:prstGeom prst="rect">
            <a:avLst/>
          </a:prstGeom>
          <a:noFill/>
        </p:spPr>
        <p:txBody>
          <a:bodyPr wrap="none" rtlCol="0">
            <a:spAutoFit/>
          </a:bodyPr>
          <a:lstStyle/>
          <a:p>
            <a:r>
              <a:rPr lang="en-US" dirty="0">
                <a:solidFill>
                  <a:srgbClr val="0070C0"/>
                </a:solidFill>
              </a:rPr>
              <a:t>1</a:t>
            </a:r>
          </a:p>
        </p:txBody>
      </p:sp>
      <p:cxnSp>
        <p:nvCxnSpPr>
          <p:cNvPr id="50" name="Straight Arrow Connector 49">
            <a:extLst>
              <a:ext uri="{FF2B5EF4-FFF2-40B4-BE49-F238E27FC236}">
                <a16:creationId xmlns:a16="http://schemas.microsoft.com/office/drawing/2014/main" id="{D7A855D9-9288-4D1B-8537-186732B09BAC}"/>
              </a:ext>
            </a:extLst>
          </p:cNvPr>
          <p:cNvCxnSpPr>
            <a:cxnSpLocks/>
          </p:cNvCxnSpPr>
          <p:nvPr/>
        </p:nvCxnSpPr>
        <p:spPr>
          <a:xfrm flipH="1">
            <a:off x="4640023" y="2144444"/>
            <a:ext cx="1038139" cy="5784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E1ECA32-173F-485B-8292-1AD0DC1DB382}"/>
              </a:ext>
            </a:extLst>
          </p:cNvPr>
          <p:cNvPicPr>
            <a:picLocks noChangeAspect="1"/>
          </p:cNvPicPr>
          <p:nvPr/>
        </p:nvPicPr>
        <p:blipFill>
          <a:blip r:embed="rId2"/>
          <a:stretch>
            <a:fillRect/>
          </a:stretch>
        </p:blipFill>
        <p:spPr>
          <a:xfrm>
            <a:off x="0" y="111776"/>
            <a:ext cx="12192000" cy="6634448"/>
          </a:xfrm>
          <a:prstGeom prst="rect">
            <a:avLst/>
          </a:prstGeom>
        </p:spPr>
      </p:pic>
    </p:spTree>
    <p:extLst>
      <p:ext uri="{BB962C8B-B14F-4D97-AF65-F5344CB8AC3E}">
        <p14:creationId xmlns:p14="http://schemas.microsoft.com/office/powerpoint/2010/main" val="122094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3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36"/>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1" nodeType="click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p:bldP spid="26" grpId="0"/>
      <p:bldP spid="27" grpId="0"/>
      <p:bldP spid="28" grpId="0"/>
      <p:bldP spid="32" grpId="0"/>
      <p:bldP spid="35" grpId="0"/>
      <p:bldP spid="35" grpId="1"/>
      <p:bldP spid="36" grpId="0"/>
      <p:bldP spid="36" grpId="1"/>
      <p:bldP spid="40" grpId="0"/>
      <p:bldP spid="41" grpId="0"/>
      <p:bldP spid="42" grpId="0"/>
      <p:bldP spid="43" grpId="0"/>
      <p:bldP spid="44" grpId="0"/>
      <p:bldP spid="46" grpId="0"/>
      <p:bldP spid="47" grpId="0"/>
      <p:bldP spid="48" grpId="0"/>
      <p:bldP spid="49" grpId="0"/>
      <p:bldP spid="4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E02B-AE2C-437F-8FCB-FF152FF48C17}"/>
              </a:ext>
            </a:extLst>
          </p:cNvPr>
          <p:cNvSpPr>
            <a:spLocks noGrp="1"/>
          </p:cNvSpPr>
          <p:nvPr>
            <p:ph type="title"/>
          </p:nvPr>
        </p:nvSpPr>
        <p:spPr>
          <a:xfrm>
            <a:off x="1985554" y="217626"/>
            <a:ext cx="7729728" cy="1188720"/>
          </a:xfrm>
        </p:spPr>
        <p:txBody>
          <a:bodyPr/>
          <a:lstStyle/>
          <a:p>
            <a:r>
              <a:rPr lang="en-US" dirty="0"/>
              <a:t>B-Tree Insert: 8</a:t>
            </a:r>
          </a:p>
        </p:txBody>
      </p:sp>
      <p:sp>
        <p:nvSpPr>
          <p:cNvPr id="3" name="Content Placeholder 2">
            <a:extLst>
              <a:ext uri="{FF2B5EF4-FFF2-40B4-BE49-F238E27FC236}">
                <a16:creationId xmlns:a16="http://schemas.microsoft.com/office/drawing/2014/main" id="{02DCFB08-57A5-4242-B965-CFCBB35C1771}"/>
              </a:ext>
            </a:extLst>
          </p:cNvPr>
          <p:cNvSpPr>
            <a:spLocks noGrp="1"/>
          </p:cNvSpPr>
          <p:nvPr>
            <p:ph idx="1"/>
          </p:nvPr>
        </p:nvSpPr>
        <p:spPr>
          <a:xfrm>
            <a:off x="1796404" y="3409459"/>
            <a:ext cx="7729728" cy="3101983"/>
          </a:xfrm>
        </p:spPr>
        <p:txBody>
          <a:bodyPr/>
          <a:lstStyle/>
          <a:p>
            <a:r>
              <a:rPr lang="en-US" dirty="0"/>
              <a:t>Let’s try to insert 8</a:t>
            </a:r>
          </a:p>
        </p:txBody>
      </p:sp>
      <p:sp>
        <p:nvSpPr>
          <p:cNvPr id="25" name="TextBox 24">
            <a:extLst>
              <a:ext uri="{FF2B5EF4-FFF2-40B4-BE49-F238E27FC236}">
                <a16:creationId xmlns:a16="http://schemas.microsoft.com/office/drawing/2014/main" id="{C181182C-B44C-43BB-B26E-867F68E7526A}"/>
              </a:ext>
            </a:extLst>
          </p:cNvPr>
          <p:cNvSpPr txBox="1"/>
          <p:nvPr/>
        </p:nvSpPr>
        <p:spPr>
          <a:xfrm>
            <a:off x="7435792" y="3148922"/>
            <a:ext cx="312906" cy="369332"/>
          </a:xfrm>
          <a:prstGeom prst="rect">
            <a:avLst/>
          </a:prstGeom>
          <a:noFill/>
        </p:spPr>
        <p:txBody>
          <a:bodyPr wrap="none" rtlCol="0">
            <a:spAutoFit/>
          </a:bodyPr>
          <a:lstStyle/>
          <a:p>
            <a:r>
              <a:rPr lang="en-US" dirty="0">
                <a:solidFill>
                  <a:schemeClr val="accent3">
                    <a:lumMod val="50000"/>
                  </a:schemeClr>
                </a:solidFill>
              </a:rPr>
              <a:t>7</a:t>
            </a:r>
          </a:p>
        </p:txBody>
      </p:sp>
      <p:sp>
        <p:nvSpPr>
          <p:cNvPr id="26" name="TextBox 25">
            <a:extLst>
              <a:ext uri="{FF2B5EF4-FFF2-40B4-BE49-F238E27FC236}">
                <a16:creationId xmlns:a16="http://schemas.microsoft.com/office/drawing/2014/main" id="{4E947C9F-C2C9-4BA7-BA15-A036E31EE975}"/>
              </a:ext>
            </a:extLst>
          </p:cNvPr>
          <p:cNvSpPr txBox="1"/>
          <p:nvPr/>
        </p:nvSpPr>
        <p:spPr>
          <a:xfrm>
            <a:off x="8537331" y="3148922"/>
            <a:ext cx="441146" cy="369332"/>
          </a:xfrm>
          <a:prstGeom prst="rect">
            <a:avLst/>
          </a:prstGeom>
          <a:noFill/>
        </p:spPr>
        <p:txBody>
          <a:bodyPr wrap="none" rtlCol="0">
            <a:spAutoFit/>
          </a:bodyPr>
          <a:lstStyle/>
          <a:p>
            <a:r>
              <a:rPr lang="en-US" dirty="0">
                <a:solidFill>
                  <a:schemeClr val="accent3">
                    <a:lumMod val="50000"/>
                  </a:schemeClr>
                </a:solidFill>
              </a:rPr>
              <a:t>10</a:t>
            </a:r>
          </a:p>
        </p:txBody>
      </p:sp>
      <p:sp>
        <p:nvSpPr>
          <p:cNvPr id="27" name="TextBox 26">
            <a:extLst>
              <a:ext uri="{FF2B5EF4-FFF2-40B4-BE49-F238E27FC236}">
                <a16:creationId xmlns:a16="http://schemas.microsoft.com/office/drawing/2014/main" id="{8964267A-44C6-4F2E-A17B-6DAFD43D27B0}"/>
              </a:ext>
            </a:extLst>
          </p:cNvPr>
          <p:cNvSpPr txBox="1"/>
          <p:nvPr/>
        </p:nvSpPr>
        <p:spPr>
          <a:xfrm>
            <a:off x="9571798" y="3148922"/>
            <a:ext cx="441146" cy="369332"/>
          </a:xfrm>
          <a:prstGeom prst="rect">
            <a:avLst/>
          </a:prstGeom>
          <a:noFill/>
        </p:spPr>
        <p:txBody>
          <a:bodyPr wrap="none" rtlCol="0">
            <a:spAutoFit/>
          </a:bodyPr>
          <a:lstStyle/>
          <a:p>
            <a:r>
              <a:rPr lang="en-US" dirty="0">
                <a:solidFill>
                  <a:schemeClr val="accent3">
                    <a:lumMod val="50000"/>
                  </a:schemeClr>
                </a:solidFill>
              </a:rPr>
              <a:t>15</a:t>
            </a:r>
          </a:p>
        </p:txBody>
      </p:sp>
      <p:sp>
        <p:nvSpPr>
          <p:cNvPr id="28" name="TextBox 27">
            <a:extLst>
              <a:ext uri="{FF2B5EF4-FFF2-40B4-BE49-F238E27FC236}">
                <a16:creationId xmlns:a16="http://schemas.microsoft.com/office/drawing/2014/main" id="{DFBE932E-CECB-44F9-91AC-6457E49DC3ED}"/>
              </a:ext>
            </a:extLst>
          </p:cNvPr>
          <p:cNvSpPr txBox="1"/>
          <p:nvPr/>
        </p:nvSpPr>
        <p:spPr>
          <a:xfrm>
            <a:off x="10489642" y="3147466"/>
            <a:ext cx="441146" cy="369332"/>
          </a:xfrm>
          <a:prstGeom prst="rect">
            <a:avLst/>
          </a:prstGeom>
          <a:noFill/>
        </p:spPr>
        <p:txBody>
          <a:bodyPr wrap="none" rtlCol="0">
            <a:spAutoFit/>
          </a:bodyPr>
          <a:lstStyle/>
          <a:p>
            <a:r>
              <a:rPr lang="en-US" dirty="0">
                <a:solidFill>
                  <a:schemeClr val="accent3">
                    <a:lumMod val="50000"/>
                  </a:schemeClr>
                </a:solidFill>
              </a:rPr>
              <a:t>20</a:t>
            </a:r>
          </a:p>
        </p:txBody>
      </p:sp>
      <p:graphicFrame>
        <p:nvGraphicFramePr>
          <p:cNvPr id="31" name="Table 4">
            <a:extLst>
              <a:ext uri="{FF2B5EF4-FFF2-40B4-BE49-F238E27FC236}">
                <a16:creationId xmlns:a16="http://schemas.microsoft.com/office/drawing/2014/main" id="{ED85AEF7-BBD6-4E8D-A173-D434357AA7FD}"/>
              </a:ext>
            </a:extLst>
          </p:cNvPr>
          <p:cNvGraphicFramePr>
            <a:graphicFrameLocks noGrp="1"/>
          </p:cNvGraphicFramePr>
          <p:nvPr>
            <p:extLst>
              <p:ext uri="{D42A27DB-BD31-4B8C-83A1-F6EECF244321}">
                <p14:modId xmlns:p14="http://schemas.microsoft.com/office/powerpoint/2010/main" val="4223632326"/>
              </p:ext>
            </p:extLst>
          </p:nvPr>
        </p:nvGraphicFramePr>
        <p:xfrm>
          <a:off x="5594228" y="1666536"/>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2" name="TextBox 31">
            <a:extLst>
              <a:ext uri="{FF2B5EF4-FFF2-40B4-BE49-F238E27FC236}">
                <a16:creationId xmlns:a16="http://schemas.microsoft.com/office/drawing/2014/main" id="{AD879710-FC7B-4725-AEDC-AADCEABBADD3}"/>
              </a:ext>
            </a:extLst>
          </p:cNvPr>
          <p:cNvSpPr txBox="1"/>
          <p:nvPr/>
        </p:nvSpPr>
        <p:spPr>
          <a:xfrm>
            <a:off x="5935974" y="1814774"/>
            <a:ext cx="415498" cy="369332"/>
          </a:xfrm>
          <a:prstGeom prst="rect">
            <a:avLst/>
          </a:prstGeom>
          <a:noFill/>
        </p:spPr>
        <p:txBody>
          <a:bodyPr wrap="none" rtlCol="0">
            <a:spAutoFit/>
          </a:bodyPr>
          <a:lstStyle/>
          <a:p>
            <a:r>
              <a:rPr lang="en-US" dirty="0">
                <a:solidFill>
                  <a:srgbClr val="0070C0"/>
                </a:solidFill>
              </a:rPr>
              <a:t>11</a:t>
            </a:r>
          </a:p>
        </p:txBody>
      </p:sp>
      <p:cxnSp>
        <p:nvCxnSpPr>
          <p:cNvPr id="33" name="Straight Arrow Connector 32">
            <a:extLst>
              <a:ext uri="{FF2B5EF4-FFF2-40B4-BE49-F238E27FC236}">
                <a16:creationId xmlns:a16="http://schemas.microsoft.com/office/drawing/2014/main" id="{67E81921-C66E-4732-894E-BDA238D0AD97}"/>
              </a:ext>
            </a:extLst>
          </p:cNvPr>
          <p:cNvCxnSpPr>
            <a:cxnSpLocks/>
          </p:cNvCxnSpPr>
          <p:nvPr/>
        </p:nvCxnSpPr>
        <p:spPr>
          <a:xfrm flipH="1">
            <a:off x="4643120" y="2134750"/>
            <a:ext cx="1038139" cy="5784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4">
            <a:extLst>
              <a:ext uri="{FF2B5EF4-FFF2-40B4-BE49-F238E27FC236}">
                <a16:creationId xmlns:a16="http://schemas.microsoft.com/office/drawing/2014/main" id="{D73B77A1-FEDA-4F4D-B566-04616E305C24}"/>
              </a:ext>
            </a:extLst>
          </p:cNvPr>
          <p:cNvGraphicFramePr>
            <a:graphicFrameLocks noGrp="1"/>
          </p:cNvGraphicFramePr>
          <p:nvPr>
            <p:extLst>
              <p:ext uri="{D42A27DB-BD31-4B8C-83A1-F6EECF244321}">
                <p14:modId xmlns:p14="http://schemas.microsoft.com/office/powerpoint/2010/main" val="3359783244"/>
              </p:ext>
            </p:extLst>
          </p:nvPr>
        </p:nvGraphicFramePr>
        <p:xfrm>
          <a:off x="2715183" y="2745955"/>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5" name="TextBox 34">
            <a:extLst>
              <a:ext uri="{FF2B5EF4-FFF2-40B4-BE49-F238E27FC236}">
                <a16:creationId xmlns:a16="http://schemas.microsoft.com/office/drawing/2014/main" id="{685F1B65-8F99-449D-AF58-ADA77E2E6E5A}"/>
              </a:ext>
            </a:extLst>
          </p:cNvPr>
          <p:cNvSpPr txBox="1"/>
          <p:nvPr/>
        </p:nvSpPr>
        <p:spPr>
          <a:xfrm>
            <a:off x="3084823" y="2899492"/>
            <a:ext cx="300082" cy="369332"/>
          </a:xfrm>
          <a:prstGeom prst="rect">
            <a:avLst/>
          </a:prstGeom>
          <a:noFill/>
        </p:spPr>
        <p:txBody>
          <a:bodyPr wrap="none" rtlCol="0">
            <a:spAutoFit/>
          </a:bodyPr>
          <a:lstStyle/>
          <a:p>
            <a:r>
              <a:rPr lang="en-US" dirty="0">
                <a:solidFill>
                  <a:srgbClr val="0070C0"/>
                </a:solidFill>
              </a:rPr>
              <a:t>1</a:t>
            </a:r>
          </a:p>
        </p:txBody>
      </p:sp>
      <p:sp>
        <p:nvSpPr>
          <p:cNvPr id="36" name="TextBox 35">
            <a:extLst>
              <a:ext uri="{FF2B5EF4-FFF2-40B4-BE49-F238E27FC236}">
                <a16:creationId xmlns:a16="http://schemas.microsoft.com/office/drawing/2014/main" id="{3DF89C26-6928-4859-8343-7EBC20110419}"/>
              </a:ext>
            </a:extLst>
          </p:cNvPr>
          <p:cNvSpPr txBox="1"/>
          <p:nvPr/>
        </p:nvSpPr>
        <p:spPr>
          <a:xfrm>
            <a:off x="4082314" y="2899492"/>
            <a:ext cx="300082" cy="369332"/>
          </a:xfrm>
          <a:prstGeom prst="rect">
            <a:avLst/>
          </a:prstGeom>
          <a:noFill/>
        </p:spPr>
        <p:txBody>
          <a:bodyPr wrap="none" rtlCol="0">
            <a:spAutoFit/>
          </a:bodyPr>
          <a:lstStyle/>
          <a:p>
            <a:r>
              <a:rPr lang="en-US" dirty="0">
                <a:solidFill>
                  <a:srgbClr val="0070C0"/>
                </a:solidFill>
              </a:rPr>
              <a:t>7</a:t>
            </a:r>
          </a:p>
        </p:txBody>
      </p:sp>
      <p:cxnSp>
        <p:nvCxnSpPr>
          <p:cNvPr id="37" name="Straight Arrow Connector 36">
            <a:extLst>
              <a:ext uri="{FF2B5EF4-FFF2-40B4-BE49-F238E27FC236}">
                <a16:creationId xmlns:a16="http://schemas.microsoft.com/office/drawing/2014/main" id="{F17703D0-5589-4736-B1CE-74E48DC8F00D}"/>
              </a:ext>
            </a:extLst>
          </p:cNvPr>
          <p:cNvCxnSpPr>
            <a:cxnSpLocks/>
          </p:cNvCxnSpPr>
          <p:nvPr/>
        </p:nvCxnSpPr>
        <p:spPr>
          <a:xfrm>
            <a:off x="6697846" y="2123260"/>
            <a:ext cx="737946" cy="686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4">
            <a:extLst>
              <a:ext uri="{FF2B5EF4-FFF2-40B4-BE49-F238E27FC236}">
                <a16:creationId xmlns:a16="http://schemas.microsoft.com/office/drawing/2014/main" id="{414C20A0-84AB-4014-8565-A30DE638E544}"/>
              </a:ext>
            </a:extLst>
          </p:cNvPr>
          <p:cNvGraphicFramePr>
            <a:graphicFrameLocks noGrp="1"/>
          </p:cNvGraphicFramePr>
          <p:nvPr>
            <p:extLst>
              <p:ext uri="{D42A27DB-BD31-4B8C-83A1-F6EECF244321}">
                <p14:modId xmlns:p14="http://schemas.microsoft.com/office/powerpoint/2010/main" val="859908205"/>
              </p:ext>
            </p:extLst>
          </p:nvPr>
        </p:nvGraphicFramePr>
        <p:xfrm>
          <a:off x="7287066" y="2780951"/>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rgbClr val="0070C0"/>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rgbClr val="0070C0"/>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40" name="TextBox 39">
            <a:extLst>
              <a:ext uri="{FF2B5EF4-FFF2-40B4-BE49-F238E27FC236}">
                <a16:creationId xmlns:a16="http://schemas.microsoft.com/office/drawing/2014/main" id="{D20121DE-FCBD-4210-81D7-3949E02191EB}"/>
              </a:ext>
            </a:extLst>
          </p:cNvPr>
          <p:cNvSpPr txBox="1"/>
          <p:nvPr/>
        </p:nvSpPr>
        <p:spPr>
          <a:xfrm>
            <a:off x="8653954" y="2899492"/>
            <a:ext cx="415498" cy="369332"/>
          </a:xfrm>
          <a:prstGeom prst="rect">
            <a:avLst/>
          </a:prstGeom>
          <a:noFill/>
        </p:spPr>
        <p:txBody>
          <a:bodyPr wrap="none" rtlCol="0">
            <a:spAutoFit/>
          </a:bodyPr>
          <a:lstStyle/>
          <a:p>
            <a:r>
              <a:rPr lang="en-US" dirty="0">
                <a:solidFill>
                  <a:srgbClr val="0070C0"/>
                </a:solidFill>
              </a:rPr>
              <a:t>20</a:t>
            </a:r>
          </a:p>
        </p:txBody>
      </p:sp>
      <p:sp>
        <p:nvSpPr>
          <p:cNvPr id="41" name="TextBox 40">
            <a:extLst>
              <a:ext uri="{FF2B5EF4-FFF2-40B4-BE49-F238E27FC236}">
                <a16:creationId xmlns:a16="http://schemas.microsoft.com/office/drawing/2014/main" id="{F1B863F1-F7E8-485E-8171-41ADA49C1F44}"/>
              </a:ext>
            </a:extLst>
          </p:cNvPr>
          <p:cNvSpPr txBox="1"/>
          <p:nvPr/>
        </p:nvSpPr>
        <p:spPr>
          <a:xfrm>
            <a:off x="7666134" y="2899492"/>
            <a:ext cx="415498" cy="369332"/>
          </a:xfrm>
          <a:prstGeom prst="rect">
            <a:avLst/>
          </a:prstGeom>
          <a:noFill/>
        </p:spPr>
        <p:txBody>
          <a:bodyPr wrap="none" rtlCol="0">
            <a:spAutoFit/>
          </a:bodyPr>
          <a:lstStyle/>
          <a:p>
            <a:r>
              <a:rPr lang="en-US" dirty="0">
                <a:solidFill>
                  <a:srgbClr val="0070C0"/>
                </a:solidFill>
              </a:rPr>
              <a:t>15</a:t>
            </a:r>
          </a:p>
        </p:txBody>
      </p:sp>
      <p:sp>
        <p:nvSpPr>
          <p:cNvPr id="42" name="TextBox 41">
            <a:extLst>
              <a:ext uri="{FF2B5EF4-FFF2-40B4-BE49-F238E27FC236}">
                <a16:creationId xmlns:a16="http://schemas.microsoft.com/office/drawing/2014/main" id="{1236656A-F150-4F43-886A-9757841C37BB}"/>
              </a:ext>
            </a:extLst>
          </p:cNvPr>
          <p:cNvSpPr txBox="1"/>
          <p:nvPr/>
        </p:nvSpPr>
        <p:spPr>
          <a:xfrm>
            <a:off x="3362097" y="1794097"/>
            <a:ext cx="1720343" cy="369332"/>
          </a:xfrm>
          <a:prstGeom prst="rect">
            <a:avLst/>
          </a:prstGeom>
          <a:noFill/>
        </p:spPr>
        <p:txBody>
          <a:bodyPr wrap="none" rtlCol="0">
            <a:spAutoFit/>
          </a:bodyPr>
          <a:lstStyle/>
          <a:p>
            <a:r>
              <a:rPr lang="en-US" dirty="0"/>
              <a:t>Root non-null!</a:t>
            </a:r>
          </a:p>
        </p:txBody>
      </p:sp>
      <p:sp>
        <p:nvSpPr>
          <p:cNvPr id="43" name="TextBox 42">
            <a:extLst>
              <a:ext uri="{FF2B5EF4-FFF2-40B4-BE49-F238E27FC236}">
                <a16:creationId xmlns:a16="http://schemas.microsoft.com/office/drawing/2014/main" id="{7F1DCD3D-1762-48DE-BCAD-DAD8A2E92742}"/>
              </a:ext>
            </a:extLst>
          </p:cNvPr>
          <p:cNvSpPr txBox="1"/>
          <p:nvPr/>
        </p:nvSpPr>
        <p:spPr>
          <a:xfrm>
            <a:off x="297271" y="2174006"/>
            <a:ext cx="2563522" cy="646331"/>
          </a:xfrm>
          <a:prstGeom prst="rect">
            <a:avLst/>
          </a:prstGeom>
          <a:noFill/>
        </p:spPr>
        <p:txBody>
          <a:bodyPr wrap="none" rtlCol="0">
            <a:spAutoFit/>
          </a:bodyPr>
          <a:lstStyle/>
          <a:p>
            <a:r>
              <a:rPr lang="en-US" dirty="0"/>
              <a:t>Since 8 &lt; 11, go left, </a:t>
            </a:r>
          </a:p>
          <a:p>
            <a:r>
              <a:rPr lang="en-US" dirty="0"/>
              <a:t>and try to insert there</a:t>
            </a:r>
          </a:p>
        </p:txBody>
      </p:sp>
      <p:sp>
        <p:nvSpPr>
          <p:cNvPr id="44" name="TextBox 43">
            <a:extLst>
              <a:ext uri="{FF2B5EF4-FFF2-40B4-BE49-F238E27FC236}">
                <a16:creationId xmlns:a16="http://schemas.microsoft.com/office/drawing/2014/main" id="{E488F04A-E88C-4C16-BF37-407B66A43FCA}"/>
              </a:ext>
            </a:extLst>
          </p:cNvPr>
          <p:cNvSpPr txBox="1"/>
          <p:nvPr/>
        </p:nvSpPr>
        <p:spPr>
          <a:xfrm>
            <a:off x="297271" y="2908512"/>
            <a:ext cx="1688283" cy="369332"/>
          </a:xfrm>
          <a:prstGeom prst="rect">
            <a:avLst/>
          </a:prstGeom>
          <a:noFill/>
        </p:spPr>
        <p:txBody>
          <a:bodyPr wrap="none" rtlCol="0">
            <a:spAutoFit/>
          </a:bodyPr>
          <a:lstStyle/>
          <a:p>
            <a:r>
              <a:rPr lang="en-US" dirty="0"/>
              <a:t>Node not full!</a:t>
            </a:r>
          </a:p>
        </p:txBody>
      </p:sp>
      <p:sp>
        <p:nvSpPr>
          <p:cNvPr id="46" name="TextBox 45">
            <a:extLst>
              <a:ext uri="{FF2B5EF4-FFF2-40B4-BE49-F238E27FC236}">
                <a16:creationId xmlns:a16="http://schemas.microsoft.com/office/drawing/2014/main" id="{BB00BBF5-38EC-4F79-B846-3EE8AF07B2BE}"/>
              </a:ext>
            </a:extLst>
          </p:cNvPr>
          <p:cNvSpPr txBox="1"/>
          <p:nvPr/>
        </p:nvSpPr>
        <p:spPr>
          <a:xfrm>
            <a:off x="4116567" y="3480714"/>
            <a:ext cx="3129383" cy="369332"/>
          </a:xfrm>
          <a:prstGeom prst="rect">
            <a:avLst/>
          </a:prstGeom>
          <a:noFill/>
        </p:spPr>
        <p:txBody>
          <a:bodyPr wrap="none" rtlCol="0">
            <a:spAutoFit/>
          </a:bodyPr>
          <a:lstStyle/>
          <a:p>
            <a:r>
              <a:rPr lang="en-US" dirty="0"/>
              <a:t>Move 10 over and insert 8!</a:t>
            </a:r>
          </a:p>
        </p:txBody>
      </p:sp>
      <p:sp>
        <p:nvSpPr>
          <p:cNvPr id="48" name="TextBox 47">
            <a:extLst>
              <a:ext uri="{FF2B5EF4-FFF2-40B4-BE49-F238E27FC236}">
                <a16:creationId xmlns:a16="http://schemas.microsoft.com/office/drawing/2014/main" id="{1AE445F4-54FC-4848-993A-F5FA58DC01F7}"/>
              </a:ext>
            </a:extLst>
          </p:cNvPr>
          <p:cNvSpPr txBox="1"/>
          <p:nvPr/>
        </p:nvSpPr>
        <p:spPr>
          <a:xfrm>
            <a:off x="5147029" y="2895010"/>
            <a:ext cx="415498" cy="369332"/>
          </a:xfrm>
          <a:prstGeom prst="rect">
            <a:avLst/>
          </a:prstGeom>
          <a:noFill/>
        </p:spPr>
        <p:txBody>
          <a:bodyPr wrap="none" rtlCol="0">
            <a:spAutoFit/>
          </a:bodyPr>
          <a:lstStyle/>
          <a:p>
            <a:r>
              <a:rPr lang="en-US" dirty="0">
                <a:solidFill>
                  <a:srgbClr val="0070C0"/>
                </a:solidFill>
              </a:rPr>
              <a:t>10</a:t>
            </a:r>
          </a:p>
        </p:txBody>
      </p:sp>
      <p:cxnSp>
        <p:nvCxnSpPr>
          <p:cNvPr id="50" name="Straight Arrow Connector 49">
            <a:extLst>
              <a:ext uri="{FF2B5EF4-FFF2-40B4-BE49-F238E27FC236}">
                <a16:creationId xmlns:a16="http://schemas.microsoft.com/office/drawing/2014/main" id="{D7A855D9-9288-4D1B-8537-186732B09BAC}"/>
              </a:ext>
            </a:extLst>
          </p:cNvPr>
          <p:cNvCxnSpPr>
            <a:cxnSpLocks/>
          </p:cNvCxnSpPr>
          <p:nvPr/>
        </p:nvCxnSpPr>
        <p:spPr>
          <a:xfrm flipH="1">
            <a:off x="4641941" y="2125725"/>
            <a:ext cx="1038139" cy="5784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85C005D-37F6-44B0-9391-22B642258216}"/>
              </a:ext>
            </a:extLst>
          </p:cNvPr>
          <p:cNvSpPr txBox="1"/>
          <p:nvPr/>
        </p:nvSpPr>
        <p:spPr>
          <a:xfrm>
            <a:off x="6163602" y="2906609"/>
            <a:ext cx="415498" cy="369332"/>
          </a:xfrm>
          <a:prstGeom prst="rect">
            <a:avLst/>
          </a:prstGeom>
          <a:noFill/>
        </p:spPr>
        <p:txBody>
          <a:bodyPr wrap="none" rtlCol="0">
            <a:spAutoFit/>
          </a:bodyPr>
          <a:lstStyle/>
          <a:p>
            <a:r>
              <a:rPr lang="en-US" dirty="0">
                <a:solidFill>
                  <a:srgbClr val="0070C0"/>
                </a:solidFill>
              </a:rPr>
              <a:t>10</a:t>
            </a:r>
          </a:p>
        </p:txBody>
      </p:sp>
      <p:sp>
        <p:nvSpPr>
          <p:cNvPr id="45" name="TextBox 44">
            <a:extLst>
              <a:ext uri="{FF2B5EF4-FFF2-40B4-BE49-F238E27FC236}">
                <a16:creationId xmlns:a16="http://schemas.microsoft.com/office/drawing/2014/main" id="{0E6D88F6-5628-4290-8F91-66E9C73CFBC5}"/>
              </a:ext>
            </a:extLst>
          </p:cNvPr>
          <p:cNvSpPr txBox="1"/>
          <p:nvPr/>
        </p:nvSpPr>
        <p:spPr>
          <a:xfrm>
            <a:off x="5224928" y="2899063"/>
            <a:ext cx="300082" cy="369332"/>
          </a:xfrm>
          <a:prstGeom prst="rect">
            <a:avLst/>
          </a:prstGeom>
          <a:noFill/>
        </p:spPr>
        <p:txBody>
          <a:bodyPr wrap="none" rtlCol="0">
            <a:spAutoFit/>
          </a:bodyPr>
          <a:lstStyle/>
          <a:p>
            <a:r>
              <a:rPr lang="en-US" dirty="0">
                <a:solidFill>
                  <a:srgbClr val="0070C0"/>
                </a:solidFill>
              </a:rPr>
              <a:t>8</a:t>
            </a:r>
          </a:p>
        </p:txBody>
      </p:sp>
      <p:pic>
        <p:nvPicPr>
          <p:cNvPr id="4" name="Picture 3">
            <a:extLst>
              <a:ext uri="{FF2B5EF4-FFF2-40B4-BE49-F238E27FC236}">
                <a16:creationId xmlns:a16="http://schemas.microsoft.com/office/drawing/2014/main" id="{3911846F-6597-4EB0-B515-2FD01139D775}"/>
              </a:ext>
            </a:extLst>
          </p:cNvPr>
          <p:cNvPicPr>
            <a:picLocks noChangeAspect="1"/>
          </p:cNvPicPr>
          <p:nvPr/>
        </p:nvPicPr>
        <p:blipFill>
          <a:blip r:embed="rId2"/>
          <a:stretch>
            <a:fillRect/>
          </a:stretch>
        </p:blipFill>
        <p:spPr>
          <a:xfrm>
            <a:off x="0" y="25158"/>
            <a:ext cx="12192000" cy="6807683"/>
          </a:xfrm>
          <a:prstGeom prst="rect">
            <a:avLst/>
          </a:prstGeom>
        </p:spPr>
      </p:pic>
    </p:spTree>
    <p:extLst>
      <p:ext uri="{BB962C8B-B14F-4D97-AF65-F5344CB8AC3E}">
        <p14:creationId xmlns:p14="http://schemas.microsoft.com/office/powerpoint/2010/main" val="8148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4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p:bldP spid="26" grpId="0"/>
      <p:bldP spid="27" grpId="0"/>
      <p:bldP spid="28" grpId="0"/>
      <p:bldP spid="32" grpId="0"/>
      <p:bldP spid="35" grpId="0"/>
      <p:bldP spid="36" grpId="0"/>
      <p:bldP spid="40" grpId="0"/>
      <p:bldP spid="41" grpId="0"/>
      <p:bldP spid="42" grpId="0"/>
      <p:bldP spid="43" grpId="0"/>
      <p:bldP spid="44" grpId="0"/>
      <p:bldP spid="46" grpId="0"/>
      <p:bldP spid="48" grpId="0"/>
      <p:bldP spid="48" grpId="1"/>
      <p:bldP spid="38" grpId="0"/>
      <p:bldP spid="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E02B-AE2C-437F-8FCB-FF152FF48C17}"/>
              </a:ext>
            </a:extLst>
          </p:cNvPr>
          <p:cNvSpPr>
            <a:spLocks noGrp="1"/>
          </p:cNvSpPr>
          <p:nvPr>
            <p:ph type="title"/>
          </p:nvPr>
        </p:nvSpPr>
        <p:spPr>
          <a:xfrm>
            <a:off x="2331898" y="98805"/>
            <a:ext cx="7571270" cy="918640"/>
          </a:xfrm>
        </p:spPr>
        <p:txBody>
          <a:bodyPr/>
          <a:lstStyle/>
          <a:p>
            <a:r>
              <a:rPr lang="en-US" dirty="0"/>
              <a:t>B-Tree Insert: 5</a:t>
            </a:r>
          </a:p>
        </p:txBody>
      </p:sp>
      <p:sp>
        <p:nvSpPr>
          <p:cNvPr id="3" name="Content Placeholder 2">
            <a:extLst>
              <a:ext uri="{FF2B5EF4-FFF2-40B4-BE49-F238E27FC236}">
                <a16:creationId xmlns:a16="http://schemas.microsoft.com/office/drawing/2014/main" id="{02DCFB08-57A5-4242-B965-CFCBB35C1771}"/>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Let’s try to insert 5</a:t>
            </a:r>
          </a:p>
        </p:txBody>
      </p:sp>
      <p:sp>
        <p:nvSpPr>
          <p:cNvPr id="25" name="TextBox 24">
            <a:extLst>
              <a:ext uri="{FF2B5EF4-FFF2-40B4-BE49-F238E27FC236}">
                <a16:creationId xmlns:a16="http://schemas.microsoft.com/office/drawing/2014/main" id="{C181182C-B44C-43BB-B26E-867F68E7526A}"/>
              </a:ext>
            </a:extLst>
          </p:cNvPr>
          <p:cNvSpPr txBox="1"/>
          <p:nvPr/>
        </p:nvSpPr>
        <p:spPr>
          <a:xfrm>
            <a:off x="7435792" y="3148922"/>
            <a:ext cx="312906" cy="369332"/>
          </a:xfrm>
          <a:prstGeom prst="rect">
            <a:avLst/>
          </a:prstGeom>
          <a:noFill/>
        </p:spPr>
        <p:txBody>
          <a:bodyPr wrap="none" rtlCol="0">
            <a:spAutoFit/>
          </a:bodyPr>
          <a:lstStyle/>
          <a:p>
            <a:r>
              <a:rPr lang="en-US" dirty="0">
                <a:solidFill>
                  <a:schemeClr val="accent3">
                    <a:lumMod val="50000"/>
                  </a:schemeClr>
                </a:solidFill>
              </a:rPr>
              <a:t>7</a:t>
            </a:r>
          </a:p>
        </p:txBody>
      </p:sp>
      <p:sp>
        <p:nvSpPr>
          <p:cNvPr id="26" name="TextBox 25">
            <a:extLst>
              <a:ext uri="{FF2B5EF4-FFF2-40B4-BE49-F238E27FC236}">
                <a16:creationId xmlns:a16="http://schemas.microsoft.com/office/drawing/2014/main" id="{4E947C9F-C2C9-4BA7-BA15-A036E31EE975}"/>
              </a:ext>
            </a:extLst>
          </p:cNvPr>
          <p:cNvSpPr txBox="1"/>
          <p:nvPr/>
        </p:nvSpPr>
        <p:spPr>
          <a:xfrm>
            <a:off x="8537331" y="3148922"/>
            <a:ext cx="441146" cy="369332"/>
          </a:xfrm>
          <a:prstGeom prst="rect">
            <a:avLst/>
          </a:prstGeom>
          <a:noFill/>
        </p:spPr>
        <p:txBody>
          <a:bodyPr wrap="none" rtlCol="0">
            <a:spAutoFit/>
          </a:bodyPr>
          <a:lstStyle/>
          <a:p>
            <a:r>
              <a:rPr lang="en-US" dirty="0">
                <a:solidFill>
                  <a:schemeClr val="accent3">
                    <a:lumMod val="50000"/>
                  </a:schemeClr>
                </a:solidFill>
              </a:rPr>
              <a:t>10</a:t>
            </a:r>
          </a:p>
        </p:txBody>
      </p:sp>
      <p:sp>
        <p:nvSpPr>
          <p:cNvPr id="27" name="TextBox 26">
            <a:extLst>
              <a:ext uri="{FF2B5EF4-FFF2-40B4-BE49-F238E27FC236}">
                <a16:creationId xmlns:a16="http://schemas.microsoft.com/office/drawing/2014/main" id="{8964267A-44C6-4F2E-A17B-6DAFD43D27B0}"/>
              </a:ext>
            </a:extLst>
          </p:cNvPr>
          <p:cNvSpPr txBox="1"/>
          <p:nvPr/>
        </p:nvSpPr>
        <p:spPr>
          <a:xfrm>
            <a:off x="9571798" y="3148922"/>
            <a:ext cx="441146" cy="369332"/>
          </a:xfrm>
          <a:prstGeom prst="rect">
            <a:avLst/>
          </a:prstGeom>
          <a:noFill/>
        </p:spPr>
        <p:txBody>
          <a:bodyPr wrap="none" rtlCol="0">
            <a:spAutoFit/>
          </a:bodyPr>
          <a:lstStyle/>
          <a:p>
            <a:r>
              <a:rPr lang="en-US" dirty="0">
                <a:solidFill>
                  <a:schemeClr val="accent3">
                    <a:lumMod val="50000"/>
                  </a:schemeClr>
                </a:solidFill>
              </a:rPr>
              <a:t>15</a:t>
            </a:r>
          </a:p>
        </p:txBody>
      </p:sp>
      <p:sp>
        <p:nvSpPr>
          <p:cNvPr id="28" name="TextBox 27">
            <a:extLst>
              <a:ext uri="{FF2B5EF4-FFF2-40B4-BE49-F238E27FC236}">
                <a16:creationId xmlns:a16="http://schemas.microsoft.com/office/drawing/2014/main" id="{DFBE932E-CECB-44F9-91AC-6457E49DC3ED}"/>
              </a:ext>
            </a:extLst>
          </p:cNvPr>
          <p:cNvSpPr txBox="1"/>
          <p:nvPr/>
        </p:nvSpPr>
        <p:spPr>
          <a:xfrm>
            <a:off x="10489642" y="3147466"/>
            <a:ext cx="441146" cy="369332"/>
          </a:xfrm>
          <a:prstGeom prst="rect">
            <a:avLst/>
          </a:prstGeom>
          <a:noFill/>
        </p:spPr>
        <p:txBody>
          <a:bodyPr wrap="none" rtlCol="0">
            <a:spAutoFit/>
          </a:bodyPr>
          <a:lstStyle/>
          <a:p>
            <a:r>
              <a:rPr lang="en-US" dirty="0">
                <a:solidFill>
                  <a:schemeClr val="accent3">
                    <a:lumMod val="50000"/>
                  </a:schemeClr>
                </a:solidFill>
              </a:rPr>
              <a:t>20</a:t>
            </a:r>
          </a:p>
        </p:txBody>
      </p:sp>
      <p:sp>
        <p:nvSpPr>
          <p:cNvPr id="29" name="TextBox 28">
            <a:extLst>
              <a:ext uri="{FF2B5EF4-FFF2-40B4-BE49-F238E27FC236}">
                <a16:creationId xmlns:a16="http://schemas.microsoft.com/office/drawing/2014/main" id="{B0F8E4E6-5E04-4472-8301-2EF858955AC8}"/>
              </a:ext>
            </a:extLst>
          </p:cNvPr>
          <p:cNvSpPr txBox="1"/>
          <p:nvPr/>
        </p:nvSpPr>
        <p:spPr>
          <a:xfrm>
            <a:off x="3804141" y="2685801"/>
            <a:ext cx="2645276" cy="646331"/>
          </a:xfrm>
          <a:prstGeom prst="rect">
            <a:avLst/>
          </a:prstGeom>
          <a:noFill/>
        </p:spPr>
        <p:txBody>
          <a:bodyPr wrap="none" rtlCol="0">
            <a:spAutoFit/>
          </a:bodyPr>
          <a:lstStyle/>
          <a:p>
            <a:r>
              <a:rPr lang="en-US" dirty="0"/>
              <a:t>Determine median of:</a:t>
            </a:r>
          </a:p>
          <a:p>
            <a:r>
              <a:rPr lang="en-US" dirty="0"/>
              <a:t>7, 10, 11, 15, 20</a:t>
            </a:r>
          </a:p>
        </p:txBody>
      </p:sp>
      <p:graphicFrame>
        <p:nvGraphicFramePr>
          <p:cNvPr id="31" name="Table 4">
            <a:extLst>
              <a:ext uri="{FF2B5EF4-FFF2-40B4-BE49-F238E27FC236}">
                <a16:creationId xmlns:a16="http://schemas.microsoft.com/office/drawing/2014/main" id="{ED85AEF7-BBD6-4E8D-A173-D434357AA7FD}"/>
              </a:ext>
            </a:extLst>
          </p:cNvPr>
          <p:cNvGraphicFramePr>
            <a:graphicFrameLocks noGrp="1"/>
          </p:cNvGraphicFramePr>
          <p:nvPr>
            <p:extLst>
              <p:ext uri="{D42A27DB-BD31-4B8C-83A1-F6EECF244321}">
                <p14:modId xmlns:p14="http://schemas.microsoft.com/office/powerpoint/2010/main" val="1002417437"/>
              </p:ext>
            </p:extLst>
          </p:nvPr>
        </p:nvGraphicFramePr>
        <p:xfrm>
          <a:off x="5594228" y="1666536"/>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2" name="TextBox 31">
            <a:extLst>
              <a:ext uri="{FF2B5EF4-FFF2-40B4-BE49-F238E27FC236}">
                <a16:creationId xmlns:a16="http://schemas.microsoft.com/office/drawing/2014/main" id="{AD879710-FC7B-4725-AEDC-AADCEABBADD3}"/>
              </a:ext>
            </a:extLst>
          </p:cNvPr>
          <p:cNvSpPr txBox="1"/>
          <p:nvPr/>
        </p:nvSpPr>
        <p:spPr>
          <a:xfrm>
            <a:off x="5935974" y="1814774"/>
            <a:ext cx="415498" cy="369332"/>
          </a:xfrm>
          <a:prstGeom prst="rect">
            <a:avLst/>
          </a:prstGeom>
          <a:noFill/>
        </p:spPr>
        <p:txBody>
          <a:bodyPr wrap="none" rtlCol="0">
            <a:spAutoFit/>
          </a:bodyPr>
          <a:lstStyle/>
          <a:p>
            <a:r>
              <a:rPr lang="en-US" dirty="0">
                <a:solidFill>
                  <a:srgbClr val="0070C0"/>
                </a:solidFill>
              </a:rPr>
              <a:t>11</a:t>
            </a:r>
          </a:p>
        </p:txBody>
      </p:sp>
      <p:cxnSp>
        <p:nvCxnSpPr>
          <p:cNvPr id="33" name="Straight Arrow Connector 32">
            <a:extLst>
              <a:ext uri="{FF2B5EF4-FFF2-40B4-BE49-F238E27FC236}">
                <a16:creationId xmlns:a16="http://schemas.microsoft.com/office/drawing/2014/main" id="{67E81921-C66E-4732-894E-BDA238D0AD97}"/>
              </a:ext>
            </a:extLst>
          </p:cNvPr>
          <p:cNvCxnSpPr>
            <a:cxnSpLocks/>
          </p:cNvCxnSpPr>
          <p:nvPr/>
        </p:nvCxnSpPr>
        <p:spPr>
          <a:xfrm flipH="1">
            <a:off x="4643120" y="2134750"/>
            <a:ext cx="1038139" cy="5784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4">
            <a:extLst>
              <a:ext uri="{FF2B5EF4-FFF2-40B4-BE49-F238E27FC236}">
                <a16:creationId xmlns:a16="http://schemas.microsoft.com/office/drawing/2014/main" id="{D73B77A1-FEDA-4F4D-B566-04616E305C24}"/>
              </a:ext>
            </a:extLst>
          </p:cNvPr>
          <p:cNvGraphicFramePr>
            <a:graphicFrameLocks noGrp="1"/>
          </p:cNvGraphicFramePr>
          <p:nvPr>
            <p:extLst>
              <p:ext uri="{D42A27DB-BD31-4B8C-83A1-F6EECF244321}">
                <p14:modId xmlns:p14="http://schemas.microsoft.com/office/powerpoint/2010/main" val="488093100"/>
              </p:ext>
            </p:extLst>
          </p:nvPr>
        </p:nvGraphicFramePr>
        <p:xfrm>
          <a:off x="2678410" y="2771931"/>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35" name="TextBox 34">
            <a:extLst>
              <a:ext uri="{FF2B5EF4-FFF2-40B4-BE49-F238E27FC236}">
                <a16:creationId xmlns:a16="http://schemas.microsoft.com/office/drawing/2014/main" id="{685F1B65-8F99-449D-AF58-ADA77E2E6E5A}"/>
              </a:ext>
            </a:extLst>
          </p:cNvPr>
          <p:cNvSpPr txBox="1"/>
          <p:nvPr/>
        </p:nvSpPr>
        <p:spPr>
          <a:xfrm>
            <a:off x="3084823" y="2899492"/>
            <a:ext cx="300082" cy="369332"/>
          </a:xfrm>
          <a:prstGeom prst="rect">
            <a:avLst/>
          </a:prstGeom>
          <a:noFill/>
        </p:spPr>
        <p:txBody>
          <a:bodyPr wrap="none" rtlCol="0">
            <a:spAutoFit/>
          </a:bodyPr>
          <a:lstStyle/>
          <a:p>
            <a:r>
              <a:rPr lang="en-US" dirty="0">
                <a:solidFill>
                  <a:srgbClr val="0070C0"/>
                </a:solidFill>
              </a:rPr>
              <a:t>1</a:t>
            </a:r>
          </a:p>
        </p:txBody>
      </p:sp>
      <p:sp>
        <p:nvSpPr>
          <p:cNvPr id="36" name="TextBox 35">
            <a:extLst>
              <a:ext uri="{FF2B5EF4-FFF2-40B4-BE49-F238E27FC236}">
                <a16:creationId xmlns:a16="http://schemas.microsoft.com/office/drawing/2014/main" id="{3DF89C26-6928-4859-8343-7EBC20110419}"/>
              </a:ext>
            </a:extLst>
          </p:cNvPr>
          <p:cNvSpPr txBox="1"/>
          <p:nvPr/>
        </p:nvSpPr>
        <p:spPr>
          <a:xfrm>
            <a:off x="4082314" y="2899492"/>
            <a:ext cx="300082" cy="369332"/>
          </a:xfrm>
          <a:prstGeom prst="rect">
            <a:avLst/>
          </a:prstGeom>
          <a:noFill/>
        </p:spPr>
        <p:txBody>
          <a:bodyPr wrap="none" rtlCol="0">
            <a:spAutoFit/>
          </a:bodyPr>
          <a:lstStyle/>
          <a:p>
            <a:r>
              <a:rPr lang="en-US" dirty="0">
                <a:solidFill>
                  <a:srgbClr val="0070C0"/>
                </a:solidFill>
              </a:rPr>
              <a:t>7</a:t>
            </a:r>
          </a:p>
        </p:txBody>
      </p:sp>
      <p:cxnSp>
        <p:nvCxnSpPr>
          <p:cNvPr id="37" name="Straight Arrow Connector 36">
            <a:extLst>
              <a:ext uri="{FF2B5EF4-FFF2-40B4-BE49-F238E27FC236}">
                <a16:creationId xmlns:a16="http://schemas.microsoft.com/office/drawing/2014/main" id="{F17703D0-5589-4736-B1CE-74E48DC8F00D}"/>
              </a:ext>
            </a:extLst>
          </p:cNvPr>
          <p:cNvCxnSpPr>
            <a:cxnSpLocks/>
          </p:cNvCxnSpPr>
          <p:nvPr/>
        </p:nvCxnSpPr>
        <p:spPr>
          <a:xfrm>
            <a:off x="6697846" y="2123260"/>
            <a:ext cx="631250" cy="6546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4">
            <a:extLst>
              <a:ext uri="{FF2B5EF4-FFF2-40B4-BE49-F238E27FC236}">
                <a16:creationId xmlns:a16="http://schemas.microsoft.com/office/drawing/2014/main" id="{414C20A0-84AB-4014-8565-A30DE638E544}"/>
              </a:ext>
            </a:extLst>
          </p:cNvPr>
          <p:cNvGraphicFramePr>
            <a:graphicFrameLocks noGrp="1"/>
          </p:cNvGraphicFramePr>
          <p:nvPr>
            <p:extLst>
              <p:ext uri="{D42A27DB-BD31-4B8C-83A1-F6EECF244321}">
                <p14:modId xmlns:p14="http://schemas.microsoft.com/office/powerpoint/2010/main" val="665211385"/>
              </p:ext>
            </p:extLst>
          </p:nvPr>
        </p:nvGraphicFramePr>
        <p:xfrm>
          <a:off x="7287066" y="2780951"/>
          <a:ext cx="4308940" cy="624455"/>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735291">
                  <a:extLst>
                    <a:ext uri="{9D8B030D-6E8A-4147-A177-3AD203B41FA5}">
                      <a16:colId xmlns:a16="http://schemas.microsoft.com/office/drawing/2014/main" val="4245248506"/>
                    </a:ext>
                  </a:extLst>
                </a:gridCol>
                <a:gridCol w="263951">
                  <a:extLst>
                    <a:ext uri="{9D8B030D-6E8A-4147-A177-3AD203B41FA5}">
                      <a16:colId xmlns:a16="http://schemas.microsoft.com/office/drawing/2014/main" val="3669642620"/>
                    </a:ext>
                  </a:extLst>
                </a:gridCol>
                <a:gridCol w="847493">
                  <a:extLst>
                    <a:ext uri="{9D8B030D-6E8A-4147-A177-3AD203B41FA5}">
                      <a16:colId xmlns:a16="http://schemas.microsoft.com/office/drawing/2014/main" val="3212629413"/>
                    </a:ext>
                  </a:extLst>
                </a:gridCol>
                <a:gridCol w="330857">
                  <a:extLst>
                    <a:ext uri="{9D8B030D-6E8A-4147-A177-3AD203B41FA5}">
                      <a16:colId xmlns:a16="http://schemas.microsoft.com/office/drawing/2014/main" val="682152013"/>
                    </a:ext>
                  </a:extLst>
                </a:gridCol>
                <a:gridCol w="737733">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703678">
                  <a:extLst>
                    <a:ext uri="{9D8B030D-6E8A-4147-A177-3AD203B41FA5}">
                      <a16:colId xmlns:a16="http://schemas.microsoft.com/office/drawing/2014/main" val="4013425493"/>
                    </a:ext>
                  </a:extLst>
                </a:gridCol>
                <a:gridCol w="273377">
                  <a:extLst>
                    <a:ext uri="{9D8B030D-6E8A-4147-A177-3AD203B41FA5}">
                      <a16:colId xmlns:a16="http://schemas.microsoft.com/office/drawing/2014/main" val="3589592118"/>
                    </a:ext>
                  </a:extLst>
                </a:gridCol>
              </a:tblGrid>
              <a:tr h="624455">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40" name="TextBox 39">
            <a:extLst>
              <a:ext uri="{FF2B5EF4-FFF2-40B4-BE49-F238E27FC236}">
                <a16:creationId xmlns:a16="http://schemas.microsoft.com/office/drawing/2014/main" id="{D20121DE-FCBD-4210-81D7-3949E02191EB}"/>
              </a:ext>
            </a:extLst>
          </p:cNvPr>
          <p:cNvSpPr txBox="1"/>
          <p:nvPr/>
        </p:nvSpPr>
        <p:spPr>
          <a:xfrm>
            <a:off x="8653954" y="2899492"/>
            <a:ext cx="415498" cy="369332"/>
          </a:xfrm>
          <a:prstGeom prst="rect">
            <a:avLst/>
          </a:prstGeom>
          <a:noFill/>
        </p:spPr>
        <p:txBody>
          <a:bodyPr wrap="none" rtlCol="0">
            <a:spAutoFit/>
          </a:bodyPr>
          <a:lstStyle/>
          <a:p>
            <a:r>
              <a:rPr lang="en-US" dirty="0">
                <a:solidFill>
                  <a:srgbClr val="0070C0"/>
                </a:solidFill>
              </a:rPr>
              <a:t>20</a:t>
            </a:r>
          </a:p>
        </p:txBody>
      </p:sp>
      <p:sp>
        <p:nvSpPr>
          <p:cNvPr id="41" name="TextBox 40">
            <a:extLst>
              <a:ext uri="{FF2B5EF4-FFF2-40B4-BE49-F238E27FC236}">
                <a16:creationId xmlns:a16="http://schemas.microsoft.com/office/drawing/2014/main" id="{F1B863F1-F7E8-485E-8171-41ADA49C1F44}"/>
              </a:ext>
            </a:extLst>
          </p:cNvPr>
          <p:cNvSpPr txBox="1"/>
          <p:nvPr/>
        </p:nvSpPr>
        <p:spPr>
          <a:xfrm>
            <a:off x="7666134" y="2899492"/>
            <a:ext cx="415498" cy="369332"/>
          </a:xfrm>
          <a:prstGeom prst="rect">
            <a:avLst/>
          </a:prstGeom>
          <a:noFill/>
        </p:spPr>
        <p:txBody>
          <a:bodyPr wrap="none" rtlCol="0">
            <a:spAutoFit/>
          </a:bodyPr>
          <a:lstStyle/>
          <a:p>
            <a:r>
              <a:rPr lang="en-US" dirty="0">
                <a:solidFill>
                  <a:srgbClr val="0070C0"/>
                </a:solidFill>
              </a:rPr>
              <a:t>15</a:t>
            </a:r>
          </a:p>
        </p:txBody>
      </p:sp>
      <p:sp>
        <p:nvSpPr>
          <p:cNvPr id="42" name="TextBox 41">
            <a:extLst>
              <a:ext uri="{FF2B5EF4-FFF2-40B4-BE49-F238E27FC236}">
                <a16:creationId xmlns:a16="http://schemas.microsoft.com/office/drawing/2014/main" id="{1236656A-F150-4F43-886A-9757841C37BB}"/>
              </a:ext>
            </a:extLst>
          </p:cNvPr>
          <p:cNvSpPr txBox="1"/>
          <p:nvPr/>
        </p:nvSpPr>
        <p:spPr>
          <a:xfrm>
            <a:off x="3362097" y="1794097"/>
            <a:ext cx="1720343" cy="369332"/>
          </a:xfrm>
          <a:prstGeom prst="rect">
            <a:avLst/>
          </a:prstGeom>
          <a:noFill/>
        </p:spPr>
        <p:txBody>
          <a:bodyPr wrap="none" rtlCol="0">
            <a:spAutoFit/>
          </a:bodyPr>
          <a:lstStyle/>
          <a:p>
            <a:r>
              <a:rPr lang="en-US" dirty="0"/>
              <a:t>Root non-null!</a:t>
            </a:r>
          </a:p>
        </p:txBody>
      </p:sp>
      <p:sp>
        <p:nvSpPr>
          <p:cNvPr id="43" name="TextBox 42">
            <a:extLst>
              <a:ext uri="{FF2B5EF4-FFF2-40B4-BE49-F238E27FC236}">
                <a16:creationId xmlns:a16="http://schemas.microsoft.com/office/drawing/2014/main" id="{7F1DCD3D-1762-48DE-BCAD-DAD8A2E92742}"/>
              </a:ext>
            </a:extLst>
          </p:cNvPr>
          <p:cNvSpPr txBox="1"/>
          <p:nvPr/>
        </p:nvSpPr>
        <p:spPr>
          <a:xfrm>
            <a:off x="217107" y="2189023"/>
            <a:ext cx="2563522" cy="646331"/>
          </a:xfrm>
          <a:prstGeom prst="rect">
            <a:avLst/>
          </a:prstGeom>
          <a:noFill/>
        </p:spPr>
        <p:txBody>
          <a:bodyPr wrap="none" rtlCol="0">
            <a:spAutoFit/>
          </a:bodyPr>
          <a:lstStyle/>
          <a:p>
            <a:r>
              <a:rPr lang="en-US" dirty="0"/>
              <a:t>Since 5 &lt; 11, go left, </a:t>
            </a:r>
          </a:p>
          <a:p>
            <a:r>
              <a:rPr lang="en-US" dirty="0"/>
              <a:t>and try to insert there</a:t>
            </a:r>
          </a:p>
        </p:txBody>
      </p:sp>
      <p:sp>
        <p:nvSpPr>
          <p:cNvPr id="44" name="TextBox 43">
            <a:extLst>
              <a:ext uri="{FF2B5EF4-FFF2-40B4-BE49-F238E27FC236}">
                <a16:creationId xmlns:a16="http://schemas.microsoft.com/office/drawing/2014/main" id="{E488F04A-E88C-4C16-BF37-407B66A43FCA}"/>
              </a:ext>
            </a:extLst>
          </p:cNvPr>
          <p:cNvSpPr txBox="1"/>
          <p:nvPr/>
        </p:nvSpPr>
        <p:spPr>
          <a:xfrm>
            <a:off x="297271" y="2908512"/>
            <a:ext cx="1253869" cy="369332"/>
          </a:xfrm>
          <a:prstGeom prst="rect">
            <a:avLst/>
          </a:prstGeom>
          <a:noFill/>
        </p:spPr>
        <p:txBody>
          <a:bodyPr wrap="none" rtlCol="0">
            <a:spAutoFit/>
          </a:bodyPr>
          <a:lstStyle/>
          <a:p>
            <a:r>
              <a:rPr lang="en-US" dirty="0"/>
              <a:t>Node full!</a:t>
            </a:r>
          </a:p>
        </p:txBody>
      </p:sp>
      <p:sp>
        <p:nvSpPr>
          <p:cNvPr id="46" name="TextBox 45">
            <a:extLst>
              <a:ext uri="{FF2B5EF4-FFF2-40B4-BE49-F238E27FC236}">
                <a16:creationId xmlns:a16="http://schemas.microsoft.com/office/drawing/2014/main" id="{BB00BBF5-38EC-4F79-B846-3EE8AF07B2BE}"/>
              </a:ext>
            </a:extLst>
          </p:cNvPr>
          <p:cNvSpPr txBox="1"/>
          <p:nvPr/>
        </p:nvSpPr>
        <p:spPr>
          <a:xfrm>
            <a:off x="15072" y="3538034"/>
            <a:ext cx="3863558" cy="646331"/>
          </a:xfrm>
          <a:prstGeom prst="rect">
            <a:avLst/>
          </a:prstGeom>
          <a:noFill/>
        </p:spPr>
        <p:txBody>
          <a:bodyPr wrap="none" rtlCol="0">
            <a:spAutoFit/>
          </a:bodyPr>
          <a:lstStyle/>
          <a:p>
            <a:r>
              <a:rPr lang="en-US" dirty="0"/>
              <a:t>Find the median of the following:</a:t>
            </a:r>
          </a:p>
          <a:p>
            <a:r>
              <a:rPr lang="en-US" dirty="0"/>
              <a:t>1,5,7,8,10</a:t>
            </a:r>
          </a:p>
        </p:txBody>
      </p:sp>
      <p:cxnSp>
        <p:nvCxnSpPr>
          <p:cNvPr id="50" name="Straight Arrow Connector 49">
            <a:extLst>
              <a:ext uri="{FF2B5EF4-FFF2-40B4-BE49-F238E27FC236}">
                <a16:creationId xmlns:a16="http://schemas.microsoft.com/office/drawing/2014/main" id="{D7A855D9-9288-4D1B-8537-186732B09BAC}"/>
              </a:ext>
            </a:extLst>
          </p:cNvPr>
          <p:cNvCxnSpPr>
            <a:cxnSpLocks/>
          </p:cNvCxnSpPr>
          <p:nvPr/>
        </p:nvCxnSpPr>
        <p:spPr>
          <a:xfrm flipH="1">
            <a:off x="4654751" y="2133867"/>
            <a:ext cx="1038139" cy="5784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85C005D-37F6-44B0-9391-22B642258216}"/>
              </a:ext>
            </a:extLst>
          </p:cNvPr>
          <p:cNvSpPr txBox="1"/>
          <p:nvPr/>
        </p:nvSpPr>
        <p:spPr>
          <a:xfrm>
            <a:off x="6163602" y="2906609"/>
            <a:ext cx="415498" cy="369332"/>
          </a:xfrm>
          <a:prstGeom prst="rect">
            <a:avLst/>
          </a:prstGeom>
          <a:noFill/>
        </p:spPr>
        <p:txBody>
          <a:bodyPr wrap="none" rtlCol="0">
            <a:spAutoFit/>
          </a:bodyPr>
          <a:lstStyle/>
          <a:p>
            <a:r>
              <a:rPr lang="en-US" dirty="0">
                <a:solidFill>
                  <a:srgbClr val="0070C0"/>
                </a:solidFill>
              </a:rPr>
              <a:t>10</a:t>
            </a:r>
          </a:p>
        </p:txBody>
      </p:sp>
      <p:sp>
        <p:nvSpPr>
          <p:cNvPr id="45" name="TextBox 44">
            <a:extLst>
              <a:ext uri="{FF2B5EF4-FFF2-40B4-BE49-F238E27FC236}">
                <a16:creationId xmlns:a16="http://schemas.microsoft.com/office/drawing/2014/main" id="{0E6D88F6-5628-4290-8F91-66E9C73CFBC5}"/>
              </a:ext>
            </a:extLst>
          </p:cNvPr>
          <p:cNvSpPr txBox="1"/>
          <p:nvPr/>
        </p:nvSpPr>
        <p:spPr>
          <a:xfrm>
            <a:off x="5272172" y="2906296"/>
            <a:ext cx="300082" cy="369332"/>
          </a:xfrm>
          <a:prstGeom prst="rect">
            <a:avLst/>
          </a:prstGeom>
          <a:noFill/>
        </p:spPr>
        <p:txBody>
          <a:bodyPr wrap="none" rtlCol="0">
            <a:spAutoFit/>
          </a:bodyPr>
          <a:lstStyle/>
          <a:p>
            <a:r>
              <a:rPr lang="en-US" dirty="0">
                <a:solidFill>
                  <a:srgbClr val="0070C0"/>
                </a:solidFill>
              </a:rPr>
              <a:t>8</a:t>
            </a:r>
          </a:p>
        </p:txBody>
      </p:sp>
      <p:sp>
        <p:nvSpPr>
          <p:cNvPr id="30" name="TextBox 29">
            <a:extLst>
              <a:ext uri="{FF2B5EF4-FFF2-40B4-BE49-F238E27FC236}">
                <a16:creationId xmlns:a16="http://schemas.microsoft.com/office/drawing/2014/main" id="{339A8A09-0550-4954-80EC-F9136DDD43A0}"/>
              </a:ext>
            </a:extLst>
          </p:cNvPr>
          <p:cNvSpPr txBox="1"/>
          <p:nvPr/>
        </p:nvSpPr>
        <p:spPr>
          <a:xfrm>
            <a:off x="15072" y="4240714"/>
            <a:ext cx="2460930" cy="369332"/>
          </a:xfrm>
          <a:prstGeom prst="rect">
            <a:avLst/>
          </a:prstGeom>
          <a:noFill/>
        </p:spPr>
        <p:txBody>
          <a:bodyPr wrap="none" rtlCol="0">
            <a:spAutoFit/>
          </a:bodyPr>
          <a:lstStyle/>
          <a:p>
            <a:r>
              <a:rPr lang="en-US" dirty="0"/>
              <a:t>Promote 7, and split.</a:t>
            </a:r>
          </a:p>
        </p:txBody>
      </p:sp>
      <p:sp>
        <p:nvSpPr>
          <p:cNvPr id="47" name="TextBox 46">
            <a:extLst>
              <a:ext uri="{FF2B5EF4-FFF2-40B4-BE49-F238E27FC236}">
                <a16:creationId xmlns:a16="http://schemas.microsoft.com/office/drawing/2014/main" id="{7754278C-F0BE-44EB-A53D-A310C4FA5A07}"/>
              </a:ext>
            </a:extLst>
          </p:cNvPr>
          <p:cNvSpPr txBox="1"/>
          <p:nvPr/>
        </p:nvSpPr>
        <p:spPr>
          <a:xfrm>
            <a:off x="3397729" y="1198162"/>
            <a:ext cx="4280339" cy="369332"/>
          </a:xfrm>
          <a:prstGeom prst="rect">
            <a:avLst/>
          </a:prstGeom>
          <a:noFill/>
        </p:spPr>
        <p:txBody>
          <a:bodyPr wrap="none" rtlCol="0">
            <a:spAutoFit/>
          </a:bodyPr>
          <a:lstStyle/>
          <a:p>
            <a:r>
              <a:rPr lang="en-US" dirty="0"/>
              <a:t>Make room for 7, by moving 11 over!</a:t>
            </a:r>
          </a:p>
        </p:txBody>
      </p:sp>
      <p:sp>
        <p:nvSpPr>
          <p:cNvPr id="49" name="TextBox 48">
            <a:extLst>
              <a:ext uri="{FF2B5EF4-FFF2-40B4-BE49-F238E27FC236}">
                <a16:creationId xmlns:a16="http://schemas.microsoft.com/office/drawing/2014/main" id="{74AECCF4-259E-4996-A2BF-32843E4723BF}"/>
              </a:ext>
            </a:extLst>
          </p:cNvPr>
          <p:cNvSpPr txBox="1"/>
          <p:nvPr/>
        </p:nvSpPr>
        <p:spPr>
          <a:xfrm>
            <a:off x="7003137" y="1810756"/>
            <a:ext cx="415498" cy="369332"/>
          </a:xfrm>
          <a:prstGeom prst="rect">
            <a:avLst/>
          </a:prstGeom>
          <a:noFill/>
        </p:spPr>
        <p:txBody>
          <a:bodyPr wrap="none" rtlCol="0">
            <a:spAutoFit/>
          </a:bodyPr>
          <a:lstStyle/>
          <a:p>
            <a:r>
              <a:rPr lang="en-US" dirty="0">
                <a:solidFill>
                  <a:srgbClr val="0070C0"/>
                </a:solidFill>
              </a:rPr>
              <a:t>11</a:t>
            </a:r>
          </a:p>
        </p:txBody>
      </p:sp>
      <p:sp>
        <p:nvSpPr>
          <p:cNvPr id="51" name="TextBox 50">
            <a:extLst>
              <a:ext uri="{FF2B5EF4-FFF2-40B4-BE49-F238E27FC236}">
                <a16:creationId xmlns:a16="http://schemas.microsoft.com/office/drawing/2014/main" id="{52C1C610-CA2D-4B31-8B1F-2E625FD8BDFE}"/>
              </a:ext>
            </a:extLst>
          </p:cNvPr>
          <p:cNvSpPr txBox="1"/>
          <p:nvPr/>
        </p:nvSpPr>
        <p:spPr>
          <a:xfrm>
            <a:off x="5970712" y="1812845"/>
            <a:ext cx="300082" cy="369332"/>
          </a:xfrm>
          <a:prstGeom prst="rect">
            <a:avLst/>
          </a:prstGeom>
          <a:noFill/>
        </p:spPr>
        <p:txBody>
          <a:bodyPr wrap="none" rtlCol="0">
            <a:spAutoFit/>
          </a:bodyPr>
          <a:lstStyle/>
          <a:p>
            <a:r>
              <a:rPr lang="en-US" dirty="0">
                <a:solidFill>
                  <a:srgbClr val="0070C0"/>
                </a:solidFill>
              </a:rPr>
              <a:t>7</a:t>
            </a:r>
          </a:p>
        </p:txBody>
      </p:sp>
      <p:sp>
        <p:nvSpPr>
          <p:cNvPr id="4" name="TextBox 3">
            <a:extLst>
              <a:ext uri="{FF2B5EF4-FFF2-40B4-BE49-F238E27FC236}">
                <a16:creationId xmlns:a16="http://schemas.microsoft.com/office/drawing/2014/main" id="{5661D12A-BE06-48E1-9DAB-BAD8C7AC851F}"/>
              </a:ext>
            </a:extLst>
          </p:cNvPr>
          <p:cNvSpPr txBox="1"/>
          <p:nvPr/>
        </p:nvSpPr>
        <p:spPr>
          <a:xfrm>
            <a:off x="1894183" y="2006938"/>
            <a:ext cx="3621504" cy="369332"/>
          </a:xfrm>
          <a:prstGeom prst="rect">
            <a:avLst/>
          </a:prstGeom>
          <a:noFill/>
        </p:spPr>
        <p:txBody>
          <a:bodyPr wrap="none" rtlCol="0">
            <a:spAutoFit/>
          </a:bodyPr>
          <a:lstStyle/>
          <a:p>
            <a:r>
              <a:rPr lang="en-US" dirty="0"/>
              <a:t>Everything to the left of 7, is &lt; 7</a:t>
            </a:r>
          </a:p>
        </p:txBody>
      </p:sp>
      <p:sp>
        <p:nvSpPr>
          <p:cNvPr id="5" name="TextBox 4">
            <a:extLst>
              <a:ext uri="{FF2B5EF4-FFF2-40B4-BE49-F238E27FC236}">
                <a16:creationId xmlns:a16="http://schemas.microsoft.com/office/drawing/2014/main" id="{EE68878A-6ACE-4BEB-9AB3-4C85B5DF5C43}"/>
              </a:ext>
            </a:extLst>
          </p:cNvPr>
          <p:cNvSpPr txBox="1"/>
          <p:nvPr/>
        </p:nvSpPr>
        <p:spPr>
          <a:xfrm>
            <a:off x="5800332" y="2210073"/>
            <a:ext cx="2815193" cy="646331"/>
          </a:xfrm>
          <a:prstGeom prst="rect">
            <a:avLst/>
          </a:prstGeom>
          <a:noFill/>
        </p:spPr>
        <p:txBody>
          <a:bodyPr wrap="none" rtlCol="0">
            <a:spAutoFit/>
          </a:bodyPr>
          <a:lstStyle/>
          <a:p>
            <a:pPr algn="ctr"/>
            <a:r>
              <a:rPr lang="en-US" dirty="0"/>
              <a:t>Everything to the right of 7, </a:t>
            </a:r>
          </a:p>
          <a:p>
            <a:pPr algn="ctr"/>
            <a:r>
              <a:rPr lang="en-US" dirty="0"/>
              <a:t>is &gt; 7 but &lt; 11</a:t>
            </a:r>
          </a:p>
        </p:txBody>
      </p:sp>
      <p:graphicFrame>
        <p:nvGraphicFramePr>
          <p:cNvPr id="53" name="Table 4">
            <a:extLst>
              <a:ext uri="{FF2B5EF4-FFF2-40B4-BE49-F238E27FC236}">
                <a16:creationId xmlns:a16="http://schemas.microsoft.com/office/drawing/2014/main" id="{452A7882-7C4E-4276-85FA-821E06392D16}"/>
              </a:ext>
            </a:extLst>
          </p:cNvPr>
          <p:cNvGraphicFramePr>
            <a:graphicFrameLocks noGrp="1"/>
          </p:cNvGraphicFramePr>
          <p:nvPr>
            <p:extLst>
              <p:ext uri="{D42A27DB-BD31-4B8C-83A1-F6EECF244321}">
                <p14:modId xmlns:p14="http://schemas.microsoft.com/office/powerpoint/2010/main" val="3590956405"/>
              </p:ext>
            </p:extLst>
          </p:nvPr>
        </p:nvGraphicFramePr>
        <p:xfrm>
          <a:off x="951063" y="2794088"/>
          <a:ext cx="3616271" cy="562127"/>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604442">
                  <a:extLst>
                    <a:ext uri="{9D8B030D-6E8A-4147-A177-3AD203B41FA5}">
                      <a16:colId xmlns:a16="http://schemas.microsoft.com/office/drawing/2014/main" val="4245248506"/>
                    </a:ext>
                  </a:extLst>
                </a:gridCol>
                <a:gridCol w="216980">
                  <a:extLst>
                    <a:ext uri="{9D8B030D-6E8A-4147-A177-3AD203B41FA5}">
                      <a16:colId xmlns:a16="http://schemas.microsoft.com/office/drawing/2014/main" val="3669642620"/>
                    </a:ext>
                  </a:extLst>
                </a:gridCol>
                <a:gridCol w="696677">
                  <a:extLst>
                    <a:ext uri="{9D8B030D-6E8A-4147-A177-3AD203B41FA5}">
                      <a16:colId xmlns:a16="http://schemas.microsoft.com/office/drawing/2014/main" val="3212629413"/>
                    </a:ext>
                  </a:extLst>
                </a:gridCol>
                <a:gridCol w="271979">
                  <a:extLst>
                    <a:ext uri="{9D8B030D-6E8A-4147-A177-3AD203B41FA5}">
                      <a16:colId xmlns:a16="http://schemas.microsoft.com/office/drawing/2014/main" val="682152013"/>
                    </a:ext>
                  </a:extLst>
                </a:gridCol>
                <a:gridCol w="606450">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578455">
                  <a:extLst>
                    <a:ext uri="{9D8B030D-6E8A-4147-A177-3AD203B41FA5}">
                      <a16:colId xmlns:a16="http://schemas.microsoft.com/office/drawing/2014/main" val="4013425493"/>
                    </a:ext>
                  </a:extLst>
                </a:gridCol>
                <a:gridCol w="224728">
                  <a:extLst>
                    <a:ext uri="{9D8B030D-6E8A-4147-A177-3AD203B41FA5}">
                      <a16:colId xmlns:a16="http://schemas.microsoft.com/office/drawing/2014/main" val="3589592118"/>
                    </a:ext>
                  </a:extLst>
                </a:gridCol>
              </a:tblGrid>
              <a:tr h="562127">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cxnSp>
        <p:nvCxnSpPr>
          <p:cNvPr id="54" name="Straight Arrow Connector 53">
            <a:extLst>
              <a:ext uri="{FF2B5EF4-FFF2-40B4-BE49-F238E27FC236}">
                <a16:creationId xmlns:a16="http://schemas.microsoft.com/office/drawing/2014/main" id="{8119EF50-DA81-40F2-B177-B93E8C5BF5E6}"/>
              </a:ext>
            </a:extLst>
          </p:cNvPr>
          <p:cNvCxnSpPr>
            <a:cxnSpLocks/>
          </p:cNvCxnSpPr>
          <p:nvPr/>
        </p:nvCxnSpPr>
        <p:spPr>
          <a:xfrm flipH="1">
            <a:off x="984182" y="2147426"/>
            <a:ext cx="4662282" cy="6219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BA86996-6196-44EA-91CD-F0CD11BA37DB}"/>
              </a:ext>
            </a:extLst>
          </p:cNvPr>
          <p:cNvSpPr txBox="1"/>
          <p:nvPr/>
        </p:nvSpPr>
        <p:spPr>
          <a:xfrm>
            <a:off x="1113642" y="2890486"/>
            <a:ext cx="300082" cy="369332"/>
          </a:xfrm>
          <a:prstGeom prst="rect">
            <a:avLst/>
          </a:prstGeom>
          <a:noFill/>
        </p:spPr>
        <p:txBody>
          <a:bodyPr wrap="none" rtlCol="0">
            <a:spAutoFit/>
          </a:bodyPr>
          <a:lstStyle/>
          <a:p>
            <a:r>
              <a:rPr lang="en-US" dirty="0">
                <a:solidFill>
                  <a:srgbClr val="0070C0"/>
                </a:solidFill>
              </a:rPr>
              <a:t>1</a:t>
            </a:r>
          </a:p>
        </p:txBody>
      </p:sp>
      <p:sp>
        <p:nvSpPr>
          <p:cNvPr id="56" name="TextBox 55">
            <a:extLst>
              <a:ext uri="{FF2B5EF4-FFF2-40B4-BE49-F238E27FC236}">
                <a16:creationId xmlns:a16="http://schemas.microsoft.com/office/drawing/2014/main" id="{E33AAB1B-7C82-4E40-8DD3-C360F3B24F4B}"/>
              </a:ext>
            </a:extLst>
          </p:cNvPr>
          <p:cNvSpPr txBox="1"/>
          <p:nvPr/>
        </p:nvSpPr>
        <p:spPr>
          <a:xfrm>
            <a:off x="2018992" y="2890486"/>
            <a:ext cx="300082" cy="369332"/>
          </a:xfrm>
          <a:prstGeom prst="rect">
            <a:avLst/>
          </a:prstGeom>
          <a:noFill/>
        </p:spPr>
        <p:txBody>
          <a:bodyPr wrap="none" rtlCol="0">
            <a:spAutoFit/>
          </a:bodyPr>
          <a:lstStyle/>
          <a:p>
            <a:r>
              <a:rPr lang="en-US" dirty="0">
                <a:solidFill>
                  <a:srgbClr val="0070C0"/>
                </a:solidFill>
              </a:rPr>
              <a:t>5</a:t>
            </a:r>
          </a:p>
        </p:txBody>
      </p:sp>
      <p:graphicFrame>
        <p:nvGraphicFramePr>
          <p:cNvPr id="57" name="Table 4">
            <a:extLst>
              <a:ext uri="{FF2B5EF4-FFF2-40B4-BE49-F238E27FC236}">
                <a16:creationId xmlns:a16="http://schemas.microsoft.com/office/drawing/2014/main" id="{61B446E8-315B-41F1-9926-B8A57FF9AB24}"/>
              </a:ext>
            </a:extLst>
          </p:cNvPr>
          <p:cNvGraphicFramePr>
            <a:graphicFrameLocks noGrp="1"/>
          </p:cNvGraphicFramePr>
          <p:nvPr>
            <p:extLst>
              <p:ext uri="{D42A27DB-BD31-4B8C-83A1-F6EECF244321}">
                <p14:modId xmlns:p14="http://schemas.microsoft.com/office/powerpoint/2010/main" val="1642108924"/>
              </p:ext>
            </p:extLst>
          </p:nvPr>
        </p:nvGraphicFramePr>
        <p:xfrm>
          <a:off x="4712069" y="2804724"/>
          <a:ext cx="3616271" cy="562127"/>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604442">
                  <a:extLst>
                    <a:ext uri="{9D8B030D-6E8A-4147-A177-3AD203B41FA5}">
                      <a16:colId xmlns:a16="http://schemas.microsoft.com/office/drawing/2014/main" val="4245248506"/>
                    </a:ext>
                  </a:extLst>
                </a:gridCol>
                <a:gridCol w="216980">
                  <a:extLst>
                    <a:ext uri="{9D8B030D-6E8A-4147-A177-3AD203B41FA5}">
                      <a16:colId xmlns:a16="http://schemas.microsoft.com/office/drawing/2014/main" val="3669642620"/>
                    </a:ext>
                  </a:extLst>
                </a:gridCol>
                <a:gridCol w="696677">
                  <a:extLst>
                    <a:ext uri="{9D8B030D-6E8A-4147-A177-3AD203B41FA5}">
                      <a16:colId xmlns:a16="http://schemas.microsoft.com/office/drawing/2014/main" val="3212629413"/>
                    </a:ext>
                  </a:extLst>
                </a:gridCol>
                <a:gridCol w="271979">
                  <a:extLst>
                    <a:ext uri="{9D8B030D-6E8A-4147-A177-3AD203B41FA5}">
                      <a16:colId xmlns:a16="http://schemas.microsoft.com/office/drawing/2014/main" val="682152013"/>
                    </a:ext>
                  </a:extLst>
                </a:gridCol>
                <a:gridCol w="606450">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578455">
                  <a:extLst>
                    <a:ext uri="{9D8B030D-6E8A-4147-A177-3AD203B41FA5}">
                      <a16:colId xmlns:a16="http://schemas.microsoft.com/office/drawing/2014/main" val="4013425493"/>
                    </a:ext>
                  </a:extLst>
                </a:gridCol>
                <a:gridCol w="224728">
                  <a:extLst>
                    <a:ext uri="{9D8B030D-6E8A-4147-A177-3AD203B41FA5}">
                      <a16:colId xmlns:a16="http://schemas.microsoft.com/office/drawing/2014/main" val="3589592118"/>
                    </a:ext>
                  </a:extLst>
                </a:gridCol>
              </a:tblGrid>
              <a:tr h="562127">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58" name="TextBox 57">
            <a:extLst>
              <a:ext uri="{FF2B5EF4-FFF2-40B4-BE49-F238E27FC236}">
                <a16:creationId xmlns:a16="http://schemas.microsoft.com/office/drawing/2014/main" id="{253056F5-878D-4368-9373-4B8BF034014E}"/>
              </a:ext>
            </a:extLst>
          </p:cNvPr>
          <p:cNvSpPr txBox="1"/>
          <p:nvPr/>
        </p:nvSpPr>
        <p:spPr>
          <a:xfrm>
            <a:off x="5059535" y="2906296"/>
            <a:ext cx="300082" cy="369332"/>
          </a:xfrm>
          <a:prstGeom prst="rect">
            <a:avLst/>
          </a:prstGeom>
          <a:noFill/>
        </p:spPr>
        <p:txBody>
          <a:bodyPr wrap="none" rtlCol="0">
            <a:spAutoFit/>
          </a:bodyPr>
          <a:lstStyle/>
          <a:p>
            <a:r>
              <a:rPr lang="en-US" dirty="0">
                <a:solidFill>
                  <a:srgbClr val="0070C0"/>
                </a:solidFill>
              </a:rPr>
              <a:t>8</a:t>
            </a:r>
          </a:p>
        </p:txBody>
      </p:sp>
      <p:sp>
        <p:nvSpPr>
          <p:cNvPr id="59" name="TextBox 58">
            <a:extLst>
              <a:ext uri="{FF2B5EF4-FFF2-40B4-BE49-F238E27FC236}">
                <a16:creationId xmlns:a16="http://schemas.microsoft.com/office/drawing/2014/main" id="{3D5FC91D-822A-4271-A2E8-0A71EBE5BCBA}"/>
              </a:ext>
            </a:extLst>
          </p:cNvPr>
          <p:cNvSpPr txBox="1"/>
          <p:nvPr/>
        </p:nvSpPr>
        <p:spPr>
          <a:xfrm>
            <a:off x="5845922" y="2895426"/>
            <a:ext cx="415498" cy="369332"/>
          </a:xfrm>
          <a:prstGeom prst="rect">
            <a:avLst/>
          </a:prstGeom>
          <a:noFill/>
        </p:spPr>
        <p:txBody>
          <a:bodyPr wrap="none" rtlCol="0">
            <a:spAutoFit/>
          </a:bodyPr>
          <a:lstStyle/>
          <a:p>
            <a:r>
              <a:rPr lang="en-US" dirty="0">
                <a:solidFill>
                  <a:srgbClr val="0070C0"/>
                </a:solidFill>
              </a:rPr>
              <a:t>10</a:t>
            </a:r>
          </a:p>
        </p:txBody>
      </p:sp>
      <p:sp>
        <p:nvSpPr>
          <p:cNvPr id="60" name="TextBox 59">
            <a:extLst>
              <a:ext uri="{FF2B5EF4-FFF2-40B4-BE49-F238E27FC236}">
                <a16:creationId xmlns:a16="http://schemas.microsoft.com/office/drawing/2014/main" id="{706A7F39-5FF3-4EC7-B10F-352ABBEB129C}"/>
              </a:ext>
            </a:extLst>
          </p:cNvPr>
          <p:cNvSpPr txBox="1"/>
          <p:nvPr/>
        </p:nvSpPr>
        <p:spPr>
          <a:xfrm>
            <a:off x="7473927" y="1090070"/>
            <a:ext cx="2930610" cy="646331"/>
          </a:xfrm>
          <a:prstGeom prst="rect">
            <a:avLst/>
          </a:prstGeom>
          <a:noFill/>
        </p:spPr>
        <p:txBody>
          <a:bodyPr wrap="none" rtlCol="0">
            <a:spAutoFit/>
          </a:bodyPr>
          <a:lstStyle/>
          <a:p>
            <a:pPr algn="ctr"/>
            <a:r>
              <a:rPr lang="en-US" dirty="0"/>
              <a:t>Everything to the right of 11, </a:t>
            </a:r>
          </a:p>
          <a:p>
            <a:pPr algn="ctr"/>
            <a:r>
              <a:rPr lang="en-US" dirty="0"/>
              <a:t>is &gt; 11</a:t>
            </a:r>
          </a:p>
        </p:txBody>
      </p:sp>
      <p:cxnSp>
        <p:nvCxnSpPr>
          <p:cNvPr id="61" name="Straight Arrow Connector 60">
            <a:extLst>
              <a:ext uri="{FF2B5EF4-FFF2-40B4-BE49-F238E27FC236}">
                <a16:creationId xmlns:a16="http://schemas.microsoft.com/office/drawing/2014/main" id="{61B3534E-A7CD-4314-967D-0323C9CDF0EA}"/>
              </a:ext>
            </a:extLst>
          </p:cNvPr>
          <p:cNvCxnSpPr>
            <a:cxnSpLocks/>
          </p:cNvCxnSpPr>
          <p:nvPr/>
        </p:nvCxnSpPr>
        <p:spPr>
          <a:xfrm>
            <a:off x="7814056" y="2102709"/>
            <a:ext cx="763020" cy="6173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Table 4">
            <a:extLst>
              <a:ext uri="{FF2B5EF4-FFF2-40B4-BE49-F238E27FC236}">
                <a16:creationId xmlns:a16="http://schemas.microsoft.com/office/drawing/2014/main" id="{7019849C-7012-44E3-BCFB-4A584990ADE9}"/>
              </a:ext>
            </a:extLst>
          </p:cNvPr>
          <p:cNvGraphicFramePr>
            <a:graphicFrameLocks noGrp="1"/>
          </p:cNvGraphicFramePr>
          <p:nvPr>
            <p:extLst>
              <p:ext uri="{D42A27DB-BD31-4B8C-83A1-F6EECF244321}">
                <p14:modId xmlns:p14="http://schemas.microsoft.com/office/powerpoint/2010/main" val="2475640439"/>
              </p:ext>
            </p:extLst>
          </p:nvPr>
        </p:nvGraphicFramePr>
        <p:xfrm>
          <a:off x="8398004" y="2806918"/>
          <a:ext cx="3616271" cy="562127"/>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561399583"/>
                    </a:ext>
                  </a:extLst>
                </a:gridCol>
                <a:gridCol w="604442">
                  <a:extLst>
                    <a:ext uri="{9D8B030D-6E8A-4147-A177-3AD203B41FA5}">
                      <a16:colId xmlns:a16="http://schemas.microsoft.com/office/drawing/2014/main" val="4245248506"/>
                    </a:ext>
                  </a:extLst>
                </a:gridCol>
                <a:gridCol w="216980">
                  <a:extLst>
                    <a:ext uri="{9D8B030D-6E8A-4147-A177-3AD203B41FA5}">
                      <a16:colId xmlns:a16="http://schemas.microsoft.com/office/drawing/2014/main" val="3669642620"/>
                    </a:ext>
                  </a:extLst>
                </a:gridCol>
                <a:gridCol w="696677">
                  <a:extLst>
                    <a:ext uri="{9D8B030D-6E8A-4147-A177-3AD203B41FA5}">
                      <a16:colId xmlns:a16="http://schemas.microsoft.com/office/drawing/2014/main" val="3212629413"/>
                    </a:ext>
                  </a:extLst>
                </a:gridCol>
                <a:gridCol w="271979">
                  <a:extLst>
                    <a:ext uri="{9D8B030D-6E8A-4147-A177-3AD203B41FA5}">
                      <a16:colId xmlns:a16="http://schemas.microsoft.com/office/drawing/2014/main" val="682152013"/>
                    </a:ext>
                  </a:extLst>
                </a:gridCol>
                <a:gridCol w="606450">
                  <a:extLst>
                    <a:ext uri="{9D8B030D-6E8A-4147-A177-3AD203B41FA5}">
                      <a16:colId xmlns:a16="http://schemas.microsoft.com/office/drawing/2014/main" val="3835422932"/>
                    </a:ext>
                  </a:extLst>
                </a:gridCol>
                <a:gridCol w="208280">
                  <a:extLst>
                    <a:ext uri="{9D8B030D-6E8A-4147-A177-3AD203B41FA5}">
                      <a16:colId xmlns:a16="http://schemas.microsoft.com/office/drawing/2014/main" val="932132242"/>
                    </a:ext>
                  </a:extLst>
                </a:gridCol>
                <a:gridCol w="578455">
                  <a:extLst>
                    <a:ext uri="{9D8B030D-6E8A-4147-A177-3AD203B41FA5}">
                      <a16:colId xmlns:a16="http://schemas.microsoft.com/office/drawing/2014/main" val="4013425493"/>
                    </a:ext>
                  </a:extLst>
                </a:gridCol>
                <a:gridCol w="224728">
                  <a:extLst>
                    <a:ext uri="{9D8B030D-6E8A-4147-A177-3AD203B41FA5}">
                      <a16:colId xmlns:a16="http://schemas.microsoft.com/office/drawing/2014/main" val="3589592118"/>
                    </a:ext>
                  </a:extLst>
                </a:gridCol>
              </a:tblGrid>
              <a:tr h="562127">
                <a:tc>
                  <a:txBody>
                    <a:bodyPr/>
                    <a:lstStyle/>
                    <a:p>
                      <a:pPr algn="ct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06570463"/>
                  </a:ext>
                </a:extLst>
              </a:tr>
            </a:tbl>
          </a:graphicData>
        </a:graphic>
      </p:graphicFrame>
      <p:sp>
        <p:nvSpPr>
          <p:cNvPr id="63" name="TextBox 62">
            <a:extLst>
              <a:ext uri="{FF2B5EF4-FFF2-40B4-BE49-F238E27FC236}">
                <a16:creationId xmlns:a16="http://schemas.microsoft.com/office/drawing/2014/main" id="{179AD198-74C4-46FE-97BC-4397E5D6257E}"/>
              </a:ext>
            </a:extLst>
          </p:cNvPr>
          <p:cNvSpPr txBox="1"/>
          <p:nvPr/>
        </p:nvSpPr>
        <p:spPr>
          <a:xfrm>
            <a:off x="8660416" y="2895426"/>
            <a:ext cx="415498" cy="369332"/>
          </a:xfrm>
          <a:prstGeom prst="rect">
            <a:avLst/>
          </a:prstGeom>
          <a:noFill/>
        </p:spPr>
        <p:txBody>
          <a:bodyPr wrap="none" rtlCol="0">
            <a:spAutoFit/>
          </a:bodyPr>
          <a:lstStyle/>
          <a:p>
            <a:r>
              <a:rPr lang="en-US" dirty="0">
                <a:solidFill>
                  <a:srgbClr val="0070C0"/>
                </a:solidFill>
              </a:rPr>
              <a:t>15</a:t>
            </a:r>
          </a:p>
        </p:txBody>
      </p:sp>
      <p:sp>
        <p:nvSpPr>
          <p:cNvPr id="64" name="TextBox 63">
            <a:extLst>
              <a:ext uri="{FF2B5EF4-FFF2-40B4-BE49-F238E27FC236}">
                <a16:creationId xmlns:a16="http://schemas.microsoft.com/office/drawing/2014/main" id="{6CF7F76B-0DEB-4506-A7CB-01F816EC7044}"/>
              </a:ext>
            </a:extLst>
          </p:cNvPr>
          <p:cNvSpPr txBox="1"/>
          <p:nvPr/>
        </p:nvSpPr>
        <p:spPr>
          <a:xfrm>
            <a:off x="9578260" y="2885204"/>
            <a:ext cx="415498" cy="369332"/>
          </a:xfrm>
          <a:prstGeom prst="rect">
            <a:avLst/>
          </a:prstGeom>
          <a:noFill/>
        </p:spPr>
        <p:txBody>
          <a:bodyPr wrap="none" rtlCol="0">
            <a:spAutoFit/>
          </a:bodyPr>
          <a:lstStyle/>
          <a:p>
            <a:r>
              <a:rPr lang="en-US" dirty="0">
                <a:solidFill>
                  <a:srgbClr val="0070C0"/>
                </a:solidFill>
              </a:rPr>
              <a:t>20</a:t>
            </a:r>
          </a:p>
        </p:txBody>
      </p:sp>
      <p:cxnSp>
        <p:nvCxnSpPr>
          <p:cNvPr id="65" name="Straight Arrow Connector 64">
            <a:extLst>
              <a:ext uri="{FF2B5EF4-FFF2-40B4-BE49-F238E27FC236}">
                <a16:creationId xmlns:a16="http://schemas.microsoft.com/office/drawing/2014/main" id="{2B3F1E08-541C-4B42-B21A-63D4136D2FD0}"/>
              </a:ext>
            </a:extLst>
          </p:cNvPr>
          <p:cNvCxnSpPr>
            <a:cxnSpLocks/>
          </p:cNvCxnSpPr>
          <p:nvPr/>
        </p:nvCxnSpPr>
        <p:spPr>
          <a:xfrm flipH="1">
            <a:off x="4767937" y="2061805"/>
            <a:ext cx="1849907" cy="7638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F7168E28-CB16-4365-8D85-77B0E029CD9D}"/>
              </a:ext>
            </a:extLst>
          </p:cNvPr>
          <p:cNvPicPr>
            <a:picLocks noChangeAspect="1"/>
          </p:cNvPicPr>
          <p:nvPr/>
        </p:nvPicPr>
        <p:blipFill>
          <a:blip r:embed="rId2"/>
          <a:stretch>
            <a:fillRect/>
          </a:stretch>
        </p:blipFill>
        <p:spPr>
          <a:xfrm>
            <a:off x="0" y="17418"/>
            <a:ext cx="12192000" cy="6823163"/>
          </a:xfrm>
          <a:prstGeom prst="rect">
            <a:avLst/>
          </a:prstGeom>
        </p:spPr>
      </p:pic>
    </p:spTree>
    <p:extLst>
      <p:ext uri="{BB962C8B-B14F-4D97-AF65-F5344CB8AC3E}">
        <p14:creationId xmlns:p14="http://schemas.microsoft.com/office/powerpoint/2010/main" val="382694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5"/>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26"/>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7"/>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8"/>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9"/>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34"/>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5"/>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36"/>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39"/>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40"/>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4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43"/>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44"/>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46"/>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30"/>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33"/>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nodeType="clickEffect">
                                  <p:stCondLst>
                                    <p:cond delay="0"/>
                                  </p:stCondLst>
                                  <p:childTnLst>
                                    <p:set>
                                      <p:cBhvr>
                                        <p:cTn id="116" dur="1" fill="hold">
                                          <p:stCondLst>
                                            <p:cond delay="0"/>
                                          </p:stCondLst>
                                        </p:cTn>
                                        <p:tgtEl>
                                          <p:spTgt spid="37"/>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50"/>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1" nodeType="clickEffect">
                                  <p:stCondLst>
                                    <p:cond delay="0"/>
                                  </p:stCondLst>
                                  <p:childTnLst>
                                    <p:set>
                                      <p:cBhvr>
                                        <p:cTn id="122" dur="1" fill="hold">
                                          <p:stCondLst>
                                            <p:cond delay="0"/>
                                          </p:stCondLst>
                                        </p:cTn>
                                        <p:tgtEl>
                                          <p:spTgt spid="4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1" nodeType="clickEffect">
                                  <p:stCondLst>
                                    <p:cond delay="0"/>
                                  </p:stCondLst>
                                  <p:childTnLst>
                                    <p:set>
                                      <p:cBhvr>
                                        <p:cTn id="130" dur="1" fill="hold">
                                          <p:stCondLst>
                                            <p:cond delay="0"/>
                                          </p:stCondLst>
                                        </p:cTn>
                                        <p:tgtEl>
                                          <p:spTgt spid="32"/>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5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53"/>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5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6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5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5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6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6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62"/>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63"/>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5" grpId="0"/>
      <p:bldP spid="25" grpId="1"/>
      <p:bldP spid="26" grpId="0"/>
      <p:bldP spid="26" grpId="1"/>
      <p:bldP spid="27" grpId="0"/>
      <p:bldP spid="27" grpId="1"/>
      <p:bldP spid="28" grpId="0"/>
      <p:bldP spid="28" grpId="1"/>
      <p:bldP spid="29" grpId="0"/>
      <p:bldP spid="29" grpId="1"/>
      <p:bldP spid="32" grpId="0"/>
      <p:bldP spid="32" grpId="1"/>
      <p:bldP spid="35" grpId="0"/>
      <p:bldP spid="35" grpId="1"/>
      <p:bldP spid="36" grpId="0"/>
      <p:bldP spid="36" grpId="1"/>
      <p:bldP spid="40" grpId="0"/>
      <p:bldP spid="40" grpId="1"/>
      <p:bldP spid="41" grpId="0"/>
      <p:bldP spid="41" grpId="1"/>
      <p:bldP spid="42" grpId="0"/>
      <p:bldP spid="42" grpId="1"/>
      <p:bldP spid="43" grpId="0"/>
      <p:bldP spid="43" grpId="1"/>
      <p:bldP spid="44" grpId="0"/>
      <p:bldP spid="44" grpId="1"/>
      <p:bldP spid="46" grpId="0"/>
      <p:bldP spid="46" grpId="1"/>
      <p:bldP spid="38" grpId="0"/>
      <p:bldP spid="38" grpId="1"/>
      <p:bldP spid="45" grpId="0"/>
      <p:bldP spid="45" grpId="1"/>
      <p:bldP spid="30" grpId="0"/>
      <p:bldP spid="30" grpId="1"/>
      <p:bldP spid="47" grpId="0"/>
      <p:bldP spid="49" grpId="0"/>
      <p:bldP spid="51" grpId="0"/>
      <p:bldP spid="4" grpId="0"/>
      <p:bldP spid="5" grpId="0"/>
      <p:bldP spid="55" grpId="0"/>
      <p:bldP spid="56" grpId="0"/>
      <p:bldP spid="58" grpId="0"/>
      <p:bldP spid="59" grpId="0"/>
      <p:bldP spid="60" grpId="0"/>
      <p:bldP spid="63"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5231F-A5E6-4627-AA5E-303E194F3399}"/>
              </a:ext>
            </a:extLst>
          </p:cNvPr>
          <p:cNvSpPr>
            <a:spLocks noGrp="1"/>
          </p:cNvSpPr>
          <p:nvPr>
            <p:ph type="title"/>
          </p:nvPr>
        </p:nvSpPr>
        <p:spPr/>
        <p:txBody>
          <a:bodyPr/>
          <a:lstStyle/>
          <a:p>
            <a:r>
              <a:rPr lang="en-US" dirty="0"/>
              <a:t>B-</a:t>
            </a:r>
            <a:r>
              <a:rPr lang="en-US" dirty="0" err="1"/>
              <a:t>tRee</a:t>
            </a:r>
            <a:r>
              <a:rPr lang="en-US" dirty="0"/>
              <a:t> Insertion </a:t>
            </a:r>
          </a:p>
        </p:txBody>
      </p:sp>
      <p:sp>
        <p:nvSpPr>
          <p:cNvPr id="3" name="Content Placeholder 2">
            <a:extLst>
              <a:ext uri="{FF2B5EF4-FFF2-40B4-BE49-F238E27FC236}">
                <a16:creationId xmlns:a16="http://schemas.microsoft.com/office/drawing/2014/main" id="{E387EFB2-CDE8-401B-A34E-13FCC02DAE5F}"/>
              </a:ext>
            </a:extLst>
          </p:cNvPr>
          <p:cNvSpPr>
            <a:spLocks noGrp="1"/>
          </p:cNvSpPr>
          <p:nvPr>
            <p:ph idx="1"/>
          </p:nvPr>
        </p:nvSpPr>
        <p:spPr>
          <a:xfrm>
            <a:off x="1143001" y="2374037"/>
            <a:ext cx="9905998" cy="3124201"/>
          </a:xfrm>
        </p:spPr>
        <p:txBody>
          <a:bodyPr/>
          <a:lstStyle/>
          <a:p>
            <a:pPr marL="0" indent="0">
              <a:buNone/>
            </a:pPr>
            <a:r>
              <a:rPr lang="en-US" dirty="0"/>
              <a:t>You get the gist of it now…</a:t>
            </a:r>
          </a:p>
          <a:p>
            <a:pPr marL="457200" indent="-457200">
              <a:buAutoNum type="arabicParenR"/>
            </a:pPr>
            <a:r>
              <a:rPr lang="en-US" dirty="0"/>
              <a:t>B-trees can get very messy…</a:t>
            </a:r>
          </a:p>
          <a:p>
            <a:pPr marL="457200" indent="-457200">
              <a:buAutoNum type="arabicParenR"/>
            </a:pPr>
            <a:r>
              <a:rPr lang="en-US" dirty="0"/>
              <a:t>Always remember to maintain the invariants</a:t>
            </a:r>
          </a:p>
          <a:p>
            <a:pPr marL="0" indent="0">
              <a:buNone/>
            </a:pPr>
            <a:r>
              <a:rPr lang="en-US" dirty="0"/>
              <a:t>For those interested, there is a unique case:</a:t>
            </a:r>
          </a:p>
          <a:p>
            <a:pPr marL="457200" indent="-457200">
              <a:buFont typeface="+mj-lt"/>
              <a:buAutoNum type="arabicParenR"/>
            </a:pPr>
            <a:r>
              <a:rPr lang="en-US" dirty="0"/>
              <a:t>What if the root splits? </a:t>
            </a:r>
          </a:p>
          <a:p>
            <a:pPr marL="0" indent="0">
              <a:buNone/>
            </a:pPr>
            <a:endParaRPr lang="en-US" dirty="0"/>
          </a:p>
        </p:txBody>
      </p:sp>
    </p:spTree>
    <p:extLst>
      <p:ext uri="{BB962C8B-B14F-4D97-AF65-F5344CB8AC3E}">
        <p14:creationId xmlns:p14="http://schemas.microsoft.com/office/powerpoint/2010/main" val="225719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0466-4642-4BD8-A6A9-7B5D6A6CDE8E}"/>
              </a:ext>
            </a:extLst>
          </p:cNvPr>
          <p:cNvSpPr>
            <a:spLocks noGrp="1"/>
          </p:cNvSpPr>
          <p:nvPr>
            <p:ph type="title"/>
          </p:nvPr>
        </p:nvSpPr>
        <p:spPr/>
        <p:txBody>
          <a:bodyPr/>
          <a:lstStyle/>
          <a:p>
            <a:r>
              <a:rPr lang="en-US" dirty="0"/>
              <a:t>B-tree Insertion Runtime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69A078-D744-43DE-9420-64891BD13C45}"/>
                  </a:ext>
                </a:extLst>
              </p:cNvPr>
              <p:cNvSpPr>
                <a:spLocks noGrp="1"/>
              </p:cNvSpPr>
              <p:nvPr>
                <p:ph idx="1"/>
              </p:nvPr>
            </p:nvSpPr>
            <p:spPr/>
            <p:txBody>
              <a:bodyPr/>
              <a:lstStyle/>
              <a:p>
                <a:r>
                  <a:rPr lang="en-US" dirty="0"/>
                  <a:t>At the very most: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𝑀</m:t>
                            </m:r>
                          </m:sub>
                        </m:sSub>
                      </m:fName>
                      <m:e>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func>
                  </m:oMath>
                </a14:m>
                <a:endParaRPr lang="en-US" dirty="0"/>
              </a:p>
              <a:p>
                <a:r>
                  <a:rPr lang="en-US" dirty="0"/>
                  <a:t>At the very least: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b="0" i="1" smtClean="0">
                                    <a:latin typeface="Cambria Math" panose="02040503050406030204" pitchFamily="18" charset="0"/>
                                  </a:rPr>
                                  <m:t>/2</m:t>
                                </m:r>
                              </m:e>
                            </m:d>
                          </m:sub>
                        </m:sSub>
                      </m:fName>
                      <m:e>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func>
                  </m:oMath>
                </a14:m>
                <a:endParaRPr lang="en-US" dirty="0"/>
              </a:p>
              <a:p>
                <a:pPr marL="0" indent="0">
                  <a:buNone/>
                </a:pPr>
                <a:r>
                  <a:rPr lang="en-US" dirty="0"/>
                  <a:t>Since the base is just a constant, we just end up with: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e>
                    </m:func>
                    <m:r>
                      <a:rPr lang="en-US" b="0" i="1" smtClean="0">
                        <a:latin typeface="Cambria Math" panose="02040503050406030204" pitchFamily="18" charset="0"/>
                        <a:ea typeface="Cambria Math" panose="02040503050406030204" pitchFamily="18" charset="0"/>
                      </a:rPr>
                      <m:t>)</m:t>
                    </m:r>
                  </m:oMath>
                </a14:m>
                <a:endParaRPr lang="en-US" dirty="0"/>
              </a:p>
              <a:p>
                <a:pPr marL="0" indent="0">
                  <a:buNone/>
                </a:pPr>
                <a:endParaRPr lang="en-US" dirty="0"/>
              </a:p>
              <a:p>
                <a:pPr marL="0" indent="0">
                  <a:buNone/>
                </a:pPr>
                <a:r>
                  <a:rPr lang="en-US" dirty="0"/>
                  <a:t>What about splitting?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𝑀𝑙𝑜𝑔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F69A078-D744-43DE-9420-64891BD13C45}"/>
                  </a:ext>
                </a:extLst>
              </p:cNvPr>
              <p:cNvSpPr>
                <a:spLocks noGrp="1" noRot="1" noChangeAspect="1" noMove="1" noResize="1" noEditPoints="1" noAdjustHandles="1" noChangeArrowheads="1" noChangeShapeType="1" noTextEdit="1"/>
              </p:cNvSpPr>
              <p:nvPr>
                <p:ph idx="1"/>
              </p:nvPr>
            </p:nvSpPr>
            <p:spPr>
              <a:blipFill>
                <a:blip r:embed="rId2"/>
                <a:stretch>
                  <a:fillRect l="-1046"/>
                </a:stretch>
              </a:blipFill>
            </p:spPr>
            <p:txBody>
              <a:bodyPr/>
              <a:lstStyle/>
              <a:p>
                <a:r>
                  <a:rPr lang="en-US">
                    <a:noFill/>
                  </a:rPr>
                  <a:t> </a:t>
                </a:r>
              </a:p>
            </p:txBody>
          </p:sp>
        </mc:Fallback>
      </mc:AlternateContent>
    </p:spTree>
    <p:extLst>
      <p:ext uri="{BB962C8B-B14F-4D97-AF65-F5344CB8AC3E}">
        <p14:creationId xmlns:p14="http://schemas.microsoft.com/office/powerpoint/2010/main" val="232051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56AE9-DD18-48B7-B30E-CE6EB1AEBB9A}"/>
              </a:ext>
            </a:extLst>
          </p:cNvPr>
          <p:cNvSpPr>
            <a:spLocks noGrp="1"/>
          </p:cNvSpPr>
          <p:nvPr>
            <p:ph type="title"/>
          </p:nvPr>
        </p:nvSpPr>
        <p:spPr/>
        <p:txBody>
          <a:bodyPr/>
          <a:lstStyle/>
          <a:p>
            <a:r>
              <a:rPr lang="en-US" dirty="0"/>
              <a:t>B-tree Deletion</a:t>
            </a:r>
          </a:p>
        </p:txBody>
      </p:sp>
      <p:sp>
        <p:nvSpPr>
          <p:cNvPr id="3" name="Content Placeholder 2">
            <a:extLst>
              <a:ext uri="{FF2B5EF4-FFF2-40B4-BE49-F238E27FC236}">
                <a16:creationId xmlns:a16="http://schemas.microsoft.com/office/drawing/2014/main" id="{F5A2C71F-0740-49A1-9EC7-71C8C7A0BA50}"/>
              </a:ext>
            </a:extLst>
          </p:cNvPr>
          <p:cNvSpPr>
            <a:spLocks noGrp="1"/>
          </p:cNvSpPr>
          <p:nvPr>
            <p:ph idx="1"/>
          </p:nvPr>
        </p:nvSpPr>
        <p:spPr>
          <a:xfrm>
            <a:off x="1143001" y="2666999"/>
            <a:ext cx="9905998" cy="3124201"/>
          </a:xfrm>
        </p:spPr>
        <p:txBody>
          <a:bodyPr>
            <a:normAutofit lnSpcReduction="10000"/>
          </a:bodyPr>
          <a:lstStyle/>
          <a:p>
            <a:r>
              <a:rPr lang="en-US" dirty="0"/>
              <a:t>This is much more difficult to handle!</a:t>
            </a:r>
          </a:p>
          <a:p>
            <a:endParaRPr lang="en-US" dirty="0"/>
          </a:p>
          <a:p>
            <a:pPr marL="457200" indent="-457200">
              <a:buFont typeface="+mj-lt"/>
              <a:buAutoNum type="arabicParenR"/>
            </a:pPr>
            <a:r>
              <a:rPr lang="en-US" dirty="0"/>
              <a:t>Find and delete the key</a:t>
            </a:r>
          </a:p>
          <a:p>
            <a:r>
              <a:rPr lang="en-US" dirty="0"/>
              <a:t>If the key is not in a leaf node, find a replacement!</a:t>
            </a:r>
          </a:p>
          <a:p>
            <a:pPr marL="457200" indent="-457200">
              <a:buFont typeface="+mj-lt"/>
              <a:buAutoNum type="arabicParenR" startAt="2"/>
            </a:pPr>
            <a:r>
              <a:rPr lang="en-US" dirty="0"/>
              <a:t>Next, rebalance the tree</a:t>
            </a:r>
          </a:p>
          <a:p>
            <a:r>
              <a:rPr lang="en-US" dirty="0"/>
              <a:t>Is there a direct sibling node with more than the min keys? (is it more than half-full?)</a:t>
            </a:r>
          </a:p>
          <a:p>
            <a:pPr lvl="1"/>
            <a:r>
              <a:rPr lang="en-US" dirty="0"/>
              <a:t>If so, </a:t>
            </a:r>
            <a:r>
              <a:rPr lang="en-US" b="1" dirty="0"/>
              <a:t>rotate </a:t>
            </a:r>
            <a:r>
              <a:rPr lang="en-US" dirty="0"/>
              <a:t>right/left accordingly (</a:t>
            </a:r>
            <a:r>
              <a:rPr lang="en-US" b="1" dirty="0"/>
              <a:t>Donate</a:t>
            </a:r>
            <a:r>
              <a:rPr lang="en-US" dirty="0"/>
              <a:t>, as long as it doesn’t leave said </a:t>
            </a:r>
            <a:r>
              <a:rPr lang="en-US" b="1" dirty="0"/>
              <a:t>donor </a:t>
            </a:r>
            <a:r>
              <a:rPr lang="en-US" dirty="0"/>
              <a:t>deficient)</a:t>
            </a:r>
          </a:p>
          <a:p>
            <a:r>
              <a:rPr lang="en-US" dirty="0"/>
              <a:t>Otherwise, merge with the left or right sibling</a:t>
            </a:r>
          </a:p>
          <a:p>
            <a:pPr marL="0" indent="0">
              <a:buNone/>
            </a:pPr>
            <a:endParaRPr lang="en-US" dirty="0"/>
          </a:p>
        </p:txBody>
      </p:sp>
    </p:spTree>
    <p:extLst>
      <p:ext uri="{BB962C8B-B14F-4D97-AF65-F5344CB8AC3E}">
        <p14:creationId xmlns:p14="http://schemas.microsoft.com/office/powerpoint/2010/main" val="379768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9C91-D8F4-4EA7-AF94-EF92AA76F054}"/>
              </a:ext>
            </a:extLst>
          </p:cNvPr>
          <p:cNvSpPr>
            <a:spLocks noGrp="1"/>
          </p:cNvSpPr>
          <p:nvPr>
            <p:ph type="title"/>
          </p:nvPr>
        </p:nvSpPr>
        <p:spPr/>
        <p:txBody>
          <a:bodyPr/>
          <a:lstStyle/>
          <a:p>
            <a:r>
              <a:rPr lang="en-US" dirty="0"/>
              <a:t>B-tree Deletion Example</a:t>
            </a:r>
          </a:p>
        </p:txBody>
      </p:sp>
      <p:sp>
        <p:nvSpPr>
          <p:cNvPr id="3" name="Content Placeholder 2">
            <a:extLst>
              <a:ext uri="{FF2B5EF4-FFF2-40B4-BE49-F238E27FC236}">
                <a16:creationId xmlns:a16="http://schemas.microsoft.com/office/drawing/2014/main" id="{79F2EF5C-F02D-4494-9D57-DD24C21D23B2}"/>
              </a:ext>
            </a:extLst>
          </p:cNvPr>
          <p:cNvSpPr>
            <a:spLocks noGrp="1"/>
          </p:cNvSpPr>
          <p:nvPr>
            <p:ph idx="1"/>
          </p:nvPr>
        </p:nvSpPr>
        <p:spPr/>
        <p:txBody>
          <a:bodyPr/>
          <a:lstStyle/>
          <a:p>
            <a:r>
              <a:rPr lang="en-US" dirty="0"/>
              <a:t>Alright… that was a lot, let’s run through a couple deletions…</a:t>
            </a:r>
          </a:p>
        </p:txBody>
      </p:sp>
    </p:spTree>
    <p:extLst>
      <p:ext uri="{BB962C8B-B14F-4D97-AF65-F5344CB8AC3E}">
        <p14:creationId xmlns:p14="http://schemas.microsoft.com/office/powerpoint/2010/main" val="220901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7907-FF59-46C9-8E6A-235A7B4B62B0}"/>
              </a:ext>
            </a:extLst>
          </p:cNvPr>
          <p:cNvSpPr>
            <a:spLocks noGrp="1"/>
          </p:cNvSpPr>
          <p:nvPr>
            <p:ph type="title"/>
          </p:nvPr>
        </p:nvSpPr>
        <p:spPr/>
        <p:txBody>
          <a:bodyPr/>
          <a:lstStyle/>
          <a:p>
            <a:r>
              <a:rPr lang="en-US" dirty="0"/>
              <a:t>B-tree Starting </a:t>
            </a:r>
            <a:r>
              <a:rPr lang="en-US" dirty="0" err="1"/>
              <a:t>TRee</a:t>
            </a:r>
            <a:endParaRPr lang="en-US" dirty="0"/>
          </a:p>
        </p:txBody>
      </p:sp>
      <p:sp>
        <p:nvSpPr>
          <p:cNvPr id="3" name="Content Placeholder 2">
            <a:extLst>
              <a:ext uri="{FF2B5EF4-FFF2-40B4-BE49-F238E27FC236}">
                <a16:creationId xmlns:a16="http://schemas.microsoft.com/office/drawing/2014/main" id="{05525EBA-59EB-4CE8-AFD3-4370A9517ED3}"/>
              </a:ext>
            </a:extLst>
          </p:cNvPr>
          <p:cNvSpPr>
            <a:spLocks noGrp="1"/>
          </p:cNvSpPr>
          <p:nvPr>
            <p:ph idx="1"/>
          </p:nvPr>
        </p:nvSpPr>
        <p:spPr/>
        <p:txBody>
          <a:bodyPr/>
          <a:lstStyle/>
          <a:p>
            <a:pPr marL="0" indent="0">
              <a:buNone/>
            </a:pPr>
            <a:r>
              <a:rPr lang="en-US" dirty="0"/>
              <a:t>Suppose we’re working with the following b-tree:</a:t>
            </a:r>
          </a:p>
          <a:p>
            <a:pPr marL="0" indent="0">
              <a:buNone/>
            </a:pPr>
            <a:endParaRPr lang="en-US" dirty="0"/>
          </a:p>
          <a:p>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Just as a warning, it is incredibly difficult to animate B-tree deletion, and fit it on a slide :(</a:t>
            </a:r>
          </a:p>
          <a:p>
            <a:endParaRPr lang="en-US" dirty="0"/>
          </a:p>
          <a:p>
            <a:endParaRPr lang="en-US" dirty="0"/>
          </a:p>
        </p:txBody>
      </p:sp>
      <p:pic>
        <p:nvPicPr>
          <p:cNvPr id="5" name="Picture 4">
            <a:extLst>
              <a:ext uri="{FF2B5EF4-FFF2-40B4-BE49-F238E27FC236}">
                <a16:creationId xmlns:a16="http://schemas.microsoft.com/office/drawing/2014/main" id="{D1C495A3-F3E0-4CC9-8055-6928027B5B7B}"/>
              </a:ext>
            </a:extLst>
          </p:cNvPr>
          <p:cNvPicPr>
            <a:picLocks noChangeAspect="1"/>
          </p:cNvPicPr>
          <p:nvPr/>
        </p:nvPicPr>
        <p:blipFill>
          <a:blip r:embed="rId2"/>
          <a:stretch>
            <a:fillRect/>
          </a:stretch>
        </p:blipFill>
        <p:spPr>
          <a:xfrm>
            <a:off x="2325775" y="3202217"/>
            <a:ext cx="6457950" cy="1495425"/>
          </a:xfrm>
          <a:prstGeom prst="rect">
            <a:avLst/>
          </a:prstGeom>
        </p:spPr>
      </p:pic>
    </p:spTree>
    <p:extLst>
      <p:ext uri="{BB962C8B-B14F-4D97-AF65-F5344CB8AC3E}">
        <p14:creationId xmlns:p14="http://schemas.microsoft.com/office/powerpoint/2010/main" val="409106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6EF5-0901-4D51-8946-03FB4F0799AD}"/>
              </a:ext>
            </a:extLst>
          </p:cNvPr>
          <p:cNvSpPr>
            <a:spLocks noGrp="1"/>
          </p:cNvSpPr>
          <p:nvPr>
            <p:ph type="title"/>
          </p:nvPr>
        </p:nvSpPr>
        <p:spPr>
          <a:xfrm>
            <a:off x="2229548" y="235019"/>
            <a:ext cx="7729728" cy="1188720"/>
          </a:xfrm>
        </p:spPr>
        <p:txBody>
          <a:bodyPr/>
          <a:lstStyle/>
          <a:p>
            <a:r>
              <a:rPr lang="en-US" dirty="0"/>
              <a:t>B-tree Removal: 8</a:t>
            </a:r>
          </a:p>
        </p:txBody>
      </p:sp>
      <p:sp>
        <p:nvSpPr>
          <p:cNvPr id="3" name="Content Placeholder 2">
            <a:extLst>
              <a:ext uri="{FF2B5EF4-FFF2-40B4-BE49-F238E27FC236}">
                <a16:creationId xmlns:a16="http://schemas.microsoft.com/office/drawing/2014/main" id="{1F3E7539-669C-4862-8182-54226116FD0A}"/>
              </a:ext>
            </a:extLst>
          </p:cNvPr>
          <p:cNvSpPr>
            <a:spLocks noGrp="1"/>
          </p:cNvSpPr>
          <p:nvPr>
            <p:ph idx="1"/>
          </p:nvPr>
        </p:nvSpPr>
        <p:spPr>
          <a:xfrm>
            <a:off x="1141413" y="2674618"/>
            <a:ext cx="9905998" cy="3124201"/>
          </a:xfrm>
        </p:spPr>
        <p:txBody>
          <a:bodyPr>
            <a:normAutofit/>
          </a:bodyPr>
          <a:lstStyle/>
          <a:p>
            <a:r>
              <a:rPr lang="en-US" dirty="0"/>
              <a:t>Let’s try to remove 8</a:t>
            </a:r>
          </a:p>
          <a:p>
            <a:endParaRPr lang="en-US" dirty="0"/>
          </a:p>
          <a:p>
            <a:r>
              <a:rPr lang="en-US" dirty="0"/>
              <a:t>Since 8 is in a leaf node,  that is less than half-full, we need to either donate or merge.</a:t>
            </a:r>
          </a:p>
          <a:p>
            <a:endParaRPr lang="en-US" dirty="0"/>
          </a:p>
          <a:p>
            <a:r>
              <a:rPr lang="en-US" dirty="0"/>
              <a:t>Since both its direct siblings are half-full, we can’t donate. So, we need to merge.</a:t>
            </a:r>
          </a:p>
          <a:p>
            <a:r>
              <a:rPr lang="en-US" dirty="0"/>
              <a:t>So, we will take the contents of either the left or right sibling. Let’s stick with the left sibling here, and take the parent key that separates them, which is 7, and merge the contents of the deficient node, the left sibling and 7. </a:t>
            </a:r>
          </a:p>
          <a:p>
            <a:pPr marL="0" indent="0">
              <a:buNone/>
            </a:pPr>
            <a:endParaRPr lang="en-US" dirty="0"/>
          </a:p>
          <a:p>
            <a:endParaRPr lang="en-US" dirty="0"/>
          </a:p>
        </p:txBody>
      </p:sp>
      <p:pic>
        <p:nvPicPr>
          <p:cNvPr id="6" name="Picture 5">
            <a:extLst>
              <a:ext uri="{FF2B5EF4-FFF2-40B4-BE49-F238E27FC236}">
                <a16:creationId xmlns:a16="http://schemas.microsoft.com/office/drawing/2014/main" id="{F7EE259F-E682-4510-886E-BCD9DE2EC1B4}"/>
              </a:ext>
            </a:extLst>
          </p:cNvPr>
          <p:cNvPicPr>
            <a:picLocks noChangeAspect="1"/>
          </p:cNvPicPr>
          <p:nvPr/>
        </p:nvPicPr>
        <p:blipFill>
          <a:blip r:embed="rId2"/>
          <a:stretch>
            <a:fillRect/>
          </a:stretch>
        </p:blipFill>
        <p:spPr>
          <a:xfrm>
            <a:off x="5122545" y="1675447"/>
            <a:ext cx="6457950" cy="1495425"/>
          </a:xfrm>
          <a:prstGeom prst="rect">
            <a:avLst/>
          </a:prstGeom>
        </p:spPr>
      </p:pic>
      <p:pic>
        <p:nvPicPr>
          <p:cNvPr id="7" name="Picture 6">
            <a:extLst>
              <a:ext uri="{FF2B5EF4-FFF2-40B4-BE49-F238E27FC236}">
                <a16:creationId xmlns:a16="http://schemas.microsoft.com/office/drawing/2014/main" id="{738B94FB-688F-4AAF-95BF-0D4EBC2C448B}"/>
              </a:ext>
            </a:extLst>
          </p:cNvPr>
          <p:cNvPicPr>
            <a:picLocks noChangeAspect="1"/>
          </p:cNvPicPr>
          <p:nvPr/>
        </p:nvPicPr>
        <p:blipFill>
          <a:blip r:embed="rId3"/>
          <a:stretch>
            <a:fillRect/>
          </a:stretch>
        </p:blipFill>
        <p:spPr>
          <a:xfrm>
            <a:off x="5113020" y="1584959"/>
            <a:ext cx="6467475" cy="1676400"/>
          </a:xfrm>
          <a:prstGeom prst="rect">
            <a:avLst/>
          </a:prstGeom>
        </p:spPr>
      </p:pic>
    </p:spTree>
    <p:extLst>
      <p:ext uri="{BB962C8B-B14F-4D97-AF65-F5344CB8AC3E}">
        <p14:creationId xmlns:p14="http://schemas.microsoft.com/office/powerpoint/2010/main" val="256987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6EF5-0901-4D51-8946-03FB4F0799AD}"/>
              </a:ext>
            </a:extLst>
          </p:cNvPr>
          <p:cNvSpPr>
            <a:spLocks noGrp="1"/>
          </p:cNvSpPr>
          <p:nvPr>
            <p:ph type="title"/>
          </p:nvPr>
        </p:nvSpPr>
        <p:spPr>
          <a:xfrm>
            <a:off x="2101827" y="161128"/>
            <a:ext cx="7729728" cy="1188720"/>
          </a:xfrm>
        </p:spPr>
        <p:txBody>
          <a:bodyPr/>
          <a:lstStyle/>
          <a:p>
            <a:r>
              <a:rPr lang="en-US" dirty="0"/>
              <a:t>B-tree Removal: 8</a:t>
            </a:r>
          </a:p>
        </p:txBody>
      </p:sp>
      <p:sp>
        <p:nvSpPr>
          <p:cNvPr id="3" name="Content Placeholder 2">
            <a:extLst>
              <a:ext uri="{FF2B5EF4-FFF2-40B4-BE49-F238E27FC236}">
                <a16:creationId xmlns:a16="http://schemas.microsoft.com/office/drawing/2014/main" id="{1F3E7539-669C-4862-8182-54226116FD0A}"/>
              </a:ext>
            </a:extLst>
          </p:cNvPr>
          <p:cNvSpPr>
            <a:spLocks noGrp="1"/>
          </p:cNvSpPr>
          <p:nvPr>
            <p:ph idx="1"/>
          </p:nvPr>
        </p:nvSpPr>
        <p:spPr>
          <a:xfrm>
            <a:off x="1141413" y="2674618"/>
            <a:ext cx="9905998" cy="3124201"/>
          </a:xfrm>
        </p:spPr>
        <p:txBody>
          <a:bodyPr>
            <a:normAutofit/>
          </a:bodyPr>
          <a:lstStyle/>
          <a:p>
            <a:r>
              <a:rPr lang="en-US" dirty="0"/>
              <a:t>But wait… there’s more</a:t>
            </a:r>
          </a:p>
          <a:p>
            <a:endParaRPr lang="en-US" dirty="0"/>
          </a:p>
          <a:p>
            <a:r>
              <a:rPr lang="en-US" dirty="0"/>
              <a:t>Now the parent is deficient… and so is its direct sibling…</a:t>
            </a:r>
          </a:p>
          <a:p>
            <a:endParaRPr lang="en-US" dirty="0"/>
          </a:p>
          <a:p>
            <a:r>
              <a:rPr lang="en-US" dirty="0"/>
              <a:t>So, we need to merge.</a:t>
            </a:r>
          </a:p>
          <a:p>
            <a:r>
              <a:rPr lang="en-US" dirty="0"/>
              <a:t>We’ll take the contents of the deficient node, the contents of its sibling, and the parent key that separates them, and put them in a single node…</a:t>
            </a:r>
          </a:p>
          <a:p>
            <a:pPr marL="0" indent="0">
              <a:buNone/>
            </a:pPr>
            <a:endParaRPr lang="en-US" dirty="0"/>
          </a:p>
          <a:p>
            <a:endParaRPr lang="en-US" dirty="0"/>
          </a:p>
        </p:txBody>
      </p:sp>
      <p:pic>
        <p:nvPicPr>
          <p:cNvPr id="7" name="Picture 6">
            <a:extLst>
              <a:ext uri="{FF2B5EF4-FFF2-40B4-BE49-F238E27FC236}">
                <a16:creationId xmlns:a16="http://schemas.microsoft.com/office/drawing/2014/main" id="{738B94FB-688F-4AAF-95BF-0D4EBC2C448B}"/>
              </a:ext>
            </a:extLst>
          </p:cNvPr>
          <p:cNvPicPr>
            <a:picLocks noChangeAspect="1"/>
          </p:cNvPicPr>
          <p:nvPr/>
        </p:nvPicPr>
        <p:blipFill>
          <a:blip r:embed="rId2"/>
          <a:stretch>
            <a:fillRect/>
          </a:stretch>
        </p:blipFill>
        <p:spPr>
          <a:xfrm>
            <a:off x="4704138" y="1551247"/>
            <a:ext cx="6467475" cy="1676400"/>
          </a:xfrm>
          <a:prstGeom prst="rect">
            <a:avLst/>
          </a:prstGeom>
        </p:spPr>
      </p:pic>
      <p:pic>
        <p:nvPicPr>
          <p:cNvPr id="4" name="Picture 3">
            <a:extLst>
              <a:ext uri="{FF2B5EF4-FFF2-40B4-BE49-F238E27FC236}">
                <a16:creationId xmlns:a16="http://schemas.microsoft.com/office/drawing/2014/main" id="{6CE99034-99B1-476A-9EF8-86DB7A11F4B3}"/>
              </a:ext>
            </a:extLst>
          </p:cNvPr>
          <p:cNvPicPr>
            <a:picLocks noChangeAspect="1"/>
          </p:cNvPicPr>
          <p:nvPr/>
        </p:nvPicPr>
        <p:blipFill>
          <a:blip r:embed="rId3"/>
          <a:stretch>
            <a:fillRect/>
          </a:stretch>
        </p:blipFill>
        <p:spPr>
          <a:xfrm>
            <a:off x="4685088" y="1572835"/>
            <a:ext cx="6486525" cy="1654811"/>
          </a:xfrm>
          <a:prstGeom prst="rect">
            <a:avLst/>
          </a:prstGeom>
        </p:spPr>
      </p:pic>
    </p:spTree>
    <p:extLst>
      <p:ext uri="{BB962C8B-B14F-4D97-AF65-F5344CB8AC3E}">
        <p14:creationId xmlns:p14="http://schemas.microsoft.com/office/powerpoint/2010/main" val="249380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D77-5941-4374-A998-5C46D6B051A2}"/>
              </a:ext>
            </a:extLst>
          </p:cNvPr>
          <p:cNvSpPr>
            <a:spLocks noGrp="1"/>
          </p:cNvSpPr>
          <p:nvPr>
            <p:ph type="title"/>
          </p:nvPr>
        </p:nvSpPr>
        <p:spPr/>
        <p:txBody>
          <a:bodyPr/>
          <a:lstStyle/>
          <a:p>
            <a:r>
              <a:rPr lang="en-US" dirty="0"/>
              <a:t>B-tree Removal: 80</a:t>
            </a:r>
          </a:p>
        </p:txBody>
      </p:sp>
      <p:sp>
        <p:nvSpPr>
          <p:cNvPr id="3" name="Content Placeholder 2">
            <a:extLst>
              <a:ext uri="{FF2B5EF4-FFF2-40B4-BE49-F238E27FC236}">
                <a16:creationId xmlns:a16="http://schemas.microsoft.com/office/drawing/2014/main" id="{EFDBB9CB-B11D-4A33-88AB-964EC62AA8F7}"/>
              </a:ext>
            </a:extLst>
          </p:cNvPr>
          <p:cNvSpPr>
            <a:spLocks noGrp="1"/>
          </p:cNvSpPr>
          <p:nvPr>
            <p:ph idx="1"/>
          </p:nvPr>
        </p:nvSpPr>
        <p:spPr/>
        <p:txBody>
          <a:bodyPr/>
          <a:lstStyle/>
          <a:p>
            <a:r>
              <a:rPr lang="en-US" dirty="0"/>
              <a:t>Let’s try to remove 80.</a:t>
            </a:r>
          </a:p>
          <a:p>
            <a:endParaRPr lang="en-US" dirty="0"/>
          </a:p>
          <a:p>
            <a:r>
              <a:rPr lang="en-US" dirty="0"/>
              <a:t>Since 80 is in leaf node that is more than half-full, just delete 80.</a:t>
            </a:r>
          </a:p>
        </p:txBody>
      </p:sp>
      <p:pic>
        <p:nvPicPr>
          <p:cNvPr id="5" name="Picture 4">
            <a:extLst>
              <a:ext uri="{FF2B5EF4-FFF2-40B4-BE49-F238E27FC236}">
                <a16:creationId xmlns:a16="http://schemas.microsoft.com/office/drawing/2014/main" id="{E5CAF6EE-BA9B-4A14-A692-090088691A12}"/>
              </a:ext>
            </a:extLst>
          </p:cNvPr>
          <p:cNvPicPr>
            <a:picLocks noChangeAspect="1"/>
          </p:cNvPicPr>
          <p:nvPr/>
        </p:nvPicPr>
        <p:blipFill>
          <a:blip r:embed="rId2"/>
          <a:stretch>
            <a:fillRect/>
          </a:stretch>
        </p:blipFill>
        <p:spPr>
          <a:xfrm>
            <a:off x="5008560" y="2295525"/>
            <a:ext cx="6482717" cy="1133475"/>
          </a:xfrm>
          <a:prstGeom prst="rect">
            <a:avLst/>
          </a:prstGeom>
        </p:spPr>
      </p:pic>
      <p:pic>
        <p:nvPicPr>
          <p:cNvPr id="4" name="Picture 3">
            <a:extLst>
              <a:ext uri="{FF2B5EF4-FFF2-40B4-BE49-F238E27FC236}">
                <a16:creationId xmlns:a16="http://schemas.microsoft.com/office/drawing/2014/main" id="{B0179061-FA83-42BE-938A-436C2EDAFF3F}"/>
              </a:ext>
            </a:extLst>
          </p:cNvPr>
          <p:cNvPicPr>
            <a:picLocks noChangeAspect="1"/>
          </p:cNvPicPr>
          <p:nvPr/>
        </p:nvPicPr>
        <p:blipFill>
          <a:blip r:embed="rId3"/>
          <a:stretch>
            <a:fillRect/>
          </a:stretch>
        </p:blipFill>
        <p:spPr>
          <a:xfrm>
            <a:off x="5065710" y="2343149"/>
            <a:ext cx="6425567" cy="1038225"/>
          </a:xfrm>
          <a:prstGeom prst="rect">
            <a:avLst/>
          </a:prstGeom>
        </p:spPr>
      </p:pic>
    </p:spTree>
    <p:extLst>
      <p:ext uri="{BB962C8B-B14F-4D97-AF65-F5344CB8AC3E}">
        <p14:creationId xmlns:p14="http://schemas.microsoft.com/office/powerpoint/2010/main" val="98576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D77-5941-4374-A998-5C46D6B051A2}"/>
              </a:ext>
            </a:extLst>
          </p:cNvPr>
          <p:cNvSpPr>
            <a:spLocks noGrp="1"/>
          </p:cNvSpPr>
          <p:nvPr>
            <p:ph type="title"/>
          </p:nvPr>
        </p:nvSpPr>
        <p:spPr/>
        <p:txBody>
          <a:bodyPr/>
          <a:lstStyle/>
          <a:p>
            <a:r>
              <a:rPr lang="en-US" dirty="0"/>
              <a:t>B-tree Removal: 200</a:t>
            </a:r>
          </a:p>
        </p:txBody>
      </p:sp>
      <p:sp>
        <p:nvSpPr>
          <p:cNvPr id="3" name="Content Placeholder 2">
            <a:extLst>
              <a:ext uri="{FF2B5EF4-FFF2-40B4-BE49-F238E27FC236}">
                <a16:creationId xmlns:a16="http://schemas.microsoft.com/office/drawing/2014/main" id="{EFDBB9CB-B11D-4A33-88AB-964EC62AA8F7}"/>
              </a:ext>
            </a:extLst>
          </p:cNvPr>
          <p:cNvSpPr>
            <a:spLocks noGrp="1"/>
          </p:cNvSpPr>
          <p:nvPr>
            <p:ph idx="1"/>
          </p:nvPr>
        </p:nvSpPr>
        <p:spPr/>
        <p:txBody>
          <a:bodyPr/>
          <a:lstStyle/>
          <a:p>
            <a:r>
              <a:rPr lang="en-US" dirty="0"/>
              <a:t>Let’s try to remove 200.</a:t>
            </a:r>
          </a:p>
          <a:p>
            <a:endParaRPr lang="en-US" dirty="0"/>
          </a:p>
          <a:p>
            <a:r>
              <a:rPr lang="en-US" dirty="0"/>
              <a:t>Since 200 is in leaf node that is more than half-full, just delete 200.</a:t>
            </a:r>
          </a:p>
        </p:txBody>
      </p:sp>
      <p:pic>
        <p:nvPicPr>
          <p:cNvPr id="4" name="Picture 3">
            <a:extLst>
              <a:ext uri="{FF2B5EF4-FFF2-40B4-BE49-F238E27FC236}">
                <a16:creationId xmlns:a16="http://schemas.microsoft.com/office/drawing/2014/main" id="{B0179061-FA83-42BE-938A-436C2EDAFF3F}"/>
              </a:ext>
            </a:extLst>
          </p:cNvPr>
          <p:cNvPicPr>
            <a:picLocks noChangeAspect="1"/>
          </p:cNvPicPr>
          <p:nvPr/>
        </p:nvPicPr>
        <p:blipFill>
          <a:blip r:embed="rId2"/>
          <a:stretch>
            <a:fillRect/>
          </a:stretch>
        </p:blipFill>
        <p:spPr>
          <a:xfrm>
            <a:off x="5151608" y="2390775"/>
            <a:ext cx="6425567" cy="1038225"/>
          </a:xfrm>
          <a:prstGeom prst="rect">
            <a:avLst/>
          </a:prstGeom>
        </p:spPr>
      </p:pic>
      <p:pic>
        <p:nvPicPr>
          <p:cNvPr id="6" name="Picture 5">
            <a:extLst>
              <a:ext uri="{FF2B5EF4-FFF2-40B4-BE49-F238E27FC236}">
                <a16:creationId xmlns:a16="http://schemas.microsoft.com/office/drawing/2014/main" id="{A1B02D35-8933-480B-997A-211AD4D738C4}"/>
              </a:ext>
            </a:extLst>
          </p:cNvPr>
          <p:cNvPicPr>
            <a:picLocks noChangeAspect="1"/>
          </p:cNvPicPr>
          <p:nvPr/>
        </p:nvPicPr>
        <p:blipFill>
          <a:blip r:embed="rId3"/>
          <a:stretch>
            <a:fillRect/>
          </a:stretch>
        </p:blipFill>
        <p:spPr>
          <a:xfrm>
            <a:off x="5151608" y="2419349"/>
            <a:ext cx="6425567" cy="981075"/>
          </a:xfrm>
          <a:prstGeom prst="rect">
            <a:avLst/>
          </a:prstGeom>
        </p:spPr>
      </p:pic>
    </p:spTree>
    <p:extLst>
      <p:ext uri="{BB962C8B-B14F-4D97-AF65-F5344CB8AC3E}">
        <p14:creationId xmlns:p14="http://schemas.microsoft.com/office/powerpoint/2010/main" val="307477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D77-5941-4374-A998-5C46D6B051A2}"/>
              </a:ext>
            </a:extLst>
          </p:cNvPr>
          <p:cNvSpPr>
            <a:spLocks noGrp="1"/>
          </p:cNvSpPr>
          <p:nvPr>
            <p:ph type="title"/>
          </p:nvPr>
        </p:nvSpPr>
        <p:spPr/>
        <p:txBody>
          <a:bodyPr/>
          <a:lstStyle/>
          <a:p>
            <a:r>
              <a:rPr lang="en-US" dirty="0"/>
              <a:t>B-tree Removal: 75</a:t>
            </a:r>
          </a:p>
        </p:txBody>
      </p:sp>
      <p:sp>
        <p:nvSpPr>
          <p:cNvPr id="3" name="Content Placeholder 2">
            <a:extLst>
              <a:ext uri="{FF2B5EF4-FFF2-40B4-BE49-F238E27FC236}">
                <a16:creationId xmlns:a16="http://schemas.microsoft.com/office/drawing/2014/main" id="{EFDBB9CB-B11D-4A33-88AB-964EC62AA8F7}"/>
              </a:ext>
            </a:extLst>
          </p:cNvPr>
          <p:cNvSpPr>
            <a:spLocks noGrp="1"/>
          </p:cNvSpPr>
          <p:nvPr>
            <p:ph idx="1"/>
          </p:nvPr>
        </p:nvSpPr>
        <p:spPr/>
        <p:txBody>
          <a:bodyPr/>
          <a:lstStyle/>
          <a:p>
            <a:r>
              <a:rPr lang="en-US" dirty="0"/>
              <a:t>Let’s try to remove 75.</a:t>
            </a:r>
          </a:p>
          <a:p>
            <a:endParaRPr lang="en-US" dirty="0"/>
          </a:p>
          <a:p>
            <a:r>
              <a:rPr lang="en-US" dirty="0"/>
              <a:t>Since 75 is in leaf node that is more than half-full, just delete 75.</a:t>
            </a:r>
          </a:p>
        </p:txBody>
      </p:sp>
      <p:pic>
        <p:nvPicPr>
          <p:cNvPr id="4" name="Picture 3">
            <a:extLst>
              <a:ext uri="{FF2B5EF4-FFF2-40B4-BE49-F238E27FC236}">
                <a16:creationId xmlns:a16="http://schemas.microsoft.com/office/drawing/2014/main" id="{B0179061-FA83-42BE-938A-436C2EDAFF3F}"/>
              </a:ext>
            </a:extLst>
          </p:cNvPr>
          <p:cNvPicPr>
            <a:picLocks noChangeAspect="1"/>
          </p:cNvPicPr>
          <p:nvPr/>
        </p:nvPicPr>
        <p:blipFill>
          <a:blip r:embed="rId2"/>
          <a:stretch>
            <a:fillRect/>
          </a:stretch>
        </p:blipFill>
        <p:spPr>
          <a:xfrm>
            <a:off x="4892990" y="2390775"/>
            <a:ext cx="6425567" cy="1038225"/>
          </a:xfrm>
          <a:prstGeom prst="rect">
            <a:avLst/>
          </a:prstGeom>
        </p:spPr>
      </p:pic>
      <p:pic>
        <p:nvPicPr>
          <p:cNvPr id="5" name="Picture 4">
            <a:extLst>
              <a:ext uri="{FF2B5EF4-FFF2-40B4-BE49-F238E27FC236}">
                <a16:creationId xmlns:a16="http://schemas.microsoft.com/office/drawing/2014/main" id="{E211E9A6-3873-4BAD-A4A9-59F8CF98E6B6}"/>
              </a:ext>
            </a:extLst>
          </p:cNvPr>
          <p:cNvPicPr>
            <a:picLocks noChangeAspect="1"/>
          </p:cNvPicPr>
          <p:nvPr/>
        </p:nvPicPr>
        <p:blipFill>
          <a:blip r:embed="rId3"/>
          <a:stretch>
            <a:fillRect/>
          </a:stretch>
        </p:blipFill>
        <p:spPr>
          <a:xfrm>
            <a:off x="4892990" y="2447924"/>
            <a:ext cx="6425567" cy="923925"/>
          </a:xfrm>
          <a:prstGeom prst="rect">
            <a:avLst/>
          </a:prstGeom>
        </p:spPr>
      </p:pic>
    </p:spTree>
    <p:extLst>
      <p:ext uri="{BB962C8B-B14F-4D97-AF65-F5344CB8AC3E}">
        <p14:creationId xmlns:p14="http://schemas.microsoft.com/office/powerpoint/2010/main" val="251476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D77-5941-4374-A998-5C46D6B051A2}"/>
              </a:ext>
            </a:extLst>
          </p:cNvPr>
          <p:cNvSpPr>
            <a:spLocks noGrp="1"/>
          </p:cNvSpPr>
          <p:nvPr>
            <p:ph type="title"/>
          </p:nvPr>
        </p:nvSpPr>
        <p:spPr/>
        <p:txBody>
          <a:bodyPr/>
          <a:lstStyle/>
          <a:p>
            <a:r>
              <a:rPr lang="en-US" dirty="0"/>
              <a:t>B-tree Removal: 100</a:t>
            </a:r>
          </a:p>
        </p:txBody>
      </p:sp>
      <p:sp>
        <p:nvSpPr>
          <p:cNvPr id="3" name="Content Placeholder 2">
            <a:extLst>
              <a:ext uri="{FF2B5EF4-FFF2-40B4-BE49-F238E27FC236}">
                <a16:creationId xmlns:a16="http://schemas.microsoft.com/office/drawing/2014/main" id="{EFDBB9CB-B11D-4A33-88AB-964EC62AA8F7}"/>
              </a:ext>
            </a:extLst>
          </p:cNvPr>
          <p:cNvSpPr>
            <a:spLocks noGrp="1"/>
          </p:cNvSpPr>
          <p:nvPr>
            <p:ph idx="1"/>
          </p:nvPr>
        </p:nvSpPr>
        <p:spPr/>
        <p:txBody>
          <a:bodyPr>
            <a:normAutofit fontScale="92500" lnSpcReduction="20000"/>
          </a:bodyPr>
          <a:lstStyle/>
          <a:p>
            <a:r>
              <a:rPr lang="en-US" dirty="0"/>
              <a:t>Let’s try to remove 100.</a:t>
            </a:r>
          </a:p>
          <a:p>
            <a:endParaRPr lang="en-US" dirty="0"/>
          </a:p>
          <a:p>
            <a:r>
              <a:rPr lang="en-US" dirty="0"/>
              <a:t>If we tried to delete 100, the node containing 100 would become deficient.</a:t>
            </a:r>
          </a:p>
          <a:p>
            <a:r>
              <a:rPr lang="en-US" dirty="0"/>
              <a:t>Also, notice that if we tried to directly donate one of the right sibling’s values, we would have the node contain: 50, 100, (one of: 175, 250, 300), but that violates the definition of the references of the right reference of 35 and left reference of 150</a:t>
            </a:r>
          </a:p>
          <a:p>
            <a:endParaRPr lang="en-US" dirty="0"/>
          </a:p>
          <a:p>
            <a:r>
              <a:rPr lang="en-US" dirty="0"/>
              <a:t>We can get around this by rotating the value </a:t>
            </a:r>
            <a:r>
              <a:rPr lang="en-US" b="1" dirty="0"/>
              <a:t>150 </a:t>
            </a:r>
            <a:r>
              <a:rPr lang="en-US" dirty="0"/>
              <a:t>down and </a:t>
            </a:r>
            <a:r>
              <a:rPr lang="en-US" b="1" dirty="0"/>
              <a:t>promoting </a:t>
            </a:r>
            <a:r>
              <a:rPr lang="en-US" dirty="0"/>
              <a:t>175 as the </a:t>
            </a:r>
            <a:r>
              <a:rPr lang="en-US" b="1" dirty="0"/>
              <a:t>replacement</a:t>
            </a:r>
            <a:r>
              <a:rPr lang="en-US" dirty="0"/>
              <a:t> value in the root.</a:t>
            </a:r>
          </a:p>
          <a:p>
            <a:r>
              <a:rPr lang="en-US" b="1" dirty="0"/>
              <a:t>Generally: </a:t>
            </a:r>
            <a:r>
              <a:rPr lang="en-US" dirty="0"/>
              <a:t>Donate Right, rotate smallest key from donor up.</a:t>
            </a:r>
            <a:endParaRPr lang="en-US" b="1" dirty="0"/>
          </a:p>
        </p:txBody>
      </p:sp>
      <p:pic>
        <p:nvPicPr>
          <p:cNvPr id="5" name="Picture 4">
            <a:extLst>
              <a:ext uri="{FF2B5EF4-FFF2-40B4-BE49-F238E27FC236}">
                <a16:creationId xmlns:a16="http://schemas.microsoft.com/office/drawing/2014/main" id="{E211E9A6-3873-4BAD-A4A9-59F8CF98E6B6}"/>
              </a:ext>
            </a:extLst>
          </p:cNvPr>
          <p:cNvPicPr>
            <a:picLocks noChangeAspect="1"/>
          </p:cNvPicPr>
          <p:nvPr/>
        </p:nvPicPr>
        <p:blipFill>
          <a:blip r:embed="rId2"/>
          <a:stretch>
            <a:fillRect/>
          </a:stretch>
        </p:blipFill>
        <p:spPr>
          <a:xfrm>
            <a:off x="4929936" y="2337088"/>
            <a:ext cx="6425567" cy="923925"/>
          </a:xfrm>
          <a:prstGeom prst="rect">
            <a:avLst/>
          </a:prstGeom>
        </p:spPr>
      </p:pic>
      <p:pic>
        <p:nvPicPr>
          <p:cNvPr id="6" name="Picture 5">
            <a:extLst>
              <a:ext uri="{FF2B5EF4-FFF2-40B4-BE49-F238E27FC236}">
                <a16:creationId xmlns:a16="http://schemas.microsoft.com/office/drawing/2014/main" id="{CC092723-70CE-4A21-B25C-8FE9C5E27590}"/>
              </a:ext>
            </a:extLst>
          </p:cNvPr>
          <p:cNvPicPr>
            <a:picLocks noChangeAspect="1"/>
          </p:cNvPicPr>
          <p:nvPr/>
        </p:nvPicPr>
        <p:blipFill>
          <a:blip r:embed="rId3"/>
          <a:stretch>
            <a:fillRect/>
          </a:stretch>
        </p:blipFill>
        <p:spPr>
          <a:xfrm>
            <a:off x="4929935" y="2318038"/>
            <a:ext cx="6425567" cy="942975"/>
          </a:xfrm>
          <a:prstGeom prst="rect">
            <a:avLst/>
          </a:prstGeom>
        </p:spPr>
      </p:pic>
    </p:spTree>
    <p:extLst>
      <p:ext uri="{BB962C8B-B14F-4D97-AF65-F5344CB8AC3E}">
        <p14:creationId xmlns:p14="http://schemas.microsoft.com/office/powerpoint/2010/main" val="218272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691DE-F3FC-41BB-9423-CD0A9B122B81}"/>
              </a:ext>
            </a:extLst>
          </p:cNvPr>
          <p:cNvSpPr>
            <a:spLocks noGrp="1"/>
          </p:cNvSpPr>
          <p:nvPr>
            <p:ph type="title"/>
          </p:nvPr>
        </p:nvSpPr>
        <p:spPr/>
        <p:txBody>
          <a:bodyPr/>
          <a:lstStyle/>
          <a:p>
            <a:r>
              <a:rPr lang="en-US" dirty="0"/>
              <a:t>Let’s try to cause a left Rotation</a:t>
            </a:r>
          </a:p>
        </p:txBody>
      </p:sp>
      <p:sp>
        <p:nvSpPr>
          <p:cNvPr id="3" name="Content Placeholder 2">
            <a:extLst>
              <a:ext uri="{FF2B5EF4-FFF2-40B4-BE49-F238E27FC236}">
                <a16:creationId xmlns:a16="http://schemas.microsoft.com/office/drawing/2014/main" id="{9F7CE457-A705-4FE0-AEEB-550059E0C583}"/>
              </a:ext>
            </a:extLst>
          </p:cNvPr>
          <p:cNvSpPr>
            <a:spLocks noGrp="1"/>
          </p:cNvSpPr>
          <p:nvPr>
            <p:ph idx="1"/>
          </p:nvPr>
        </p:nvSpPr>
        <p:spPr/>
        <p:txBody>
          <a:bodyPr/>
          <a:lstStyle/>
          <a:p>
            <a:r>
              <a:rPr lang="en-US" dirty="0"/>
              <a:t>Insert 19, to get the following:</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CB2D5FB6-FD49-4463-AE4C-9DF4F502B805}"/>
              </a:ext>
            </a:extLst>
          </p:cNvPr>
          <p:cNvPicPr>
            <a:picLocks noChangeAspect="1"/>
          </p:cNvPicPr>
          <p:nvPr/>
        </p:nvPicPr>
        <p:blipFill>
          <a:blip r:embed="rId2"/>
          <a:stretch>
            <a:fillRect/>
          </a:stretch>
        </p:blipFill>
        <p:spPr>
          <a:xfrm>
            <a:off x="2306348" y="3429000"/>
            <a:ext cx="4752975" cy="1143000"/>
          </a:xfrm>
          <a:prstGeom prst="rect">
            <a:avLst/>
          </a:prstGeom>
        </p:spPr>
      </p:pic>
    </p:spTree>
    <p:extLst>
      <p:ext uri="{BB962C8B-B14F-4D97-AF65-F5344CB8AC3E}">
        <p14:creationId xmlns:p14="http://schemas.microsoft.com/office/powerpoint/2010/main" val="374495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B6CE-C46C-4EF9-A532-06074508DBB5}"/>
              </a:ext>
            </a:extLst>
          </p:cNvPr>
          <p:cNvSpPr>
            <a:spLocks noGrp="1"/>
          </p:cNvSpPr>
          <p:nvPr>
            <p:ph type="title"/>
          </p:nvPr>
        </p:nvSpPr>
        <p:spPr>
          <a:xfrm>
            <a:off x="2231136" y="523613"/>
            <a:ext cx="7729728" cy="1188720"/>
          </a:xfrm>
        </p:spPr>
        <p:txBody>
          <a:bodyPr/>
          <a:lstStyle/>
          <a:p>
            <a:r>
              <a:rPr lang="en-US" dirty="0"/>
              <a:t>B-tree Deletion: 150</a:t>
            </a:r>
          </a:p>
        </p:txBody>
      </p:sp>
      <p:sp>
        <p:nvSpPr>
          <p:cNvPr id="3" name="Content Placeholder 2">
            <a:extLst>
              <a:ext uri="{FF2B5EF4-FFF2-40B4-BE49-F238E27FC236}">
                <a16:creationId xmlns:a16="http://schemas.microsoft.com/office/drawing/2014/main" id="{07897A7D-911C-474E-B70E-744830450FED}"/>
              </a:ext>
            </a:extLst>
          </p:cNvPr>
          <p:cNvSpPr>
            <a:spLocks noGrp="1"/>
          </p:cNvSpPr>
          <p:nvPr>
            <p:ph idx="1"/>
          </p:nvPr>
        </p:nvSpPr>
        <p:spPr>
          <a:xfrm>
            <a:off x="2229547" y="3081928"/>
            <a:ext cx="7729728" cy="3101983"/>
          </a:xfrm>
        </p:spPr>
        <p:txBody>
          <a:bodyPr/>
          <a:lstStyle/>
          <a:p>
            <a:r>
              <a:rPr lang="en-US" dirty="0"/>
              <a:t>Let’s try to delete 150:</a:t>
            </a:r>
          </a:p>
          <a:p>
            <a:r>
              <a:rPr lang="en-US" dirty="0"/>
              <a:t>We need to donate from the left sibling, so instead, we take the largest key, rotate it up, and move the old root value down!</a:t>
            </a:r>
          </a:p>
          <a:p>
            <a:r>
              <a:rPr lang="en-US" b="1" dirty="0"/>
              <a:t>Generally: </a:t>
            </a:r>
            <a:r>
              <a:rPr lang="en-US" dirty="0"/>
              <a:t>Donate Left, rotate largest key from donor up.</a:t>
            </a:r>
            <a:endParaRPr lang="en-US" b="1" dirty="0"/>
          </a:p>
        </p:txBody>
      </p:sp>
      <p:pic>
        <p:nvPicPr>
          <p:cNvPr id="4" name="Picture 3">
            <a:extLst>
              <a:ext uri="{FF2B5EF4-FFF2-40B4-BE49-F238E27FC236}">
                <a16:creationId xmlns:a16="http://schemas.microsoft.com/office/drawing/2014/main" id="{5545B776-3117-4EB1-B00E-15226CD3BA6D}"/>
              </a:ext>
            </a:extLst>
          </p:cNvPr>
          <p:cNvPicPr>
            <a:picLocks noChangeAspect="1"/>
          </p:cNvPicPr>
          <p:nvPr/>
        </p:nvPicPr>
        <p:blipFill>
          <a:blip r:embed="rId2"/>
          <a:stretch>
            <a:fillRect/>
          </a:stretch>
        </p:blipFill>
        <p:spPr>
          <a:xfrm>
            <a:off x="6094412" y="2095499"/>
            <a:ext cx="4752975" cy="1143000"/>
          </a:xfrm>
          <a:prstGeom prst="rect">
            <a:avLst/>
          </a:prstGeom>
        </p:spPr>
      </p:pic>
      <p:pic>
        <p:nvPicPr>
          <p:cNvPr id="5" name="Picture 4">
            <a:extLst>
              <a:ext uri="{FF2B5EF4-FFF2-40B4-BE49-F238E27FC236}">
                <a16:creationId xmlns:a16="http://schemas.microsoft.com/office/drawing/2014/main" id="{3E377B9E-7E71-4E73-8541-626729F4497A}"/>
              </a:ext>
            </a:extLst>
          </p:cNvPr>
          <p:cNvPicPr>
            <a:picLocks noChangeAspect="1"/>
          </p:cNvPicPr>
          <p:nvPr/>
        </p:nvPicPr>
        <p:blipFill>
          <a:blip r:embed="rId3"/>
          <a:stretch>
            <a:fillRect/>
          </a:stretch>
        </p:blipFill>
        <p:spPr>
          <a:xfrm>
            <a:off x="6094412" y="2147886"/>
            <a:ext cx="4752974" cy="1038225"/>
          </a:xfrm>
          <a:prstGeom prst="rect">
            <a:avLst/>
          </a:prstGeom>
        </p:spPr>
      </p:pic>
    </p:spTree>
    <p:extLst>
      <p:ext uri="{BB962C8B-B14F-4D97-AF65-F5344CB8AC3E}">
        <p14:creationId xmlns:p14="http://schemas.microsoft.com/office/powerpoint/2010/main" val="5893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D84B-3F6B-4B20-B4BE-812E32A32AE5}"/>
              </a:ext>
            </a:extLst>
          </p:cNvPr>
          <p:cNvSpPr>
            <a:spLocks noGrp="1"/>
          </p:cNvSpPr>
          <p:nvPr>
            <p:ph type="title"/>
          </p:nvPr>
        </p:nvSpPr>
        <p:spPr/>
        <p:txBody>
          <a:bodyPr/>
          <a:lstStyle/>
          <a:p>
            <a:r>
              <a:rPr lang="en-US" dirty="0"/>
              <a:t>Now, let’s consider an edge case</a:t>
            </a:r>
          </a:p>
        </p:txBody>
      </p:sp>
      <p:sp>
        <p:nvSpPr>
          <p:cNvPr id="3" name="Content Placeholder 2">
            <a:extLst>
              <a:ext uri="{FF2B5EF4-FFF2-40B4-BE49-F238E27FC236}">
                <a16:creationId xmlns:a16="http://schemas.microsoft.com/office/drawing/2014/main" id="{F8BD3212-02BE-4E71-AB37-917353961F62}"/>
              </a:ext>
            </a:extLst>
          </p:cNvPr>
          <p:cNvSpPr>
            <a:spLocks noGrp="1"/>
          </p:cNvSpPr>
          <p:nvPr>
            <p:ph idx="1"/>
          </p:nvPr>
        </p:nvSpPr>
        <p:spPr/>
        <p:txBody>
          <a:bodyPr/>
          <a:lstStyle/>
          <a:p>
            <a:r>
              <a:rPr lang="en-US" dirty="0"/>
              <a:t>Let’s suppose we had the original tree before performing any deletions:</a:t>
            </a:r>
          </a:p>
          <a:p>
            <a:endParaRPr lang="en-US" dirty="0"/>
          </a:p>
          <a:p>
            <a:pPr marL="0" indent="0">
              <a:buNone/>
            </a:pPr>
            <a:endParaRPr lang="en-US" b="1" dirty="0"/>
          </a:p>
        </p:txBody>
      </p:sp>
      <p:pic>
        <p:nvPicPr>
          <p:cNvPr id="5" name="Picture 4">
            <a:extLst>
              <a:ext uri="{FF2B5EF4-FFF2-40B4-BE49-F238E27FC236}">
                <a16:creationId xmlns:a16="http://schemas.microsoft.com/office/drawing/2014/main" id="{AF71A901-06FE-48E1-9471-EA61C20ADC9B}"/>
              </a:ext>
            </a:extLst>
          </p:cNvPr>
          <p:cNvPicPr>
            <a:picLocks noChangeAspect="1"/>
          </p:cNvPicPr>
          <p:nvPr/>
        </p:nvPicPr>
        <p:blipFill>
          <a:blip r:embed="rId2"/>
          <a:stretch>
            <a:fillRect/>
          </a:stretch>
        </p:blipFill>
        <p:spPr>
          <a:xfrm>
            <a:off x="2121217" y="4068445"/>
            <a:ext cx="6486525" cy="1504950"/>
          </a:xfrm>
          <a:prstGeom prst="rect">
            <a:avLst/>
          </a:prstGeom>
        </p:spPr>
      </p:pic>
    </p:spTree>
    <p:extLst>
      <p:ext uri="{BB962C8B-B14F-4D97-AF65-F5344CB8AC3E}">
        <p14:creationId xmlns:p14="http://schemas.microsoft.com/office/powerpoint/2010/main" val="183712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7038B-3A0D-45E5-B607-6305176B7FC0}"/>
              </a:ext>
            </a:extLst>
          </p:cNvPr>
          <p:cNvSpPr>
            <a:spLocks noGrp="1"/>
          </p:cNvSpPr>
          <p:nvPr>
            <p:ph type="title"/>
          </p:nvPr>
        </p:nvSpPr>
        <p:spPr>
          <a:xfrm>
            <a:off x="2231136" y="601429"/>
            <a:ext cx="7729728" cy="1188720"/>
          </a:xfrm>
        </p:spPr>
        <p:txBody>
          <a:bodyPr/>
          <a:lstStyle/>
          <a:p>
            <a:r>
              <a:rPr lang="en-US" dirty="0"/>
              <a:t>B-tree Deletion: Removing the root</a:t>
            </a:r>
          </a:p>
        </p:txBody>
      </p:sp>
      <p:sp>
        <p:nvSpPr>
          <p:cNvPr id="3" name="Content Placeholder 2">
            <a:extLst>
              <a:ext uri="{FF2B5EF4-FFF2-40B4-BE49-F238E27FC236}">
                <a16:creationId xmlns:a16="http://schemas.microsoft.com/office/drawing/2014/main" id="{605A382D-83A3-441F-AA4E-E211A47012B1}"/>
              </a:ext>
            </a:extLst>
          </p:cNvPr>
          <p:cNvSpPr>
            <a:spLocks noGrp="1"/>
          </p:cNvSpPr>
          <p:nvPr>
            <p:ph idx="1"/>
          </p:nvPr>
        </p:nvSpPr>
        <p:spPr>
          <a:xfrm>
            <a:off x="1141413" y="3119119"/>
            <a:ext cx="9905998" cy="3124201"/>
          </a:xfrm>
        </p:spPr>
        <p:txBody>
          <a:bodyPr>
            <a:noAutofit/>
          </a:bodyPr>
          <a:lstStyle/>
          <a:p>
            <a:r>
              <a:rPr lang="en-US" sz="1600" dirty="0"/>
              <a:t>Let’s try to remove 17</a:t>
            </a:r>
          </a:p>
          <a:p>
            <a:endParaRPr lang="en-US" sz="1600" dirty="0"/>
          </a:p>
          <a:p>
            <a:r>
              <a:rPr lang="en-US" sz="1600" dirty="0"/>
              <a:t>We need to find a replacement, since we’re deleting from a non-leaf node. </a:t>
            </a:r>
          </a:p>
          <a:p>
            <a:pPr lvl="1"/>
            <a:r>
              <a:rPr lang="en-US" sz="1400" dirty="0"/>
              <a:t>We can use the greatest key from the left subtree or the smallest key from the right subtree.</a:t>
            </a:r>
          </a:p>
          <a:p>
            <a:r>
              <a:rPr lang="en-US" sz="1600" dirty="0"/>
              <a:t>Let’s use 16 as our replacement…</a:t>
            </a:r>
          </a:p>
          <a:p>
            <a:endParaRPr lang="en-US" sz="1600" dirty="0"/>
          </a:p>
          <a:p>
            <a:r>
              <a:rPr lang="en-US" sz="1600" dirty="0"/>
              <a:t>But now we’ve made a deficient leaf node. Also note that both direct siblings are half-full, so we need to merge.</a:t>
            </a:r>
          </a:p>
          <a:p>
            <a:endParaRPr lang="en-US" sz="1600" dirty="0"/>
          </a:p>
          <a:p>
            <a:r>
              <a:rPr lang="en-US" sz="1600" dirty="0"/>
              <a:t>Let’s stick with the left sibling. So we’ll merge the contents of the left sibling, the deficient node, and the parent key that separates them, which is 11.</a:t>
            </a:r>
          </a:p>
          <a:p>
            <a:pPr marL="0" indent="0">
              <a:buNone/>
            </a:pPr>
            <a:endParaRPr lang="en-US" sz="1600" dirty="0"/>
          </a:p>
        </p:txBody>
      </p:sp>
      <p:pic>
        <p:nvPicPr>
          <p:cNvPr id="4" name="Picture 3">
            <a:extLst>
              <a:ext uri="{FF2B5EF4-FFF2-40B4-BE49-F238E27FC236}">
                <a16:creationId xmlns:a16="http://schemas.microsoft.com/office/drawing/2014/main" id="{75A95C7B-764A-4BBE-BEE3-3169FB5309A8}"/>
              </a:ext>
            </a:extLst>
          </p:cNvPr>
          <p:cNvPicPr>
            <a:picLocks noChangeAspect="1"/>
          </p:cNvPicPr>
          <p:nvPr/>
        </p:nvPicPr>
        <p:blipFill>
          <a:blip r:embed="rId2"/>
          <a:stretch>
            <a:fillRect/>
          </a:stretch>
        </p:blipFill>
        <p:spPr>
          <a:xfrm>
            <a:off x="4933689" y="2057648"/>
            <a:ext cx="6486525" cy="1504950"/>
          </a:xfrm>
          <a:prstGeom prst="rect">
            <a:avLst/>
          </a:prstGeom>
        </p:spPr>
      </p:pic>
      <p:pic>
        <p:nvPicPr>
          <p:cNvPr id="5" name="Picture 4">
            <a:extLst>
              <a:ext uri="{FF2B5EF4-FFF2-40B4-BE49-F238E27FC236}">
                <a16:creationId xmlns:a16="http://schemas.microsoft.com/office/drawing/2014/main" id="{FBFB6B9F-97FB-463A-AA66-B44133E09945}"/>
              </a:ext>
            </a:extLst>
          </p:cNvPr>
          <p:cNvPicPr>
            <a:picLocks noChangeAspect="1"/>
          </p:cNvPicPr>
          <p:nvPr/>
        </p:nvPicPr>
        <p:blipFill>
          <a:blip r:embed="rId3"/>
          <a:stretch>
            <a:fillRect/>
          </a:stretch>
        </p:blipFill>
        <p:spPr>
          <a:xfrm>
            <a:off x="4767001" y="2057648"/>
            <a:ext cx="6819900" cy="1533525"/>
          </a:xfrm>
          <a:prstGeom prst="rect">
            <a:avLst/>
          </a:prstGeom>
        </p:spPr>
      </p:pic>
      <p:pic>
        <p:nvPicPr>
          <p:cNvPr id="6" name="Picture 5">
            <a:extLst>
              <a:ext uri="{FF2B5EF4-FFF2-40B4-BE49-F238E27FC236}">
                <a16:creationId xmlns:a16="http://schemas.microsoft.com/office/drawing/2014/main" id="{19E63492-393C-4EC0-81AF-34FE70748F2E}"/>
              </a:ext>
            </a:extLst>
          </p:cNvPr>
          <p:cNvPicPr>
            <a:picLocks noChangeAspect="1"/>
          </p:cNvPicPr>
          <p:nvPr/>
        </p:nvPicPr>
        <p:blipFill>
          <a:blip r:embed="rId4"/>
          <a:stretch>
            <a:fillRect/>
          </a:stretch>
        </p:blipFill>
        <p:spPr>
          <a:xfrm>
            <a:off x="4767000" y="2015738"/>
            <a:ext cx="6819899" cy="1724025"/>
          </a:xfrm>
          <a:prstGeom prst="rect">
            <a:avLst/>
          </a:prstGeom>
        </p:spPr>
      </p:pic>
    </p:spTree>
    <p:extLst>
      <p:ext uri="{BB962C8B-B14F-4D97-AF65-F5344CB8AC3E}">
        <p14:creationId xmlns:p14="http://schemas.microsoft.com/office/powerpoint/2010/main" val="96985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7038B-3A0D-45E5-B607-6305176B7FC0}"/>
              </a:ext>
            </a:extLst>
          </p:cNvPr>
          <p:cNvSpPr>
            <a:spLocks noGrp="1"/>
          </p:cNvSpPr>
          <p:nvPr>
            <p:ph type="title"/>
          </p:nvPr>
        </p:nvSpPr>
        <p:spPr>
          <a:xfrm>
            <a:off x="2229548" y="401274"/>
            <a:ext cx="7729728" cy="1188720"/>
          </a:xfrm>
        </p:spPr>
        <p:txBody>
          <a:bodyPr/>
          <a:lstStyle/>
          <a:p>
            <a:r>
              <a:rPr lang="en-US" dirty="0"/>
              <a:t>B-tree Deletion: Removing the root</a:t>
            </a:r>
          </a:p>
        </p:txBody>
      </p:sp>
      <p:sp>
        <p:nvSpPr>
          <p:cNvPr id="3" name="Content Placeholder 2">
            <a:extLst>
              <a:ext uri="{FF2B5EF4-FFF2-40B4-BE49-F238E27FC236}">
                <a16:creationId xmlns:a16="http://schemas.microsoft.com/office/drawing/2014/main" id="{605A382D-83A3-441F-AA4E-E211A47012B1}"/>
              </a:ext>
            </a:extLst>
          </p:cNvPr>
          <p:cNvSpPr>
            <a:spLocks noGrp="1"/>
          </p:cNvSpPr>
          <p:nvPr>
            <p:ph idx="1"/>
          </p:nvPr>
        </p:nvSpPr>
        <p:spPr>
          <a:xfrm>
            <a:off x="1141413" y="3119119"/>
            <a:ext cx="9905998" cy="3124201"/>
          </a:xfrm>
        </p:spPr>
        <p:txBody>
          <a:bodyPr>
            <a:noAutofit/>
          </a:bodyPr>
          <a:lstStyle/>
          <a:p>
            <a:r>
              <a:rPr lang="en-US" sz="1600" dirty="0"/>
              <a:t>But wait… there’s more</a:t>
            </a:r>
          </a:p>
          <a:p>
            <a:endParaRPr lang="en-US" sz="1600" dirty="0"/>
          </a:p>
          <a:p>
            <a:r>
              <a:rPr lang="en-US" sz="1600" dirty="0"/>
              <a:t>Now the parent is deficient… and so is its direct sibling…</a:t>
            </a:r>
          </a:p>
          <a:p>
            <a:endParaRPr lang="en-US" sz="1600" dirty="0"/>
          </a:p>
          <a:p>
            <a:r>
              <a:rPr lang="en-US" sz="1600" dirty="0"/>
              <a:t>So, we need to merge.</a:t>
            </a:r>
          </a:p>
          <a:p>
            <a:r>
              <a:rPr lang="en-US" sz="1600" dirty="0"/>
              <a:t>We’ll take the contents of the deficient node, the contents of its sibling, and the parent key that separates them, and put them in a single node…</a:t>
            </a:r>
          </a:p>
          <a:p>
            <a:pPr marL="0" indent="0">
              <a:buNone/>
            </a:pPr>
            <a:endParaRPr lang="en-US" sz="1600" dirty="0"/>
          </a:p>
        </p:txBody>
      </p:sp>
      <p:pic>
        <p:nvPicPr>
          <p:cNvPr id="6" name="Picture 5">
            <a:extLst>
              <a:ext uri="{FF2B5EF4-FFF2-40B4-BE49-F238E27FC236}">
                <a16:creationId xmlns:a16="http://schemas.microsoft.com/office/drawing/2014/main" id="{19E63492-393C-4EC0-81AF-34FE70748F2E}"/>
              </a:ext>
            </a:extLst>
          </p:cNvPr>
          <p:cNvPicPr>
            <a:picLocks noChangeAspect="1"/>
          </p:cNvPicPr>
          <p:nvPr/>
        </p:nvPicPr>
        <p:blipFill>
          <a:blip r:embed="rId2"/>
          <a:stretch>
            <a:fillRect/>
          </a:stretch>
        </p:blipFill>
        <p:spPr>
          <a:xfrm>
            <a:off x="5287009" y="1845669"/>
            <a:ext cx="6122672" cy="1547771"/>
          </a:xfrm>
          <a:prstGeom prst="rect">
            <a:avLst/>
          </a:prstGeom>
        </p:spPr>
      </p:pic>
      <p:pic>
        <p:nvPicPr>
          <p:cNvPr id="7" name="Picture 6">
            <a:extLst>
              <a:ext uri="{FF2B5EF4-FFF2-40B4-BE49-F238E27FC236}">
                <a16:creationId xmlns:a16="http://schemas.microsoft.com/office/drawing/2014/main" id="{4ED57EB4-0C09-48C0-884D-151CF0ADECC1}"/>
              </a:ext>
            </a:extLst>
          </p:cNvPr>
          <p:cNvPicPr>
            <a:picLocks noChangeAspect="1"/>
          </p:cNvPicPr>
          <p:nvPr/>
        </p:nvPicPr>
        <p:blipFill>
          <a:blip r:embed="rId3"/>
          <a:stretch>
            <a:fillRect/>
          </a:stretch>
        </p:blipFill>
        <p:spPr>
          <a:xfrm>
            <a:off x="5128894" y="1824638"/>
            <a:ext cx="6565265" cy="1568802"/>
          </a:xfrm>
          <a:prstGeom prst="rect">
            <a:avLst/>
          </a:prstGeom>
        </p:spPr>
      </p:pic>
    </p:spTree>
    <p:extLst>
      <p:ext uri="{BB962C8B-B14F-4D97-AF65-F5344CB8AC3E}">
        <p14:creationId xmlns:p14="http://schemas.microsoft.com/office/powerpoint/2010/main" val="208641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8820-D822-4ADD-9A01-B4743FD43962}"/>
              </a:ext>
            </a:extLst>
          </p:cNvPr>
          <p:cNvSpPr>
            <a:spLocks noGrp="1"/>
          </p:cNvSpPr>
          <p:nvPr>
            <p:ph type="title"/>
          </p:nvPr>
        </p:nvSpPr>
        <p:spPr/>
        <p:txBody>
          <a:bodyPr/>
          <a:lstStyle/>
          <a:p>
            <a:r>
              <a:rPr lang="en-US" dirty="0"/>
              <a:t>B-tree Deletion Runtime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8F11A3-8817-442B-A1CC-85C0EED70923}"/>
                  </a:ext>
                </a:extLst>
              </p:cNvPr>
              <p:cNvSpPr>
                <a:spLocks noGrp="1"/>
              </p:cNvSpPr>
              <p:nvPr>
                <p:ph idx="1"/>
              </p:nvPr>
            </p:nvSpPr>
            <p:spPr/>
            <p:txBody>
              <a:bodyPr/>
              <a:lstStyle/>
              <a:p>
                <a:r>
                  <a:rPr lang="en-US" b="1" dirty="0"/>
                  <a:t>IMPORTANT: B-TREES </a:t>
                </a:r>
                <a:r>
                  <a:rPr lang="en-US" dirty="0"/>
                  <a:t>GROW FROM THE LEAVES UP, AND SHRINK FROM THE LEAVES, CASCADING UP.</a:t>
                </a:r>
              </a:p>
              <a:p>
                <a:endParaRPr lang="en-US" b="1" dirty="0"/>
              </a:p>
              <a:p>
                <a:r>
                  <a:rPr lang="en-US" b="1" dirty="0"/>
                  <a:t>Generally</a:t>
                </a:r>
                <a:r>
                  <a:rPr lang="en-US" dirty="0"/>
                  <a:t>, the runtime for a deletion is: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e>
                    </m:func>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e>
                    </m:func>
                    <m:r>
                      <a:rPr lang="en-US" b="0" i="1" smtClean="0">
                        <a:latin typeface="Cambria Math" panose="02040503050406030204" pitchFamily="18" charset="0"/>
                        <a:ea typeface="Cambria Math" panose="02040503050406030204" pitchFamily="18" charset="0"/>
                      </a:rPr>
                      <m:t>)</m:t>
                    </m:r>
                  </m:oMath>
                </a14:m>
                <a:endParaRPr lang="en-US" b="1" dirty="0"/>
              </a:p>
            </p:txBody>
          </p:sp>
        </mc:Choice>
        <mc:Fallback xmlns="">
          <p:sp>
            <p:nvSpPr>
              <p:cNvPr id="3" name="Content Placeholder 2">
                <a:extLst>
                  <a:ext uri="{FF2B5EF4-FFF2-40B4-BE49-F238E27FC236}">
                    <a16:creationId xmlns:a16="http://schemas.microsoft.com/office/drawing/2014/main" id="{BC8F11A3-8817-442B-A1CC-85C0EED70923}"/>
                  </a:ext>
                </a:extLst>
              </p:cNvPr>
              <p:cNvSpPr>
                <a:spLocks noGrp="1" noRot="1" noChangeAspect="1" noMove="1" noResize="1" noEditPoints="1" noAdjustHandles="1" noChangeArrowheads="1" noChangeShapeType="1" noTextEdit="1"/>
              </p:cNvSpPr>
              <p:nvPr>
                <p:ph idx="1"/>
              </p:nvPr>
            </p:nvSpPr>
            <p:spPr>
              <a:blipFill>
                <a:blip r:embed="rId2"/>
                <a:stretch>
                  <a:fillRect l="-985"/>
                </a:stretch>
              </a:blipFill>
            </p:spPr>
            <p:txBody>
              <a:bodyPr/>
              <a:lstStyle/>
              <a:p>
                <a:r>
                  <a:rPr lang="en-US">
                    <a:noFill/>
                  </a:rPr>
                  <a:t> </a:t>
                </a:r>
              </a:p>
            </p:txBody>
          </p:sp>
        </mc:Fallback>
      </mc:AlternateContent>
    </p:spTree>
    <p:extLst>
      <p:ext uri="{BB962C8B-B14F-4D97-AF65-F5344CB8AC3E}">
        <p14:creationId xmlns:p14="http://schemas.microsoft.com/office/powerpoint/2010/main" val="405609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270B-F9E5-43BF-B8AD-FD2110FA999D}"/>
              </a:ext>
            </a:extLst>
          </p:cNvPr>
          <p:cNvSpPr>
            <a:spLocks noGrp="1"/>
          </p:cNvSpPr>
          <p:nvPr>
            <p:ph type="title"/>
          </p:nvPr>
        </p:nvSpPr>
        <p:spPr/>
        <p:txBody>
          <a:bodyPr/>
          <a:lstStyle/>
          <a:p>
            <a:r>
              <a:rPr lang="en-US" dirty="0"/>
              <a:t>What does this have to do with disks?</a:t>
            </a:r>
          </a:p>
        </p:txBody>
      </p:sp>
      <p:sp>
        <p:nvSpPr>
          <p:cNvPr id="3" name="Content Placeholder 2">
            <a:extLst>
              <a:ext uri="{FF2B5EF4-FFF2-40B4-BE49-F238E27FC236}">
                <a16:creationId xmlns:a16="http://schemas.microsoft.com/office/drawing/2014/main" id="{F0A99F00-0AFA-4714-9D2C-EE25737C2C83}"/>
              </a:ext>
            </a:extLst>
          </p:cNvPr>
          <p:cNvSpPr>
            <a:spLocks noGrp="1"/>
          </p:cNvSpPr>
          <p:nvPr>
            <p:ph idx="1"/>
          </p:nvPr>
        </p:nvSpPr>
        <p:spPr/>
        <p:txBody>
          <a:bodyPr/>
          <a:lstStyle/>
          <a:p>
            <a:r>
              <a:rPr lang="en-US" dirty="0"/>
              <a:t>Remember at the beginning of this slide deck, where I mentioned disk I/O?</a:t>
            </a:r>
          </a:p>
          <a:p>
            <a:endParaRPr lang="en-US" dirty="0"/>
          </a:p>
          <a:p>
            <a:r>
              <a:rPr lang="en-US" dirty="0"/>
              <a:t>We can tune </a:t>
            </a:r>
            <a:r>
              <a:rPr lang="en-US" b="1" dirty="0"/>
              <a:t>M </a:t>
            </a:r>
            <a:r>
              <a:rPr lang="en-US" dirty="0"/>
              <a:t>so that every node is a disk block according to the CPU architecture</a:t>
            </a:r>
          </a:p>
          <a:p>
            <a:r>
              <a:rPr lang="en-US" dirty="0"/>
              <a:t>So, we’d have a collection of </a:t>
            </a:r>
            <a:r>
              <a:rPr lang="en-US" b="1" dirty="0"/>
              <a:t>M </a:t>
            </a:r>
            <a:r>
              <a:rPr lang="en-US" dirty="0"/>
              <a:t>disk block references and (</a:t>
            </a:r>
            <a:r>
              <a:rPr lang="en-US" b="1" dirty="0"/>
              <a:t>M + 1</a:t>
            </a:r>
            <a:r>
              <a:rPr lang="en-US" dirty="0"/>
              <a:t>) keys whose total amount is 1 disk block with relatively little space!</a:t>
            </a:r>
          </a:p>
        </p:txBody>
      </p:sp>
    </p:spTree>
    <p:extLst>
      <p:ext uri="{BB962C8B-B14F-4D97-AF65-F5344CB8AC3E}">
        <p14:creationId xmlns:p14="http://schemas.microsoft.com/office/powerpoint/2010/main" val="385040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A10F-9CE8-4E04-8ED5-368085DFA92E}"/>
              </a:ext>
            </a:extLst>
          </p:cNvPr>
          <p:cNvSpPr>
            <a:spLocks noGrp="1"/>
          </p:cNvSpPr>
          <p:nvPr>
            <p:ph type="title"/>
          </p:nvPr>
        </p:nvSpPr>
        <p:spPr/>
        <p:txBody>
          <a:bodyPr/>
          <a:lstStyle/>
          <a:p>
            <a:r>
              <a:rPr lang="en-US" dirty="0"/>
              <a:t>Slightly less important: B+ Trees</a:t>
            </a:r>
          </a:p>
        </p:txBody>
      </p:sp>
      <p:sp>
        <p:nvSpPr>
          <p:cNvPr id="3" name="Content Placeholder 2">
            <a:extLst>
              <a:ext uri="{FF2B5EF4-FFF2-40B4-BE49-F238E27FC236}">
                <a16:creationId xmlns:a16="http://schemas.microsoft.com/office/drawing/2014/main" id="{530C7055-9D82-412D-99A2-DC63A2CF86DA}"/>
              </a:ext>
            </a:extLst>
          </p:cNvPr>
          <p:cNvSpPr>
            <a:spLocks noGrp="1"/>
          </p:cNvSpPr>
          <p:nvPr>
            <p:ph idx="1"/>
          </p:nvPr>
        </p:nvSpPr>
        <p:spPr/>
        <p:txBody>
          <a:bodyPr>
            <a:normAutofit lnSpcReduction="10000"/>
          </a:bodyPr>
          <a:lstStyle/>
          <a:p>
            <a:r>
              <a:rPr lang="en-US" dirty="0"/>
              <a:t>If you’re invested in this stuff, take CS 1555, you’ll learn a variant known as B+ trees.</a:t>
            </a:r>
          </a:p>
          <a:p>
            <a:endParaRPr lang="en-US" dirty="0"/>
          </a:p>
          <a:p>
            <a:pPr marL="0" indent="0">
              <a:buNone/>
            </a:pPr>
            <a:r>
              <a:rPr lang="en-US" dirty="0"/>
              <a:t>A B+ tree will practically speed up runtime by speeding up the time to enumerate keys.</a:t>
            </a:r>
          </a:p>
          <a:p>
            <a:r>
              <a:rPr lang="en-US" dirty="0"/>
              <a:t>In each leaf node, there is a copy of every key.</a:t>
            </a:r>
          </a:p>
          <a:p>
            <a:r>
              <a:rPr lang="en-US" dirty="0"/>
              <a:t>Essentially each leaf node is a linked list of every key encountered thus far.</a:t>
            </a:r>
          </a:p>
          <a:p>
            <a:endParaRPr lang="en-US" dirty="0"/>
          </a:p>
          <a:p>
            <a:r>
              <a:rPr lang="en-US" dirty="0"/>
              <a:t>Insertion and deletion are more complicated for B+ trees </a:t>
            </a:r>
            <a:r>
              <a:rPr lang="en-US"/>
              <a:t>but are fairly </a:t>
            </a:r>
            <a:r>
              <a:rPr lang="en-US" dirty="0"/>
              <a:t>similar.</a:t>
            </a:r>
          </a:p>
        </p:txBody>
      </p:sp>
    </p:spTree>
    <p:extLst>
      <p:ext uri="{BB962C8B-B14F-4D97-AF65-F5344CB8AC3E}">
        <p14:creationId xmlns:p14="http://schemas.microsoft.com/office/powerpoint/2010/main" val="291079043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51E360FFF8E045BC9E794BF0F8E060" ma:contentTypeVersion="4" ma:contentTypeDescription="Create a new document." ma:contentTypeScope="" ma:versionID="601fb0477c1a00ea6c9cdda8af407385">
  <xsd:schema xmlns:xsd="http://www.w3.org/2001/XMLSchema" xmlns:xs="http://www.w3.org/2001/XMLSchema" xmlns:p="http://schemas.microsoft.com/office/2006/metadata/properties" xmlns:ns3="b12b050b-08b8-4c9a-9e6b-d2ba71f76ee2" targetNamespace="http://schemas.microsoft.com/office/2006/metadata/properties" ma:root="true" ma:fieldsID="f3c9c52ccd6619c053e6551ce3886dd6" ns3:_="">
    <xsd:import namespace="b12b050b-08b8-4c9a-9e6b-d2ba71f76ee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2b050b-08b8-4c9a-9e6b-d2ba71f76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D625F4-66D5-475F-926E-637DA85674DA}">
  <ds:schemaRefs>
    <ds:schemaRef ds:uri="http://schemas.microsoft.com/office/2006/documentManagement/types"/>
    <ds:schemaRef ds:uri="http://schemas.microsoft.com/office/2006/metadata/properties"/>
    <ds:schemaRef ds:uri="b12b050b-08b8-4c9a-9e6b-d2ba71f76ee2"/>
    <ds:schemaRef ds:uri="http://www.w3.org/XML/1998/namespace"/>
    <ds:schemaRef ds:uri="http://schemas.microsoft.com/office/infopath/2007/PartnerControls"/>
    <ds:schemaRef ds:uri="http://purl.org/dc/elements/1.1/"/>
    <ds:schemaRef ds:uri="http://purl.org/dc/term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12A8F262-ADEB-426B-9547-C1288F064D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2b050b-08b8-4c9a-9e6b-d2ba71f76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D6361B-42F3-4F16-BF0D-EEAD814363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Parcel</Template>
  <TotalTime>1051</TotalTime>
  <Words>1949</Words>
  <Application>Microsoft Office PowerPoint</Application>
  <PresentationFormat>Widescreen</PresentationFormat>
  <Paragraphs>297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Cambria Math</vt:lpstr>
      <vt:lpstr>Gill Sans MT</vt:lpstr>
      <vt:lpstr>Parcel</vt:lpstr>
      <vt:lpstr>CS 1501: B-trees</vt:lpstr>
      <vt:lpstr>A brief note on these slides</vt:lpstr>
      <vt:lpstr>An introduction to the problem</vt:lpstr>
      <vt:lpstr>A motivating Example</vt:lpstr>
      <vt:lpstr>A review of disk i/o</vt:lpstr>
      <vt:lpstr>Enter: B-Trees</vt:lpstr>
      <vt:lpstr>B-tree Rules</vt:lpstr>
      <vt:lpstr>B-Tree Rules (continued)</vt:lpstr>
      <vt:lpstr>B-Tree Insertion</vt:lpstr>
      <vt:lpstr>B-tree Example</vt:lpstr>
      <vt:lpstr>B-tree Insertion Example:</vt:lpstr>
      <vt:lpstr>B-tree Insert: 10</vt:lpstr>
      <vt:lpstr>B-tree Insert: 20</vt:lpstr>
      <vt:lpstr>B-tree Insert: 15</vt:lpstr>
      <vt:lpstr>B-tree Insert: 7</vt:lpstr>
      <vt:lpstr>B-tree Insert: 11</vt:lpstr>
      <vt:lpstr>B-Tree Insert: 1</vt:lpstr>
      <vt:lpstr>B-Tree Insert: 8</vt:lpstr>
      <vt:lpstr>B-Tree Insert: 5</vt:lpstr>
      <vt:lpstr>B-tRee Insertion </vt:lpstr>
      <vt:lpstr>B-tree Insertion Runtime</vt:lpstr>
      <vt:lpstr>B-tree Deletion</vt:lpstr>
      <vt:lpstr>B-tree Deletion Example</vt:lpstr>
      <vt:lpstr>B-tree Starting TRee</vt:lpstr>
      <vt:lpstr>B-tree Removal: 8</vt:lpstr>
      <vt:lpstr>B-tree Removal: 8</vt:lpstr>
      <vt:lpstr>B-tree Removal: 80</vt:lpstr>
      <vt:lpstr>B-tree Removal: 200</vt:lpstr>
      <vt:lpstr>B-tree Removal: 75</vt:lpstr>
      <vt:lpstr>B-tree Removal: 100</vt:lpstr>
      <vt:lpstr>Let’s try to cause a left Rotation</vt:lpstr>
      <vt:lpstr>B-tree Deletion: 150</vt:lpstr>
      <vt:lpstr>Now, let’s consider an edge case</vt:lpstr>
      <vt:lpstr>B-tree Deletion: Removing the root</vt:lpstr>
      <vt:lpstr>B-tree Deletion: Removing the root</vt:lpstr>
      <vt:lpstr>B-tree Deletion Runtime</vt:lpstr>
      <vt:lpstr>What does this have to do with disks?</vt:lpstr>
      <vt:lpstr>Slightly less important: B+ Trees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1501: B-trees</dc:title>
  <dc:creator>Lu, Gordon</dc:creator>
  <cp:lastModifiedBy>Lu, Gordon</cp:lastModifiedBy>
  <cp:revision>37</cp:revision>
  <dcterms:created xsi:type="dcterms:W3CDTF">2020-08-01T19:18:55Z</dcterms:created>
  <dcterms:modified xsi:type="dcterms:W3CDTF">2020-11-29T23:44:55Z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0x0101004651E360FFF8E045BC9E794BF0F8E060</vt:lpwstr>
  </property>
</Properties>
</file>