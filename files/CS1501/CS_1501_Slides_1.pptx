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1" r:id="rId4"/>
  </p:sldMasterIdLst>
  <p:sldIdLst>
    <p:sldId id="256" r:id="rId5"/>
    <p:sldId id="297" r:id="rId6"/>
    <p:sldId id="257" r:id="rId7"/>
    <p:sldId id="258" r:id="rId8"/>
    <p:sldId id="259" r:id="rId9"/>
    <p:sldId id="260" r:id="rId10"/>
    <p:sldId id="27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1" r:id="rId21"/>
    <p:sldId id="272" r:id="rId22"/>
    <p:sldId id="273" r:id="rId23"/>
    <p:sldId id="274" r:id="rId24"/>
    <p:sldId id="275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B12F20D-4DA2-409E-AAC0-0DAEDF4C32B9}" v="858" dt="2020-07-31T23:50:47.3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82" y="29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4C203-3353-45B6-92C6-78F0A2901DB5}" type="datetimeFigureOut">
              <a:rPr lang="en-US" smtClean="0"/>
              <a:t>7/31/2020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4023E-3638-40F3-8A7D-79E3C4E8DE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2446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4C203-3353-45B6-92C6-78F0A2901DB5}" type="datetimeFigureOut">
              <a:rPr lang="en-US" smtClean="0"/>
              <a:t>7/31/2020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4023E-3638-40F3-8A7D-79E3C4E8DE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671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4C203-3353-45B6-92C6-78F0A2901DB5}" type="datetimeFigureOut">
              <a:rPr lang="en-US" smtClean="0"/>
              <a:t>7/31/2020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4023E-3638-40F3-8A7D-79E3C4E8DE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176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4C203-3353-45B6-92C6-78F0A2901DB5}" type="datetimeFigureOut">
              <a:rPr lang="en-US" smtClean="0"/>
              <a:t>7/31/2020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4023E-3638-40F3-8A7D-79E3C4E8DE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9631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4C203-3353-45B6-92C6-78F0A2901DB5}" type="datetimeFigureOut">
              <a:rPr lang="en-US" smtClean="0"/>
              <a:t>7/31/2020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4023E-3638-40F3-8A7D-79E3C4E8DE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9748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4C203-3353-45B6-92C6-78F0A2901DB5}" type="datetimeFigureOut">
              <a:rPr lang="en-US" smtClean="0"/>
              <a:t>7/31/2020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4023E-3638-40F3-8A7D-79E3C4E8DE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077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4C203-3353-45B6-92C6-78F0A2901DB5}" type="datetimeFigureOut">
              <a:rPr lang="en-US" smtClean="0"/>
              <a:t>7/31/2020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4023E-3638-40F3-8A7D-79E3C4E8DE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600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4C203-3353-45B6-92C6-78F0A2901DB5}" type="datetimeFigureOut">
              <a:rPr lang="en-US" smtClean="0"/>
              <a:t>7/31/2020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4023E-3638-40F3-8A7D-79E3C4E8DE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615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EDA4C203-3353-45B6-92C6-78F0A2901DB5}" type="datetimeFigureOut">
              <a:rPr lang="en-US" smtClean="0"/>
              <a:t>7/31/2020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F934023E-3638-40F3-8A7D-79E3C4E8DE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515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4C203-3353-45B6-92C6-78F0A2901DB5}" type="datetimeFigureOut">
              <a:rPr lang="en-US" smtClean="0"/>
              <a:t>7/31/2020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4023E-3638-40F3-8A7D-79E3C4E8DE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9462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4C203-3353-45B6-92C6-78F0A2901DB5}" type="datetimeFigureOut">
              <a:rPr lang="en-US" smtClean="0"/>
              <a:t>7/31/2020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4023E-3638-40F3-8A7D-79E3C4E8DE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572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4C203-3353-45B6-92C6-78F0A2901DB5}" type="datetimeFigureOut">
              <a:rPr lang="en-US" smtClean="0"/>
              <a:t>7/31/2020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4023E-3638-40F3-8A7D-79E3C4E8DE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4330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4C203-3353-45B6-92C6-78F0A2901DB5}" type="datetimeFigureOut">
              <a:rPr lang="en-US" smtClean="0"/>
              <a:t>7/31/2020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4023E-3638-40F3-8A7D-79E3C4E8DE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1952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accent1"/>
                </a:soli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4C203-3353-45B6-92C6-78F0A2901DB5}" type="datetimeFigureOut">
              <a:rPr lang="en-US" smtClean="0"/>
              <a:t>7/31/2020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4023E-3638-40F3-8A7D-79E3C4E8DE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8988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solidFill>
                  <a:schemeClr val="tx1"/>
                </a:soli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4C203-3353-45B6-92C6-78F0A2901DB5}" type="datetimeFigureOut">
              <a:rPr lang="en-US" smtClean="0"/>
              <a:t>7/31/2020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4023E-3638-40F3-8A7D-79E3C4E8DE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6879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4C203-3353-45B6-92C6-78F0A2901DB5}" type="datetimeFigureOut">
              <a:rPr lang="en-US" smtClean="0"/>
              <a:t>7/31/2020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4023E-3638-40F3-8A7D-79E3C4E8DE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9735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4C203-3353-45B6-92C6-78F0A2901DB5}" type="datetimeFigureOut">
              <a:rPr lang="en-US" smtClean="0"/>
              <a:t>7/31/2020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4023E-3638-40F3-8A7D-79E3C4E8DE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0100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EDA4C203-3353-45B6-92C6-78F0A2901DB5}" type="datetimeFigureOut">
              <a:rPr lang="en-US" smtClean="0"/>
              <a:t>7/31/2020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F934023E-3638-40F3-8A7D-79E3C4E8DE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87039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22" r:id="rId1"/>
    <p:sldLayoutId id="2147483823" r:id="rId2"/>
    <p:sldLayoutId id="2147483824" r:id="rId3"/>
    <p:sldLayoutId id="2147483825" r:id="rId4"/>
    <p:sldLayoutId id="2147483826" r:id="rId5"/>
    <p:sldLayoutId id="2147483827" r:id="rId6"/>
    <p:sldLayoutId id="2147483828" r:id="rId7"/>
    <p:sldLayoutId id="2147483829" r:id="rId8"/>
    <p:sldLayoutId id="2147483830" r:id="rId9"/>
    <p:sldLayoutId id="2147483831" r:id="rId10"/>
    <p:sldLayoutId id="2147483832" r:id="rId11"/>
    <p:sldLayoutId id="2147483833" r:id="rId12"/>
    <p:sldLayoutId id="2147483834" r:id="rId13"/>
    <p:sldLayoutId id="2147483835" r:id="rId14"/>
    <p:sldLayoutId id="2147483836" r:id="rId15"/>
    <p:sldLayoutId id="2147483837" r:id="rId16"/>
    <p:sldLayoutId id="2147483838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accent1"/>
          </a:soli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20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8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6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4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4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3000"/>
                <a:shade val="98000"/>
                <a:satMod val="150000"/>
                <a:lumMod val="102000"/>
              </a:schemeClr>
            </a:gs>
            <a:gs pos="50000">
              <a:schemeClr val="bg2">
                <a:tint val="98000"/>
                <a:shade val="90000"/>
                <a:satMod val="130000"/>
                <a:lumMod val="103000"/>
              </a:schemeClr>
            </a:gs>
            <a:gs pos="100000">
              <a:schemeClr val="bg2">
                <a:shade val="63000"/>
                <a:satMod val="12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E25ED-CE20-4260-A723-6C559CEE0F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2483" y="821265"/>
            <a:ext cx="6098705" cy="5222117"/>
          </a:xfrm>
        </p:spPr>
        <p:txBody>
          <a:bodyPr anchor="ctr">
            <a:normAutofit/>
          </a:bodyPr>
          <a:lstStyle/>
          <a:p>
            <a:pPr algn="r"/>
            <a:r>
              <a:rPr lang="en-US" sz="5400" dirty="0">
                <a:solidFill>
                  <a:schemeClr val="tx1"/>
                </a:solidFill>
              </a:rPr>
              <a:t>CS 1501: Algorithm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DA9EAE-84EA-4695-84F8-F9D3685698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03028" y="821265"/>
            <a:ext cx="3265713" cy="5222117"/>
          </a:xfrm>
        </p:spPr>
        <p:txBody>
          <a:bodyPr anchor="ctr">
            <a:normAutofit/>
          </a:bodyPr>
          <a:lstStyle/>
          <a:p>
            <a:r>
              <a:rPr lang="en-US" dirty="0"/>
              <a:t>Gordon Lu</a:t>
            </a:r>
          </a:p>
        </p:txBody>
      </p:sp>
    </p:spTree>
    <p:extLst>
      <p:ext uri="{BB962C8B-B14F-4D97-AF65-F5344CB8AC3E}">
        <p14:creationId xmlns:p14="http://schemas.microsoft.com/office/powerpoint/2010/main" val="18524489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92559-7F14-4F93-96B0-9F4F08270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brief note on these slides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C27C56-47D1-4ECC-83E5-5345C34C45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Visually, slides don’t look the most appealing….</a:t>
            </a:r>
          </a:p>
          <a:p>
            <a:r>
              <a:rPr lang="en-US" dirty="0"/>
              <a:t>Work best in present mode! Each algorithm is animated, so all the messy stuff is from all the animations…</a:t>
            </a:r>
          </a:p>
        </p:txBody>
      </p:sp>
    </p:spTree>
    <p:extLst>
      <p:ext uri="{BB962C8B-B14F-4D97-AF65-F5344CB8AC3E}">
        <p14:creationId xmlns:p14="http://schemas.microsoft.com/office/powerpoint/2010/main" val="31968683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93D7A-3E58-4BF0-94DF-7F84B7530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Metrics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757FAE-A409-443C-8ABD-D9F7129659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Engineering Effort: </a:t>
            </a:r>
            <a:r>
              <a:rPr lang="en-US" dirty="0"/>
              <a:t>How difficult it is to implement?</a:t>
            </a:r>
          </a:p>
          <a:p>
            <a:r>
              <a:rPr lang="en-US" b="1" dirty="0"/>
              <a:t>Runtime: </a:t>
            </a:r>
            <a:r>
              <a:rPr lang="en-US" dirty="0"/>
              <a:t>How much time does your program take?</a:t>
            </a:r>
          </a:p>
          <a:p>
            <a:r>
              <a:rPr lang="en-US" b="1" dirty="0"/>
              <a:t>Space: </a:t>
            </a:r>
            <a:r>
              <a:rPr lang="en-US" dirty="0"/>
              <a:t>How intensive is your program on memory?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947296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5D400-607A-4B3A-9DF7-2291C9D0D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Simple orders of growth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478EAF-0FE9-4217-8DD1-B132B20FCA0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Runtimes can be described by polynomial or non-polynomial functions</a:t>
                </a:r>
              </a:p>
              <a:p>
                <a:pPr marL="0" indent="0">
                  <a:buNone/>
                </a:pPr>
                <a:r>
                  <a:rPr lang="en-US" dirty="0"/>
                  <a:t>for sufficiently large “n”, O(log(n)) &lt; O(n) &lt; 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) &lt; … &lt; 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sup>
                    </m:sSup>
                  </m:oMath>
                </a14:m>
                <a:r>
                  <a:rPr lang="en-US" dirty="0"/>
                  <a:t>) &lt; 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</m:oMath>
                </a14:m>
                <a:r>
                  <a:rPr lang="en-US" dirty="0"/>
                  <a:t>) &lt; O(n!)</a:t>
                </a:r>
              </a:p>
              <a:p>
                <a:pPr>
                  <a:buFontTx/>
                  <a:buChar char="-"/>
                </a:pPr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Examples:</a:t>
                </a:r>
              </a:p>
              <a:p>
                <a:pPr marL="457200" indent="-457200">
                  <a:buAutoNum type="arabicParenR"/>
                </a:pPr>
                <a:r>
                  <a:rPr lang="en-US" dirty="0"/>
                  <a:t>Listing all possible subsets of a set: 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</m:oMath>
                </a14:m>
                <a:r>
                  <a:rPr lang="en-US" dirty="0"/>
                  <a:t>)</a:t>
                </a:r>
              </a:p>
              <a:p>
                <a:pPr marL="457200" indent="-457200">
                  <a:buAutoNum type="arabicParenR"/>
                </a:pPr>
                <a:r>
                  <a:rPr lang="en-US" dirty="0"/>
                  <a:t>Listing all permutations of a set: O(n!)</a:t>
                </a:r>
              </a:p>
              <a:p>
                <a:pPr marL="457200" indent="-457200">
                  <a:buAutoNum type="arabicParenR"/>
                </a:pPr>
                <a:r>
                  <a:rPr lang="en-US" dirty="0"/>
                  <a:t>Binary Search: O(log(n))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478EAF-0FE9-4217-8DD1-B132B20FCA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6" t="-1170" r="-62" b="-33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5712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5231F-A5E6-4627-AA5E-303E194F3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Asymptotic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87EFB2-CDE8-401B-A34E-13FCC02DAE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027807"/>
            <a:ext cx="9905998" cy="3124201"/>
          </a:xfrm>
        </p:spPr>
        <p:txBody>
          <a:bodyPr/>
          <a:lstStyle/>
          <a:p>
            <a:r>
              <a:rPr lang="en-US" dirty="0"/>
              <a:t>Typically, we drop lower order terms and constants.</a:t>
            </a:r>
          </a:p>
          <a:p>
            <a:r>
              <a:rPr lang="en-US" dirty="0"/>
              <a:t>Dropping lower order terms is regarded as a </a:t>
            </a:r>
            <a:r>
              <a:rPr lang="en-US" b="1" dirty="0"/>
              <a:t>Tilde Approximation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For example, binary search is Log base 2 of n, but the base of the logarithm is a constant, so we just stick with the typical log(n) as the runtime.</a:t>
            </a:r>
          </a:p>
        </p:txBody>
      </p:sp>
    </p:spTree>
    <p:extLst>
      <p:ext uri="{BB962C8B-B14F-4D97-AF65-F5344CB8AC3E}">
        <p14:creationId xmlns:p14="http://schemas.microsoft.com/office/powerpoint/2010/main" val="2257198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4C311-DEED-485F-9872-18E486255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definitions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A1119C-495E-4F5C-8BAF-A023C82961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Big O</a:t>
            </a:r>
            <a:r>
              <a:rPr lang="en-US" dirty="0"/>
              <a:t>: a set of functions that are the upper bound of a given function n.</a:t>
            </a:r>
          </a:p>
          <a:p>
            <a:pPr marL="0" indent="0">
              <a:buNone/>
            </a:pPr>
            <a:r>
              <a:rPr lang="en-US" dirty="0"/>
              <a:t>The least upper bound of this set is typically what we say with Big O.</a:t>
            </a:r>
          </a:p>
          <a:p>
            <a:r>
              <a:rPr lang="en-US" b="1" dirty="0"/>
              <a:t>Big Omega</a:t>
            </a:r>
            <a:r>
              <a:rPr lang="en-US" dirty="0"/>
              <a:t>: A set of functions that are the lower bound of a given function n.</a:t>
            </a:r>
          </a:p>
          <a:p>
            <a:pPr marL="0" indent="0">
              <a:buNone/>
            </a:pPr>
            <a:r>
              <a:rPr lang="en-US" dirty="0"/>
              <a:t>The greatest lower bound of this set is typically what we say with Big Omega.</a:t>
            </a:r>
          </a:p>
          <a:p>
            <a:r>
              <a:rPr lang="en-US" b="1" dirty="0"/>
              <a:t>Big Theta</a:t>
            </a:r>
            <a:r>
              <a:rPr lang="en-US" dirty="0"/>
              <a:t>: Occurs where big O and Big Omega Converge.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314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C1813-9FCF-4F17-BF43-5E13E9F44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Formal Definitions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B306C3-2DE0-42D6-B74F-0CD4E410B84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41413" y="1944211"/>
                <a:ext cx="10355170" cy="3846990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F(x) is O(g(x)) if constants “c” (multiplier)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dirty="0"/>
                  <a:t> (threshold) exist such that: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  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g(x) will be an upper bound for x &gt;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. (Any input &gt;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will be an upper bound)</a:t>
                </a:r>
              </a:p>
              <a:p>
                <a:r>
                  <a:rPr lang="en-US" dirty="0"/>
                  <a:t>SUP(O(f(n)))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↔</m:t>
                    </m:r>
                  </m:oMath>
                </a14:m>
                <a:r>
                  <a:rPr lang="en-US" dirty="0"/>
                  <a:t> min(O(f(n)))  (The tightest bound)</a:t>
                </a:r>
              </a:p>
              <a:p>
                <a:pPr marL="0" indent="0">
                  <a:buNone/>
                </a:pPr>
                <a:r>
                  <a:rPr lang="en-US" dirty="0"/>
                  <a:t>F(x)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dirty="0"/>
                  <a:t>(g(x)) if constants “c” (multiplier)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dirty="0"/>
                  <a:t> (threshold) exist such that: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  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INF(O(f(n)))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↔</m:t>
                    </m:r>
                  </m:oMath>
                </a14:m>
                <a:r>
                  <a:rPr lang="en-US" dirty="0"/>
                  <a:t> max(O(f(n)))  (The tightest bound)</a:t>
                </a:r>
              </a:p>
              <a:p>
                <a:pPr marL="0" indent="0">
                  <a:buNone/>
                </a:pPr>
                <a:r>
                  <a:rPr lang="en-US" dirty="0"/>
                  <a:t>If f(x) is O(g(x))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dirty="0"/>
                  <a:t>(g(x)), then f(x) is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/>
                  <a:t>(g(x))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exist such that: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∗</m:t>
                    </m:r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∗|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    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Bounded: Theta(f(n)) Both inf and sup.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B306C3-2DE0-42D6-B74F-0CD4E410B8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41413" y="1944211"/>
                <a:ext cx="10355170" cy="3846990"/>
              </a:xfrm>
              <a:blipFill>
                <a:blip r:embed="rId2"/>
                <a:stretch>
                  <a:fillRect l="-942" t="-2694" b="-34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33736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84DD5-0DD2-49EA-80D4-E48D02E94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Sorting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D83F69-FA68-4DE4-8853-7D983327A0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Given a collection of items, sort all the items in a specific order.</a:t>
            </a:r>
          </a:p>
          <a:p>
            <a:r>
              <a:rPr lang="en-US" dirty="0"/>
              <a:t>Can be ascending/descending, alphabetically, numerically!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8536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FF898-2DB5-4F21-A129-2DAB19E58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Review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D59B21-CB9B-4F22-99EB-7474C9D42E7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Quick sort: Typically ends up being O(n log(n)) but picking a bad partition can result in 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). (usually resolved using the median of three).</a:t>
                </a:r>
              </a:p>
              <a:p>
                <a:r>
                  <a:rPr lang="en-US" dirty="0"/>
                  <a:t>Merge Sort: Typically O(n log(n))</a:t>
                </a:r>
              </a:p>
              <a:p>
                <a:r>
                  <a:rPr lang="en-US" dirty="0"/>
                  <a:t>Insertion sort/Selection sort: Typically 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)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D59B21-CB9B-4F22-99EB-7474C9D42E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97257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C3E2A-D1FC-4F12-90D4-A3DA78E6C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the similarities?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DDEC3A-88A8-4B6E-89E5-C90DDFAC9D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Well, they all require direct comparisons along elements in the collection, so you’ll always have that linear term.</a:t>
            </a:r>
          </a:p>
          <a:p>
            <a:endParaRPr lang="en-US" dirty="0"/>
          </a:p>
          <a:p>
            <a:r>
              <a:rPr lang="en-US" dirty="0"/>
              <a:t>Thus, we’ll regard this class of sorting algorithms as: </a:t>
            </a:r>
            <a:r>
              <a:rPr lang="en-US" b="1" dirty="0"/>
              <a:t>Comparison based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4172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0CFC5-358B-4865-B15D-B61618727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corollary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17B2D-7924-4672-B82F-28DCD94192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best a comparison-based sorting algorithm can perform in is O(n log(n))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753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52D52-6452-48AB-B6EF-9543D015F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Non-comparison-based Sorting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D28C59-4102-4EC4-8A27-6CD26F6F9F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What if we tried something else? </a:t>
            </a:r>
          </a:p>
          <a:p>
            <a:r>
              <a:rPr lang="en-US" dirty="0"/>
              <a:t>Suppose we have a collection of integers </a:t>
            </a:r>
            <a:r>
              <a:rPr lang="en-US" b="1" dirty="0"/>
              <a:t>n</a:t>
            </a:r>
            <a:endParaRPr lang="en-US" dirty="0"/>
          </a:p>
          <a:p>
            <a:r>
              <a:rPr lang="en-US" dirty="0"/>
              <a:t>Each have up to </a:t>
            </a:r>
            <a:r>
              <a:rPr lang="en-US" b="1" dirty="0"/>
              <a:t>k </a:t>
            </a:r>
            <a:r>
              <a:rPr lang="en-US" dirty="0"/>
              <a:t>digits.</a:t>
            </a:r>
          </a:p>
          <a:p>
            <a:r>
              <a:rPr lang="en-US" dirty="0"/>
              <a:t>What if we incrementally sorted the items by digit, then plopped them back, and sorted by the next digit….</a:t>
            </a:r>
          </a:p>
          <a:p>
            <a:r>
              <a:rPr lang="en-US" dirty="0"/>
              <a:t>…from </a:t>
            </a:r>
            <a:r>
              <a:rPr lang="en-US" dirty="0" err="1"/>
              <a:t>lsd</a:t>
            </a:r>
            <a:r>
              <a:rPr lang="en-US" dirty="0"/>
              <a:t> to </a:t>
            </a:r>
            <a:r>
              <a:rPr lang="en-US" dirty="0" err="1"/>
              <a:t>msd</a:t>
            </a:r>
            <a:r>
              <a:rPr lang="en-US" dirty="0"/>
              <a:t>…</a:t>
            </a:r>
          </a:p>
          <a:p>
            <a:r>
              <a:rPr lang="en-US" dirty="0"/>
              <a:t>This is </a:t>
            </a:r>
            <a:r>
              <a:rPr lang="en-US" b="1" dirty="0"/>
              <a:t>LSD Radix Sort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03707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1B637-D950-4A80-82B1-56423C9EB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LSD Radix Sort: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2469A4-AE11-488E-8198-93CD9A881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Let’s try to sort the following collection of items: </a:t>
            </a:r>
          </a:p>
          <a:p>
            <a:pPr marL="0" indent="0">
              <a:buNone/>
            </a:pPr>
            <a:r>
              <a:rPr lang="en-US" dirty="0"/>
              <a:t>[12, 103, 212, 23, 3, 113, 121, 200]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1920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7B5B5-E667-4A92-8362-B48DCCB3F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lSD</a:t>
            </a:r>
            <a:r>
              <a:rPr lang="en-US" dirty="0"/>
              <a:t> RADIX SORT: Iteration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0F1E2A-12F9-464A-974D-2763A2896B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5551" y="1763567"/>
            <a:ext cx="9905998" cy="312420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		[01</a:t>
            </a:r>
            <a:r>
              <a:rPr lang="en-US" dirty="0">
                <a:solidFill>
                  <a:srgbClr val="FF0000"/>
                </a:solidFill>
              </a:rPr>
              <a:t>2</a:t>
            </a:r>
            <a:r>
              <a:rPr lang="en-US" dirty="0"/>
              <a:t>, 	10</a:t>
            </a:r>
            <a:r>
              <a:rPr lang="en-US" dirty="0">
                <a:solidFill>
                  <a:srgbClr val="FF0000"/>
                </a:solidFill>
              </a:rPr>
              <a:t>3</a:t>
            </a:r>
            <a:r>
              <a:rPr lang="en-US" dirty="0"/>
              <a:t>, 	21</a:t>
            </a:r>
            <a:r>
              <a:rPr lang="en-US" dirty="0">
                <a:solidFill>
                  <a:srgbClr val="FF0000"/>
                </a:solidFill>
              </a:rPr>
              <a:t>2</a:t>
            </a:r>
            <a:r>
              <a:rPr lang="en-US" dirty="0"/>
              <a:t>, 	02</a:t>
            </a:r>
            <a:r>
              <a:rPr lang="en-US" dirty="0">
                <a:solidFill>
                  <a:srgbClr val="FF0000"/>
                </a:solidFill>
              </a:rPr>
              <a:t>3</a:t>
            </a:r>
            <a:r>
              <a:rPr lang="en-US" dirty="0"/>
              <a:t>, 	00</a:t>
            </a:r>
            <a:r>
              <a:rPr lang="en-US" dirty="0">
                <a:solidFill>
                  <a:srgbClr val="FF0000"/>
                </a:solidFill>
              </a:rPr>
              <a:t>3</a:t>
            </a:r>
            <a:r>
              <a:rPr lang="en-US" dirty="0"/>
              <a:t>, 	11</a:t>
            </a:r>
            <a:r>
              <a:rPr lang="en-US" dirty="0">
                <a:solidFill>
                  <a:srgbClr val="FF0000"/>
                </a:solidFill>
              </a:rPr>
              <a:t>3</a:t>
            </a:r>
            <a:r>
              <a:rPr lang="en-US" dirty="0"/>
              <a:t>, 	12</a:t>
            </a:r>
            <a:r>
              <a:rPr lang="en-US" dirty="0">
                <a:solidFill>
                  <a:srgbClr val="FF0000"/>
                </a:solidFill>
              </a:rPr>
              <a:t>1</a:t>
            </a:r>
            <a:r>
              <a:rPr lang="en-US" dirty="0"/>
              <a:t>, 	20</a:t>
            </a:r>
            <a:r>
              <a:rPr lang="en-US" dirty="0">
                <a:solidFill>
                  <a:srgbClr val="FF0000"/>
                </a:solidFill>
              </a:rPr>
              <a:t>0</a:t>
            </a:r>
            <a:r>
              <a:rPr lang="en-US" dirty="0"/>
              <a:t>]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" name="Picture 6" descr="Image result for wooden barrel 2d">
            <a:extLst>
              <a:ext uri="{FF2B5EF4-FFF2-40B4-BE49-F238E27FC236}">
                <a16:creationId xmlns:a16="http://schemas.microsoft.com/office/drawing/2014/main" id="{4EB71995-08C5-4978-8227-D04335339D32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7141" y="2952536"/>
            <a:ext cx="993140" cy="99314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mage result for wooden barrel 2d">
            <a:extLst>
              <a:ext uri="{FF2B5EF4-FFF2-40B4-BE49-F238E27FC236}">
                <a16:creationId xmlns:a16="http://schemas.microsoft.com/office/drawing/2014/main" id="{B1FFC977-21F1-4F66-8524-72B1DD52CFE6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4938" y="2945014"/>
            <a:ext cx="993140" cy="99314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 descr="Image result for wooden barrel 2d">
            <a:extLst>
              <a:ext uri="{FF2B5EF4-FFF2-40B4-BE49-F238E27FC236}">
                <a16:creationId xmlns:a16="http://schemas.microsoft.com/office/drawing/2014/main" id="{DD8829B5-DB77-4C08-BD31-4147ADE9BEFB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8245" y="2945014"/>
            <a:ext cx="993140" cy="9931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 descr="Image result for wooden barrel 2d">
            <a:extLst>
              <a:ext uri="{FF2B5EF4-FFF2-40B4-BE49-F238E27FC236}">
                <a16:creationId xmlns:a16="http://schemas.microsoft.com/office/drawing/2014/main" id="{F000854E-01CA-4392-926F-CD2AD72A2972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72612" y="2952536"/>
            <a:ext cx="993140" cy="99314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FDB9E14-82A6-4220-8167-F5881B295F48}"/>
              </a:ext>
            </a:extLst>
          </p:cNvPr>
          <p:cNvSpPr txBox="1"/>
          <p:nvPr/>
        </p:nvSpPr>
        <p:spPr>
          <a:xfrm>
            <a:off x="1460267" y="4098075"/>
            <a:ext cx="10735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 in 1’s place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30F4F79-C862-4952-A298-B84FED9DD6AF}"/>
              </a:ext>
            </a:extLst>
          </p:cNvPr>
          <p:cNvSpPr txBox="1"/>
          <p:nvPr/>
        </p:nvSpPr>
        <p:spPr>
          <a:xfrm>
            <a:off x="3864939" y="4098074"/>
            <a:ext cx="9931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 in 1’s place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688715D-6100-4FA0-AF38-FC1AF8A4F99C}"/>
              </a:ext>
            </a:extLst>
          </p:cNvPr>
          <p:cNvSpPr txBox="1"/>
          <p:nvPr/>
        </p:nvSpPr>
        <p:spPr>
          <a:xfrm>
            <a:off x="6488246" y="4136735"/>
            <a:ext cx="9523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 in 1’s place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1A63B6A-1B8E-4E49-A6DC-C89F8B602C33}"/>
              </a:ext>
            </a:extLst>
          </p:cNvPr>
          <p:cNvSpPr txBox="1"/>
          <p:nvPr/>
        </p:nvSpPr>
        <p:spPr>
          <a:xfrm>
            <a:off x="9472613" y="4144257"/>
            <a:ext cx="9931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 in 1’s place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57E01C7-A647-463A-A7DC-6C46776C886A}"/>
              </a:ext>
            </a:extLst>
          </p:cNvPr>
          <p:cNvSpPr txBox="1"/>
          <p:nvPr/>
        </p:nvSpPr>
        <p:spPr>
          <a:xfrm>
            <a:off x="1427219" y="4744405"/>
            <a:ext cx="33241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Queue Policy – FIFO, back into original array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B65AE13-D2E0-4866-A502-1BAAED131AAE}"/>
              </a:ext>
            </a:extLst>
          </p:cNvPr>
          <p:cNvSpPr txBox="1"/>
          <p:nvPr/>
        </p:nvSpPr>
        <p:spPr>
          <a:xfrm>
            <a:off x="2106351" y="5746459"/>
            <a:ext cx="71144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[200, 	121, 	012, 	212, 	103, 	023, 	003, 	113]</a:t>
            </a:r>
          </a:p>
          <a:p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9139243-5BBC-4A80-A2E4-348B5FF2785D}"/>
              </a:ext>
            </a:extLst>
          </p:cNvPr>
          <p:cNvSpPr txBox="1"/>
          <p:nvPr/>
        </p:nvSpPr>
        <p:spPr>
          <a:xfrm>
            <a:off x="1589017" y="3160931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200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AD80B54-2DA9-4EC2-864D-F13D7CC3138A}"/>
              </a:ext>
            </a:extLst>
          </p:cNvPr>
          <p:cNvCxnSpPr>
            <a:cxnSpLocks/>
          </p:cNvCxnSpPr>
          <p:nvPr/>
        </p:nvCxnSpPr>
        <p:spPr>
          <a:xfrm flipH="1">
            <a:off x="1912691" y="2362202"/>
            <a:ext cx="6845415" cy="78891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C4070C8E-A315-4E6D-A09D-841B3D26D335}"/>
              </a:ext>
            </a:extLst>
          </p:cNvPr>
          <p:cNvSpPr txBox="1"/>
          <p:nvPr/>
        </p:nvSpPr>
        <p:spPr>
          <a:xfrm>
            <a:off x="4076814" y="3160931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121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38E6F9F-3906-4D48-9E3B-6CF6AD01FAFE}"/>
              </a:ext>
            </a:extLst>
          </p:cNvPr>
          <p:cNvCxnSpPr>
            <a:cxnSpLocks/>
          </p:cNvCxnSpPr>
          <p:nvPr/>
        </p:nvCxnSpPr>
        <p:spPr>
          <a:xfrm flipH="1">
            <a:off x="4420303" y="2394866"/>
            <a:ext cx="3237797" cy="73649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42B7EA08-4937-4C3E-AD09-C7714E98E1E9}"/>
              </a:ext>
            </a:extLst>
          </p:cNvPr>
          <p:cNvSpPr txBox="1"/>
          <p:nvPr/>
        </p:nvSpPr>
        <p:spPr>
          <a:xfrm>
            <a:off x="6700121" y="3324359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012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CF67C5D-689F-4BB4-8E7E-1E020293F003}"/>
              </a:ext>
            </a:extLst>
          </p:cNvPr>
          <p:cNvCxnSpPr>
            <a:cxnSpLocks/>
          </p:cNvCxnSpPr>
          <p:nvPr/>
        </p:nvCxnSpPr>
        <p:spPr>
          <a:xfrm>
            <a:off x="2455847" y="2397836"/>
            <a:ext cx="4317091" cy="94776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2F9C60A1-B252-4D5B-B793-C6D817FAAE86}"/>
              </a:ext>
            </a:extLst>
          </p:cNvPr>
          <p:cNvSpPr txBox="1"/>
          <p:nvPr/>
        </p:nvSpPr>
        <p:spPr>
          <a:xfrm>
            <a:off x="6679737" y="2990637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212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1DE3DF3-9866-49A3-BFB9-49732B052C17}"/>
              </a:ext>
            </a:extLst>
          </p:cNvPr>
          <p:cNvCxnSpPr>
            <a:cxnSpLocks/>
          </p:cNvCxnSpPr>
          <p:nvPr/>
        </p:nvCxnSpPr>
        <p:spPr>
          <a:xfrm>
            <a:off x="4149631" y="2359414"/>
            <a:ext cx="2623307" cy="696815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626AD6FE-B920-401D-990D-213B34C719D9}"/>
              </a:ext>
            </a:extLst>
          </p:cNvPr>
          <p:cNvSpPr txBox="1"/>
          <p:nvPr/>
        </p:nvSpPr>
        <p:spPr>
          <a:xfrm>
            <a:off x="9684488" y="3761010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103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3CE2642F-794E-451D-9C2C-739D1E16BF9C}"/>
              </a:ext>
            </a:extLst>
          </p:cNvPr>
          <p:cNvCxnSpPr>
            <a:cxnSpLocks/>
            <a:endCxn id="36" idx="1"/>
          </p:cNvCxnSpPr>
          <p:nvPr/>
        </p:nvCxnSpPr>
        <p:spPr>
          <a:xfrm>
            <a:off x="3222987" y="2311968"/>
            <a:ext cx="6461501" cy="163370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4982EA49-8A9E-4B7D-A50F-C84A22DA5238}"/>
              </a:ext>
            </a:extLst>
          </p:cNvPr>
          <p:cNvCxnSpPr>
            <a:cxnSpLocks/>
          </p:cNvCxnSpPr>
          <p:nvPr/>
        </p:nvCxnSpPr>
        <p:spPr>
          <a:xfrm>
            <a:off x="5120517" y="2376100"/>
            <a:ext cx="4404729" cy="1223768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46ED8B94-7FA6-4112-92DB-160A933A43F0}"/>
              </a:ext>
            </a:extLst>
          </p:cNvPr>
          <p:cNvSpPr txBox="1"/>
          <p:nvPr/>
        </p:nvSpPr>
        <p:spPr>
          <a:xfrm>
            <a:off x="9676301" y="3429000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023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DD13CECB-7CBB-476E-A3C3-B6E79BA9DA9F}"/>
              </a:ext>
            </a:extLst>
          </p:cNvPr>
          <p:cNvCxnSpPr>
            <a:cxnSpLocks/>
            <a:endCxn id="45" idx="1"/>
          </p:cNvCxnSpPr>
          <p:nvPr/>
        </p:nvCxnSpPr>
        <p:spPr>
          <a:xfrm>
            <a:off x="6132465" y="2413591"/>
            <a:ext cx="3534314" cy="905865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8C9060D0-0473-47BD-B3D1-9D9C38626F48}"/>
              </a:ext>
            </a:extLst>
          </p:cNvPr>
          <p:cNvSpPr txBox="1"/>
          <p:nvPr/>
        </p:nvSpPr>
        <p:spPr>
          <a:xfrm>
            <a:off x="9666779" y="3134790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003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CBF44EE2-FA53-475F-AB1A-ABA7C4278975}"/>
              </a:ext>
            </a:extLst>
          </p:cNvPr>
          <p:cNvCxnSpPr>
            <a:cxnSpLocks/>
          </p:cNvCxnSpPr>
          <p:nvPr/>
        </p:nvCxnSpPr>
        <p:spPr>
          <a:xfrm>
            <a:off x="6961818" y="2385306"/>
            <a:ext cx="2709068" cy="668836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3C434AFC-66DF-414C-90CB-832DE3DBAFBC}"/>
              </a:ext>
            </a:extLst>
          </p:cNvPr>
          <p:cNvSpPr txBox="1"/>
          <p:nvPr/>
        </p:nvSpPr>
        <p:spPr>
          <a:xfrm>
            <a:off x="9666779" y="2831915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113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46D8581D-FDC6-4D18-A9D8-CC7AA1B048FF}"/>
              </a:ext>
            </a:extLst>
          </p:cNvPr>
          <p:cNvCxnSpPr>
            <a:cxnSpLocks/>
          </p:cNvCxnSpPr>
          <p:nvPr/>
        </p:nvCxnSpPr>
        <p:spPr>
          <a:xfrm>
            <a:off x="2050738" y="3426840"/>
            <a:ext cx="590011" cy="237851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AC0F1D1B-AACD-4CBF-B54D-B429BBC518C2}"/>
              </a:ext>
            </a:extLst>
          </p:cNvPr>
          <p:cNvCxnSpPr>
            <a:cxnSpLocks/>
          </p:cNvCxnSpPr>
          <p:nvPr/>
        </p:nvCxnSpPr>
        <p:spPr>
          <a:xfrm flipH="1">
            <a:off x="3355255" y="3492823"/>
            <a:ext cx="995291" cy="2312532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221F0D10-27A0-41A5-AE24-2D6694A010F3}"/>
              </a:ext>
            </a:extLst>
          </p:cNvPr>
          <p:cNvCxnSpPr>
            <a:cxnSpLocks/>
          </p:cNvCxnSpPr>
          <p:nvPr/>
        </p:nvCxnSpPr>
        <p:spPr>
          <a:xfrm flipH="1">
            <a:off x="4350546" y="3537631"/>
            <a:ext cx="2329191" cy="2208828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49272824-347A-47EF-834A-1010EFF0F7B2}"/>
              </a:ext>
            </a:extLst>
          </p:cNvPr>
          <p:cNvCxnSpPr>
            <a:cxnSpLocks/>
            <a:stCxn id="33" idx="1"/>
          </p:cNvCxnSpPr>
          <p:nvPr/>
        </p:nvCxnSpPr>
        <p:spPr>
          <a:xfrm flipH="1">
            <a:off x="5033057" y="3175303"/>
            <a:ext cx="1646680" cy="253733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1C40410C-E0BF-4000-A9DB-3D740EA49095}"/>
              </a:ext>
            </a:extLst>
          </p:cNvPr>
          <p:cNvCxnSpPr>
            <a:cxnSpLocks/>
          </p:cNvCxnSpPr>
          <p:nvPr/>
        </p:nvCxnSpPr>
        <p:spPr>
          <a:xfrm flipH="1">
            <a:off x="6117703" y="4085380"/>
            <a:ext cx="3588703" cy="1728835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88B4351E-0796-4AAE-8464-41CE90147771}"/>
              </a:ext>
            </a:extLst>
          </p:cNvPr>
          <p:cNvCxnSpPr>
            <a:cxnSpLocks/>
            <a:stCxn id="41" idx="1"/>
          </p:cNvCxnSpPr>
          <p:nvPr/>
        </p:nvCxnSpPr>
        <p:spPr>
          <a:xfrm flipH="1">
            <a:off x="7101213" y="3613666"/>
            <a:ext cx="2575088" cy="2118856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61F620EE-3352-481F-958F-36954F5F44C3}"/>
              </a:ext>
            </a:extLst>
          </p:cNvPr>
          <p:cNvCxnSpPr>
            <a:cxnSpLocks/>
          </p:cNvCxnSpPr>
          <p:nvPr/>
        </p:nvCxnSpPr>
        <p:spPr>
          <a:xfrm flipH="1">
            <a:off x="7983784" y="3370811"/>
            <a:ext cx="1967688" cy="241393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D0A56F5F-C696-48F2-A837-91E2C12BFA91}"/>
              </a:ext>
            </a:extLst>
          </p:cNvPr>
          <p:cNvCxnSpPr>
            <a:cxnSpLocks/>
          </p:cNvCxnSpPr>
          <p:nvPr/>
        </p:nvCxnSpPr>
        <p:spPr>
          <a:xfrm flipH="1">
            <a:off x="8758108" y="3134790"/>
            <a:ext cx="1334254" cy="264632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9041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2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5" grpId="0"/>
      <p:bldP spid="17" grpId="0"/>
      <p:bldP spid="18" grpId="0"/>
      <p:bldP spid="25" grpId="0"/>
      <p:bldP spid="29" grpId="0"/>
      <p:bldP spid="33" grpId="0"/>
      <p:bldP spid="36" grpId="0"/>
      <p:bldP spid="41" grpId="0"/>
      <p:bldP spid="45" grpId="0"/>
      <p:bldP spid="4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7B5B5-E667-4A92-8362-B48DCCB3F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lSD</a:t>
            </a:r>
            <a:r>
              <a:rPr lang="en-US" dirty="0"/>
              <a:t> RADIX SORT: Iteration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0F1E2A-12F9-464A-974D-2763A2896B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5551" y="1763567"/>
            <a:ext cx="9905998" cy="312420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		[2</a:t>
            </a:r>
            <a:r>
              <a:rPr lang="en-US" dirty="0">
                <a:solidFill>
                  <a:srgbClr val="FF0000"/>
                </a:solidFill>
              </a:rPr>
              <a:t>0</a:t>
            </a:r>
            <a:r>
              <a:rPr lang="en-US" dirty="0"/>
              <a:t>0, 	1</a:t>
            </a:r>
            <a:r>
              <a:rPr lang="en-US" dirty="0">
                <a:solidFill>
                  <a:srgbClr val="FF0000"/>
                </a:solidFill>
              </a:rPr>
              <a:t>2</a:t>
            </a:r>
            <a:r>
              <a:rPr lang="en-US" dirty="0"/>
              <a:t>1, 	0</a:t>
            </a:r>
            <a:r>
              <a:rPr lang="en-US" dirty="0">
                <a:solidFill>
                  <a:srgbClr val="FF0000"/>
                </a:solidFill>
              </a:rPr>
              <a:t>1</a:t>
            </a:r>
            <a:r>
              <a:rPr lang="en-US" dirty="0"/>
              <a:t>2, 	2</a:t>
            </a:r>
            <a:r>
              <a:rPr lang="en-US" dirty="0">
                <a:solidFill>
                  <a:srgbClr val="FF0000"/>
                </a:solidFill>
              </a:rPr>
              <a:t>1</a:t>
            </a:r>
            <a:r>
              <a:rPr lang="en-US" dirty="0"/>
              <a:t>2, 	1</a:t>
            </a:r>
            <a:r>
              <a:rPr lang="en-US" dirty="0">
                <a:solidFill>
                  <a:srgbClr val="FF0000"/>
                </a:solidFill>
              </a:rPr>
              <a:t>0</a:t>
            </a:r>
            <a:r>
              <a:rPr lang="en-US" dirty="0"/>
              <a:t>3, 	0</a:t>
            </a:r>
            <a:r>
              <a:rPr lang="en-US" dirty="0">
                <a:solidFill>
                  <a:srgbClr val="FF0000"/>
                </a:solidFill>
              </a:rPr>
              <a:t>2</a:t>
            </a:r>
            <a:r>
              <a:rPr lang="en-US" dirty="0"/>
              <a:t>3, 	0</a:t>
            </a:r>
            <a:r>
              <a:rPr lang="en-US" dirty="0">
                <a:solidFill>
                  <a:srgbClr val="FF0000"/>
                </a:solidFill>
              </a:rPr>
              <a:t>0</a:t>
            </a:r>
            <a:r>
              <a:rPr lang="en-US" dirty="0"/>
              <a:t>3, 	1</a:t>
            </a:r>
            <a:r>
              <a:rPr lang="en-US" dirty="0">
                <a:solidFill>
                  <a:srgbClr val="FF0000"/>
                </a:solidFill>
              </a:rPr>
              <a:t>1</a:t>
            </a:r>
            <a:r>
              <a:rPr lang="en-US" dirty="0"/>
              <a:t>3]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8" name="Picture 7" descr="Image result for wooden barrel 2d">
            <a:extLst>
              <a:ext uri="{FF2B5EF4-FFF2-40B4-BE49-F238E27FC236}">
                <a16:creationId xmlns:a16="http://schemas.microsoft.com/office/drawing/2014/main" id="{B1FFC977-21F1-4F66-8524-72B1DD52CFE6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4349" y="2876721"/>
            <a:ext cx="993140" cy="99314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 descr="Image result for wooden barrel 2d">
            <a:extLst>
              <a:ext uri="{FF2B5EF4-FFF2-40B4-BE49-F238E27FC236}">
                <a16:creationId xmlns:a16="http://schemas.microsoft.com/office/drawing/2014/main" id="{DD8829B5-DB77-4C08-BD31-4147ADE9BEFB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3769" y="2879043"/>
            <a:ext cx="993140" cy="9931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 descr="Image result for wooden barrel 2d">
            <a:extLst>
              <a:ext uri="{FF2B5EF4-FFF2-40B4-BE49-F238E27FC236}">
                <a16:creationId xmlns:a16="http://schemas.microsoft.com/office/drawing/2014/main" id="{F000854E-01CA-4392-926F-CD2AD72A2972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3189" y="2876721"/>
            <a:ext cx="993140" cy="99314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688715D-6100-4FA0-AF38-FC1AF8A4F99C}"/>
              </a:ext>
            </a:extLst>
          </p:cNvPr>
          <p:cNvSpPr txBox="1"/>
          <p:nvPr/>
        </p:nvSpPr>
        <p:spPr>
          <a:xfrm>
            <a:off x="5331263" y="4065515"/>
            <a:ext cx="10656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 in 10’s place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57E01C7-A647-463A-A7DC-6C46776C886A}"/>
              </a:ext>
            </a:extLst>
          </p:cNvPr>
          <p:cNvSpPr txBox="1"/>
          <p:nvPr/>
        </p:nvSpPr>
        <p:spPr>
          <a:xfrm>
            <a:off x="1427219" y="4744405"/>
            <a:ext cx="33241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Queue Policy – FIFO, back into original array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B65AE13-D2E0-4866-A502-1BAAED131AAE}"/>
              </a:ext>
            </a:extLst>
          </p:cNvPr>
          <p:cNvSpPr txBox="1"/>
          <p:nvPr/>
        </p:nvSpPr>
        <p:spPr>
          <a:xfrm>
            <a:off x="2106351" y="5746459"/>
            <a:ext cx="71144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[200, 	103, 	003, 	012, 	212, 	113, 	121, 	023]</a:t>
            </a:r>
          </a:p>
          <a:p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9139243-5BBC-4A80-A2E4-348B5FF2785D}"/>
              </a:ext>
            </a:extLst>
          </p:cNvPr>
          <p:cNvSpPr txBox="1"/>
          <p:nvPr/>
        </p:nvSpPr>
        <p:spPr>
          <a:xfrm>
            <a:off x="3116225" y="3590276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483DD2E-CD5B-4DCC-9F14-7EDA0CDD334A}"/>
              </a:ext>
            </a:extLst>
          </p:cNvPr>
          <p:cNvSpPr txBox="1"/>
          <p:nvPr/>
        </p:nvSpPr>
        <p:spPr>
          <a:xfrm>
            <a:off x="2904349" y="4063516"/>
            <a:ext cx="10656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 in 10’s place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4A1ED5D-7311-4710-B005-ADAADED817F6}"/>
              </a:ext>
            </a:extLst>
          </p:cNvPr>
          <p:cNvSpPr txBox="1"/>
          <p:nvPr/>
        </p:nvSpPr>
        <p:spPr>
          <a:xfrm>
            <a:off x="7903189" y="4063516"/>
            <a:ext cx="10656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 in 10’s place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DA81066F-B6BB-4A5B-A0AC-4139A3D3E052}"/>
              </a:ext>
            </a:extLst>
          </p:cNvPr>
          <p:cNvCxnSpPr>
            <a:cxnSpLocks/>
          </p:cNvCxnSpPr>
          <p:nvPr/>
        </p:nvCxnSpPr>
        <p:spPr>
          <a:xfrm>
            <a:off x="2455847" y="2397836"/>
            <a:ext cx="792702" cy="131553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D7542BDA-AFFC-46E5-8436-FA95D6F6135D}"/>
              </a:ext>
            </a:extLst>
          </p:cNvPr>
          <p:cNvCxnSpPr>
            <a:cxnSpLocks/>
          </p:cNvCxnSpPr>
          <p:nvPr/>
        </p:nvCxnSpPr>
        <p:spPr>
          <a:xfrm flipH="1">
            <a:off x="3685613" y="2415928"/>
            <a:ext cx="2408799" cy="1000992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4F00D39C-B7BC-4463-9288-8CCA1E343922}"/>
              </a:ext>
            </a:extLst>
          </p:cNvPr>
          <p:cNvSpPr txBox="1"/>
          <p:nvPr/>
        </p:nvSpPr>
        <p:spPr>
          <a:xfrm>
            <a:off x="3097520" y="3246178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103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513A09F1-036A-4276-A79B-C2A4437FBE72}"/>
              </a:ext>
            </a:extLst>
          </p:cNvPr>
          <p:cNvCxnSpPr>
            <a:cxnSpLocks/>
          </p:cNvCxnSpPr>
          <p:nvPr/>
        </p:nvCxnSpPr>
        <p:spPr>
          <a:xfrm flipH="1">
            <a:off x="3622329" y="2343358"/>
            <a:ext cx="4131021" cy="768404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1032B053-1CCF-4287-83C8-65DECC69836E}"/>
              </a:ext>
            </a:extLst>
          </p:cNvPr>
          <p:cNvSpPr txBox="1"/>
          <p:nvPr/>
        </p:nvSpPr>
        <p:spPr>
          <a:xfrm>
            <a:off x="3116225" y="2939451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003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3238B16-C75B-4665-9A90-8F321E8A6139}"/>
              </a:ext>
            </a:extLst>
          </p:cNvPr>
          <p:cNvSpPr txBox="1"/>
          <p:nvPr/>
        </p:nvSpPr>
        <p:spPr>
          <a:xfrm>
            <a:off x="5637581" y="3569669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012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10BF8154-F99E-4863-8299-77ECD4AD3D77}"/>
              </a:ext>
            </a:extLst>
          </p:cNvPr>
          <p:cNvCxnSpPr>
            <a:cxnSpLocks/>
            <a:endCxn id="54" idx="1"/>
          </p:cNvCxnSpPr>
          <p:nvPr/>
        </p:nvCxnSpPr>
        <p:spPr>
          <a:xfrm>
            <a:off x="4271269" y="2412969"/>
            <a:ext cx="1366312" cy="1341366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E4389C22-82C1-4C98-B926-572C6F45DC58}"/>
              </a:ext>
            </a:extLst>
          </p:cNvPr>
          <p:cNvCxnSpPr>
            <a:cxnSpLocks/>
          </p:cNvCxnSpPr>
          <p:nvPr/>
        </p:nvCxnSpPr>
        <p:spPr>
          <a:xfrm>
            <a:off x="5094643" y="2384814"/>
            <a:ext cx="561643" cy="100893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B48C939D-C77D-45BD-A1B4-6F84BEE84D01}"/>
              </a:ext>
            </a:extLst>
          </p:cNvPr>
          <p:cNvSpPr txBox="1"/>
          <p:nvPr/>
        </p:nvSpPr>
        <p:spPr>
          <a:xfrm>
            <a:off x="5656652" y="3236773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212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8979878D-7990-46E0-91ED-E97CD75F6DB0}"/>
              </a:ext>
            </a:extLst>
          </p:cNvPr>
          <p:cNvCxnSpPr>
            <a:cxnSpLocks/>
            <a:endCxn id="64" idx="3"/>
          </p:cNvCxnSpPr>
          <p:nvPr/>
        </p:nvCxnSpPr>
        <p:spPr>
          <a:xfrm flipH="1">
            <a:off x="6226038" y="2420067"/>
            <a:ext cx="2612700" cy="646634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E3C6C131-82AE-44DD-82A9-F487438B7E06}"/>
              </a:ext>
            </a:extLst>
          </p:cNvPr>
          <p:cNvSpPr txBox="1"/>
          <p:nvPr/>
        </p:nvSpPr>
        <p:spPr>
          <a:xfrm>
            <a:off x="5656651" y="2882035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113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A74499F2-36D2-4C37-B6B5-6F955AAB0430}"/>
              </a:ext>
            </a:extLst>
          </p:cNvPr>
          <p:cNvCxnSpPr>
            <a:cxnSpLocks/>
            <a:endCxn id="67" idx="1"/>
          </p:cNvCxnSpPr>
          <p:nvPr/>
        </p:nvCxnSpPr>
        <p:spPr>
          <a:xfrm>
            <a:off x="3328036" y="2453434"/>
            <a:ext cx="4792479" cy="102257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181CB519-594E-4371-A144-495C5E5A1A92}"/>
              </a:ext>
            </a:extLst>
          </p:cNvPr>
          <p:cNvSpPr txBox="1"/>
          <p:nvPr/>
        </p:nvSpPr>
        <p:spPr>
          <a:xfrm>
            <a:off x="8120515" y="3291338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121</a:t>
            </a: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1AC37F72-4BE2-42B0-B562-659CA5CBF65A}"/>
              </a:ext>
            </a:extLst>
          </p:cNvPr>
          <p:cNvCxnSpPr>
            <a:cxnSpLocks/>
          </p:cNvCxnSpPr>
          <p:nvPr/>
        </p:nvCxnSpPr>
        <p:spPr>
          <a:xfrm>
            <a:off x="6904308" y="2374418"/>
            <a:ext cx="1155259" cy="830407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6543BD22-D6D7-44B8-9D83-C7ADF077736D}"/>
              </a:ext>
            </a:extLst>
          </p:cNvPr>
          <p:cNvSpPr txBox="1"/>
          <p:nvPr/>
        </p:nvSpPr>
        <p:spPr>
          <a:xfrm>
            <a:off x="8120515" y="2986631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023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617E9429-B078-43CE-88A7-C6D7E7367059}"/>
              </a:ext>
            </a:extLst>
          </p:cNvPr>
          <p:cNvCxnSpPr>
            <a:cxnSpLocks/>
          </p:cNvCxnSpPr>
          <p:nvPr/>
        </p:nvCxnSpPr>
        <p:spPr>
          <a:xfrm flipH="1">
            <a:off x="2391092" y="3865986"/>
            <a:ext cx="894659" cy="201185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F0DE148D-252E-420C-AECA-2B606044B694}"/>
              </a:ext>
            </a:extLst>
          </p:cNvPr>
          <p:cNvCxnSpPr>
            <a:cxnSpLocks/>
          </p:cNvCxnSpPr>
          <p:nvPr/>
        </p:nvCxnSpPr>
        <p:spPr>
          <a:xfrm flipH="1">
            <a:off x="3431950" y="3518758"/>
            <a:ext cx="14280" cy="2227701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3B6F883C-440A-45F3-B883-C33417218AF9}"/>
              </a:ext>
            </a:extLst>
          </p:cNvPr>
          <p:cNvCxnSpPr>
            <a:cxnSpLocks/>
          </p:cNvCxnSpPr>
          <p:nvPr/>
        </p:nvCxnSpPr>
        <p:spPr>
          <a:xfrm>
            <a:off x="3570492" y="3236773"/>
            <a:ext cx="642371" cy="2509686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DCA7A821-97A5-4434-A1E2-D21159BBCA32}"/>
              </a:ext>
            </a:extLst>
          </p:cNvPr>
          <p:cNvCxnSpPr>
            <a:cxnSpLocks/>
          </p:cNvCxnSpPr>
          <p:nvPr/>
        </p:nvCxnSpPr>
        <p:spPr>
          <a:xfrm flipH="1">
            <a:off x="5033055" y="3879346"/>
            <a:ext cx="788834" cy="1904947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A91503EC-1901-4BF2-B76D-C6549DE43C0B}"/>
              </a:ext>
            </a:extLst>
          </p:cNvPr>
          <p:cNvCxnSpPr>
            <a:cxnSpLocks/>
          </p:cNvCxnSpPr>
          <p:nvPr/>
        </p:nvCxnSpPr>
        <p:spPr>
          <a:xfrm>
            <a:off x="5961285" y="3497792"/>
            <a:ext cx="94416" cy="236802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0D0E3039-58A8-4A81-8C9D-232C71F93E40}"/>
              </a:ext>
            </a:extLst>
          </p:cNvPr>
          <p:cNvCxnSpPr>
            <a:cxnSpLocks/>
          </p:cNvCxnSpPr>
          <p:nvPr/>
        </p:nvCxnSpPr>
        <p:spPr>
          <a:xfrm>
            <a:off x="6055701" y="3185000"/>
            <a:ext cx="848607" cy="2542332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EFCB4D7F-B7C0-47FF-97A5-E9E0D03C0282}"/>
              </a:ext>
            </a:extLst>
          </p:cNvPr>
          <p:cNvCxnSpPr>
            <a:cxnSpLocks/>
            <a:stCxn id="67" idx="2"/>
          </p:cNvCxnSpPr>
          <p:nvPr/>
        </p:nvCxnSpPr>
        <p:spPr>
          <a:xfrm flipH="1">
            <a:off x="7839070" y="3660670"/>
            <a:ext cx="566139" cy="212362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C2F86EDA-55F0-47CC-A021-E46008842415}"/>
              </a:ext>
            </a:extLst>
          </p:cNvPr>
          <p:cNvCxnSpPr>
            <a:cxnSpLocks/>
          </p:cNvCxnSpPr>
          <p:nvPr/>
        </p:nvCxnSpPr>
        <p:spPr>
          <a:xfrm>
            <a:off x="8418729" y="3285479"/>
            <a:ext cx="477600" cy="2498814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2151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3" grpId="0"/>
      <p:bldP spid="15" grpId="0"/>
      <p:bldP spid="17" grpId="0"/>
      <p:bldP spid="18" grpId="0"/>
      <p:bldP spid="38" grpId="0"/>
      <p:bldP spid="40" grpId="0"/>
      <p:bldP spid="46" grpId="0"/>
      <p:bldP spid="51" grpId="0"/>
      <p:bldP spid="54" grpId="0"/>
      <p:bldP spid="60" grpId="0"/>
      <p:bldP spid="64" grpId="0"/>
      <p:bldP spid="67" grpId="0"/>
      <p:bldP spid="7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7B5B5-E667-4A92-8362-B48DCCB3F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lSD</a:t>
            </a:r>
            <a:r>
              <a:rPr lang="en-US" dirty="0"/>
              <a:t> RADIX SORT: Iteration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0F1E2A-12F9-464A-974D-2763A2896B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5551" y="1763567"/>
            <a:ext cx="9905998" cy="312420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		[</a:t>
            </a:r>
            <a:r>
              <a:rPr lang="en-US" dirty="0">
                <a:solidFill>
                  <a:srgbClr val="FF0000"/>
                </a:solidFill>
              </a:rPr>
              <a:t>2</a:t>
            </a:r>
            <a:r>
              <a:rPr lang="en-US" dirty="0"/>
              <a:t>00, 	</a:t>
            </a:r>
            <a:r>
              <a:rPr lang="en-US" dirty="0">
                <a:solidFill>
                  <a:srgbClr val="FF0000"/>
                </a:solidFill>
              </a:rPr>
              <a:t>1</a:t>
            </a:r>
            <a:r>
              <a:rPr lang="en-US" dirty="0"/>
              <a:t>03, 	</a:t>
            </a:r>
            <a:r>
              <a:rPr lang="en-US" dirty="0">
                <a:solidFill>
                  <a:srgbClr val="FF0000"/>
                </a:solidFill>
              </a:rPr>
              <a:t>0</a:t>
            </a:r>
            <a:r>
              <a:rPr lang="en-US" dirty="0"/>
              <a:t>03, 	</a:t>
            </a:r>
            <a:r>
              <a:rPr lang="en-US" dirty="0">
                <a:solidFill>
                  <a:srgbClr val="FF0000"/>
                </a:solidFill>
              </a:rPr>
              <a:t>0</a:t>
            </a:r>
            <a:r>
              <a:rPr lang="en-US" dirty="0"/>
              <a:t>12, 	</a:t>
            </a:r>
            <a:r>
              <a:rPr lang="en-US" dirty="0">
                <a:solidFill>
                  <a:srgbClr val="FF0000"/>
                </a:solidFill>
              </a:rPr>
              <a:t>2</a:t>
            </a:r>
            <a:r>
              <a:rPr lang="en-US" dirty="0"/>
              <a:t>12, 	</a:t>
            </a:r>
            <a:r>
              <a:rPr lang="en-US" dirty="0">
                <a:solidFill>
                  <a:srgbClr val="FF0000"/>
                </a:solidFill>
              </a:rPr>
              <a:t>1</a:t>
            </a:r>
            <a:r>
              <a:rPr lang="en-US" dirty="0"/>
              <a:t>13, 	</a:t>
            </a:r>
            <a:r>
              <a:rPr lang="en-US" dirty="0">
                <a:solidFill>
                  <a:srgbClr val="FF0000"/>
                </a:solidFill>
              </a:rPr>
              <a:t>1</a:t>
            </a:r>
            <a:r>
              <a:rPr lang="en-US" dirty="0"/>
              <a:t>21, 	</a:t>
            </a:r>
            <a:r>
              <a:rPr lang="en-US" dirty="0">
                <a:solidFill>
                  <a:srgbClr val="FF0000"/>
                </a:solidFill>
              </a:rPr>
              <a:t>0</a:t>
            </a:r>
            <a:r>
              <a:rPr lang="en-US" dirty="0"/>
              <a:t>23]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8" name="Picture 7" descr="Image result for wooden barrel 2d">
            <a:extLst>
              <a:ext uri="{FF2B5EF4-FFF2-40B4-BE49-F238E27FC236}">
                <a16:creationId xmlns:a16="http://schemas.microsoft.com/office/drawing/2014/main" id="{B1FFC977-21F1-4F66-8524-72B1DD52CFE6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4349" y="2876721"/>
            <a:ext cx="993140" cy="99314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 descr="Image result for wooden barrel 2d">
            <a:extLst>
              <a:ext uri="{FF2B5EF4-FFF2-40B4-BE49-F238E27FC236}">
                <a16:creationId xmlns:a16="http://schemas.microsoft.com/office/drawing/2014/main" id="{DD8829B5-DB77-4C08-BD31-4147ADE9BEFB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3769" y="2879043"/>
            <a:ext cx="993140" cy="9931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 descr="Image result for wooden barrel 2d">
            <a:extLst>
              <a:ext uri="{FF2B5EF4-FFF2-40B4-BE49-F238E27FC236}">
                <a16:creationId xmlns:a16="http://schemas.microsoft.com/office/drawing/2014/main" id="{F000854E-01CA-4392-926F-CD2AD72A2972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3189" y="2876721"/>
            <a:ext cx="993140" cy="99314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688715D-6100-4FA0-AF38-FC1AF8A4F99C}"/>
              </a:ext>
            </a:extLst>
          </p:cNvPr>
          <p:cNvSpPr txBox="1"/>
          <p:nvPr/>
        </p:nvSpPr>
        <p:spPr>
          <a:xfrm>
            <a:off x="5331262" y="4065515"/>
            <a:ext cx="11789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 in 100’s place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57E01C7-A647-463A-A7DC-6C46776C886A}"/>
              </a:ext>
            </a:extLst>
          </p:cNvPr>
          <p:cNvSpPr txBox="1"/>
          <p:nvPr/>
        </p:nvSpPr>
        <p:spPr>
          <a:xfrm>
            <a:off x="1427219" y="4744405"/>
            <a:ext cx="33241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Queue Policy – FIFO, back into original array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B65AE13-D2E0-4866-A502-1BAAED131AAE}"/>
              </a:ext>
            </a:extLst>
          </p:cNvPr>
          <p:cNvSpPr txBox="1"/>
          <p:nvPr/>
        </p:nvSpPr>
        <p:spPr>
          <a:xfrm>
            <a:off x="2106351" y="5746459"/>
            <a:ext cx="71144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[003, 	012, 	023, 	103, 	113, 	121, 	200, 	212]</a:t>
            </a:r>
          </a:p>
          <a:p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9139243-5BBC-4A80-A2E4-348B5FF2785D}"/>
              </a:ext>
            </a:extLst>
          </p:cNvPr>
          <p:cNvSpPr txBox="1"/>
          <p:nvPr/>
        </p:nvSpPr>
        <p:spPr>
          <a:xfrm>
            <a:off x="3116225" y="3590276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003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483DD2E-CD5B-4DCC-9F14-7EDA0CDD334A}"/>
              </a:ext>
            </a:extLst>
          </p:cNvPr>
          <p:cNvSpPr txBox="1"/>
          <p:nvPr/>
        </p:nvSpPr>
        <p:spPr>
          <a:xfrm>
            <a:off x="2904348" y="4063516"/>
            <a:ext cx="11914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 in 100’s place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4A1ED5D-7311-4710-B005-ADAADED817F6}"/>
              </a:ext>
            </a:extLst>
          </p:cNvPr>
          <p:cNvSpPr txBox="1"/>
          <p:nvPr/>
        </p:nvSpPr>
        <p:spPr>
          <a:xfrm>
            <a:off x="7804059" y="4055649"/>
            <a:ext cx="1191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 in 100’s place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7A4653C1-B195-4655-BD73-F40F8D0A90AD}"/>
              </a:ext>
            </a:extLst>
          </p:cNvPr>
          <p:cNvCxnSpPr>
            <a:cxnSpLocks/>
          </p:cNvCxnSpPr>
          <p:nvPr/>
        </p:nvCxnSpPr>
        <p:spPr>
          <a:xfrm flipH="1">
            <a:off x="3500048" y="2373753"/>
            <a:ext cx="542353" cy="133404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DE284074-891B-47E2-95E1-B8066C12EFD9}"/>
              </a:ext>
            </a:extLst>
          </p:cNvPr>
          <p:cNvCxnSpPr>
            <a:cxnSpLocks/>
          </p:cNvCxnSpPr>
          <p:nvPr/>
        </p:nvCxnSpPr>
        <p:spPr>
          <a:xfrm flipH="1">
            <a:off x="3400918" y="2348398"/>
            <a:ext cx="1646062" cy="1040746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AC848641-0755-4DE5-BB3A-33B721E4121F}"/>
              </a:ext>
            </a:extLst>
          </p:cNvPr>
          <p:cNvSpPr txBox="1"/>
          <p:nvPr/>
        </p:nvSpPr>
        <p:spPr>
          <a:xfrm>
            <a:off x="3116225" y="3260170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012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A791DF8-BB6D-4482-8346-E5A265BCDFD8}"/>
              </a:ext>
            </a:extLst>
          </p:cNvPr>
          <p:cNvSpPr txBox="1"/>
          <p:nvPr/>
        </p:nvSpPr>
        <p:spPr>
          <a:xfrm>
            <a:off x="3110906" y="2966062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023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9FDFD561-DA50-4974-8F3E-2C9C9B53D3C3}"/>
              </a:ext>
            </a:extLst>
          </p:cNvPr>
          <p:cNvCxnSpPr>
            <a:cxnSpLocks/>
          </p:cNvCxnSpPr>
          <p:nvPr/>
        </p:nvCxnSpPr>
        <p:spPr>
          <a:xfrm flipH="1">
            <a:off x="3495910" y="2358889"/>
            <a:ext cx="5267090" cy="681884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3402AA2D-55B0-4091-8A90-0B452D1EF8D8}"/>
              </a:ext>
            </a:extLst>
          </p:cNvPr>
          <p:cNvSpPr txBox="1"/>
          <p:nvPr/>
        </p:nvSpPr>
        <p:spPr>
          <a:xfrm>
            <a:off x="5614640" y="3562547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103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E752341E-5250-43D9-882E-3F1BDE25C2FE}"/>
              </a:ext>
            </a:extLst>
          </p:cNvPr>
          <p:cNvCxnSpPr>
            <a:cxnSpLocks/>
            <a:endCxn id="48" idx="1"/>
          </p:cNvCxnSpPr>
          <p:nvPr/>
        </p:nvCxnSpPr>
        <p:spPr>
          <a:xfrm>
            <a:off x="3326091" y="2557049"/>
            <a:ext cx="2288549" cy="1190164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C1C1CD4C-075D-4E0C-83D2-3B874011BC03}"/>
              </a:ext>
            </a:extLst>
          </p:cNvPr>
          <p:cNvCxnSpPr>
            <a:cxnSpLocks/>
          </p:cNvCxnSpPr>
          <p:nvPr/>
        </p:nvCxnSpPr>
        <p:spPr>
          <a:xfrm flipH="1">
            <a:off x="6078029" y="2447059"/>
            <a:ext cx="871131" cy="82321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AAC347B3-9FEA-4AE4-95BA-B2EAA04FC9F1}"/>
              </a:ext>
            </a:extLst>
          </p:cNvPr>
          <p:cNvSpPr txBox="1"/>
          <p:nvPr/>
        </p:nvSpPr>
        <p:spPr>
          <a:xfrm>
            <a:off x="5628924" y="3229742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113</a:t>
            </a: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B3162729-F86D-4985-9C50-2EEC9B7664AD}"/>
              </a:ext>
            </a:extLst>
          </p:cNvPr>
          <p:cNvCxnSpPr>
            <a:cxnSpLocks/>
          </p:cNvCxnSpPr>
          <p:nvPr/>
        </p:nvCxnSpPr>
        <p:spPr>
          <a:xfrm flipH="1">
            <a:off x="6085995" y="2308287"/>
            <a:ext cx="1784012" cy="751554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06FA5FC8-ACAD-4B2F-9B8B-6C6DBDEC2CAD}"/>
              </a:ext>
            </a:extLst>
          </p:cNvPr>
          <p:cNvSpPr txBox="1"/>
          <p:nvPr/>
        </p:nvSpPr>
        <p:spPr>
          <a:xfrm>
            <a:off x="5619029" y="2867215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121</a:t>
            </a: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FF6DF07F-2EDF-4C48-9544-344C748674A1}"/>
              </a:ext>
            </a:extLst>
          </p:cNvPr>
          <p:cNvCxnSpPr>
            <a:cxnSpLocks/>
            <a:endCxn id="74" idx="1"/>
          </p:cNvCxnSpPr>
          <p:nvPr/>
        </p:nvCxnSpPr>
        <p:spPr>
          <a:xfrm>
            <a:off x="2647517" y="2408050"/>
            <a:ext cx="5465538" cy="1175316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2726B0B2-D35F-4FE2-955D-4928F4D4647D}"/>
              </a:ext>
            </a:extLst>
          </p:cNvPr>
          <p:cNvSpPr txBox="1"/>
          <p:nvPr/>
        </p:nvSpPr>
        <p:spPr>
          <a:xfrm>
            <a:off x="8113055" y="3398700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200</a:t>
            </a: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9C6FA8E1-6F41-4464-ACA0-0C88571666B4}"/>
              </a:ext>
            </a:extLst>
          </p:cNvPr>
          <p:cNvCxnSpPr>
            <a:cxnSpLocks/>
          </p:cNvCxnSpPr>
          <p:nvPr/>
        </p:nvCxnSpPr>
        <p:spPr>
          <a:xfrm>
            <a:off x="5971429" y="2361914"/>
            <a:ext cx="2174808" cy="93041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4FCBF98E-3F69-4186-8052-257C0B516182}"/>
              </a:ext>
            </a:extLst>
          </p:cNvPr>
          <p:cNvSpPr txBox="1"/>
          <p:nvPr/>
        </p:nvSpPr>
        <p:spPr>
          <a:xfrm>
            <a:off x="8113055" y="3108979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212</a:t>
            </a:r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25940D56-09C5-44CC-8BFF-4A6F247BFB8E}"/>
              </a:ext>
            </a:extLst>
          </p:cNvPr>
          <p:cNvCxnSpPr>
            <a:cxnSpLocks/>
          </p:cNvCxnSpPr>
          <p:nvPr/>
        </p:nvCxnSpPr>
        <p:spPr>
          <a:xfrm flipH="1">
            <a:off x="2568554" y="3848899"/>
            <a:ext cx="706618" cy="202219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FA9E3257-78B1-4AB3-AAE2-1EAFC896EE79}"/>
              </a:ext>
            </a:extLst>
          </p:cNvPr>
          <p:cNvCxnSpPr>
            <a:cxnSpLocks/>
            <a:stCxn id="41" idx="2"/>
          </p:cNvCxnSpPr>
          <p:nvPr/>
        </p:nvCxnSpPr>
        <p:spPr>
          <a:xfrm flipH="1">
            <a:off x="3326093" y="3629502"/>
            <a:ext cx="74826" cy="2176611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181843E7-21A5-4A99-A2E6-D17B56F82839}"/>
              </a:ext>
            </a:extLst>
          </p:cNvPr>
          <p:cNvCxnSpPr>
            <a:cxnSpLocks/>
            <a:stCxn id="45" idx="3"/>
          </p:cNvCxnSpPr>
          <p:nvPr/>
        </p:nvCxnSpPr>
        <p:spPr>
          <a:xfrm>
            <a:off x="3680293" y="3150728"/>
            <a:ext cx="476449" cy="2615508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33243A49-CAD0-4BC1-8804-560D9E848444}"/>
              </a:ext>
            </a:extLst>
          </p:cNvPr>
          <p:cNvCxnSpPr>
            <a:cxnSpLocks/>
          </p:cNvCxnSpPr>
          <p:nvPr/>
        </p:nvCxnSpPr>
        <p:spPr>
          <a:xfrm flipH="1">
            <a:off x="5103711" y="3858571"/>
            <a:ext cx="840054" cy="1947542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F3D8882D-7FD6-4998-9300-8C7DC0D313C9}"/>
              </a:ext>
            </a:extLst>
          </p:cNvPr>
          <p:cNvCxnSpPr>
            <a:cxnSpLocks/>
          </p:cNvCxnSpPr>
          <p:nvPr/>
        </p:nvCxnSpPr>
        <p:spPr>
          <a:xfrm flipH="1">
            <a:off x="6074618" y="3548539"/>
            <a:ext cx="54837" cy="227260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DAFE8CB7-1A66-4F43-B9AF-4929D1728F3D}"/>
              </a:ext>
            </a:extLst>
          </p:cNvPr>
          <p:cNvCxnSpPr>
            <a:cxnSpLocks/>
          </p:cNvCxnSpPr>
          <p:nvPr/>
        </p:nvCxnSpPr>
        <p:spPr>
          <a:xfrm>
            <a:off x="5971429" y="3119493"/>
            <a:ext cx="942022" cy="2667194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E1BA92A0-4060-4A0F-B645-695FA1848BC1}"/>
              </a:ext>
            </a:extLst>
          </p:cNvPr>
          <p:cNvCxnSpPr>
            <a:cxnSpLocks/>
            <a:stCxn id="74" idx="2"/>
          </p:cNvCxnSpPr>
          <p:nvPr/>
        </p:nvCxnSpPr>
        <p:spPr>
          <a:xfrm flipH="1">
            <a:off x="7903189" y="3768032"/>
            <a:ext cx="494560" cy="1998204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53CDDE76-69D6-4ADB-B20D-8418A2C1A934}"/>
              </a:ext>
            </a:extLst>
          </p:cNvPr>
          <p:cNvCxnSpPr>
            <a:cxnSpLocks/>
          </p:cNvCxnSpPr>
          <p:nvPr/>
        </p:nvCxnSpPr>
        <p:spPr>
          <a:xfrm>
            <a:off x="8661618" y="3356074"/>
            <a:ext cx="234711" cy="245003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22FD786C-9923-4663-B447-E8D53DF468E0}"/>
              </a:ext>
            </a:extLst>
          </p:cNvPr>
          <p:cNvSpPr txBox="1"/>
          <p:nvPr/>
        </p:nvSpPr>
        <p:spPr>
          <a:xfrm>
            <a:off x="8896329" y="6258815"/>
            <a:ext cx="3167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Done! Array is now sorted!</a:t>
            </a:r>
          </a:p>
        </p:txBody>
      </p:sp>
    </p:spTree>
    <p:extLst>
      <p:ext uri="{BB962C8B-B14F-4D97-AF65-F5344CB8AC3E}">
        <p14:creationId xmlns:p14="http://schemas.microsoft.com/office/powerpoint/2010/main" val="3522340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3" grpId="0"/>
      <p:bldP spid="15" grpId="0"/>
      <p:bldP spid="17" grpId="0"/>
      <p:bldP spid="18" grpId="0"/>
      <p:bldP spid="38" grpId="0"/>
      <p:bldP spid="40" grpId="0"/>
      <p:bldP spid="41" grpId="0"/>
      <p:bldP spid="45" grpId="0"/>
      <p:bldP spid="48" grpId="0"/>
      <p:bldP spid="55" grpId="0"/>
      <p:bldP spid="69" grpId="0"/>
      <p:bldP spid="74" grpId="0"/>
      <p:bldP spid="7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39F6C-0688-40D5-BD22-CDDCABD4C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So… What’s the Runtime?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B22FD5A-11B7-4DAD-8F57-32D2019D131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Let w be the number of digits we have.</a:t>
                </a:r>
              </a:p>
              <a:p>
                <a:r>
                  <a:rPr lang="en-US" dirty="0"/>
                  <a:t>Then, the runtime is: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B22FD5A-11B7-4DAD-8F57-32D2019D13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66599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9F5C-AC32-4930-A948-734CFA519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Uh, okay, but how does this compare to </a:t>
            </a:r>
            <a:br>
              <a:rPr lang="en-US" dirty="0"/>
            </a:br>
            <a:r>
              <a:rPr lang="en-US" dirty="0"/>
              <a:t>n log 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2D97E9-7533-4FF8-8EEE-68870D26FC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boils down to a </a:t>
            </a:r>
            <a:r>
              <a:rPr lang="en-US" b="1" dirty="0">
                <a:solidFill>
                  <a:srgbClr val="FF0000"/>
                </a:solidFill>
              </a:rPr>
              <a:t>PRACTICAL </a:t>
            </a:r>
            <a:r>
              <a:rPr lang="en-US" dirty="0"/>
              <a:t>Improvement, not an </a:t>
            </a:r>
            <a:r>
              <a:rPr lang="en-US" b="1" dirty="0"/>
              <a:t>ASYMPTOTIC </a:t>
            </a:r>
            <a:r>
              <a:rPr lang="en-US" dirty="0"/>
              <a:t>Performance.</a:t>
            </a:r>
          </a:p>
          <a:p>
            <a:endParaRPr lang="en-US" dirty="0"/>
          </a:p>
          <a:p>
            <a:r>
              <a:rPr lang="en-US" dirty="0"/>
              <a:t>Suppose we have 1,000 items in a collection, and 3-digit numbers</a:t>
            </a:r>
          </a:p>
          <a:p>
            <a:r>
              <a:rPr lang="en-US" dirty="0"/>
              <a:t>Is it possible to have 1001 distinct values for 3-digit numbers? Nope.</a:t>
            </a:r>
          </a:p>
          <a:p>
            <a:r>
              <a:rPr lang="en-US" dirty="0"/>
              <a:t>So…in order for log(n) to increase beyond </a:t>
            </a:r>
            <a:r>
              <a:rPr lang="en-US" b="1" dirty="0"/>
              <a:t>w, </a:t>
            </a:r>
            <a:r>
              <a:rPr lang="en-US" dirty="0"/>
              <a:t>we need to allow duplicates.</a:t>
            </a:r>
          </a:p>
        </p:txBody>
      </p:sp>
    </p:spTree>
    <p:extLst>
      <p:ext uri="{BB962C8B-B14F-4D97-AF65-F5344CB8AC3E}">
        <p14:creationId xmlns:p14="http://schemas.microsoft.com/office/powerpoint/2010/main" val="2958551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0C0DC-0D20-4762-817C-A860E9AAB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Thus, we have the following: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17B458-FDBD-4EC3-9CA2-E033D488F6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there are distinct values, log(n) can be at most equal to </a:t>
            </a:r>
            <a:r>
              <a:rPr lang="en-US" b="1" dirty="0"/>
              <a:t>w</a:t>
            </a:r>
            <a:r>
              <a:rPr lang="en-US" dirty="0"/>
              <a:t>.</a:t>
            </a:r>
          </a:p>
          <a:p>
            <a:r>
              <a:rPr lang="en-US" dirty="0"/>
              <a:t>If the collection contains less than the max number of distinct values for whatever </a:t>
            </a:r>
            <a:r>
              <a:rPr lang="en-US" b="1" dirty="0"/>
              <a:t>w</a:t>
            </a:r>
            <a:r>
              <a:rPr lang="en-US" dirty="0"/>
              <a:t> is, log(n) will be practically lower than </a:t>
            </a:r>
            <a:r>
              <a:rPr lang="en-US" b="1" dirty="0"/>
              <a:t>w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99226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F14AD-8D90-49EE-A252-D87DA356B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In-Place/Stability of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574CB9-D63C-4A94-AF6B-AB50484862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</a:t>
            </a:r>
            <a:r>
              <a:rPr lang="en-US" b="1" dirty="0"/>
              <a:t> In-Place </a:t>
            </a:r>
            <a:r>
              <a:rPr lang="en-US" dirty="0"/>
              <a:t>Algorithm is an algorithm that does not require additional memory.</a:t>
            </a:r>
          </a:p>
          <a:p>
            <a:r>
              <a:rPr lang="en-US" dirty="0"/>
              <a:t>A </a:t>
            </a:r>
            <a:r>
              <a:rPr lang="en-US" b="1" dirty="0"/>
              <a:t>Stable Algorithm</a:t>
            </a:r>
            <a:r>
              <a:rPr lang="en-US" dirty="0"/>
              <a:t> is an algorithm that maintains relative ordering. </a:t>
            </a:r>
          </a:p>
        </p:txBody>
      </p:sp>
    </p:spTree>
    <p:extLst>
      <p:ext uri="{BB962C8B-B14F-4D97-AF65-F5344CB8AC3E}">
        <p14:creationId xmlns:p14="http://schemas.microsoft.com/office/powerpoint/2010/main" val="3756342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026BE-2406-45E3-AD16-972310BE7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Radix Sort: In-Place/Stability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069821-BC84-4954-BACA-0F03F48772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Radix Sort is not </a:t>
            </a:r>
            <a:r>
              <a:rPr lang="en-US" b="1" dirty="0"/>
              <a:t>In-Place</a:t>
            </a:r>
            <a:r>
              <a:rPr lang="en-US" dirty="0"/>
              <a:t>: We have to move items into an auxiliary Array, then copy back.</a:t>
            </a:r>
          </a:p>
          <a:p>
            <a:r>
              <a:rPr lang="en-US" dirty="0"/>
              <a:t>Radix Sort is </a:t>
            </a:r>
            <a:r>
              <a:rPr lang="en-US" b="1" dirty="0"/>
              <a:t>Stable</a:t>
            </a:r>
            <a:r>
              <a:rPr lang="en-US" dirty="0"/>
              <a:t>, as it maintains the relative ordering among digits to not lose much work.</a:t>
            </a:r>
          </a:p>
        </p:txBody>
      </p:sp>
    </p:spTree>
    <p:extLst>
      <p:ext uri="{BB962C8B-B14F-4D97-AF65-F5344CB8AC3E}">
        <p14:creationId xmlns:p14="http://schemas.microsoft.com/office/powerpoint/2010/main" val="3102877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A9E023"/>
      </a:accent1>
      <a:accent2>
        <a:srgbClr val="1FCDB6"/>
      </a:accent2>
      <a:accent3>
        <a:srgbClr val="5F99C9"/>
      </a:accent3>
      <a:accent4>
        <a:srgbClr val="AE65D1"/>
      </a:accent4>
      <a:accent5>
        <a:srgbClr val="D06423"/>
      </a:accent5>
      <a:accent6>
        <a:srgbClr val="DCAB11"/>
      </a:accent6>
      <a:hlink>
        <a:srgbClr val="ADE133"/>
      </a:hlink>
      <a:folHlink>
        <a:srgbClr val="C2EA66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1FEE2289-88FB-467C-9C9A-54F3C85768F0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651E360FFF8E045BC9E794BF0F8E060" ma:contentTypeVersion="4" ma:contentTypeDescription="Create a new document." ma:contentTypeScope="" ma:versionID="601fb0477c1a00ea6c9cdda8af407385">
  <xsd:schema xmlns:xsd="http://www.w3.org/2001/XMLSchema" xmlns:xs="http://www.w3.org/2001/XMLSchema" xmlns:p="http://schemas.microsoft.com/office/2006/metadata/properties" xmlns:ns3="b12b050b-08b8-4c9a-9e6b-d2ba71f76ee2" targetNamespace="http://schemas.microsoft.com/office/2006/metadata/properties" ma:root="true" ma:fieldsID="f3c9c52ccd6619c053e6551ce3886dd6" ns3:_="">
    <xsd:import namespace="b12b050b-08b8-4c9a-9e6b-d2ba71f76ee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2b050b-08b8-4c9a-9e6b-d2ba71f76ee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2A8F262-ADEB-426B-9547-C1288F064D3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12b050b-08b8-4c9a-9e6b-d2ba71f76ee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AD6361B-42F3-4F16-BF0D-EEAD814363A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1D625F4-66D5-475F-926E-637DA85674DA}">
  <ds:schemaRefs>
    <ds:schemaRef ds:uri="b12b050b-08b8-4c9a-9e6b-d2ba71f76ee2"/>
    <ds:schemaRef ds:uri="http://www.w3.org/XML/1998/namespace"/>
    <ds:schemaRef ds:uri="http://schemas.openxmlformats.org/package/2006/metadata/core-properties"/>
    <ds:schemaRef ds:uri="http://schemas.microsoft.com/office/2006/metadata/properties"/>
    <ds:schemaRef ds:uri="http://purl.org/dc/dcmitype/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TM03457485[[fn=Mesh]]</Template>
  <TotalTime>4598</TotalTime>
  <Words>1248</Words>
  <Application>Microsoft Office PowerPoint</Application>
  <PresentationFormat>Widescreen</PresentationFormat>
  <Paragraphs>135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Cambria Math</vt:lpstr>
      <vt:lpstr>Century Gothic</vt:lpstr>
      <vt:lpstr>Mesh</vt:lpstr>
      <vt:lpstr>CS 1501: Algorithm Analysis</vt:lpstr>
      <vt:lpstr>A brief note on these slides</vt:lpstr>
      <vt:lpstr>Metrics </vt:lpstr>
      <vt:lpstr>Simple orders of growth</vt:lpstr>
      <vt:lpstr>Asymptotic Performance</vt:lpstr>
      <vt:lpstr>Some definitions</vt:lpstr>
      <vt:lpstr>Formal Definitions</vt:lpstr>
      <vt:lpstr>Sorting</vt:lpstr>
      <vt:lpstr>Quick Review</vt:lpstr>
      <vt:lpstr>What are the similarities?</vt:lpstr>
      <vt:lpstr>A corollary</vt:lpstr>
      <vt:lpstr>Non-comparison-based Sorting</vt:lpstr>
      <vt:lpstr>LSD Radix Sort: Example</vt:lpstr>
      <vt:lpstr>lSD RADIX SORT: Iteration 1</vt:lpstr>
      <vt:lpstr>lSD RADIX SORT: Iteration 2</vt:lpstr>
      <vt:lpstr>lSD RADIX SORT: Iteration 3</vt:lpstr>
      <vt:lpstr>So… What’s the Runtime?</vt:lpstr>
      <vt:lpstr>Uh, okay, but how does this compare to  n log n</vt:lpstr>
      <vt:lpstr>Thus, we have the following:</vt:lpstr>
      <vt:lpstr>In-Place/Stability of Algorithms</vt:lpstr>
      <vt:lpstr>Radix Sort: In-Place/Stability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1501: Algorithm Analysis</dc:title>
  <dc:creator>Lu, Gordon</dc:creator>
  <cp:lastModifiedBy>Lu, Gordon</cp:lastModifiedBy>
  <cp:revision>9</cp:revision>
  <dcterms:created xsi:type="dcterms:W3CDTF">2020-07-29T00:59:30Z</dcterms:created>
  <dcterms:modified xsi:type="dcterms:W3CDTF">2020-08-01T05:48:33Z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0x0101004651E360FFF8E045BC9E794BF0F8E060</vt:lpwstr>
  </property>
</Properties>
</file>