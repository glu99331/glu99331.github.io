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3" r:id="rId4"/>
  </p:sldMasterIdLst>
  <p:sldIdLst>
    <p:sldId id="256" r:id="rId5"/>
    <p:sldId id="297" r:id="rId6"/>
    <p:sldId id="257" r:id="rId7"/>
    <p:sldId id="258" r:id="rId8"/>
    <p:sldId id="259" r:id="rId9"/>
    <p:sldId id="260" r:id="rId10"/>
    <p:sldId id="27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12F20D-4DA2-409E-AAC0-0DAEDF4C32B9}" v="858" dt="2020-07-31T23:50:47.3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057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7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178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56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10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6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5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374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586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326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48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EDA4C203-3353-45B6-92C6-78F0A2901DB5}" type="datetimeFigureOut">
              <a:rPr lang="en-US" smtClean="0"/>
              <a:t>8/13/2020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4" r:id="rId1"/>
    <p:sldLayoutId id="2147483895" r:id="rId2"/>
    <p:sldLayoutId id="2147483896" r:id="rId3"/>
    <p:sldLayoutId id="2147483897" r:id="rId4"/>
    <p:sldLayoutId id="2147483898" r:id="rId5"/>
    <p:sldLayoutId id="2147483899" r:id="rId6"/>
    <p:sldLayoutId id="2147483900" r:id="rId7"/>
    <p:sldLayoutId id="2147483901" r:id="rId8"/>
    <p:sldLayoutId id="2147483902" r:id="rId9"/>
    <p:sldLayoutId id="2147483903" r:id="rId10"/>
    <p:sldLayoutId id="2147483904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3000"/>
                <a:shade val="98000"/>
                <a:satMod val="150000"/>
                <a:lumMod val="102000"/>
              </a:schemeClr>
            </a:gs>
            <a:gs pos="50000">
              <a:schemeClr val="bg2">
                <a:tint val="98000"/>
                <a:shade val="90000"/>
                <a:satMod val="13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25ED-CE20-4260-A723-6C559CEE0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2483" y="821265"/>
            <a:ext cx="6098705" cy="5222117"/>
          </a:xfrm>
        </p:spPr>
        <p:txBody>
          <a:bodyPr anchor="ctr">
            <a:normAutofit/>
          </a:bodyPr>
          <a:lstStyle/>
          <a:p>
            <a:pPr algn="r"/>
            <a:r>
              <a:rPr lang="en-US" sz="5400" dirty="0">
                <a:solidFill>
                  <a:schemeClr val="tx1"/>
                </a:solidFill>
              </a:rPr>
              <a:t>CS 1501: Algorithm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DA9EAE-84EA-4695-84F8-F9D3685698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03028" y="821265"/>
            <a:ext cx="3265713" cy="5222117"/>
          </a:xfrm>
        </p:spPr>
        <p:txBody>
          <a:bodyPr anchor="ctr">
            <a:normAutofit/>
          </a:bodyPr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8524489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92559-7F14-4F93-96B0-9F4F08270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note on these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27C56-47D1-4ECC-83E5-5345C34C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Visually, slides don’t look the most appealing….</a:t>
            </a:r>
          </a:p>
          <a:p>
            <a:r>
              <a:rPr lang="en-US" dirty="0"/>
              <a:t>Work best in present mode! Each algorithm is animated, so all the messy stuff is from all the animations…</a:t>
            </a:r>
          </a:p>
        </p:txBody>
      </p:sp>
    </p:spTree>
    <p:extLst>
      <p:ext uri="{BB962C8B-B14F-4D97-AF65-F5344CB8AC3E}">
        <p14:creationId xmlns:p14="http://schemas.microsoft.com/office/powerpoint/2010/main" val="3196868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3D7A-3E58-4BF0-94DF-7F84B7530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7FAE-A409-443C-8ABD-D9F712965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Engineering Effort: </a:t>
            </a:r>
            <a:r>
              <a:rPr lang="en-US" dirty="0"/>
              <a:t>How difficult it is to implement?</a:t>
            </a:r>
          </a:p>
          <a:p>
            <a:r>
              <a:rPr lang="en-US" b="1" dirty="0"/>
              <a:t>Runtime: </a:t>
            </a:r>
            <a:r>
              <a:rPr lang="en-US" dirty="0"/>
              <a:t>How much time does your program take?</a:t>
            </a:r>
          </a:p>
          <a:p>
            <a:r>
              <a:rPr lang="en-US" b="1" dirty="0"/>
              <a:t>Space: </a:t>
            </a:r>
            <a:r>
              <a:rPr lang="en-US" dirty="0"/>
              <a:t>How intensive is your program on memory?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47296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D400-607A-4B3A-9DF7-2291C9D0D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orders of growth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78EAF-0FE9-4217-8DD1-B132B20FCA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Runtimes can be described by polynomial or non-polynomial functions</a:t>
                </a:r>
              </a:p>
              <a:p>
                <a:pPr marL="0" indent="0">
                  <a:buNone/>
                </a:pPr>
                <a:r>
                  <a:rPr lang="en-US" dirty="0"/>
                  <a:t>for sufficiently large “n”, O(log(n)) &lt; O(n) &lt;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 &lt; … &lt;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</m:sSup>
                  </m:oMath>
                </a14:m>
                <a:r>
                  <a:rPr lang="en-US" dirty="0"/>
                  <a:t>) &lt;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) &lt; O(n!)</a:t>
                </a:r>
              </a:p>
              <a:p>
                <a:pPr>
                  <a:buFontTx/>
                  <a:buChar char="-"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Examples: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Listing all possible subsets of a set: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Listing all permutations of a set: O(n!)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Binary Search: O(log(n))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78EAF-0FE9-4217-8DD1-B132B20FCA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6" t="-1170" r="-62" b="-3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5712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EFB2-CDE8-401B-A34E-13FCC02DA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27807"/>
            <a:ext cx="9905998" cy="3124201"/>
          </a:xfrm>
        </p:spPr>
        <p:txBody>
          <a:bodyPr/>
          <a:lstStyle/>
          <a:p>
            <a:r>
              <a:rPr lang="en-US" dirty="0"/>
              <a:t>Typically, we drop lower order terms and constants.</a:t>
            </a:r>
          </a:p>
          <a:p>
            <a:r>
              <a:rPr lang="en-US" dirty="0"/>
              <a:t>Dropping lower order terms is regarded as a </a:t>
            </a:r>
            <a:r>
              <a:rPr lang="en-US" b="1" dirty="0"/>
              <a:t>Tilde Approximation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For example, binary search is Log base 2 of n, but the base of the logarithm is a constant, so we just stick with the typical log(n) as the runtime.</a:t>
            </a:r>
          </a:p>
        </p:txBody>
      </p:sp>
    </p:spTree>
    <p:extLst>
      <p:ext uri="{BB962C8B-B14F-4D97-AF65-F5344CB8AC3E}">
        <p14:creationId xmlns:p14="http://schemas.microsoft.com/office/powerpoint/2010/main" val="2257198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4C311-DEED-485F-9872-18E48625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1119C-495E-4F5C-8BAF-A023C829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Big O</a:t>
            </a:r>
            <a:r>
              <a:rPr lang="en-US" dirty="0"/>
              <a:t>: a set of functions that are the upper bound of a given function n.</a:t>
            </a:r>
          </a:p>
          <a:p>
            <a:pPr marL="0" indent="0">
              <a:buNone/>
            </a:pPr>
            <a:r>
              <a:rPr lang="en-US" dirty="0"/>
              <a:t>The least upper bound of this set is typically what we say with Big O.</a:t>
            </a:r>
          </a:p>
          <a:p>
            <a:r>
              <a:rPr lang="en-US" b="1" dirty="0"/>
              <a:t>Big Omega</a:t>
            </a:r>
            <a:r>
              <a:rPr lang="en-US" dirty="0"/>
              <a:t>: A set of functions that are the lower bound of a given function n.</a:t>
            </a:r>
          </a:p>
          <a:p>
            <a:pPr marL="0" indent="0">
              <a:buNone/>
            </a:pPr>
            <a:r>
              <a:rPr lang="en-US" dirty="0"/>
              <a:t>The greatest lower bound of this set is typically what we say with Big Omega.</a:t>
            </a:r>
          </a:p>
          <a:p>
            <a:r>
              <a:rPr lang="en-US" b="1" dirty="0"/>
              <a:t>Big Theta</a:t>
            </a:r>
            <a:r>
              <a:rPr lang="en-US" dirty="0"/>
              <a:t>: Occurs where big O and Big Omega Converge.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14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C1813-9FCF-4F17-BF43-5E13E9F44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Definitions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306C3-2DE0-42D6-B74F-0CD4E410B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8415" y="2415265"/>
                <a:ext cx="10355170" cy="38469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F(x) is O(g(x)) if constants “c” (multiplier)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 (threshold) exist 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g(x) will be an upper bound for x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 (Any input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will be an upper bound)</a:t>
                </a:r>
              </a:p>
              <a:p>
                <a:r>
                  <a:rPr lang="en-US" dirty="0"/>
                  <a:t>sup(O(f(n)))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dirty="0"/>
                  <a:t> min(O(f(n)))  (The tightest bound)</a:t>
                </a:r>
              </a:p>
              <a:p>
                <a:pPr marL="0" indent="0">
                  <a:buNone/>
                </a:pPr>
                <a:r>
                  <a:rPr lang="en-US" dirty="0"/>
                  <a:t>F(x)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(g(x)) if constants “c” (multiplier)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 (threshold) exist 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inf(O(f(n)))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dirty="0"/>
                  <a:t> max(O(f(n)))  (The tightest bound)</a:t>
                </a:r>
              </a:p>
              <a:p>
                <a:pPr marL="0" indent="0">
                  <a:buNone/>
                </a:pPr>
                <a:r>
                  <a:rPr lang="en-US" dirty="0"/>
                  <a:t>If f(x) is O(g(x))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(g(x)), then f(x) is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(g(x))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exist such that: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Bounded: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Both inf and sup.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306C3-2DE0-42D6-B74F-0CD4E410B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8415" y="2415265"/>
                <a:ext cx="10355170" cy="3846990"/>
              </a:xfrm>
              <a:blipFill>
                <a:blip r:embed="rId2"/>
                <a:stretch>
                  <a:fillRect l="-530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73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84DD5-0DD2-49EA-80D4-E48D02E94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83F69-FA68-4DE4-8853-7D983327A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collection of items, sort all the items in a specific order.</a:t>
            </a:r>
          </a:p>
          <a:p>
            <a:r>
              <a:rPr lang="en-US" dirty="0"/>
              <a:t>Can be ascending/descending, alphabetically, numerically!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536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FF898-2DB5-4F21-A129-2DAB19E5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Review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D59B21-CB9B-4F22-99EB-7474C9D42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Quick sort: Typically ends up being O(n log(n)) but picking a bad partition can result in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). (usually resolved using the median of three).</a:t>
                </a:r>
              </a:p>
              <a:p>
                <a:r>
                  <a:rPr lang="en-US" dirty="0"/>
                  <a:t>Merge Sort: Typically O(n log(n))</a:t>
                </a:r>
              </a:p>
              <a:p>
                <a:r>
                  <a:rPr lang="en-US" dirty="0"/>
                  <a:t>Insertion sort/Selection sort: Typically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D59B21-CB9B-4F22-99EB-7474C9D42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725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3E2A-D1FC-4F12-90D4-A3DA78E6C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similarities?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DEC3A-88A8-4B6E-89E5-C90DDFAC9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they all require direct comparisons along elements in the collection, so you’ll always have that linear term.</a:t>
            </a:r>
          </a:p>
          <a:p>
            <a:endParaRPr lang="en-US" dirty="0"/>
          </a:p>
          <a:p>
            <a:r>
              <a:rPr lang="en-US" dirty="0"/>
              <a:t>Thus, we’ll regard this class of sorting algorithms as: </a:t>
            </a:r>
            <a:r>
              <a:rPr lang="en-US" b="1" dirty="0"/>
              <a:t>Comparison based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17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0CFC5-358B-4865-B15D-B61618727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corollary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7B2D-7924-4672-B82F-28DCD9419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best a comparison-based sorting algorithm can perform in is O(n log(n))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75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52D52-6452-48AB-B6EF-9543D015F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Non-comparison-based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28C59-4102-4EC4-8A27-6CD26F6F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if we tried something else? </a:t>
            </a:r>
          </a:p>
          <a:p>
            <a:r>
              <a:rPr lang="en-US" dirty="0"/>
              <a:t>Suppose we have a collection of integers </a:t>
            </a:r>
            <a:r>
              <a:rPr lang="en-US" b="1" dirty="0"/>
              <a:t>n</a:t>
            </a:r>
            <a:endParaRPr lang="en-US" dirty="0"/>
          </a:p>
          <a:p>
            <a:r>
              <a:rPr lang="en-US" dirty="0"/>
              <a:t>Each have up to </a:t>
            </a:r>
            <a:r>
              <a:rPr lang="en-US" b="1" dirty="0"/>
              <a:t>k </a:t>
            </a:r>
            <a:r>
              <a:rPr lang="en-US" dirty="0"/>
              <a:t>digits.</a:t>
            </a:r>
          </a:p>
          <a:p>
            <a:r>
              <a:rPr lang="en-US" dirty="0"/>
              <a:t>What if we incrementally sorted the items by digit, then plopped them back, and sorted by the next digit….</a:t>
            </a:r>
          </a:p>
          <a:p>
            <a:r>
              <a:rPr lang="en-US" dirty="0"/>
              <a:t>…from LSD to MSD…</a:t>
            </a:r>
          </a:p>
          <a:p>
            <a:r>
              <a:rPr lang="en-US" dirty="0"/>
              <a:t>This is </a:t>
            </a:r>
            <a:r>
              <a:rPr lang="en-US" b="1" dirty="0"/>
              <a:t>LSD Radix Sort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(MSD Radix Sort is a bit tougher, so let’s just skip it ;))</a:t>
            </a:r>
          </a:p>
        </p:txBody>
      </p:sp>
    </p:spTree>
    <p:extLst>
      <p:ext uri="{BB962C8B-B14F-4D97-AF65-F5344CB8AC3E}">
        <p14:creationId xmlns:p14="http://schemas.microsoft.com/office/powerpoint/2010/main" val="380370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1B637-D950-4A80-82B1-56423C9E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LSD Radix Sort: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469A4-AE11-488E-8198-93CD9A881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Let’s try to sort the following collection of items: </a:t>
            </a:r>
          </a:p>
          <a:p>
            <a:pPr marL="0" indent="0">
              <a:buNone/>
            </a:pPr>
            <a:r>
              <a:rPr lang="en-US" dirty="0"/>
              <a:t>[12, 103, 212, 23, 3, 113, 121, 200]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92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7B5B5-E667-4A92-8362-B48DCCB3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lSD</a:t>
            </a:r>
            <a:r>
              <a:rPr lang="en-US" dirty="0"/>
              <a:t> RADIX SORT: Iteration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F1E2A-12F9-464A-974D-2763A2896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285" y="2311968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	[01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, 	10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21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, 	02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00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11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12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, 	20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 descr="Image result for wooden barrel 2d">
            <a:extLst>
              <a:ext uri="{FF2B5EF4-FFF2-40B4-BE49-F238E27FC236}">
                <a16:creationId xmlns:a16="http://schemas.microsoft.com/office/drawing/2014/main" id="{4EB71995-08C5-4978-8227-D04335339D3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1699" y="3212595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Image result for wooden barrel 2d">
            <a:extLst>
              <a:ext uri="{FF2B5EF4-FFF2-40B4-BE49-F238E27FC236}">
                <a16:creationId xmlns:a16="http://schemas.microsoft.com/office/drawing/2014/main" id="{B1FFC977-21F1-4F66-8524-72B1DD52CFE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9496" y="3205073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Image result for wooden barrel 2d">
            <a:extLst>
              <a:ext uri="{FF2B5EF4-FFF2-40B4-BE49-F238E27FC236}">
                <a16:creationId xmlns:a16="http://schemas.microsoft.com/office/drawing/2014/main" id="{DD8829B5-DB77-4C08-BD31-4147ADE9BEF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803" y="3205073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Image result for wooden barrel 2d">
            <a:extLst>
              <a:ext uri="{FF2B5EF4-FFF2-40B4-BE49-F238E27FC236}">
                <a16:creationId xmlns:a16="http://schemas.microsoft.com/office/drawing/2014/main" id="{F000854E-01CA-4392-926F-CD2AD72A297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7170" y="3212595"/>
            <a:ext cx="993140" cy="9931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DB9E14-82A6-4220-8167-F5881B295F48}"/>
              </a:ext>
            </a:extLst>
          </p:cNvPr>
          <p:cNvSpPr txBox="1"/>
          <p:nvPr/>
        </p:nvSpPr>
        <p:spPr>
          <a:xfrm>
            <a:off x="1644825" y="4358134"/>
            <a:ext cx="1073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in 1’s place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0F4F79-C862-4952-A298-B84FED9DD6AF}"/>
              </a:ext>
            </a:extLst>
          </p:cNvPr>
          <p:cNvSpPr txBox="1"/>
          <p:nvPr/>
        </p:nvSpPr>
        <p:spPr>
          <a:xfrm>
            <a:off x="4049497" y="4358133"/>
            <a:ext cx="993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in 1’s place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8715D-6100-4FA0-AF38-FC1AF8A4F99C}"/>
              </a:ext>
            </a:extLst>
          </p:cNvPr>
          <p:cNvSpPr txBox="1"/>
          <p:nvPr/>
        </p:nvSpPr>
        <p:spPr>
          <a:xfrm>
            <a:off x="6672804" y="4396794"/>
            <a:ext cx="952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 in 1’s place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A63B6A-1B8E-4E49-A6DC-C89F8B602C33}"/>
              </a:ext>
            </a:extLst>
          </p:cNvPr>
          <p:cNvSpPr txBox="1"/>
          <p:nvPr/>
        </p:nvSpPr>
        <p:spPr>
          <a:xfrm>
            <a:off x="9657171" y="4404316"/>
            <a:ext cx="993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in 1’s place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7E01C7-A647-463A-A7DC-6C46776C886A}"/>
              </a:ext>
            </a:extLst>
          </p:cNvPr>
          <p:cNvSpPr txBox="1"/>
          <p:nvPr/>
        </p:nvSpPr>
        <p:spPr>
          <a:xfrm>
            <a:off x="1611777" y="5004464"/>
            <a:ext cx="3324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Queue Policy – FIFO, back into original array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65AE13-D2E0-4866-A502-1BAAED131AAE}"/>
              </a:ext>
            </a:extLst>
          </p:cNvPr>
          <p:cNvSpPr txBox="1"/>
          <p:nvPr/>
        </p:nvSpPr>
        <p:spPr>
          <a:xfrm>
            <a:off x="2290909" y="6006518"/>
            <a:ext cx="70711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[200, 	121, 		012, 		212, 		103, 		023, 		003, 		113]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39243-5BBC-4A80-A2E4-348B5FF2785D}"/>
              </a:ext>
            </a:extLst>
          </p:cNvPr>
          <p:cNvSpPr txBox="1"/>
          <p:nvPr/>
        </p:nvSpPr>
        <p:spPr>
          <a:xfrm>
            <a:off x="1773575" y="3420990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200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D80B54-2DA9-4EC2-864D-F13D7CC3138A}"/>
              </a:ext>
            </a:extLst>
          </p:cNvPr>
          <p:cNvCxnSpPr>
            <a:cxnSpLocks/>
          </p:cNvCxnSpPr>
          <p:nvPr/>
        </p:nvCxnSpPr>
        <p:spPr>
          <a:xfrm flipH="1">
            <a:off x="2097249" y="2622261"/>
            <a:ext cx="6845415" cy="7889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070C8E-A315-4E6D-A09D-841B3D26D335}"/>
              </a:ext>
            </a:extLst>
          </p:cNvPr>
          <p:cNvSpPr txBox="1"/>
          <p:nvPr/>
        </p:nvSpPr>
        <p:spPr>
          <a:xfrm>
            <a:off x="4261372" y="3420990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121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8E6F9F-3906-4D48-9E3B-6CF6AD01FAFE}"/>
              </a:ext>
            </a:extLst>
          </p:cNvPr>
          <p:cNvCxnSpPr>
            <a:cxnSpLocks/>
          </p:cNvCxnSpPr>
          <p:nvPr/>
        </p:nvCxnSpPr>
        <p:spPr>
          <a:xfrm flipH="1">
            <a:off x="4604861" y="2654925"/>
            <a:ext cx="3237797" cy="73649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2B7EA08-4937-4C3E-AD09-C7714E98E1E9}"/>
              </a:ext>
            </a:extLst>
          </p:cNvPr>
          <p:cNvSpPr txBox="1"/>
          <p:nvPr/>
        </p:nvSpPr>
        <p:spPr>
          <a:xfrm>
            <a:off x="6884679" y="3584418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012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F67C5D-689F-4BB4-8E7E-1E020293F003}"/>
              </a:ext>
            </a:extLst>
          </p:cNvPr>
          <p:cNvCxnSpPr>
            <a:cxnSpLocks/>
          </p:cNvCxnSpPr>
          <p:nvPr/>
        </p:nvCxnSpPr>
        <p:spPr>
          <a:xfrm>
            <a:off x="2640405" y="2657895"/>
            <a:ext cx="4317091" cy="94776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9C60A1-B252-4D5B-B793-C6D817FAAE86}"/>
              </a:ext>
            </a:extLst>
          </p:cNvPr>
          <p:cNvSpPr txBox="1"/>
          <p:nvPr/>
        </p:nvSpPr>
        <p:spPr>
          <a:xfrm>
            <a:off x="6864295" y="3250696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212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1DE3DF3-9866-49A3-BFB9-49732B052C17}"/>
              </a:ext>
            </a:extLst>
          </p:cNvPr>
          <p:cNvCxnSpPr>
            <a:cxnSpLocks/>
          </p:cNvCxnSpPr>
          <p:nvPr/>
        </p:nvCxnSpPr>
        <p:spPr>
          <a:xfrm>
            <a:off x="4334189" y="2619473"/>
            <a:ext cx="2623307" cy="69681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AD6FE-B920-401D-990D-213B34C719D9}"/>
              </a:ext>
            </a:extLst>
          </p:cNvPr>
          <p:cNvSpPr txBox="1"/>
          <p:nvPr/>
        </p:nvSpPr>
        <p:spPr>
          <a:xfrm>
            <a:off x="9869046" y="4021069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103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CE2642F-794E-451D-9C2C-739D1E16BF9C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3407545" y="2572027"/>
            <a:ext cx="6461501" cy="163370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982EA49-8A9E-4B7D-A50F-C84A22DA5238}"/>
              </a:ext>
            </a:extLst>
          </p:cNvPr>
          <p:cNvCxnSpPr>
            <a:cxnSpLocks/>
          </p:cNvCxnSpPr>
          <p:nvPr/>
        </p:nvCxnSpPr>
        <p:spPr>
          <a:xfrm>
            <a:off x="5305075" y="2636159"/>
            <a:ext cx="4404729" cy="1223768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6ED8B94-7FA6-4112-92DB-160A933A43F0}"/>
              </a:ext>
            </a:extLst>
          </p:cNvPr>
          <p:cNvSpPr txBox="1"/>
          <p:nvPr/>
        </p:nvSpPr>
        <p:spPr>
          <a:xfrm>
            <a:off x="9860859" y="3689059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023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13CECB-7CBB-476E-A3C3-B6E79BA9DA9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6317023" y="2673650"/>
            <a:ext cx="3534314" cy="90586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C9060D0-0473-47BD-B3D1-9D9C38626F48}"/>
              </a:ext>
            </a:extLst>
          </p:cNvPr>
          <p:cNvSpPr txBox="1"/>
          <p:nvPr/>
        </p:nvSpPr>
        <p:spPr>
          <a:xfrm>
            <a:off x="9851337" y="3394849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003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BF44EE2-FA53-475F-AB1A-ABA7C4278975}"/>
              </a:ext>
            </a:extLst>
          </p:cNvPr>
          <p:cNvCxnSpPr>
            <a:cxnSpLocks/>
          </p:cNvCxnSpPr>
          <p:nvPr/>
        </p:nvCxnSpPr>
        <p:spPr>
          <a:xfrm>
            <a:off x="7146376" y="2645365"/>
            <a:ext cx="2709068" cy="668836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C434AFC-66DF-414C-90CB-832DE3DBAFBC}"/>
              </a:ext>
            </a:extLst>
          </p:cNvPr>
          <p:cNvSpPr txBox="1"/>
          <p:nvPr/>
        </p:nvSpPr>
        <p:spPr>
          <a:xfrm>
            <a:off x="9851337" y="3091974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113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6D8581D-FDC6-4D18-A9D8-CC7AA1B048FF}"/>
              </a:ext>
            </a:extLst>
          </p:cNvPr>
          <p:cNvCxnSpPr>
            <a:cxnSpLocks/>
          </p:cNvCxnSpPr>
          <p:nvPr/>
        </p:nvCxnSpPr>
        <p:spPr>
          <a:xfrm>
            <a:off x="2235296" y="3686899"/>
            <a:ext cx="590011" cy="23785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C0F1D1B-AACD-4CBF-B54D-B429BBC518C2}"/>
              </a:ext>
            </a:extLst>
          </p:cNvPr>
          <p:cNvCxnSpPr>
            <a:cxnSpLocks/>
          </p:cNvCxnSpPr>
          <p:nvPr/>
        </p:nvCxnSpPr>
        <p:spPr>
          <a:xfrm flipH="1">
            <a:off x="3539813" y="3752882"/>
            <a:ext cx="995291" cy="231253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1F0D10-27A0-41A5-AE24-2D6694A010F3}"/>
              </a:ext>
            </a:extLst>
          </p:cNvPr>
          <p:cNvCxnSpPr>
            <a:cxnSpLocks/>
          </p:cNvCxnSpPr>
          <p:nvPr/>
        </p:nvCxnSpPr>
        <p:spPr>
          <a:xfrm flipH="1">
            <a:off x="4535104" y="3797690"/>
            <a:ext cx="2329191" cy="2208828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9272824-347A-47EF-834A-1010EFF0F7B2}"/>
              </a:ext>
            </a:extLst>
          </p:cNvPr>
          <p:cNvCxnSpPr>
            <a:cxnSpLocks/>
            <a:stCxn id="33" idx="1"/>
          </p:cNvCxnSpPr>
          <p:nvPr/>
        </p:nvCxnSpPr>
        <p:spPr>
          <a:xfrm flipH="1">
            <a:off x="5217615" y="3435362"/>
            <a:ext cx="1646680" cy="25373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0410C-E0BF-4000-A9DB-3D740EA49095}"/>
              </a:ext>
            </a:extLst>
          </p:cNvPr>
          <p:cNvCxnSpPr>
            <a:cxnSpLocks/>
          </p:cNvCxnSpPr>
          <p:nvPr/>
        </p:nvCxnSpPr>
        <p:spPr>
          <a:xfrm flipH="1">
            <a:off x="6302261" y="4345439"/>
            <a:ext cx="3588703" cy="172883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8B4351E-0796-4AAE-8464-41CE90147771}"/>
              </a:ext>
            </a:extLst>
          </p:cNvPr>
          <p:cNvCxnSpPr>
            <a:cxnSpLocks/>
            <a:stCxn id="41" idx="1"/>
          </p:cNvCxnSpPr>
          <p:nvPr/>
        </p:nvCxnSpPr>
        <p:spPr>
          <a:xfrm flipH="1">
            <a:off x="7285771" y="3873725"/>
            <a:ext cx="2575088" cy="2118856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1F620EE-3352-481F-958F-36954F5F44C3}"/>
              </a:ext>
            </a:extLst>
          </p:cNvPr>
          <p:cNvCxnSpPr>
            <a:cxnSpLocks/>
          </p:cNvCxnSpPr>
          <p:nvPr/>
        </p:nvCxnSpPr>
        <p:spPr>
          <a:xfrm flipH="1">
            <a:off x="8168342" y="3630870"/>
            <a:ext cx="1967688" cy="24139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0A56F5F-C696-48F2-A837-91E2C12BFA91}"/>
              </a:ext>
            </a:extLst>
          </p:cNvPr>
          <p:cNvCxnSpPr>
            <a:cxnSpLocks/>
          </p:cNvCxnSpPr>
          <p:nvPr/>
        </p:nvCxnSpPr>
        <p:spPr>
          <a:xfrm flipH="1">
            <a:off x="8942666" y="3394849"/>
            <a:ext cx="1334254" cy="26463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313A35C-3427-443C-B1E4-FAF6ADDE3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92"/>
            <a:ext cx="12192000" cy="6815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41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7" grpId="0"/>
      <p:bldP spid="18" grpId="0"/>
      <p:bldP spid="25" grpId="0"/>
      <p:bldP spid="29" grpId="0"/>
      <p:bldP spid="33" grpId="0"/>
      <p:bldP spid="36" grpId="0"/>
      <p:bldP spid="41" grpId="0"/>
      <p:bldP spid="45" grpId="0"/>
      <p:bldP spid="4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7B5B5-E667-4A92-8362-B48DCCB3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lSD</a:t>
            </a:r>
            <a:r>
              <a:rPr lang="en-US" dirty="0"/>
              <a:t> RADIX SORT: Iteration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F1E2A-12F9-464A-974D-2763A2896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2017" y="2518619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[2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0, 	1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1, 	0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2, 	2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2, 	1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3, 	0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3, 	0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3, 	1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3]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Image result for wooden barrel 2d">
            <a:extLst>
              <a:ext uri="{FF2B5EF4-FFF2-40B4-BE49-F238E27FC236}">
                <a16:creationId xmlns:a16="http://schemas.microsoft.com/office/drawing/2014/main" id="{B1FFC977-21F1-4F66-8524-72B1DD52CFE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1799" y="3341931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Image result for wooden barrel 2d">
            <a:extLst>
              <a:ext uri="{FF2B5EF4-FFF2-40B4-BE49-F238E27FC236}">
                <a16:creationId xmlns:a16="http://schemas.microsoft.com/office/drawing/2014/main" id="{DD8829B5-DB77-4C08-BD31-4147ADE9BEF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1219" y="3344253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Image result for wooden barrel 2d">
            <a:extLst>
              <a:ext uri="{FF2B5EF4-FFF2-40B4-BE49-F238E27FC236}">
                <a16:creationId xmlns:a16="http://schemas.microsoft.com/office/drawing/2014/main" id="{F000854E-01CA-4392-926F-CD2AD72A297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639" y="3341931"/>
            <a:ext cx="993140" cy="99314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688715D-6100-4FA0-AF38-FC1AF8A4F99C}"/>
              </a:ext>
            </a:extLst>
          </p:cNvPr>
          <p:cNvSpPr txBox="1"/>
          <p:nvPr/>
        </p:nvSpPr>
        <p:spPr>
          <a:xfrm>
            <a:off x="5328713" y="4530725"/>
            <a:ext cx="106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in 10’s place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7E01C7-A647-463A-A7DC-6C46776C886A}"/>
              </a:ext>
            </a:extLst>
          </p:cNvPr>
          <p:cNvSpPr txBox="1"/>
          <p:nvPr/>
        </p:nvSpPr>
        <p:spPr>
          <a:xfrm>
            <a:off x="1424669" y="5209615"/>
            <a:ext cx="3324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Queue Policy – FIFO, back into original array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65AE13-D2E0-4866-A502-1BAAED131AAE}"/>
              </a:ext>
            </a:extLst>
          </p:cNvPr>
          <p:cNvSpPr txBox="1"/>
          <p:nvPr/>
        </p:nvSpPr>
        <p:spPr>
          <a:xfrm>
            <a:off x="2103801" y="6211669"/>
            <a:ext cx="70711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[200, 	103, 		003, 		012, 		212, 		113, 		121, 		023]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39243-5BBC-4A80-A2E4-348B5FF2785D}"/>
              </a:ext>
            </a:extLst>
          </p:cNvPr>
          <p:cNvSpPr txBox="1"/>
          <p:nvPr/>
        </p:nvSpPr>
        <p:spPr>
          <a:xfrm>
            <a:off x="3113675" y="4055486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83DD2E-CD5B-4DCC-9F14-7EDA0CDD334A}"/>
              </a:ext>
            </a:extLst>
          </p:cNvPr>
          <p:cNvSpPr txBox="1"/>
          <p:nvPr/>
        </p:nvSpPr>
        <p:spPr>
          <a:xfrm>
            <a:off x="2901799" y="4528726"/>
            <a:ext cx="106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in 10’s place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A1ED5D-7311-4710-B005-ADAADED817F6}"/>
              </a:ext>
            </a:extLst>
          </p:cNvPr>
          <p:cNvSpPr txBox="1"/>
          <p:nvPr/>
        </p:nvSpPr>
        <p:spPr>
          <a:xfrm>
            <a:off x="7900639" y="4528726"/>
            <a:ext cx="106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 in 10’s place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A81066F-B6BB-4A5B-A0AC-4139A3D3E052}"/>
              </a:ext>
            </a:extLst>
          </p:cNvPr>
          <p:cNvCxnSpPr>
            <a:cxnSpLocks/>
          </p:cNvCxnSpPr>
          <p:nvPr/>
        </p:nvCxnSpPr>
        <p:spPr>
          <a:xfrm>
            <a:off x="2453297" y="2863046"/>
            <a:ext cx="792702" cy="13155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7542BDA-AFFC-46E5-8436-FA95D6F6135D}"/>
              </a:ext>
            </a:extLst>
          </p:cNvPr>
          <p:cNvCxnSpPr>
            <a:cxnSpLocks/>
          </p:cNvCxnSpPr>
          <p:nvPr/>
        </p:nvCxnSpPr>
        <p:spPr>
          <a:xfrm flipH="1">
            <a:off x="3683063" y="2881138"/>
            <a:ext cx="2408799" cy="100099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F00D39C-B7BC-4463-9288-8CCA1E343922}"/>
              </a:ext>
            </a:extLst>
          </p:cNvPr>
          <p:cNvSpPr txBox="1"/>
          <p:nvPr/>
        </p:nvSpPr>
        <p:spPr>
          <a:xfrm>
            <a:off x="3094970" y="3711388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103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13A09F1-036A-4276-A79B-C2A4437FBE72}"/>
              </a:ext>
            </a:extLst>
          </p:cNvPr>
          <p:cNvCxnSpPr>
            <a:cxnSpLocks/>
          </p:cNvCxnSpPr>
          <p:nvPr/>
        </p:nvCxnSpPr>
        <p:spPr>
          <a:xfrm flipH="1">
            <a:off x="3619779" y="2808568"/>
            <a:ext cx="4131021" cy="768404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032B053-1CCF-4287-83C8-65DECC69836E}"/>
              </a:ext>
            </a:extLst>
          </p:cNvPr>
          <p:cNvSpPr txBox="1"/>
          <p:nvPr/>
        </p:nvSpPr>
        <p:spPr>
          <a:xfrm>
            <a:off x="3113675" y="340466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003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238B16-C75B-4665-9A90-8F321E8A6139}"/>
              </a:ext>
            </a:extLst>
          </p:cNvPr>
          <p:cNvSpPr txBox="1"/>
          <p:nvPr/>
        </p:nvSpPr>
        <p:spPr>
          <a:xfrm>
            <a:off x="5635031" y="4034879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012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BF8154-F99E-4863-8299-77ECD4AD3D77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4268719" y="2878179"/>
            <a:ext cx="1366312" cy="134136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4389C22-82C1-4C98-B926-572C6F45DC58}"/>
              </a:ext>
            </a:extLst>
          </p:cNvPr>
          <p:cNvCxnSpPr>
            <a:cxnSpLocks/>
          </p:cNvCxnSpPr>
          <p:nvPr/>
        </p:nvCxnSpPr>
        <p:spPr>
          <a:xfrm>
            <a:off x="5092093" y="2850024"/>
            <a:ext cx="561643" cy="10089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48C939D-C77D-45BD-A1B4-6F84BEE84D01}"/>
              </a:ext>
            </a:extLst>
          </p:cNvPr>
          <p:cNvSpPr txBox="1"/>
          <p:nvPr/>
        </p:nvSpPr>
        <p:spPr>
          <a:xfrm>
            <a:off x="5654102" y="370198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212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979878D-7990-46E0-91ED-E97CD75F6DB0}"/>
              </a:ext>
            </a:extLst>
          </p:cNvPr>
          <p:cNvCxnSpPr>
            <a:cxnSpLocks/>
            <a:endCxn id="64" idx="3"/>
          </p:cNvCxnSpPr>
          <p:nvPr/>
        </p:nvCxnSpPr>
        <p:spPr>
          <a:xfrm flipH="1">
            <a:off x="6185016" y="2885277"/>
            <a:ext cx="2651172" cy="646634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3C6C131-82AE-44DD-82A9-F487438B7E06}"/>
              </a:ext>
            </a:extLst>
          </p:cNvPr>
          <p:cNvSpPr txBox="1"/>
          <p:nvPr/>
        </p:nvSpPr>
        <p:spPr>
          <a:xfrm>
            <a:off x="5654101" y="334724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113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4499F2-36D2-4C37-B6B5-6F955AAB0430}"/>
              </a:ext>
            </a:extLst>
          </p:cNvPr>
          <p:cNvCxnSpPr>
            <a:cxnSpLocks/>
            <a:endCxn id="67" idx="1"/>
          </p:cNvCxnSpPr>
          <p:nvPr/>
        </p:nvCxnSpPr>
        <p:spPr>
          <a:xfrm>
            <a:off x="3325486" y="2918644"/>
            <a:ext cx="4792479" cy="1022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81CB519-594E-4371-A144-495C5E5A1A92}"/>
              </a:ext>
            </a:extLst>
          </p:cNvPr>
          <p:cNvSpPr txBox="1"/>
          <p:nvPr/>
        </p:nvSpPr>
        <p:spPr>
          <a:xfrm>
            <a:off x="8117965" y="3756548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121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AC37F72-4BE2-42B0-B562-659CA5CBF65A}"/>
              </a:ext>
            </a:extLst>
          </p:cNvPr>
          <p:cNvCxnSpPr>
            <a:cxnSpLocks/>
          </p:cNvCxnSpPr>
          <p:nvPr/>
        </p:nvCxnSpPr>
        <p:spPr>
          <a:xfrm>
            <a:off x="6901758" y="2839628"/>
            <a:ext cx="1155259" cy="83040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43BD22-D6D7-44B8-9D83-C7ADF077736D}"/>
              </a:ext>
            </a:extLst>
          </p:cNvPr>
          <p:cNvSpPr txBox="1"/>
          <p:nvPr/>
        </p:nvSpPr>
        <p:spPr>
          <a:xfrm>
            <a:off x="8117965" y="345184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023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17E9429-B078-43CE-88A7-C6D7E7367059}"/>
              </a:ext>
            </a:extLst>
          </p:cNvPr>
          <p:cNvCxnSpPr>
            <a:cxnSpLocks/>
          </p:cNvCxnSpPr>
          <p:nvPr/>
        </p:nvCxnSpPr>
        <p:spPr>
          <a:xfrm flipH="1">
            <a:off x="2388542" y="4331196"/>
            <a:ext cx="894659" cy="20118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0DE148D-252E-420C-AECA-2B606044B694}"/>
              </a:ext>
            </a:extLst>
          </p:cNvPr>
          <p:cNvCxnSpPr>
            <a:cxnSpLocks/>
          </p:cNvCxnSpPr>
          <p:nvPr/>
        </p:nvCxnSpPr>
        <p:spPr>
          <a:xfrm flipH="1">
            <a:off x="3429400" y="3983968"/>
            <a:ext cx="14280" cy="222770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B6F883C-440A-45F3-B883-C33417218AF9}"/>
              </a:ext>
            </a:extLst>
          </p:cNvPr>
          <p:cNvCxnSpPr>
            <a:cxnSpLocks/>
          </p:cNvCxnSpPr>
          <p:nvPr/>
        </p:nvCxnSpPr>
        <p:spPr>
          <a:xfrm>
            <a:off x="3567942" y="3701983"/>
            <a:ext cx="642371" cy="2509686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CA7A821-97A5-4434-A1E2-D21159BBCA32}"/>
              </a:ext>
            </a:extLst>
          </p:cNvPr>
          <p:cNvCxnSpPr>
            <a:cxnSpLocks/>
          </p:cNvCxnSpPr>
          <p:nvPr/>
        </p:nvCxnSpPr>
        <p:spPr>
          <a:xfrm flipH="1">
            <a:off x="5030505" y="4344556"/>
            <a:ext cx="788834" cy="1904947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A91503EC-1901-4BF2-B76D-C6549DE43C0B}"/>
              </a:ext>
            </a:extLst>
          </p:cNvPr>
          <p:cNvCxnSpPr>
            <a:cxnSpLocks/>
          </p:cNvCxnSpPr>
          <p:nvPr/>
        </p:nvCxnSpPr>
        <p:spPr>
          <a:xfrm>
            <a:off x="5958735" y="3963002"/>
            <a:ext cx="94416" cy="236802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0D0E3039-58A8-4A81-8C9D-232C71F93E40}"/>
              </a:ext>
            </a:extLst>
          </p:cNvPr>
          <p:cNvCxnSpPr>
            <a:cxnSpLocks/>
          </p:cNvCxnSpPr>
          <p:nvPr/>
        </p:nvCxnSpPr>
        <p:spPr>
          <a:xfrm>
            <a:off x="6053151" y="3650210"/>
            <a:ext cx="848607" cy="2542332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EFCB4D7F-B7C0-47FF-97A5-E9E0D03C0282}"/>
              </a:ext>
            </a:extLst>
          </p:cNvPr>
          <p:cNvCxnSpPr>
            <a:cxnSpLocks/>
            <a:stCxn id="67" idx="2"/>
          </p:cNvCxnSpPr>
          <p:nvPr/>
        </p:nvCxnSpPr>
        <p:spPr>
          <a:xfrm flipH="1">
            <a:off x="7836521" y="4125880"/>
            <a:ext cx="546902" cy="21236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2F86EDA-55F0-47CC-A021-E46008842415}"/>
              </a:ext>
            </a:extLst>
          </p:cNvPr>
          <p:cNvCxnSpPr>
            <a:cxnSpLocks/>
          </p:cNvCxnSpPr>
          <p:nvPr/>
        </p:nvCxnSpPr>
        <p:spPr>
          <a:xfrm>
            <a:off x="8416179" y="3750689"/>
            <a:ext cx="477600" cy="249881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B6293C9B-4B61-4D88-B390-6D6F10991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38" y="25549"/>
            <a:ext cx="12192000" cy="6832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151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3" grpId="0"/>
      <p:bldP spid="15" grpId="0"/>
      <p:bldP spid="17" grpId="0"/>
      <p:bldP spid="18" grpId="0"/>
      <p:bldP spid="38" grpId="0"/>
      <p:bldP spid="40" grpId="0"/>
      <p:bldP spid="46" grpId="0"/>
      <p:bldP spid="51" grpId="0"/>
      <p:bldP spid="54" grpId="0"/>
      <p:bldP spid="60" grpId="0"/>
      <p:bldP spid="64" grpId="0"/>
      <p:bldP spid="67" grpId="0"/>
      <p:bldP spid="7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7B5B5-E667-4A92-8362-B48DCCB3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lSD</a:t>
            </a:r>
            <a:r>
              <a:rPr lang="en-US" dirty="0"/>
              <a:t> RADIX SORT: Iteration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F1E2A-12F9-464A-974D-2763A2896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600" y="2226784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	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00, 	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03, 	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03, 	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12, 	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12, 	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13, 	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21, 	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23]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Image result for wooden barrel 2d">
            <a:extLst>
              <a:ext uri="{FF2B5EF4-FFF2-40B4-BE49-F238E27FC236}">
                <a16:creationId xmlns:a16="http://schemas.microsoft.com/office/drawing/2014/main" id="{B1FFC977-21F1-4F66-8524-72B1DD52CFE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4354" y="3052890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Image result for wooden barrel 2d">
            <a:extLst>
              <a:ext uri="{FF2B5EF4-FFF2-40B4-BE49-F238E27FC236}">
                <a16:creationId xmlns:a16="http://schemas.microsoft.com/office/drawing/2014/main" id="{DD8829B5-DB77-4C08-BD31-4147ADE9BEF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3774" y="3055212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Image result for wooden barrel 2d">
            <a:extLst>
              <a:ext uri="{FF2B5EF4-FFF2-40B4-BE49-F238E27FC236}">
                <a16:creationId xmlns:a16="http://schemas.microsoft.com/office/drawing/2014/main" id="{F000854E-01CA-4392-926F-CD2AD72A297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3194" y="3052890"/>
            <a:ext cx="993140" cy="99314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688715D-6100-4FA0-AF38-FC1AF8A4F99C}"/>
              </a:ext>
            </a:extLst>
          </p:cNvPr>
          <p:cNvSpPr txBox="1"/>
          <p:nvPr/>
        </p:nvSpPr>
        <p:spPr>
          <a:xfrm>
            <a:off x="5341267" y="4241684"/>
            <a:ext cx="117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in 100’s place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7E01C7-A647-463A-A7DC-6C46776C886A}"/>
              </a:ext>
            </a:extLst>
          </p:cNvPr>
          <p:cNvSpPr txBox="1"/>
          <p:nvPr/>
        </p:nvSpPr>
        <p:spPr>
          <a:xfrm>
            <a:off x="1437224" y="4920574"/>
            <a:ext cx="3324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Queue Policy – FIFO, back into original array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65AE13-D2E0-4866-A502-1BAAED131AAE}"/>
              </a:ext>
            </a:extLst>
          </p:cNvPr>
          <p:cNvSpPr txBox="1"/>
          <p:nvPr/>
        </p:nvSpPr>
        <p:spPr>
          <a:xfrm>
            <a:off x="2116356" y="5922628"/>
            <a:ext cx="70711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[003, 	012, 		023, 		103, 		113, 		121, 		200, 		212]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39243-5BBC-4A80-A2E4-348B5FF2785D}"/>
              </a:ext>
            </a:extLst>
          </p:cNvPr>
          <p:cNvSpPr txBox="1"/>
          <p:nvPr/>
        </p:nvSpPr>
        <p:spPr>
          <a:xfrm>
            <a:off x="3126230" y="376644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003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83DD2E-CD5B-4DCC-9F14-7EDA0CDD334A}"/>
              </a:ext>
            </a:extLst>
          </p:cNvPr>
          <p:cNvSpPr txBox="1"/>
          <p:nvPr/>
        </p:nvSpPr>
        <p:spPr>
          <a:xfrm>
            <a:off x="2914353" y="4239685"/>
            <a:ext cx="1191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in 100’s place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A1ED5D-7311-4710-B005-ADAADED817F6}"/>
              </a:ext>
            </a:extLst>
          </p:cNvPr>
          <p:cNvSpPr txBox="1"/>
          <p:nvPr/>
        </p:nvSpPr>
        <p:spPr>
          <a:xfrm>
            <a:off x="7814064" y="4231818"/>
            <a:ext cx="1191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 in 100’s place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A4653C1-B195-4655-BD73-F40F8D0A90AD}"/>
              </a:ext>
            </a:extLst>
          </p:cNvPr>
          <p:cNvCxnSpPr>
            <a:cxnSpLocks/>
          </p:cNvCxnSpPr>
          <p:nvPr/>
        </p:nvCxnSpPr>
        <p:spPr>
          <a:xfrm flipH="1">
            <a:off x="3510053" y="2549922"/>
            <a:ext cx="542353" cy="13340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E284074-891B-47E2-95E1-B8066C12EFD9}"/>
              </a:ext>
            </a:extLst>
          </p:cNvPr>
          <p:cNvCxnSpPr>
            <a:cxnSpLocks/>
          </p:cNvCxnSpPr>
          <p:nvPr/>
        </p:nvCxnSpPr>
        <p:spPr>
          <a:xfrm flipH="1">
            <a:off x="3410923" y="2524567"/>
            <a:ext cx="1646062" cy="1040746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C848641-0755-4DE5-BB3A-33B721E4121F}"/>
              </a:ext>
            </a:extLst>
          </p:cNvPr>
          <p:cNvSpPr txBox="1"/>
          <p:nvPr/>
        </p:nvSpPr>
        <p:spPr>
          <a:xfrm>
            <a:off x="3126230" y="3436339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791DF8-BB6D-4482-8346-E5A265BCDFD8}"/>
              </a:ext>
            </a:extLst>
          </p:cNvPr>
          <p:cNvSpPr txBox="1"/>
          <p:nvPr/>
        </p:nvSpPr>
        <p:spPr>
          <a:xfrm>
            <a:off x="3120911" y="314223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023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DFD561-DA50-4974-8F3E-2C9C9B53D3C3}"/>
              </a:ext>
            </a:extLst>
          </p:cNvPr>
          <p:cNvCxnSpPr>
            <a:cxnSpLocks/>
          </p:cNvCxnSpPr>
          <p:nvPr/>
        </p:nvCxnSpPr>
        <p:spPr>
          <a:xfrm flipH="1">
            <a:off x="3505915" y="2535058"/>
            <a:ext cx="5267090" cy="6818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402AA2D-55B0-4091-8A90-0B452D1EF8D8}"/>
              </a:ext>
            </a:extLst>
          </p:cNvPr>
          <p:cNvSpPr txBox="1"/>
          <p:nvPr/>
        </p:nvSpPr>
        <p:spPr>
          <a:xfrm>
            <a:off x="5624645" y="3738716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103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752341E-5250-43D9-882E-3F1BDE25C2FE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3395416" y="2543012"/>
            <a:ext cx="2229229" cy="1380370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1C1CD4C-075D-4E0C-83D2-3B874011BC03}"/>
              </a:ext>
            </a:extLst>
          </p:cNvPr>
          <p:cNvCxnSpPr>
            <a:cxnSpLocks/>
          </p:cNvCxnSpPr>
          <p:nvPr/>
        </p:nvCxnSpPr>
        <p:spPr>
          <a:xfrm flipH="1">
            <a:off x="6088034" y="2623228"/>
            <a:ext cx="871131" cy="82321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AC347B3-9FEA-4AE4-95BA-B2EAA04FC9F1}"/>
              </a:ext>
            </a:extLst>
          </p:cNvPr>
          <p:cNvSpPr txBox="1"/>
          <p:nvPr/>
        </p:nvSpPr>
        <p:spPr>
          <a:xfrm>
            <a:off x="5638929" y="340591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113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3162729-F86D-4985-9C50-2EEC9B7664AD}"/>
              </a:ext>
            </a:extLst>
          </p:cNvPr>
          <p:cNvCxnSpPr>
            <a:cxnSpLocks/>
          </p:cNvCxnSpPr>
          <p:nvPr/>
        </p:nvCxnSpPr>
        <p:spPr>
          <a:xfrm flipH="1">
            <a:off x="6096000" y="2484456"/>
            <a:ext cx="1784012" cy="75155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6FA5FC8-ACAD-4B2F-9B8B-6C6DBDEC2CAD}"/>
              </a:ext>
            </a:extLst>
          </p:cNvPr>
          <p:cNvSpPr txBox="1"/>
          <p:nvPr/>
        </p:nvSpPr>
        <p:spPr>
          <a:xfrm>
            <a:off x="5629034" y="3043384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121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F6DF07F-2EDF-4C48-9544-344C748674A1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2657522" y="2584219"/>
            <a:ext cx="5465538" cy="1175316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726B0B2-D35F-4FE2-955D-4928F4D4647D}"/>
              </a:ext>
            </a:extLst>
          </p:cNvPr>
          <p:cNvSpPr txBox="1"/>
          <p:nvPr/>
        </p:nvSpPr>
        <p:spPr>
          <a:xfrm>
            <a:off x="8123060" y="3574869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200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C6FA8E1-6F41-4464-ACA0-0C88571666B4}"/>
              </a:ext>
            </a:extLst>
          </p:cNvPr>
          <p:cNvCxnSpPr>
            <a:cxnSpLocks/>
          </p:cNvCxnSpPr>
          <p:nvPr/>
        </p:nvCxnSpPr>
        <p:spPr>
          <a:xfrm>
            <a:off x="5981434" y="2538083"/>
            <a:ext cx="2174808" cy="9304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4FCBF98E-3F69-4186-8052-257C0B516182}"/>
              </a:ext>
            </a:extLst>
          </p:cNvPr>
          <p:cNvSpPr txBox="1"/>
          <p:nvPr/>
        </p:nvSpPr>
        <p:spPr>
          <a:xfrm>
            <a:off x="8123060" y="3285148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212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5940D56-09C5-44CC-8BFF-4A6F247BFB8E}"/>
              </a:ext>
            </a:extLst>
          </p:cNvPr>
          <p:cNvCxnSpPr>
            <a:cxnSpLocks/>
          </p:cNvCxnSpPr>
          <p:nvPr/>
        </p:nvCxnSpPr>
        <p:spPr>
          <a:xfrm flipH="1">
            <a:off x="2578559" y="4025068"/>
            <a:ext cx="706618" cy="20221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A9E3257-78B1-4AB3-AAE2-1EAFC896EE79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3336098" y="3805671"/>
            <a:ext cx="55590" cy="217661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81843E7-21A5-4A99-A2E6-D17B56F82839}"/>
              </a:ext>
            </a:extLst>
          </p:cNvPr>
          <p:cNvCxnSpPr>
            <a:cxnSpLocks/>
            <a:stCxn id="45" idx="3"/>
          </p:cNvCxnSpPr>
          <p:nvPr/>
        </p:nvCxnSpPr>
        <p:spPr>
          <a:xfrm>
            <a:off x="3651826" y="3326897"/>
            <a:ext cx="514921" cy="2615508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3243A49-CAD0-4BC1-8804-560D9E848444}"/>
              </a:ext>
            </a:extLst>
          </p:cNvPr>
          <p:cNvCxnSpPr>
            <a:cxnSpLocks/>
          </p:cNvCxnSpPr>
          <p:nvPr/>
        </p:nvCxnSpPr>
        <p:spPr>
          <a:xfrm flipH="1">
            <a:off x="5113716" y="4034740"/>
            <a:ext cx="840054" cy="194754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3D8882D-7FD6-4998-9300-8C7DC0D313C9}"/>
              </a:ext>
            </a:extLst>
          </p:cNvPr>
          <p:cNvCxnSpPr>
            <a:cxnSpLocks/>
          </p:cNvCxnSpPr>
          <p:nvPr/>
        </p:nvCxnSpPr>
        <p:spPr>
          <a:xfrm flipH="1">
            <a:off x="6084623" y="3724708"/>
            <a:ext cx="54837" cy="22726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AFE8CB7-1A66-4F43-B9AF-4929D1728F3D}"/>
              </a:ext>
            </a:extLst>
          </p:cNvPr>
          <p:cNvCxnSpPr>
            <a:cxnSpLocks/>
          </p:cNvCxnSpPr>
          <p:nvPr/>
        </p:nvCxnSpPr>
        <p:spPr>
          <a:xfrm>
            <a:off x="5981434" y="3295662"/>
            <a:ext cx="942022" cy="266719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1BA92A0-4060-4A0F-B645-695FA1848BC1}"/>
              </a:ext>
            </a:extLst>
          </p:cNvPr>
          <p:cNvCxnSpPr>
            <a:cxnSpLocks/>
            <a:stCxn id="74" idx="2"/>
          </p:cNvCxnSpPr>
          <p:nvPr/>
        </p:nvCxnSpPr>
        <p:spPr>
          <a:xfrm flipH="1">
            <a:off x="7913194" y="3944201"/>
            <a:ext cx="475324" cy="1998204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3CDDE76-69D6-4ADB-B20D-8418A2C1A934}"/>
              </a:ext>
            </a:extLst>
          </p:cNvPr>
          <p:cNvCxnSpPr>
            <a:cxnSpLocks/>
          </p:cNvCxnSpPr>
          <p:nvPr/>
        </p:nvCxnSpPr>
        <p:spPr>
          <a:xfrm>
            <a:off x="8671623" y="3532243"/>
            <a:ext cx="234711" cy="24500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2FD786C-9923-4663-B447-E8D53DF468E0}"/>
              </a:ext>
            </a:extLst>
          </p:cNvPr>
          <p:cNvSpPr txBox="1"/>
          <p:nvPr/>
        </p:nvSpPr>
        <p:spPr>
          <a:xfrm>
            <a:off x="8906334" y="6434984"/>
            <a:ext cx="316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Done! Array is now sorted!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39CDC7-60E3-433E-BA64-85E9E245E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5" y="0"/>
            <a:ext cx="120919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34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3" grpId="0"/>
      <p:bldP spid="15" grpId="0"/>
      <p:bldP spid="17" grpId="0"/>
      <p:bldP spid="18" grpId="0"/>
      <p:bldP spid="38" grpId="0"/>
      <p:bldP spid="40" grpId="0"/>
      <p:bldP spid="41" grpId="0"/>
      <p:bldP spid="45" grpId="0"/>
      <p:bldP spid="48" grpId="0"/>
      <p:bldP spid="55" grpId="0"/>
      <p:bldP spid="69" grpId="0"/>
      <p:bldP spid="74" grpId="0"/>
      <p:bldP spid="7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39F6C-0688-40D5-BD22-CDDCABD4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So… What’s the Runtime?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22FD5A-11B7-4DAD-8F57-32D2019D13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 w be the width of the largest digit in our collection.</a:t>
                </a:r>
              </a:p>
              <a:p>
                <a:r>
                  <a:rPr lang="en-US" dirty="0"/>
                  <a:t>Thus, the runtime is: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22FD5A-11B7-4DAD-8F57-32D2019D13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659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9F5C-AC32-4930-A948-734CFA519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Uh, okay, but how does this compare to n log 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D97E9-7533-4FF8-8EEE-68870D26F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boils down to a </a:t>
            </a:r>
            <a:r>
              <a:rPr lang="en-US" b="1" dirty="0">
                <a:solidFill>
                  <a:srgbClr val="FF0000"/>
                </a:solidFill>
              </a:rPr>
              <a:t>PRACTICAL </a:t>
            </a:r>
            <a:r>
              <a:rPr lang="en-US" dirty="0"/>
              <a:t>Improvement, not an </a:t>
            </a:r>
            <a:r>
              <a:rPr lang="en-US" b="1" dirty="0"/>
              <a:t>ASYMPTOTIC </a:t>
            </a:r>
            <a:r>
              <a:rPr lang="en-US" dirty="0"/>
              <a:t>Performance.</a:t>
            </a:r>
          </a:p>
          <a:p>
            <a:endParaRPr lang="en-US" dirty="0"/>
          </a:p>
          <a:p>
            <a:r>
              <a:rPr lang="en-US" dirty="0"/>
              <a:t>Suppose we have 1,000 items in a collection, and 3-digit numbers</a:t>
            </a:r>
          </a:p>
          <a:p>
            <a:r>
              <a:rPr lang="en-US" dirty="0"/>
              <a:t>Is it possible to have 1001 distinct values for 3-digit numbers? Nope.</a:t>
            </a:r>
          </a:p>
          <a:p>
            <a:r>
              <a:rPr lang="en-US" dirty="0"/>
              <a:t>So…for log(n) to increase beyond </a:t>
            </a:r>
            <a:r>
              <a:rPr lang="en-US" b="1" dirty="0"/>
              <a:t>w, </a:t>
            </a:r>
            <a:r>
              <a:rPr lang="en-US" dirty="0"/>
              <a:t>we need to allow duplicates.</a:t>
            </a:r>
          </a:p>
        </p:txBody>
      </p:sp>
    </p:spTree>
    <p:extLst>
      <p:ext uri="{BB962C8B-B14F-4D97-AF65-F5344CB8AC3E}">
        <p14:creationId xmlns:p14="http://schemas.microsoft.com/office/powerpoint/2010/main" val="295855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0C0DC-0D20-4762-817C-A860E9AAB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Thus, we have the following: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7B458-FDBD-4EC3-9CA2-E033D488F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there are distinct values, log(n) can be at most equal to </a:t>
            </a:r>
            <a:r>
              <a:rPr lang="en-US" b="1" dirty="0"/>
              <a:t>w</a:t>
            </a:r>
            <a:r>
              <a:rPr lang="en-US" dirty="0"/>
              <a:t>.</a:t>
            </a:r>
          </a:p>
          <a:p>
            <a:r>
              <a:rPr lang="en-US" dirty="0"/>
              <a:t>If the collection contains less than the max number of distinct values for whatever </a:t>
            </a:r>
            <a:r>
              <a:rPr lang="en-US" b="1" dirty="0"/>
              <a:t>w</a:t>
            </a:r>
            <a:r>
              <a:rPr lang="en-US" dirty="0"/>
              <a:t> is, log(n) will be practically lower than </a:t>
            </a:r>
            <a:r>
              <a:rPr lang="en-US" b="1" dirty="0"/>
              <a:t>w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922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F14AD-8D90-49EE-A252-D87DA356B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In-Place/Stability of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74CB9-D63C-4A94-AF6B-AB5048486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</a:t>
            </a:r>
            <a:r>
              <a:rPr lang="en-US" b="1" dirty="0"/>
              <a:t> In-Place Algorithm</a:t>
            </a:r>
            <a:r>
              <a:rPr lang="en-US" dirty="0"/>
              <a:t> is an algorithm that does not require additional memory.</a:t>
            </a:r>
          </a:p>
          <a:p>
            <a:r>
              <a:rPr lang="en-US" dirty="0"/>
              <a:t>A </a:t>
            </a:r>
            <a:r>
              <a:rPr lang="en-US" b="1" dirty="0"/>
              <a:t>Stable Algorithm</a:t>
            </a:r>
            <a:r>
              <a:rPr lang="en-US" dirty="0"/>
              <a:t> is an algorithm that maintains relative ordering. </a:t>
            </a:r>
          </a:p>
        </p:txBody>
      </p:sp>
    </p:spTree>
    <p:extLst>
      <p:ext uri="{BB962C8B-B14F-4D97-AF65-F5344CB8AC3E}">
        <p14:creationId xmlns:p14="http://schemas.microsoft.com/office/powerpoint/2010/main" val="375634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026BE-2406-45E3-AD16-972310BE7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Radix Sort: In-Place/Stability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69821-BC84-4954-BACA-0F03F4877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Radix Sort is not </a:t>
            </a:r>
            <a:r>
              <a:rPr lang="en-US" b="1" dirty="0"/>
              <a:t>In-Place</a:t>
            </a:r>
            <a:r>
              <a:rPr lang="en-US" dirty="0"/>
              <a:t>:  We must move items into an auxiliary Array, then copy back.</a:t>
            </a:r>
          </a:p>
          <a:p>
            <a:r>
              <a:rPr lang="en-US" dirty="0"/>
              <a:t>Radix Sort is </a:t>
            </a:r>
            <a:r>
              <a:rPr lang="en-US" b="1" dirty="0"/>
              <a:t>Stable</a:t>
            </a:r>
            <a:r>
              <a:rPr lang="en-US" dirty="0"/>
              <a:t>, as it maintains the relative ordering among digits to not lose much work.</a:t>
            </a:r>
          </a:p>
        </p:txBody>
      </p:sp>
    </p:spTree>
    <p:extLst>
      <p:ext uri="{BB962C8B-B14F-4D97-AF65-F5344CB8AC3E}">
        <p14:creationId xmlns:p14="http://schemas.microsoft.com/office/powerpoint/2010/main" val="310287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51E360FFF8E045BC9E794BF0F8E060" ma:contentTypeVersion="4" ma:contentTypeDescription="Create a new document." ma:contentTypeScope="" ma:versionID="601fb0477c1a00ea6c9cdda8af407385">
  <xsd:schema xmlns:xsd="http://www.w3.org/2001/XMLSchema" xmlns:xs="http://www.w3.org/2001/XMLSchema" xmlns:p="http://schemas.microsoft.com/office/2006/metadata/properties" xmlns:ns3="b12b050b-08b8-4c9a-9e6b-d2ba71f76ee2" targetNamespace="http://schemas.microsoft.com/office/2006/metadata/properties" ma:root="true" ma:fieldsID="f3c9c52ccd6619c053e6551ce3886dd6" ns3:_="">
    <xsd:import namespace="b12b050b-08b8-4c9a-9e6b-d2ba71f76ee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2b050b-08b8-4c9a-9e6b-d2ba71f76e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2A8F262-ADEB-426B-9547-C1288F064D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2b050b-08b8-4c9a-9e6b-d2ba71f76e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AD6361B-42F3-4F16-BF0D-EEAD814363A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D625F4-66D5-475F-926E-637DA85674DA}">
  <ds:schemaRefs>
    <ds:schemaRef ds:uri="b12b050b-08b8-4c9a-9e6b-d2ba71f76ee2"/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4847</TotalTime>
  <Words>1278</Words>
  <Application>Microsoft Office PowerPoint</Application>
  <PresentationFormat>Widescreen</PresentationFormat>
  <Paragraphs>136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Cambria Math</vt:lpstr>
      <vt:lpstr>Gill Sans MT</vt:lpstr>
      <vt:lpstr>Parcel</vt:lpstr>
      <vt:lpstr>CS 1501: Algorithm Analysis</vt:lpstr>
      <vt:lpstr>A brief note on these slides</vt:lpstr>
      <vt:lpstr>Metrics </vt:lpstr>
      <vt:lpstr>Simple orders of growth</vt:lpstr>
      <vt:lpstr>Asymptotic Performance</vt:lpstr>
      <vt:lpstr>Some definitions</vt:lpstr>
      <vt:lpstr>Formal Definitions</vt:lpstr>
      <vt:lpstr>Sorting</vt:lpstr>
      <vt:lpstr>Quick Review</vt:lpstr>
      <vt:lpstr>What are the similarities?</vt:lpstr>
      <vt:lpstr>A corollary</vt:lpstr>
      <vt:lpstr>Non-comparison-based Sorting</vt:lpstr>
      <vt:lpstr>LSD Radix Sort: Example</vt:lpstr>
      <vt:lpstr>lSD RADIX SORT: Iteration 1</vt:lpstr>
      <vt:lpstr>lSD RADIX SORT: Iteration 2</vt:lpstr>
      <vt:lpstr>lSD RADIX SORT: Iteration 3</vt:lpstr>
      <vt:lpstr>So… What’s the Runtime?</vt:lpstr>
      <vt:lpstr>Uh, okay, but how does this compare to n log n</vt:lpstr>
      <vt:lpstr>Thus, we have the following:</vt:lpstr>
      <vt:lpstr>In-Place/Stability of Algorithms</vt:lpstr>
      <vt:lpstr>Radix Sort: In-Place/Stability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1501: Algorithm Analysis</dc:title>
  <dc:creator>Lu, Gordon</dc:creator>
  <cp:lastModifiedBy>Lu, Gordon</cp:lastModifiedBy>
  <cp:revision>14</cp:revision>
  <dcterms:created xsi:type="dcterms:W3CDTF">2020-07-29T00:59:30Z</dcterms:created>
  <dcterms:modified xsi:type="dcterms:W3CDTF">2020-08-14T04:02:54Z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0x0101004651E360FFF8E045BC9E794BF0F8E060</vt:lpwstr>
  </property>
</Properties>
</file>