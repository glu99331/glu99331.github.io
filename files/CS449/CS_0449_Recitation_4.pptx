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notesMasterIdLst>
    <p:notesMasterId r:id="rId43"/>
  </p:notesMasterIdLst>
  <p:sldIdLst>
    <p:sldId id="256" r:id="rId2"/>
    <p:sldId id="259" r:id="rId3"/>
    <p:sldId id="260" r:id="rId4"/>
    <p:sldId id="261" r:id="rId5"/>
    <p:sldId id="309" r:id="rId6"/>
    <p:sldId id="278" r:id="rId7"/>
    <p:sldId id="264" r:id="rId8"/>
    <p:sldId id="265" r:id="rId9"/>
    <p:sldId id="266" r:id="rId10"/>
    <p:sldId id="267" r:id="rId11"/>
    <p:sldId id="282" r:id="rId12"/>
    <p:sldId id="308" r:id="rId13"/>
    <p:sldId id="279" r:id="rId14"/>
    <p:sldId id="270" r:id="rId15"/>
    <p:sldId id="281" r:id="rId16"/>
    <p:sldId id="272" r:id="rId17"/>
    <p:sldId id="273" r:id="rId18"/>
    <p:sldId id="283" r:id="rId19"/>
    <p:sldId id="277" r:id="rId20"/>
    <p:sldId id="287" r:id="rId21"/>
    <p:sldId id="284" r:id="rId22"/>
    <p:sldId id="285" r:id="rId23"/>
    <p:sldId id="286" r:id="rId24"/>
    <p:sldId id="289" r:id="rId25"/>
    <p:sldId id="288" r:id="rId26"/>
    <p:sldId id="290" r:id="rId27"/>
    <p:sldId id="291" r:id="rId28"/>
    <p:sldId id="292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3" r:id="rId38"/>
    <p:sldId id="302" r:id="rId39"/>
    <p:sldId id="307" r:id="rId40"/>
    <p:sldId id="304" r:id="rId41"/>
    <p:sldId id="30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BA29-E86E-493D-A5BF-3D03966226EB}" type="datetimeFigureOut">
              <a:rPr lang="en-US" smtClean="0"/>
              <a:t>2/7/2020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36C7D-BD10-4085-9D3E-BC991E844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What is external fragmentation?
https://www.polleverywhere.com/multiple_choice_polls/BFFz8xioSXyrfw7bL4wZ0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97B4F-F3D0-4F4F-A347-CE5555B0D30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77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Given a finite space, and a number of items to fit into that space, find the optimal way to pack those items to minimize wasted space. This is an example of:
https://www.polleverywhere.com/multiple_choice_polls/C8naCXcUXCcAiQE323em3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E2D7C-4B22-4B1F-8E6B-6570A72A13F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66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Suppose each chunk is 64 bytes. If I do malloc(100), what do I have to do with my bitmap to find that free space?
https://www.polleverywhere.com/multiple_choice_polls/kxrnOZ5W51SaJQxlXUlbn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360E0-BF39-49EA-948A-2363667608F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37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How do we deallocate (free) the rightmost group of chunks?
https://www.polleverywhere.com/multiple_choice_polls/S8uYsHHYbfEu4z9XAk3Ci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C9A57-8092-4852-9650-66648ACD0CC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52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What do you notice about the pattern of 0's and 1's here?
https://www.polleverywhere.com/multiple_choice_polls/rQxp9KMGgsE7dNQJYxutr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2453B1-BD5C-4757-9CF2-D558D58151E4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E6D36-C5C2-4F1A-AEE9-E6F239C615F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208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If we want to allocate more memory, where's the most obvious way to allocate it?
https://www.polleverywhere.com/multiple_choice_polls/WKjC36kmqZwwKTLlSOXQ3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F2DFE-EE90-4181-ADCE-B903E0E7FC3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15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Now we want to allocate a block like this, How do we find a spot where it will fit?
https://www.polleverywhere.com/multiple_choice_polls/tHcJBcBPV6GFQK3g8QMHG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DDECE-6B61-4211-8C87-3DF1392D214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96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What would like me to focus/cover in-depth next week?
https://www.polleverywhere.com/free_text_polls/goKnGtFBcbNeWXvRzfeY6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7BD59B-7415-4E1D-81D9-486B569971D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28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you like the structure of these recitations, if not, what would you like to improve on/do differently?
https://www.polleverywhere.com/free_text_polls/m5B9ZZzlj67tFqZHCb6P1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36C7D-BD10-4085-9D3E-BC991E8447B8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5D667-C0E1-4826-9165-03219409196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56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196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915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25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73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07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22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6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31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80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969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733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445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14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0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68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184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54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85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DDA-CE64-4F10-809F-D258A880A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0449 Recitation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3CB79-16A9-4FE9-8688-A8F97AD6FC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3391026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2910-87F3-4BCD-91D9-98254CEC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notes!!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D0A72-C9F4-400A-8FAF-CC6263560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send me code, please create a </a:t>
            </a:r>
            <a:r>
              <a:rPr lang="en-US" b="1" dirty="0" err="1"/>
              <a:t>pastebin</a:t>
            </a:r>
            <a:r>
              <a:rPr lang="en-US" dirty="0"/>
              <a:t> and send the link that contains the paste! (go to </a:t>
            </a:r>
            <a:r>
              <a:rPr lang="en-US" b="1" dirty="0"/>
              <a:t>pastebin.com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way I don’t need to redownload files. and when I send it back, you won’t have to either – It’s a </a:t>
            </a:r>
            <a:r>
              <a:rPr lang="en-US" b="1" dirty="0"/>
              <a:t>Win-Win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038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EF4C-B451-4E90-95A4-2A61859A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3391-C862-416E-9F83-0FD16B5C2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practice code posted on my website should get you used to FILE *’s, and structs.</a:t>
            </a:r>
          </a:p>
          <a:p>
            <a:endParaRPr lang="en-US" dirty="0"/>
          </a:p>
          <a:p>
            <a:r>
              <a:rPr lang="en-US" dirty="0"/>
              <a:t>I looked at </a:t>
            </a:r>
            <a:r>
              <a:rPr lang="en-US" dirty="0" err="1"/>
              <a:t>Wilkie’s</a:t>
            </a:r>
            <a:r>
              <a:rPr lang="en-US" dirty="0"/>
              <a:t> slides, and it’s a lot of stuff, so I’ve decided to dedicate this recitation to memory allocation and answering questions on the lab!</a:t>
            </a:r>
          </a:p>
          <a:p>
            <a:endParaRPr lang="en-US" dirty="0"/>
          </a:p>
          <a:p>
            <a:r>
              <a:rPr lang="en-US" dirty="0"/>
              <a:t>Next week, I’ll cover </a:t>
            </a:r>
            <a:r>
              <a:rPr lang="en-US" b="1" dirty="0"/>
              <a:t>Memory Deallocation</a:t>
            </a:r>
            <a:r>
              <a:rPr lang="en-US" dirty="0"/>
              <a:t> and the </a:t>
            </a:r>
            <a:r>
              <a:rPr lang="en-US" b="1" dirty="0"/>
              <a:t>Compilation Toolchain!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0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89F484-2FEB-48BF-B0BC-0A8DBAE66D5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4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0E75-8862-4665-A2BC-363E4999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correct answer is B!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2BD8B-EAD4-4937-AFF0-743AF74D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1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 Brief Introduction to Memory Allocation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081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08DF-3D15-4672-B6FF-2F84F83B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Heap is just a big chunk of data!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12BD8B-9786-4DC6-8E28-81A993C40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6346" y="2796775"/>
            <a:ext cx="7639308" cy="4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81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95F9-D967-41C3-8A1F-3C1DB4F9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Every time we call malloc, we slice a chunk off of it!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739CB3-1B25-4557-B1AF-FEAD353F627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802579"/>
            <a:ext cx="9601200" cy="101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62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49F6-1DFF-4C59-A51F-AE926481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Freeing memory leaves gaps!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8AABD-8BF5-4F86-B978-1ECE4718716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2889884"/>
            <a:ext cx="6991350" cy="128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53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7DA2-B14D-4E9B-8BDC-5C28B3C6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Fragmentation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E67B-92F7-40CC-930C-C16DE557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External Fragmentation is the result of having </a:t>
            </a:r>
            <a:r>
              <a:rPr lang="en-US" b="1" dirty="0"/>
              <a:t>free memory</a:t>
            </a:r>
            <a:r>
              <a:rPr lang="en-US" dirty="0"/>
              <a:t> split into lots of small </a:t>
            </a:r>
            <a:r>
              <a:rPr lang="en-US" i="1" dirty="0"/>
              <a:t>fragments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- External </a:t>
            </a:r>
            <a:r>
              <a:rPr lang="en-US" dirty="0"/>
              <a:t>because the free memory is </a:t>
            </a:r>
            <a:r>
              <a:rPr lang="en-US" i="1" dirty="0"/>
              <a:t>outside</a:t>
            </a:r>
            <a:r>
              <a:rPr lang="en-US" dirty="0"/>
              <a:t> the allocated blocks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F8515-F182-403D-A26B-D23C5F3F550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4038813"/>
            <a:ext cx="5943600" cy="183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46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CE588-C3FA-4512-BB4A-E9180CE40E0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96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A777-5555-47DE-A133-13AA1E08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correct answer is C!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B2EAB-D22B-4497-B351-85089F8B3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843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Bit Maps!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5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AFCE-A682-4FE9-9272-98F5C662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425BA-4DBC-401C-A118-61BBAE5AC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dirty="0"/>
              <a:t>If we divided the heap into </a:t>
            </a:r>
            <a:r>
              <a:rPr lang="en-US" sz="4800" b="1" dirty="0"/>
              <a:t>uniformly sized chunks</a:t>
            </a:r>
            <a:r>
              <a:rPr lang="en-US" sz="4800" dirty="0"/>
              <a:t>: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What's a simple way to say which are used and which are free?</a:t>
            </a:r>
          </a:p>
          <a:p>
            <a:r>
              <a:rPr lang="en-US" sz="4800" dirty="0"/>
              <a:t>Use a </a:t>
            </a:r>
            <a:r>
              <a:rPr lang="en-US" sz="4800" dirty="0" err="1"/>
              <a:t>boolean</a:t>
            </a:r>
            <a:r>
              <a:rPr lang="en-US" sz="4800" dirty="0"/>
              <a:t> (true/false) </a:t>
            </a:r>
            <a:r>
              <a:rPr lang="en-US" sz="4800" b="1" dirty="0"/>
              <a:t>per chunk!</a:t>
            </a:r>
            <a:endParaRPr lang="en-US" sz="4800" dirty="0"/>
          </a:p>
          <a:p>
            <a:pPr marL="0" indent="0">
              <a:buNone/>
            </a:pPr>
            <a:r>
              <a:rPr lang="en-US" sz="4800" dirty="0"/>
              <a:t>We can use one </a:t>
            </a:r>
            <a:r>
              <a:rPr lang="en-US" sz="4800" b="1" dirty="0"/>
              <a:t>bit</a:t>
            </a:r>
            <a:r>
              <a:rPr lang="en-US" sz="4800" dirty="0"/>
              <a:t> for each, and pack all those bits into one int</a:t>
            </a:r>
          </a:p>
          <a:p>
            <a:r>
              <a:rPr lang="en-US" sz="4800" b="1" dirty="0"/>
              <a:t>11011100 01101111</a:t>
            </a:r>
            <a:r>
              <a:rPr lang="en-US" sz="4800" b="1" baseline="-25000" dirty="0"/>
              <a:t>2</a:t>
            </a:r>
            <a:r>
              <a:rPr lang="en-US" sz="4800" dirty="0"/>
              <a:t> = </a:t>
            </a:r>
            <a:r>
              <a:rPr lang="en-US" sz="4800" b="1" dirty="0"/>
              <a:t>0xDC6F</a:t>
            </a:r>
            <a:endParaRPr lang="en-US" sz="4800" dirty="0"/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This is a </a:t>
            </a:r>
            <a:r>
              <a:rPr lang="en-US" sz="4800" b="1" dirty="0"/>
              <a:t>bitmap</a:t>
            </a:r>
            <a:endParaRPr lang="en-US" sz="4800" dirty="0"/>
          </a:p>
          <a:p>
            <a:r>
              <a:rPr lang="en-US" sz="4800" dirty="0"/>
              <a:t>The </a:t>
            </a:r>
            <a:r>
              <a:rPr lang="en-US" sz="4800" b="1" dirty="0"/>
              <a:t>bits</a:t>
            </a:r>
            <a:r>
              <a:rPr lang="en-US" sz="4800" dirty="0"/>
              <a:t> are a </a:t>
            </a:r>
            <a:r>
              <a:rPr lang="en-US" sz="4800" b="1" dirty="0"/>
              <a:t>map</a:t>
            </a:r>
            <a:r>
              <a:rPr lang="en-US" sz="4800" dirty="0"/>
              <a:t> of the heap</a:t>
            </a:r>
          </a:p>
          <a:p>
            <a:r>
              <a:rPr lang="en-US" sz="4800" dirty="0"/>
              <a:t>Bitmaps are forced to use uniform size chunks.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40714-20F9-4A99-A910-2705D54BE72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797810"/>
            <a:ext cx="5943600" cy="66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51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A99A6-C9B1-41D1-A343-13B5CAED732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09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2A94-D766-4564-A3BD-5CC0F30C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1C06A-6837-4279-8C58-0E2AE4DE8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We've got to find </a:t>
            </a:r>
            <a:r>
              <a:rPr lang="en-US" b="1" dirty="0"/>
              <a:t>at least</a:t>
            </a:r>
            <a:r>
              <a:rPr lang="en-US" dirty="0"/>
              <a:t> 2 0s in a row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F91EF-1DD5-48EF-A5B6-FFF51E3DD1F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61335"/>
            <a:ext cx="5943600" cy="735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26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2A91-EBC8-4232-AD14-0C5F284A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F8FA1-190E-4DBA-8A05-3CE53F91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mark them as </a:t>
            </a:r>
            <a:r>
              <a:rPr lang="en-US" b="1" dirty="0"/>
              <a:t>used! (Set the bits to 1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D37D5-C305-4596-992B-519191077EA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59112"/>
            <a:ext cx="5943600" cy="73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85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69A1E-CA80-4ABC-ADA0-7A4D325F5C7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01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ABC38-93F6-4F8B-9DED-FE4539E68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Deallocation via Bit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D81D6-5E52-45D6-97DF-1BC16D3FE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So, what's the catch?</a:t>
            </a:r>
          </a:p>
          <a:p>
            <a:r>
              <a:rPr lang="en-US" dirty="0"/>
              <a:t>Since the bits are adjacent to one another, whenever you set some bits to 0, you "automatically" get bigger blocks of free memory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54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Entropy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912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E729A-D159-4470-9E80-D6172791844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59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AB4E-A303-4AC7-A8C3-A4013FF1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 seems silly to store a bunch of 1’s, 0’s then 1’s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2871F-F292-462E-B3B2-6291C693A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did </a:t>
            </a:r>
            <a:r>
              <a:rPr lang="en-US" i="1" dirty="0"/>
              <a:t>this </a:t>
            </a:r>
            <a:r>
              <a:rPr lang="en-US" dirty="0"/>
              <a:t>instead:</a:t>
            </a:r>
          </a:p>
          <a:p>
            <a:r>
              <a:rPr lang="en-US" b="1" dirty="0"/>
              <a:t>Record the exact sizes </a:t>
            </a:r>
            <a:r>
              <a:rPr lang="en-US" dirty="0"/>
              <a:t>of each </a:t>
            </a:r>
            <a:r>
              <a:rPr lang="en-US" b="1" dirty="0"/>
              <a:t>contiguous</a:t>
            </a:r>
            <a:r>
              <a:rPr lang="en-US" dirty="0"/>
              <a:t> block</a:t>
            </a:r>
          </a:p>
          <a:p>
            <a:r>
              <a:rPr lang="en-US" dirty="0"/>
              <a:t>Then </a:t>
            </a:r>
            <a:r>
              <a:rPr lang="en-US" b="1" dirty="0"/>
              <a:t>link </a:t>
            </a:r>
            <a:r>
              <a:rPr lang="en-US" b="1" dirty="0" err="1"/>
              <a:t>em</a:t>
            </a:r>
            <a:r>
              <a:rPr lang="en-US" b="1" dirty="0"/>
              <a:t> together… </a:t>
            </a:r>
            <a:r>
              <a:rPr lang="en-US" dirty="0"/>
              <a:t>into a </a:t>
            </a:r>
            <a:r>
              <a:rPr lang="en-US" b="1" dirty="0"/>
              <a:t>list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9842C-C595-40AF-94D7-4F0962416C2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698" y="4216400"/>
            <a:ext cx="5943600" cy="92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6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9E4B-9692-453E-8D27-43284457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can </a:t>
            </a:r>
            <a:r>
              <a:rPr lang="en-US" b="1" dirty="0"/>
              <a:t>embed the list within the free and allocated blocks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D8B6-566F-4047-A270-409435F2B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Every block starts with a </a:t>
            </a:r>
            <a:r>
              <a:rPr lang="en-US" b="1" dirty="0"/>
              <a:t>header</a:t>
            </a:r>
            <a:r>
              <a:rPr lang="en-US" dirty="0"/>
              <a:t> that includes the size, pointer, and its status (used or not)</a:t>
            </a:r>
          </a:p>
          <a:p>
            <a:r>
              <a:rPr lang="en-US" dirty="0"/>
              <a:t>So, a 100B block will take up maybe 112B total:</a:t>
            </a:r>
          </a:p>
          <a:p>
            <a:r>
              <a:rPr lang="en-US" dirty="0"/>
              <a:t>12B for the header</a:t>
            </a:r>
          </a:p>
          <a:p>
            <a:r>
              <a:rPr lang="en-US" dirty="0"/>
              <a:t>100B for the space the user asked for</a:t>
            </a:r>
          </a:p>
          <a:p>
            <a:r>
              <a:rPr lang="en-US" dirty="0"/>
              <a:t>The </a:t>
            </a:r>
            <a:r>
              <a:rPr lang="en-US" b="1" dirty="0"/>
              <a:t>allocator</a:t>
            </a:r>
            <a:r>
              <a:rPr lang="en-US" dirty="0"/>
              <a:t> is the only one who sees these headers.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C2905A-FB34-49D7-AF61-8541460DC54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2919655"/>
            <a:ext cx="5943600" cy="69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64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Allocation Algorithms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226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B86B-4B27-431F-A591-385CC270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 Rasa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DC15F-A264-4DEC-A735-411C2A195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your program first starts up, the heap looks like this: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52C0E-628E-455E-8C09-47E3EF5540A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480" y="3264852"/>
            <a:ext cx="5943600" cy="63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7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1FF7B-FFDA-4A21-BD0E-ACCE66F1576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5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452D-2461-4239-9339-5BC18715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Uh oh, something’s not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5BD93-200A-4C73-B8DD-BE591BDC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middle of the program, the heap will look more like this: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9A451-7880-482F-8BFA-017A2D4E7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3117215"/>
            <a:ext cx="5943600" cy="623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9EEFF3-1C72-4FF5-B00C-8ECB836C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802" y="3195637"/>
            <a:ext cx="788037" cy="51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65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0C58F4-C81A-4982-A9A9-89E46641F3F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79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5B5E-8553-4438-8FBE-CC21C029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FE447-0576-4F76-AB34-D5A5B9FD1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start at the </a:t>
            </a:r>
            <a:r>
              <a:rPr lang="en-US" b="1" dirty="0"/>
              <a:t>beginning</a:t>
            </a:r>
            <a:r>
              <a:rPr lang="en-US" dirty="0"/>
              <a:t> of the heap, looking for a spot</a:t>
            </a:r>
          </a:p>
          <a:p>
            <a:r>
              <a:rPr lang="en-US" dirty="0"/>
              <a:t>When we find a spot </a:t>
            </a:r>
            <a:r>
              <a:rPr lang="en-US" b="1" dirty="0"/>
              <a:t>big enough,</a:t>
            </a:r>
            <a:r>
              <a:rPr lang="en-US" dirty="0"/>
              <a:t> that's where it goes</a:t>
            </a:r>
          </a:p>
          <a:p>
            <a:r>
              <a:rPr lang="en-US" dirty="0"/>
              <a:t>This is called </a:t>
            </a:r>
            <a:r>
              <a:rPr lang="en-US" b="1" dirty="0"/>
              <a:t>first-fit</a:t>
            </a:r>
            <a:r>
              <a:rPr lang="en-US" dirty="0"/>
              <a:t> cause it puts it in the </a:t>
            </a:r>
            <a:r>
              <a:rPr lang="en-US" b="1" dirty="0"/>
              <a:t>first</a:t>
            </a:r>
            <a:r>
              <a:rPr lang="en-US" dirty="0"/>
              <a:t> spot it </a:t>
            </a:r>
            <a:r>
              <a:rPr lang="en-US" b="1" dirty="0"/>
              <a:t>fits.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How long does it take to find that free block?</a:t>
            </a:r>
            <a:endParaRPr lang="en-US" dirty="0"/>
          </a:p>
          <a:p>
            <a:r>
              <a:rPr lang="en-US" dirty="0"/>
              <a:t>It's </a:t>
            </a:r>
            <a:r>
              <a:rPr lang="en-US" b="1" dirty="0"/>
              <a:t>linear</a:t>
            </a:r>
            <a:r>
              <a:rPr lang="en-US" dirty="0"/>
              <a:t> in the number of blocks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375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D59D-9DFE-4916-87C8-B1D34498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First-Fit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AB7-ECCD-4E29-BAD7-26509FB0A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With first-fit, the heap will often end up looking like this: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Everything's clustered around the beginning. This is good actually!</a:t>
            </a:r>
          </a:p>
          <a:p>
            <a:r>
              <a:rPr lang="en-US" dirty="0"/>
              <a:t>Cause it leaves us with a nice big empty space</a:t>
            </a:r>
          </a:p>
          <a:p>
            <a:r>
              <a:rPr lang="en-US" dirty="0"/>
              <a:t>But…</a:t>
            </a:r>
          </a:p>
          <a:p>
            <a:r>
              <a:rPr lang="en-US" dirty="0"/>
              <a:t>There are lots of </a:t>
            </a:r>
            <a:r>
              <a:rPr lang="en-US" b="1" dirty="0"/>
              <a:t>holes</a:t>
            </a:r>
            <a:endParaRPr lang="en-US" dirty="0"/>
          </a:p>
          <a:p>
            <a:r>
              <a:rPr lang="en-US" dirty="0"/>
              <a:t>The holes will likely be </a:t>
            </a:r>
            <a:r>
              <a:rPr lang="en-US" b="1" dirty="0"/>
              <a:t>small</a:t>
            </a:r>
            <a:r>
              <a:rPr lang="en-US" dirty="0"/>
              <a:t> and therefore useless (wasted)</a:t>
            </a:r>
          </a:p>
          <a:p>
            <a:r>
              <a:rPr lang="en-US" dirty="0"/>
              <a:t>We waste a lot of </a:t>
            </a:r>
            <a:r>
              <a:rPr lang="en-US" b="1" dirty="0"/>
              <a:t>time</a:t>
            </a:r>
            <a:r>
              <a:rPr lang="en-US" dirty="0"/>
              <a:t> looking through those small holes before we get to that big empty space</a:t>
            </a:r>
          </a:p>
          <a:p>
            <a:pPr lvl="0"/>
            <a:r>
              <a:rPr lang="en-US" b="1" i="1" dirty="0"/>
              <a:t>Why start from the beginning every time?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FD60C-F126-4087-BCBF-6287893996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800" y="2852420"/>
            <a:ext cx="5943600" cy="57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072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5550-2704-4E90-B509-77372758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EAFA3-E3F2-477E-8974-A9974862E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start looking from where we </a:t>
            </a:r>
            <a:r>
              <a:rPr lang="en-US" b="1" dirty="0"/>
              <a:t>last allocated </a:t>
            </a:r>
            <a:r>
              <a:rPr lang="en-US" dirty="0"/>
              <a:t>a block?</a:t>
            </a:r>
          </a:p>
          <a:p>
            <a:r>
              <a:rPr lang="en-US" dirty="0"/>
              <a:t>Next-Fit makes it faster to find a block, but spaces things out more: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Since it starts from the last allocation, it spreads things out and misses what might be good spaces earlier in the heap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E3DF58-5C4A-41F9-9BC9-EF128ED0178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780" y="3514178"/>
            <a:ext cx="5943600" cy="62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93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2FCD-2ED4-44F6-AC25-3D36E54E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Square Peg in a Slightly Larger Square Hole: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9FF5-34BD-4C8D-A832-945E7E75B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say our heap looks like this, and the orange block is the </a:t>
            </a:r>
            <a:r>
              <a:rPr lang="en-US" b="1" dirty="0"/>
              <a:t>most-recently-allocated </a:t>
            </a:r>
            <a:r>
              <a:rPr lang="en-US" dirty="0"/>
              <a:t>one:</a:t>
            </a:r>
          </a:p>
          <a:p>
            <a:endParaRPr lang="en-US" dirty="0"/>
          </a:p>
          <a:p>
            <a:r>
              <a:rPr lang="en-US" dirty="0"/>
              <a:t>Now we want to allocate this: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C1D17-1100-4C28-A81A-704F1856AB9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3429000"/>
            <a:ext cx="5943600" cy="628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2E9949-B93A-4C28-90D9-446043E1C61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928" y="4057650"/>
            <a:ext cx="147955" cy="69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66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1A83D-C100-493C-9308-7495A321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would </a:t>
            </a:r>
            <a:r>
              <a:rPr lang="en-US" b="1" dirty="0"/>
              <a:t>First-Fit </a:t>
            </a:r>
            <a:r>
              <a:rPr lang="en-US" dirty="0"/>
              <a:t>put this block?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5F945-0D30-4E44-8610-E6C3D4F2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Yep, at the first place it fits!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FAC17-9C38-490C-B503-E7F0B2956A2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136265"/>
            <a:ext cx="5943600" cy="58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04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CBFC-4391-4969-A6FB-672F3FB8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would </a:t>
            </a:r>
            <a:r>
              <a:rPr lang="en-US" b="1" dirty="0"/>
              <a:t>Next-Fit </a:t>
            </a:r>
            <a:r>
              <a:rPr lang="en-US" dirty="0"/>
              <a:t>put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8285-B2C6-43FA-85B0-984CD665D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Yep, the next place it fits starting from the orange block that was just allocated!!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CEA28-3A74-4A8A-9324-F2F44B2D8F9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732" y="3564441"/>
            <a:ext cx="5943600" cy="553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4685E0-FF19-4DDE-9466-83BA6D16E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307" y="3587174"/>
            <a:ext cx="135187" cy="53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10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B097-C32D-4C6E-857A-67049C1A9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 what place would make the most sense?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4F9EED-8EEC-40A7-8983-1EF768D33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wherever, the free space is </a:t>
            </a:r>
            <a:r>
              <a:rPr lang="en-US" b="1" dirty="0"/>
              <a:t>closest to the right size!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This is </a:t>
            </a:r>
            <a:r>
              <a:rPr lang="en-US" b="1" dirty="0"/>
              <a:t>best-fit.</a:t>
            </a:r>
            <a:endParaRPr lang="en-US" dirty="0"/>
          </a:p>
          <a:p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98A3539A-497B-4F29-9039-7345079453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2990349"/>
            <a:ext cx="9601200" cy="877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D6D20-B406-47FE-9F81-25F1D056C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707" y="3020829"/>
            <a:ext cx="216307" cy="848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0B15C1-26CC-4DE2-B3B3-2A88497CE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507" y="3020829"/>
            <a:ext cx="216307" cy="84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65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58719-D018-4AF4-ADCD-738C89E4D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 what if you wanted the worst possible case?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A926C-0E73-44C6-8E0B-710CDB938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You’d put the chunk wherever it'll </a:t>
            </a:r>
            <a:r>
              <a:rPr lang="en-US" b="1" dirty="0"/>
              <a:t>leave a bigger block </a:t>
            </a:r>
            <a:r>
              <a:rPr lang="en-US" dirty="0"/>
              <a:t>of free space!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</a:t>
            </a:r>
            <a:r>
              <a:rPr lang="en-US" b="1" dirty="0"/>
              <a:t>worst-fit.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870FD-8D66-4FB9-916D-984A3DD9805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161665"/>
            <a:ext cx="5943600" cy="5346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5BACC-0BE8-40C6-BA4B-0879F6F3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977" y="3186112"/>
            <a:ext cx="123825" cy="510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CF21C9-AE3C-46B4-8279-C0C69D6A6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987" y="3186112"/>
            <a:ext cx="123825" cy="510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0DBBA7-7377-4091-B99E-E87E334DE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547" y="3186111"/>
            <a:ext cx="123825" cy="51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613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A17A72-B88B-450E-835A-1C2722503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13D13-FAEE-4BC8-B0D0-9D476834B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7FA37B-95F1-4C56-A310-C85B64F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2607041"/>
            <a:ext cx="96011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Best of Intentions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ADDECF-37FB-45A1-BAD3-6252E3064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267682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64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CC1C-4481-4E90-9751-115558A4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Neither of these schemes really makes things any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497D0-20FE-4280-B023-558531D79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9601196" cy="3318936"/>
          </a:xfrm>
        </p:spPr>
        <p:txBody>
          <a:bodyPr/>
          <a:lstStyle/>
          <a:p>
            <a:r>
              <a:rPr lang="en-US" b="1" dirty="0"/>
              <a:t>Best-Fit</a:t>
            </a:r>
            <a:r>
              <a:rPr lang="en-US" dirty="0"/>
              <a:t> will leave </a:t>
            </a:r>
            <a:r>
              <a:rPr lang="en-US" b="1" dirty="0"/>
              <a:t>tons of tiny unusable holes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Worst-Fit</a:t>
            </a:r>
            <a:r>
              <a:rPr lang="en-US" dirty="0"/>
              <a:t> will "clump" allocations better, but tends to leave </a:t>
            </a:r>
            <a:r>
              <a:rPr lang="en-US" b="1" dirty="0"/>
              <a:t>several similarly-sized large holes that all gradually get smaller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F752E-0BA4-4CAC-8EF8-534B2A95979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3003637"/>
            <a:ext cx="5943600" cy="549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74C90C-78F0-43A4-8FE3-79A1D420644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99" y="4455009"/>
            <a:ext cx="5943600" cy="5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10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60A1-5AC6-44CC-AC78-2401439D6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 there’s a corollary!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AC115-97C4-4C15-99C8-35337C2E7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Worst of all, both algorithms force us to </a:t>
            </a:r>
            <a:r>
              <a:rPr lang="en-US" b="1" dirty="0"/>
              <a:t>look at every free block in the heap on every allocation</a:t>
            </a:r>
          </a:p>
          <a:p>
            <a:endParaRPr lang="en-US" b="1" dirty="0"/>
          </a:p>
          <a:p>
            <a:r>
              <a:rPr lang="en-US" b="1" dirty="0"/>
              <a:t>Best-Fit</a:t>
            </a:r>
            <a:r>
              <a:rPr lang="en-US" dirty="0"/>
              <a:t> </a:t>
            </a:r>
            <a:r>
              <a:rPr lang="en-US" i="1" dirty="0"/>
              <a:t>can</a:t>
            </a:r>
            <a:r>
              <a:rPr lang="en-US" dirty="0"/>
              <a:t> stop early by finding an exactly-sized hole for the desired block, but </a:t>
            </a:r>
            <a:r>
              <a:rPr lang="en-US" b="1" dirty="0"/>
              <a:t>Worst-Fit</a:t>
            </a:r>
            <a:r>
              <a:rPr lang="en-US" dirty="0"/>
              <a:t> </a:t>
            </a:r>
            <a:r>
              <a:rPr lang="en-US" b="1" dirty="0"/>
              <a:t>HAS</a:t>
            </a:r>
            <a:r>
              <a:rPr lang="en-US" dirty="0"/>
              <a:t> to look at all the free blocks.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290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056C14-29DA-4E4C-AE10-8D42E0093DF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471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0A4E52-902D-4E37-BCF8-D985B8E6BE7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000" y="254000"/>
            <a:ext cx="1168400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60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bf09d91-8905-4417-966e-1e7239893b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7e926104-7d37-417c-8ec3-2ab42465e53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e767a96-8b7b-425a-8aa3-de2b2970743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f6aaaac-982c-42e8-8659-1c46b4b29bcb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3a270a4-dc60-4c7a-9216-158a987bd92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6ab7671-0ea5-4d9b-a83d-4fd77c715d2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816cb3b-5693-40ca-9947-427c226e156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7e74e4d-b9e0-4dfe-904b-f7a0cf42882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70c9d29-3475-449a-92ef-431834205aef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1303</TotalTime>
  <Words>1266</Words>
  <Application>Microsoft Office PowerPoint</Application>
  <PresentationFormat>Widescreen</PresentationFormat>
  <Paragraphs>129</Paragraphs>
  <Slides>41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Garamond</vt:lpstr>
      <vt:lpstr>Organic</vt:lpstr>
      <vt:lpstr>CS 0449 Recitation 4</vt:lpstr>
      <vt:lpstr>Some notes!!</vt:lpstr>
      <vt:lpstr>Additional notes</vt:lpstr>
      <vt:lpstr>PowerPoint Presentation</vt:lpstr>
      <vt:lpstr>The correct answer is B!</vt:lpstr>
      <vt:lpstr>A Brief Introduction to Memory Allocation</vt:lpstr>
      <vt:lpstr>The Heap is just a big chunk of data!</vt:lpstr>
      <vt:lpstr>Every time we call malloc, we slice a chunk off of it!</vt:lpstr>
      <vt:lpstr>Freeing memory leaves gaps!</vt:lpstr>
      <vt:lpstr>External Fragmentation</vt:lpstr>
      <vt:lpstr>PowerPoint Presentation</vt:lpstr>
      <vt:lpstr>The correct answer is C! </vt:lpstr>
      <vt:lpstr>Bit Maps!</vt:lpstr>
      <vt:lpstr>Bit Maps</vt:lpstr>
      <vt:lpstr>PowerPoint Presentation</vt:lpstr>
      <vt:lpstr>Allocation via Bit Maps</vt:lpstr>
      <vt:lpstr>Allocation via Bit Maps</vt:lpstr>
      <vt:lpstr>PowerPoint Presentation</vt:lpstr>
      <vt:lpstr>Deallocation via Bit Maps</vt:lpstr>
      <vt:lpstr>Entropy</vt:lpstr>
      <vt:lpstr>PowerPoint Presentation</vt:lpstr>
      <vt:lpstr>It seems silly to store a bunch of 1’s, 0’s then 1’s</vt:lpstr>
      <vt:lpstr>We can embed the list within the free and allocated blocks </vt:lpstr>
      <vt:lpstr>Allocation Algorithms</vt:lpstr>
      <vt:lpstr>Tabula Rasa</vt:lpstr>
      <vt:lpstr>PowerPoint Presentation</vt:lpstr>
      <vt:lpstr>Uh oh, something’s not right</vt:lpstr>
      <vt:lpstr>PowerPoint Presentation</vt:lpstr>
      <vt:lpstr>First Fit</vt:lpstr>
      <vt:lpstr>Downsides of First-Fit</vt:lpstr>
      <vt:lpstr>Next Fit</vt:lpstr>
      <vt:lpstr>A Square Peg in a Slightly Larger Square Hole: </vt:lpstr>
      <vt:lpstr>Where would First-Fit put this block? </vt:lpstr>
      <vt:lpstr>Where would Next-Fit put it?</vt:lpstr>
      <vt:lpstr>But what place would make the most sense?</vt:lpstr>
      <vt:lpstr>But what if you wanted the worst possible case?</vt:lpstr>
      <vt:lpstr>The Best of Intentions</vt:lpstr>
      <vt:lpstr>Neither of these schemes really makes things any better</vt:lpstr>
      <vt:lpstr>But… there’s a corollary!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0449 Recitation 4</dc:title>
  <dc:creator>Lu, Gordon</dc:creator>
  <cp:lastModifiedBy>Lu, Gordon</cp:lastModifiedBy>
  <cp:revision>13</cp:revision>
  <dcterms:created xsi:type="dcterms:W3CDTF">2020-02-07T05:25:53Z</dcterms:created>
  <dcterms:modified xsi:type="dcterms:W3CDTF">2020-02-08T03:09:22Z</dcterms:modified>
</cp:coreProperties>
</file>