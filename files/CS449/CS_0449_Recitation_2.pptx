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91" r:id="rId3"/>
    <p:sldId id="272" r:id="rId4"/>
    <p:sldId id="257" r:id="rId5"/>
    <p:sldId id="260" r:id="rId6"/>
    <p:sldId id="259" r:id="rId7"/>
    <p:sldId id="261" r:id="rId8"/>
    <p:sldId id="264" r:id="rId9"/>
    <p:sldId id="262" r:id="rId10"/>
    <p:sldId id="265" r:id="rId11"/>
    <p:sldId id="266" r:id="rId12"/>
    <p:sldId id="258" r:id="rId13"/>
    <p:sldId id="267" r:id="rId14"/>
    <p:sldId id="268" r:id="rId15"/>
    <p:sldId id="273" r:id="rId16"/>
    <p:sldId id="276" r:id="rId17"/>
    <p:sldId id="274" r:id="rId18"/>
    <p:sldId id="277" r:id="rId19"/>
    <p:sldId id="279" r:id="rId20"/>
    <p:sldId id="278" r:id="rId21"/>
    <p:sldId id="280" r:id="rId22"/>
    <p:sldId id="281" r:id="rId23"/>
    <p:sldId id="282" r:id="rId24"/>
    <p:sldId id="283" r:id="rId25"/>
    <p:sldId id="284" r:id="rId26"/>
    <p:sldId id="287" r:id="rId27"/>
    <p:sldId id="288" r:id="rId28"/>
    <p:sldId id="285" r:id="rId29"/>
    <p:sldId id="286" r:id="rId30"/>
    <p:sldId id="289" r:id="rId31"/>
    <p:sldId id="290" r:id="rId32"/>
    <p:sldId id="269" r:id="rId33"/>
    <p:sldId id="270" r:id="rId34"/>
    <p:sldId id="27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, Gordon" initials="LG" lastIdx="4" clrIdx="0">
    <p:extLst>
      <p:ext uri="{19B8F6BF-5375-455C-9EA6-DF929625EA0E}">
        <p15:presenceInfo xmlns:p15="http://schemas.microsoft.com/office/powerpoint/2012/main" userId="Lu, Gord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08" autoAdjust="0"/>
    <p:restoredTop sz="94660"/>
  </p:normalViewPr>
  <p:slideViewPr>
    <p:cSldViewPr snapToGrid="0">
      <p:cViewPr varScale="1">
        <p:scale>
          <a:sx n="75" d="100"/>
          <a:sy n="75" d="100"/>
        </p:scale>
        <p:origin x="77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1-23T01:35:10.890" idx="2">
    <p:pos x="2460" y="1828"/>
    <p:text>sizeof() is a compile-time operator which tells you how many bytes something takes up.</p:text>
    <p:extLst>
      <p:ext uri="{C676402C-5697-4E1C-873F-D02D1690AC5C}">
        <p15:threadingInfo xmlns:p15="http://schemas.microsoft.com/office/powerpoint/2012/main" timeZoneBias="300"/>
      </p:ext>
    </p:extLst>
  </p:cm>
  <p:cm authorId="1" dt="2020-01-23T01:35:53.665" idx="3">
    <p:pos x="2460" y="1924"/>
    <p:text>IT CANNOT FIND THE SIZE OF SOMETHING AT RUNTIME.</p:text>
    <p:extLst>
      <p:ext uri="{C676402C-5697-4E1C-873F-D02D1690AC5C}">
        <p15:threadingInfo xmlns:p15="http://schemas.microsoft.com/office/powerpoint/2012/main" timeZoneBias="300">
          <p15:parentCm authorId="1" idx="2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1-23T01:27:47.668" idx="1">
    <p:pos x="5652" y="1914"/>
    <p:text>In Java, [ ] is a type constructor. This means when we do int arr[ ] [ ] it's different from int arr [ ]. In C, * is a type constructor. So int *p is not the same type as int **p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1-23T01:47:14.185" idx="4">
    <p:pos x="2877" y="2131"/>
    <p:text>It's actually implicitly: const char* name</p:text>
    <p:extLst>
      <p:ext uri="{C676402C-5697-4E1C-873F-D02D1690AC5C}">
        <p15:threadingInfo xmlns:p15="http://schemas.microsoft.com/office/powerpoint/2012/main" timeZoneBias="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42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8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1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67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93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8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2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59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8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6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160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175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55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818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499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395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44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51E2A4D-CADF-43C9-B43F-A615E8FB04B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65C9450-64D1-4FFF-94A6-C1BA9BC1E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45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0052-54D8-4697-8AA1-A953BA0AC5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0449 Recitation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6CA7C-3E19-4CD5-9C27-D20F61C7D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257899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A926-B3F6-4308-9CCE-B6858A34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Quiz!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35CED-AD7F-442F-AE0F-1E3842714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well do you understand </a:t>
            </a:r>
            <a:r>
              <a:rPr lang="en-US" b="1" dirty="0"/>
              <a:t>pointers </a:t>
            </a:r>
            <a:r>
              <a:rPr lang="en-US" dirty="0"/>
              <a:t>and </a:t>
            </a:r>
            <a:r>
              <a:rPr lang="en-US" b="1" dirty="0"/>
              <a:t>string manipulation</a:t>
            </a:r>
            <a:r>
              <a:rPr lang="en-US" dirty="0"/>
              <a:t>?</a:t>
            </a:r>
          </a:p>
          <a:p>
            <a:r>
              <a:rPr lang="en-US" dirty="0"/>
              <a:t>A practice lab is available on my website: There is one to practice </a:t>
            </a:r>
            <a:r>
              <a:rPr lang="en-US" b="1" dirty="0"/>
              <a:t>user input</a:t>
            </a:r>
            <a:r>
              <a:rPr lang="en-US" dirty="0"/>
              <a:t>, and one to practice </a:t>
            </a:r>
            <a:r>
              <a:rPr lang="en-US" b="1" dirty="0"/>
              <a:t>linked lists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323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EAB50-E6A4-44AD-89C0-0AD358E05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friendly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AB1FE-8921-46E4-B9E6-916D0F237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Never return an array in C. </a:t>
            </a:r>
          </a:p>
          <a:p>
            <a:endParaRPr lang="en-US" dirty="0"/>
          </a:p>
          <a:p>
            <a:r>
              <a:rPr lang="en-US" b="1" dirty="0"/>
              <a:t>Arrays don’t exist in C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When you pass an array into a function, it becomes a </a:t>
            </a:r>
            <a:r>
              <a:rPr lang="en-US" b="1" dirty="0"/>
              <a:t>Pointer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08943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4D0F0-FBA2-49E3-817A-318F6577C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2 will be out on Monday (probably)!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5FED5-3241-4328-A4BC-4DEF0FD5A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focus on Lab 2 will be </a:t>
            </a:r>
            <a:r>
              <a:rPr lang="en-US" b="1" dirty="0"/>
              <a:t>pointer arithmetic</a:t>
            </a:r>
            <a:endParaRPr lang="en-US" dirty="0"/>
          </a:p>
          <a:p>
            <a:r>
              <a:rPr lang="en-US" dirty="0"/>
              <a:t>So, I’ll be talking about pointers!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764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Memory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169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097D-55F3-4153-8ABC-6068AB62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45E4D-8135-4734-8590-85FA82CA1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 order to gain a more solid understanding of a pointer, let’s try and understand memory a little better.</a:t>
            </a:r>
          </a:p>
          <a:p>
            <a:r>
              <a:rPr lang="en-US" sz="1800" b="1" dirty="0"/>
              <a:t>Memory</a:t>
            </a:r>
            <a:r>
              <a:rPr lang="en-US" sz="1800" dirty="0"/>
              <a:t> is a </a:t>
            </a:r>
            <a:r>
              <a:rPr lang="en-US" sz="1800" b="1" dirty="0"/>
              <a:t>big one-dimensional array of bytes</a:t>
            </a:r>
            <a:endParaRPr lang="en-US" sz="1800" dirty="0"/>
          </a:p>
          <a:p>
            <a:r>
              <a:rPr lang="en-US" sz="1800" dirty="0"/>
              <a:t>Every byte value has an </a:t>
            </a:r>
            <a:r>
              <a:rPr lang="en-US" sz="1800" b="1" dirty="0"/>
              <a:t>address</a:t>
            </a:r>
            <a:endParaRPr lang="en-US" sz="1800" dirty="0"/>
          </a:p>
          <a:p>
            <a:r>
              <a:rPr lang="en-US" sz="1800" dirty="0"/>
              <a:t>This is its "</a:t>
            </a:r>
            <a:r>
              <a:rPr lang="en-US" sz="1800" b="1" dirty="0"/>
              <a:t>array index</a:t>
            </a:r>
            <a:r>
              <a:rPr lang="en-US" sz="1800" dirty="0"/>
              <a:t>"</a:t>
            </a:r>
          </a:p>
          <a:p>
            <a:r>
              <a:rPr lang="en-US" sz="1800" dirty="0"/>
              <a:t>Addresses start at 0, like arrays in C/Java</a:t>
            </a:r>
          </a:p>
          <a:p>
            <a:r>
              <a:rPr lang="en-US" sz="1800" dirty="0"/>
              <a:t>For values </a:t>
            </a:r>
            <a:r>
              <a:rPr lang="en-US" sz="1800" b="1" dirty="0"/>
              <a:t>bigger than a byte, </a:t>
            </a:r>
            <a:r>
              <a:rPr lang="en-US" sz="1800" dirty="0"/>
              <a:t>we use consecutive bytes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address</a:t>
            </a:r>
            <a:r>
              <a:rPr lang="en-US" sz="1800" dirty="0"/>
              <a:t> of any value, regardless of size, is the </a:t>
            </a:r>
            <a:r>
              <a:rPr lang="en-US" sz="1800" b="1" dirty="0"/>
              <a:t>address of the first byte</a:t>
            </a:r>
            <a:r>
              <a:rPr lang="en-US" sz="1800" dirty="0"/>
              <a:t> (</a:t>
            </a:r>
            <a:r>
              <a:rPr lang="en-US" sz="1800" i="1" dirty="0"/>
              <a:t>smallest</a:t>
            </a:r>
            <a:r>
              <a:rPr lang="en-US" sz="1800" dirty="0"/>
              <a:t> address)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61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58D0-3424-4204-BBA5-3CFF7A4B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zoom in at a piece of memory!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678CB-6892-4ADC-8265-27DFB696C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Here is an </a:t>
            </a:r>
            <a:r>
              <a:rPr lang="en-US" b="1" dirty="0"/>
              <a:t>int</a:t>
            </a:r>
            <a:r>
              <a:rPr lang="en-US" dirty="0"/>
              <a:t> variable </a:t>
            </a:r>
          </a:p>
          <a:p>
            <a:r>
              <a:rPr lang="en-US" dirty="0"/>
              <a:t>What is its </a:t>
            </a:r>
            <a:r>
              <a:rPr lang="en-US" dirty="0" err="1"/>
              <a:t>sizeof</a:t>
            </a:r>
            <a:r>
              <a:rPr lang="en-US" dirty="0"/>
              <a:t>()?</a:t>
            </a:r>
          </a:p>
          <a:p>
            <a:pPr marL="0" lvl="0" indent="0">
              <a:buNone/>
            </a:pPr>
            <a:r>
              <a:rPr lang="en-US" dirty="0"/>
              <a:t>Its </a:t>
            </a:r>
            <a:r>
              <a:rPr lang="en-US" dirty="0" err="1"/>
              <a:t>sizeof</a:t>
            </a:r>
            <a:r>
              <a:rPr lang="en-US" dirty="0"/>
              <a:t>() is 4 in this case - 4 bytes long</a:t>
            </a:r>
          </a:p>
          <a:p>
            <a:r>
              <a:rPr lang="en-US" dirty="0"/>
              <a:t>What is its address?</a:t>
            </a:r>
          </a:p>
          <a:p>
            <a:pPr marL="0" lvl="0" indent="0">
              <a:buNone/>
            </a:pPr>
            <a:r>
              <a:rPr lang="en-US" dirty="0"/>
              <a:t>Its address is 0xDC04</a:t>
            </a:r>
          </a:p>
          <a:p>
            <a:r>
              <a:rPr lang="en-US" dirty="0"/>
              <a:t>What is its value?</a:t>
            </a:r>
          </a:p>
          <a:p>
            <a:pPr marL="0" lvl="0" indent="0">
              <a:buNone/>
            </a:pPr>
            <a:r>
              <a:rPr lang="en-US" dirty="0"/>
              <a:t>Its value could be either 0xDEC0EFBE (big-endian) or 0xC0DEBEEF (little-endian)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62F4DD-E107-4933-BA81-D860A2782BB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404" y="2556931"/>
            <a:ext cx="1022664" cy="263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6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Lockers: Pointer Analogy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28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FD145-BC1A-473F-847C-027E77D5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3C2C3-6F9B-4A44-9E2D-BCC88B27B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1) Think about a locker. what is its purpose?</a:t>
            </a:r>
          </a:p>
          <a:p>
            <a:pPr marL="0" indent="0">
              <a:buNone/>
            </a:pPr>
            <a:r>
              <a:rPr lang="en-US" dirty="0"/>
              <a:t>- To </a:t>
            </a:r>
            <a:r>
              <a:rPr lang="en-US" b="1" dirty="0"/>
              <a:t>contain</a:t>
            </a:r>
            <a:r>
              <a:rPr lang="en-US" dirty="0"/>
              <a:t> things.</a:t>
            </a:r>
          </a:p>
          <a:p>
            <a:pPr marL="0" indent="0">
              <a:buNone/>
            </a:pPr>
            <a:r>
              <a:rPr lang="en-US" dirty="0"/>
              <a:t>2) How are lockers identified?</a:t>
            </a:r>
          </a:p>
          <a:p>
            <a:pPr marL="0" indent="0">
              <a:buNone/>
            </a:pPr>
            <a:r>
              <a:rPr lang="en-US" dirty="0"/>
              <a:t>- They're </a:t>
            </a:r>
            <a:r>
              <a:rPr lang="en-US" b="1" dirty="0"/>
              <a:t>numbered.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3) How do you access a locker?</a:t>
            </a:r>
          </a:p>
          <a:p>
            <a:pPr marL="0" indent="0">
              <a:buNone/>
            </a:pPr>
            <a:r>
              <a:rPr lang="en-US" dirty="0"/>
              <a:t>- By knowing the locker's </a:t>
            </a:r>
            <a:r>
              <a:rPr lang="en-US" b="1" dirty="0"/>
              <a:t>number</a:t>
            </a:r>
            <a:r>
              <a:rPr lang="en-US" dirty="0"/>
              <a:t> and </a:t>
            </a:r>
            <a:r>
              <a:rPr lang="en-US" b="1" dirty="0"/>
              <a:t>combination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- but for this example, let's assume </a:t>
            </a:r>
            <a:r>
              <a:rPr lang="en-US" b="1" i="1" dirty="0"/>
              <a:t>there are no locks.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4) How would you </a:t>
            </a:r>
            <a:r>
              <a:rPr lang="en-US" b="1" i="1" dirty="0"/>
              <a:t>give someone else access</a:t>
            </a:r>
            <a:r>
              <a:rPr lang="en-US" dirty="0"/>
              <a:t> to your (lock-less) locker?</a:t>
            </a:r>
          </a:p>
          <a:p>
            <a:pPr marL="0" indent="0">
              <a:buNone/>
            </a:pPr>
            <a:r>
              <a:rPr lang="en-US" dirty="0"/>
              <a:t>- Would you rip it out of the wall?</a:t>
            </a:r>
          </a:p>
          <a:p>
            <a:pPr marL="0" indent="0">
              <a:buNone/>
            </a:pPr>
            <a:r>
              <a:rPr lang="en-US" dirty="0"/>
              <a:t>- No… you </a:t>
            </a:r>
            <a:r>
              <a:rPr lang="en-US" b="1" dirty="0"/>
              <a:t>give them the locker number.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13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6262-0FD5-4436-9430-E0EB6B21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a Locker Room!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3FFE6-517E-4841-B36F-C053D682D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1) Just like a locker </a:t>
            </a:r>
            <a:r>
              <a:rPr lang="en-US" b="1" dirty="0"/>
              <a:t>contains </a:t>
            </a:r>
            <a:r>
              <a:rPr lang="en-US" b="1" i="1" dirty="0"/>
              <a:t>things</a:t>
            </a: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- Variables contain </a:t>
            </a:r>
            <a:r>
              <a:rPr lang="en-US" b="1" dirty="0"/>
              <a:t>values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But a variable </a:t>
            </a:r>
            <a:r>
              <a:rPr lang="en-US" i="1" dirty="0"/>
              <a:t>is a </a:t>
            </a:r>
            <a:r>
              <a:rPr lang="en-US" b="1" i="1" dirty="0"/>
              <a:t>thing itself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2) Each variable is like a locker:</a:t>
            </a:r>
          </a:p>
          <a:p>
            <a:pPr marL="0" indent="0">
              <a:buNone/>
            </a:pPr>
            <a:r>
              <a:rPr lang="en-US" dirty="0"/>
              <a:t>- It has a </a:t>
            </a:r>
            <a:r>
              <a:rPr lang="en-US" b="1" dirty="0"/>
              <a:t>number: </a:t>
            </a:r>
            <a:r>
              <a:rPr lang="en-US" dirty="0"/>
              <a:t>its </a:t>
            </a:r>
            <a:r>
              <a:rPr lang="en-US" b="1" dirty="0"/>
              <a:t>address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It </a:t>
            </a:r>
            <a:r>
              <a:rPr lang="en-US" b="1" dirty="0"/>
              <a:t>contains </a:t>
            </a:r>
            <a:r>
              <a:rPr lang="en-US" dirty="0"/>
              <a:t>something: its </a:t>
            </a:r>
            <a:r>
              <a:rPr lang="en-US" b="1" dirty="0"/>
              <a:t>value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It </a:t>
            </a:r>
            <a:r>
              <a:rPr lang="en-US" b="1" dirty="0"/>
              <a:t>belongs</a:t>
            </a:r>
            <a:r>
              <a:rPr lang="en-US" dirty="0"/>
              <a:t> to someone: its </a:t>
            </a:r>
            <a:r>
              <a:rPr lang="en-US" b="1" dirty="0"/>
              <a:t>owner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3) How do you </a:t>
            </a:r>
            <a:r>
              <a:rPr lang="en-US" i="1" dirty="0"/>
              <a:t>give </a:t>
            </a:r>
            <a:r>
              <a:rPr lang="en-US" b="1" i="1" dirty="0"/>
              <a:t>someone else access</a:t>
            </a:r>
            <a:r>
              <a:rPr lang="en-US" i="1" dirty="0"/>
              <a:t> </a:t>
            </a:r>
            <a:r>
              <a:rPr lang="en-US" dirty="0"/>
              <a:t>to your variable?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i="1" dirty="0"/>
              <a:t>You give them the locker number</a:t>
            </a:r>
            <a:r>
              <a:rPr lang="en-US" i="1" dirty="0"/>
              <a:t>.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- Which is its </a:t>
            </a:r>
            <a:r>
              <a:rPr lang="en-US" b="1" dirty="0"/>
              <a:t>memory address.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Variable names are just a convenient way to refer to their addresses!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5528FB-2413-41DC-91E4-F58E9FCA38D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952" y="2556932"/>
            <a:ext cx="4893762" cy="302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5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ADD3-8ACF-4DF9-B8A3-3EEA2581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99ACB-9972-4F96-9A0F-08A6F9E39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1) If we put a slip of paper in locker 3 which says "locker #2"…</a:t>
            </a:r>
          </a:p>
          <a:p>
            <a:pPr marL="0" indent="0">
              <a:buNone/>
            </a:pPr>
            <a:r>
              <a:rPr lang="en-US" dirty="0"/>
              <a:t>2) Now we can access </a:t>
            </a:r>
            <a:r>
              <a:rPr lang="en-US" b="1" i="1" dirty="0"/>
              <a:t>two</a:t>
            </a:r>
            <a:r>
              <a:rPr lang="en-US" dirty="0"/>
              <a:t> things:</a:t>
            </a:r>
          </a:p>
          <a:p>
            <a:pPr marL="0" indent="0">
              <a:buNone/>
            </a:pPr>
            <a:r>
              <a:rPr lang="en-US" dirty="0"/>
              <a:t>- The locker </a:t>
            </a:r>
            <a:r>
              <a:rPr lang="en-US" b="1" dirty="0"/>
              <a:t>itself (3)</a:t>
            </a:r>
            <a:r>
              <a:rPr lang="en-US" dirty="0"/>
              <a:t>, and</a:t>
            </a:r>
          </a:p>
          <a:p>
            <a:pPr marL="0" indent="0">
              <a:buNone/>
            </a:pPr>
            <a:r>
              <a:rPr lang="en-US" dirty="0"/>
              <a:t>- The locker that it </a:t>
            </a:r>
            <a:r>
              <a:rPr lang="en-US" b="1" dirty="0"/>
              <a:t>points to (2)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3) A </a:t>
            </a:r>
            <a:r>
              <a:rPr lang="en-US" b="1" dirty="0"/>
              <a:t>pointer</a:t>
            </a:r>
            <a:r>
              <a:rPr lang="en-US" dirty="0"/>
              <a:t> is a variable which holds </a:t>
            </a:r>
            <a:r>
              <a:rPr lang="en-US" b="1" dirty="0"/>
              <a:t>another variable's memory address.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4) If you have a pointer, now you can access </a:t>
            </a:r>
            <a:r>
              <a:rPr lang="en-US" i="1" dirty="0"/>
              <a:t>two</a:t>
            </a:r>
            <a:r>
              <a:rPr lang="en-US" dirty="0"/>
              <a:t> things:</a:t>
            </a:r>
          </a:p>
          <a:p>
            <a:pPr marL="0" indent="0">
              <a:buNone/>
            </a:pPr>
            <a:r>
              <a:rPr lang="en-US" dirty="0"/>
              <a:t>- The pointer variable </a:t>
            </a:r>
            <a:r>
              <a:rPr lang="en-US" b="1" dirty="0"/>
              <a:t>itself</a:t>
            </a:r>
            <a:r>
              <a:rPr lang="en-US" dirty="0"/>
              <a:t>, and</a:t>
            </a:r>
          </a:p>
          <a:p>
            <a:pPr marL="0" indent="0">
              <a:buNone/>
            </a:pPr>
            <a:r>
              <a:rPr lang="en-US" dirty="0"/>
              <a:t>- The variable that it </a:t>
            </a:r>
            <a:r>
              <a:rPr lang="en-US" b="1" dirty="0"/>
              <a:t>points to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5) </a:t>
            </a:r>
            <a:r>
              <a:rPr lang="en-US" i="1" dirty="0"/>
              <a:t>"every problem in CS can be solved with another level of indirection."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228E0-8DC2-468A-ACAA-92D01F51D71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157" y="2658745"/>
            <a:ext cx="2604135" cy="272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0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E9FA-DE20-4A20-A637-EE3160DA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Pointer?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D711F-1415-462D-8CBF-8B6CE733C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pointer </a:t>
            </a:r>
            <a:r>
              <a:rPr lang="en-US" dirty="0"/>
              <a:t>is a variable that holds a memory address of another variable.</a:t>
            </a:r>
          </a:p>
          <a:p>
            <a:r>
              <a:rPr lang="en-US" dirty="0"/>
              <a:t>Essentially, anytime you would do </a:t>
            </a:r>
            <a:r>
              <a:rPr lang="en-US" b="1" dirty="0"/>
              <a:t>[ ] </a:t>
            </a:r>
            <a:r>
              <a:rPr lang="en-US" dirty="0"/>
              <a:t>in Java, you’d do </a:t>
            </a:r>
            <a:r>
              <a:rPr lang="en-US" b="1" dirty="0"/>
              <a:t>* </a:t>
            </a:r>
            <a:r>
              <a:rPr lang="en-US" dirty="0"/>
              <a:t>in C.</a:t>
            </a:r>
          </a:p>
          <a:p>
            <a:r>
              <a:rPr lang="en-US" dirty="0"/>
              <a:t>You can access a value a pointer points to using the </a:t>
            </a:r>
            <a:r>
              <a:rPr lang="en-US" b="1" dirty="0"/>
              <a:t>dereference operator (*)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76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A139A-7BA2-4E6E-9BAD-0160F2942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Address-Of (&amp;)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5AD40-33EC-4880-858C-5556EB159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get the address of a variable via the </a:t>
            </a:r>
            <a:r>
              <a:rPr lang="en-US" b="1" dirty="0"/>
              <a:t>address-of operator (&amp;)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int x;</a:t>
            </a:r>
          </a:p>
          <a:p>
            <a:pPr marL="0" indent="0">
              <a:buNone/>
            </a:pPr>
            <a:r>
              <a:rPr lang="en-US" dirty="0"/>
              <a:t>int* p = &amp;x;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55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C0FD-C520-4BBD-B526-A33653E9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Example with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BD462-12D5-4675-BABB-753C0414D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int x = 10;</a:t>
            </a:r>
          </a:p>
          <a:p>
            <a:pPr marL="0" indent="0">
              <a:buNone/>
            </a:pPr>
            <a:r>
              <a:rPr lang="en-US" sz="1800" dirty="0"/>
              <a:t>int y = 20;</a:t>
            </a:r>
          </a:p>
          <a:p>
            <a:pPr marL="0" indent="0">
              <a:buNone/>
            </a:pPr>
            <a:r>
              <a:rPr lang="en-US" sz="1800" dirty="0"/>
              <a:t>int* p = &amp;x; does the following: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64A1F-6B46-43BA-8846-AF355781CB6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661" y="3695256"/>
            <a:ext cx="7686675" cy="234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5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8013-E45F-4B12-A8E5-A65A944A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Example with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50E23-5FF4-4479-A9E7-BD2CFE39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int x = 10;</a:t>
            </a:r>
          </a:p>
          <a:p>
            <a:pPr marL="0" indent="0">
              <a:buNone/>
            </a:pPr>
            <a:r>
              <a:rPr lang="en-US" sz="2000" dirty="0"/>
              <a:t>int y = 20;</a:t>
            </a:r>
          </a:p>
          <a:p>
            <a:pPr marL="0" indent="0">
              <a:buNone/>
            </a:pPr>
            <a:r>
              <a:rPr lang="en-US" sz="2000" dirty="0"/>
              <a:t>int* p = &amp;y; does the following: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1A64A2-4DAF-480C-BC68-A587BA8B25C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755" y="3828416"/>
            <a:ext cx="5943600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7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8013-E45F-4B12-A8E5-A65A944A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Example with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50E23-5FF4-4479-A9E7-BD2CFE39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int x = 10;</a:t>
            </a:r>
          </a:p>
          <a:p>
            <a:pPr marL="0" indent="0">
              <a:buNone/>
            </a:pPr>
            <a:r>
              <a:rPr lang="en-US" sz="2000" dirty="0"/>
              <a:t>int y = 20;</a:t>
            </a:r>
          </a:p>
          <a:p>
            <a:pPr marL="0" indent="0">
              <a:buNone/>
            </a:pPr>
            <a:r>
              <a:rPr lang="en-US" sz="2000" dirty="0"/>
              <a:t>int** pp = &amp;p; does the following: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09234E-291D-4866-BA0F-9B690978392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165" y="2585784"/>
            <a:ext cx="5943600" cy="288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3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6CF4-BE5E-4296-80FB-541508829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and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07B28-A79E-455D-A701-32FAD728B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364" y="2556932"/>
            <a:ext cx="9601196" cy="3318936"/>
          </a:xfrm>
        </p:spPr>
        <p:txBody>
          <a:bodyPr/>
          <a:lstStyle/>
          <a:p>
            <a:r>
              <a:rPr lang="en-US" dirty="0"/>
              <a:t>1) A pointer can point to </a:t>
            </a:r>
            <a:r>
              <a:rPr lang="en-US" b="1" dirty="0"/>
              <a:t>one or more values.</a:t>
            </a:r>
            <a:endParaRPr lang="en-US" dirty="0"/>
          </a:p>
          <a:p>
            <a:r>
              <a:rPr lang="en-US" dirty="0"/>
              <a:t>2) A </a:t>
            </a:r>
            <a:r>
              <a:rPr lang="en-US" b="1" dirty="0"/>
              <a:t>char*</a:t>
            </a:r>
            <a:r>
              <a:rPr lang="en-US" dirty="0"/>
              <a:t> may point to a single </a:t>
            </a:r>
            <a:r>
              <a:rPr lang="en-US" b="1" dirty="0"/>
              <a:t>char</a:t>
            </a:r>
            <a:r>
              <a:rPr lang="en-US" dirty="0"/>
              <a:t>, or to </a:t>
            </a:r>
            <a:r>
              <a:rPr lang="en-US" b="1" dirty="0"/>
              <a:t>an array of characters.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Initially, with the following code: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0F4B69-969C-4956-9E3D-BAFB06ACECE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317" y="4040926"/>
            <a:ext cx="5943600" cy="136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9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F0192-6C04-40F0-83E3-9EC1DF0C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and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0040-3662-48D6-B5CF-515948921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/>
          <a:lstStyle/>
          <a:p>
            <a:r>
              <a:rPr lang="en-US" dirty="0"/>
              <a:t>But now if we do: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“Pointing to a single value" is the same as “pointing to an array of length 1"…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090DEF-1FEF-4316-A5C9-5DAAB824D51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643" y="2556932"/>
            <a:ext cx="5943600" cy="260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6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Accessing the Value at a Pointer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268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AE91-A86E-4F0B-9F14-D930507BA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Value-At (or "Dereference") Operator: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94B86-DB3B-4E79-A61E-87A5310BC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en-US" b="1" dirty="0"/>
              <a:t>*</a:t>
            </a:r>
            <a:r>
              <a:rPr lang="en-US" dirty="0"/>
              <a:t> is the </a:t>
            </a:r>
            <a:r>
              <a:rPr lang="en-US" b="1" dirty="0"/>
              <a:t>value-at operator </a:t>
            </a:r>
            <a:r>
              <a:rPr lang="en-US" dirty="0"/>
              <a:t>-</a:t>
            </a:r>
            <a:r>
              <a:rPr lang="en-US" b="1" dirty="0"/>
              <a:t> </a:t>
            </a:r>
            <a:r>
              <a:rPr lang="en-US" dirty="0"/>
              <a:t>it's the </a:t>
            </a:r>
            <a:r>
              <a:rPr lang="en-US" b="1" dirty="0"/>
              <a:t>inverse of &amp;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Every time you use it, you </a:t>
            </a:r>
            <a:r>
              <a:rPr lang="en-US" i="1" dirty="0"/>
              <a:t>remove </a:t>
            </a:r>
            <a:r>
              <a:rPr lang="en-US" dirty="0"/>
              <a:t>a star</a:t>
            </a:r>
          </a:p>
          <a:p>
            <a:pPr marL="0" indent="0">
              <a:buNone/>
            </a:pPr>
            <a:r>
              <a:rPr lang="en-US" dirty="0"/>
              <a:t>2) It </a:t>
            </a:r>
            <a:r>
              <a:rPr lang="en-US" b="1" dirty="0"/>
              <a:t>accesses the variable</a:t>
            </a:r>
            <a:r>
              <a:rPr lang="en-US" dirty="0"/>
              <a:t> that a pointer </a:t>
            </a:r>
            <a:r>
              <a:rPr lang="en-US" b="1" i="1" dirty="0"/>
              <a:t>points to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We say that it </a:t>
            </a:r>
            <a:r>
              <a:rPr lang="en-US" b="1" dirty="0"/>
              <a:t>"dereferences" </a:t>
            </a:r>
            <a:r>
              <a:rPr lang="en-US" dirty="0"/>
              <a:t>a pointer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014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065D-79A6-43DA-83A7-5CA76331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882C2-47ED-4454-9B3C-DCDA2CD88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following code, </a:t>
            </a:r>
            <a:r>
              <a:rPr lang="en-US" b="1" dirty="0"/>
              <a:t>p currently points to x’s memory address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2AEEFE-BB9C-4C89-B2B8-7852B3E45DB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640" y="3222121"/>
            <a:ext cx="5506720" cy="124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6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065D-79A6-43DA-83A7-5CA76331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882C2-47ED-4454-9B3C-DCDA2CD88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Changing the value of </a:t>
            </a:r>
            <a:r>
              <a:rPr lang="en-US" b="1" dirty="0"/>
              <a:t>p</a:t>
            </a:r>
            <a:r>
              <a:rPr lang="en-US" dirty="0"/>
              <a:t> (via dereference) will change x’s original value!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F61834-4A92-4D21-8121-645E29E6FC4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240" y="3429000"/>
            <a:ext cx="5943600" cy="135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99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065D-79A6-43DA-83A7-5CA76331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882C2-47ED-4454-9B3C-DCDA2CD88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Changing the value of </a:t>
            </a:r>
            <a:r>
              <a:rPr lang="en-US" b="1" dirty="0"/>
              <a:t>p</a:t>
            </a:r>
            <a:r>
              <a:rPr lang="en-US" dirty="0"/>
              <a:t> (via dereference) will change x’s original value!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F61834-4A92-4D21-8121-645E29E6FC4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240" y="3429000"/>
            <a:ext cx="5943600" cy="135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3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Array-Indexing Operators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86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F297-D00C-493A-B612-A719691C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Array-Indexing Operators: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BBF1D-31C0-4A3E-BFA4-5BB39CD64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/>
          <a:lstStyle/>
          <a:p>
            <a:r>
              <a:rPr lang="en-US" b="1" dirty="0"/>
              <a:t>p[n] </a:t>
            </a:r>
            <a:r>
              <a:rPr lang="en-US" dirty="0"/>
              <a:t>means "access the </a:t>
            </a:r>
            <a:r>
              <a:rPr lang="en-US" b="1" i="1" dirty="0"/>
              <a:t>n</a:t>
            </a:r>
            <a:r>
              <a:rPr lang="en-US" dirty="0"/>
              <a:t>th item pointed to by </a:t>
            </a:r>
            <a:r>
              <a:rPr lang="en-US" b="1" dirty="0"/>
              <a:t>p</a:t>
            </a:r>
            <a:r>
              <a:rPr lang="en-US" dirty="0"/>
              <a:t>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A3CBF-AF66-44B8-9287-AC68E629D9C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680" y="3021012"/>
            <a:ext cx="594360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7852-CB4D-4A0C-ADB1-2B11DB4B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brackets actually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AA26A-ECC2-43F6-A0D7-2386A12B4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/>
          <a:lstStyle/>
          <a:p>
            <a:r>
              <a:rPr lang="en-US" dirty="0"/>
              <a:t>1) </a:t>
            </a:r>
            <a:r>
              <a:rPr lang="en-US" b="1" dirty="0"/>
              <a:t>p[n] </a:t>
            </a:r>
            <a:r>
              <a:rPr lang="en-US" dirty="0"/>
              <a:t>in C </a:t>
            </a:r>
            <a:r>
              <a:rPr lang="en-US" i="1" dirty="0"/>
              <a:t>really </a:t>
            </a:r>
            <a:r>
              <a:rPr lang="en-US" dirty="0"/>
              <a:t>means "dereference address </a:t>
            </a:r>
            <a:r>
              <a:rPr lang="en-US" b="1" dirty="0"/>
              <a:t>p + n</a:t>
            </a:r>
            <a:r>
              <a:rPr lang="en-US" dirty="0"/>
              <a:t>"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30BF9-E59C-4179-B6B5-6CC60D5F553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511" y="3007569"/>
            <a:ext cx="4394489" cy="296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7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247A-E3C6-4EE9-9CC5-CA7D8238D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Tipping the Scales!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24F31-AD30-4255-B6D9-32AC92A14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Let's say we have an array of </a:t>
            </a:r>
            <a:r>
              <a:rPr lang="en-US" dirty="0" err="1"/>
              <a:t>ints</a:t>
            </a:r>
            <a:r>
              <a:rPr lang="en-US" dirty="0"/>
              <a:t>:</a:t>
            </a:r>
          </a:p>
          <a:p>
            <a:r>
              <a:rPr lang="en-US" dirty="0"/>
              <a:t>Let's say </a:t>
            </a:r>
            <a:r>
              <a:rPr lang="en-US" b="1" dirty="0" err="1"/>
              <a:t>arr</a:t>
            </a:r>
            <a:r>
              <a:rPr lang="en-US" dirty="0"/>
              <a:t> points to address </a:t>
            </a:r>
            <a:r>
              <a:rPr lang="en-US" b="1" dirty="0"/>
              <a:t>0xDC00</a:t>
            </a:r>
            <a:endParaRPr lang="en-US" dirty="0"/>
          </a:p>
          <a:p>
            <a:r>
              <a:rPr lang="en-US" dirty="0"/>
              <a:t>What is </a:t>
            </a:r>
            <a:r>
              <a:rPr lang="en-US" b="1" dirty="0" err="1"/>
              <a:t>sizeof</a:t>
            </a:r>
            <a:r>
              <a:rPr lang="en-US" b="1" dirty="0"/>
              <a:t>(int)</a:t>
            </a:r>
            <a:r>
              <a:rPr lang="en-US" dirty="0"/>
              <a:t>?</a:t>
            </a:r>
          </a:p>
          <a:p>
            <a:r>
              <a:rPr lang="en-US" b="1" dirty="0"/>
              <a:t>4 bytes.</a:t>
            </a:r>
            <a:endParaRPr lang="en-US" dirty="0"/>
          </a:p>
          <a:p>
            <a:r>
              <a:rPr lang="en-US" b="1" dirty="0" err="1"/>
              <a:t>arr</a:t>
            </a:r>
            <a:r>
              <a:rPr lang="en-US" b="1" dirty="0"/>
              <a:t>[1]</a:t>
            </a:r>
            <a:r>
              <a:rPr lang="en-US" dirty="0"/>
              <a:t> means </a:t>
            </a:r>
            <a:r>
              <a:rPr lang="en-US" b="1" dirty="0"/>
              <a:t>*(</a:t>
            </a:r>
            <a:r>
              <a:rPr lang="en-US" b="1" dirty="0" err="1"/>
              <a:t>arr</a:t>
            </a:r>
            <a:r>
              <a:rPr lang="en-US" b="1" dirty="0"/>
              <a:t> + 1)</a:t>
            </a:r>
            <a:r>
              <a:rPr lang="en-US" dirty="0"/>
              <a:t>…</a:t>
            </a:r>
          </a:p>
          <a:p>
            <a:r>
              <a:rPr lang="en-US" dirty="0"/>
              <a:t>but where is the next value? at </a:t>
            </a:r>
            <a:r>
              <a:rPr lang="en-US" b="1" dirty="0"/>
              <a:t>0xDC01</a:t>
            </a:r>
            <a:r>
              <a:rPr lang="en-US" dirty="0"/>
              <a:t>?</a:t>
            </a:r>
          </a:p>
          <a:p>
            <a:r>
              <a:rPr lang="en-US" b="1" dirty="0"/>
              <a:t>No! at 0xDC04.</a:t>
            </a:r>
            <a:endParaRPr lang="en-US" dirty="0"/>
          </a:p>
          <a:p>
            <a:r>
              <a:rPr lang="en-US" dirty="0"/>
              <a:t>and </a:t>
            </a:r>
            <a:r>
              <a:rPr lang="en-US" b="1" dirty="0" err="1"/>
              <a:t>arr</a:t>
            </a:r>
            <a:r>
              <a:rPr lang="en-US" b="1" dirty="0"/>
              <a:t>[2]</a:t>
            </a:r>
            <a:r>
              <a:rPr lang="en-US" dirty="0"/>
              <a:t> is at </a:t>
            </a:r>
            <a:r>
              <a:rPr lang="en-US" b="1" dirty="0"/>
              <a:t>0xDC08</a:t>
            </a:r>
            <a:r>
              <a:rPr lang="en-US" dirty="0"/>
              <a:t>…</a:t>
            </a:r>
          </a:p>
          <a:p>
            <a:r>
              <a:rPr lang="en-US" dirty="0"/>
              <a:t>When you add an offset to a pointer, the offset is </a:t>
            </a:r>
            <a:r>
              <a:rPr lang="en-US" b="1" dirty="0"/>
              <a:t>multiplied by the size of the item being pointed to </a:t>
            </a:r>
            <a:r>
              <a:rPr lang="en-US" dirty="0"/>
              <a:t>before being added to the base address.</a:t>
            </a:r>
          </a:p>
          <a:p>
            <a:r>
              <a:rPr lang="en-US" dirty="0"/>
              <a:t>This is called "</a:t>
            </a:r>
            <a:r>
              <a:rPr lang="en-US" b="1" dirty="0"/>
              <a:t>scaling</a:t>
            </a:r>
            <a:r>
              <a:rPr lang="en-US" dirty="0"/>
              <a:t>."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E76C89-391D-478B-BCD3-058187FC0D9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85" y="2671445"/>
            <a:ext cx="3089910" cy="335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7965C4-B1B9-4F79-ABAD-6EDC4A0A2F2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622" y="734377"/>
            <a:ext cx="1519555" cy="406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8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Pointer Arithmetic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696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B7196-4E91-450E-90A4-80461702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Addresses are just numbers!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4352-6FA5-4B6D-B18A-0BD95C1E3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1) Pointers hold memory addresses. </a:t>
            </a:r>
          </a:p>
          <a:p>
            <a:pPr marL="0" indent="0">
              <a:buNone/>
            </a:pPr>
            <a:r>
              <a:rPr lang="en-US" sz="1800" dirty="0"/>
              <a:t>- Memory addresses are </a:t>
            </a:r>
            <a:r>
              <a:rPr lang="en-US" sz="1800" b="1" dirty="0"/>
              <a:t>numbers.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2) It's useful to do </a:t>
            </a:r>
            <a:r>
              <a:rPr lang="en-US" sz="1800" b="1" dirty="0"/>
              <a:t>arithmetic</a:t>
            </a:r>
            <a:r>
              <a:rPr lang="en-US" sz="1800" dirty="0"/>
              <a:t> on </a:t>
            </a:r>
            <a:r>
              <a:rPr lang="en-US" sz="1800" b="1" dirty="0"/>
              <a:t>memory addresses.</a:t>
            </a:r>
            <a:endParaRPr lang="en-US" sz="1800" dirty="0"/>
          </a:p>
          <a:p>
            <a:r>
              <a:rPr lang="en-US" sz="1800" dirty="0"/>
              <a:t>This will print !, since t points to !</a:t>
            </a:r>
          </a:p>
          <a:p>
            <a:r>
              <a:rPr lang="en-US" sz="1800" dirty="0"/>
              <a:t>There is no dereferencing happening in the pointer arithmetic.</a:t>
            </a:r>
          </a:p>
          <a:p>
            <a:r>
              <a:rPr lang="en-US" sz="1800" dirty="0"/>
              <a:t>We are operating </a:t>
            </a:r>
            <a:r>
              <a:rPr lang="en-US" sz="1800" b="1" i="1" dirty="0"/>
              <a:t>on the pointer itself</a:t>
            </a:r>
            <a:r>
              <a:rPr lang="en-US" sz="1800" i="1" dirty="0"/>
              <a:t>.</a:t>
            </a:r>
            <a:endParaRPr lang="en-US" sz="18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53CA7F-564D-4AE9-ADC5-2B1D2499F0A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359" y="1940559"/>
            <a:ext cx="5288281" cy="227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0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Void Pointers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243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7697B-5443-4616-819C-DC1B6F9D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b="1" dirty="0"/>
              <a:t>void pointer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20A0B-D33A-40B3-88D0-E6B6C7F2F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a </a:t>
            </a:r>
            <a:r>
              <a:rPr lang="en-US" b="1" dirty="0"/>
              <a:t>void pointer </a:t>
            </a:r>
            <a:r>
              <a:rPr lang="en-US" dirty="0"/>
              <a:t>like a </a:t>
            </a:r>
            <a:r>
              <a:rPr lang="en-US" b="1" dirty="0"/>
              <a:t>universal</a:t>
            </a:r>
            <a:r>
              <a:rPr lang="en-US" dirty="0"/>
              <a:t> pointer</a:t>
            </a:r>
          </a:p>
          <a:p>
            <a:r>
              <a:rPr lang="en-US" dirty="0"/>
              <a:t>It can point to </a:t>
            </a:r>
            <a:r>
              <a:rPr lang="en-US" b="1" dirty="0"/>
              <a:t>anything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int x; float y;</a:t>
            </a:r>
          </a:p>
          <a:p>
            <a:pPr marL="0" indent="0">
              <a:buNone/>
            </a:pPr>
            <a:r>
              <a:rPr lang="en-US" dirty="0"/>
              <a:t>void* </a:t>
            </a:r>
            <a:r>
              <a:rPr lang="en-US" dirty="0" err="1"/>
              <a:t>vp</a:t>
            </a:r>
            <a:r>
              <a:rPr lang="en-US" dirty="0"/>
              <a:t> = &amp;x; //good!</a:t>
            </a:r>
          </a:p>
          <a:p>
            <a:pPr marL="0" indent="0">
              <a:buNone/>
            </a:pPr>
            <a:r>
              <a:rPr lang="en-US" dirty="0" err="1"/>
              <a:t>vp</a:t>
            </a:r>
            <a:r>
              <a:rPr lang="en-US" dirty="0"/>
              <a:t> = &amp;y; //good!</a:t>
            </a:r>
          </a:p>
          <a:p>
            <a:r>
              <a:rPr lang="en-US" dirty="0"/>
              <a:t>But… you can’t </a:t>
            </a:r>
            <a:r>
              <a:rPr lang="en-US" b="1" dirty="0"/>
              <a:t>access the data </a:t>
            </a:r>
            <a:r>
              <a:rPr lang="en-US" dirty="0"/>
              <a:t>from a void* without a cast…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9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String Manipulation in C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767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B769-A57E-4906-AD8C-A274DC8E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difference 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2A7B0-F3A9-4EC6-A178-9E92467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char* name = “hello!”;</a:t>
            </a:r>
          </a:p>
          <a:p>
            <a:r>
              <a:rPr lang="en-US" dirty="0"/>
              <a:t>char name[100] = “hello”;</a:t>
            </a:r>
          </a:p>
          <a:p>
            <a:endParaRPr lang="en-US" dirty="0"/>
          </a:p>
          <a:p>
            <a:r>
              <a:rPr lang="en-US" dirty="0"/>
              <a:t>When we declare char* name = “hello”; this puts “hello” into the static data segment.</a:t>
            </a:r>
          </a:p>
          <a:p>
            <a:r>
              <a:rPr lang="en-US" dirty="0"/>
              <a:t>This means we can’t modify this variable! </a:t>
            </a:r>
          </a:p>
          <a:p>
            <a:endParaRPr lang="en-US" dirty="0"/>
          </a:p>
          <a:p>
            <a:r>
              <a:rPr lang="en-US" dirty="0"/>
              <a:t>When we declare char name[100] = “name”, this allocates space for 100 characters, fills the first </a:t>
            </a:r>
            <a:r>
              <a:rPr lang="en-US" b="1" i="1" dirty="0"/>
              <a:t>however many</a:t>
            </a:r>
            <a:r>
              <a:rPr lang="en-US" i="1" dirty="0"/>
              <a:t> </a:t>
            </a:r>
            <a:r>
              <a:rPr lang="en-US" dirty="0"/>
              <a:t>with that string, and fills the rest with </a:t>
            </a:r>
            <a:r>
              <a:rPr lang="en-US" b="1" dirty="0"/>
              <a:t>\0 characters</a:t>
            </a:r>
          </a:p>
          <a:p>
            <a:r>
              <a:rPr lang="en-US" dirty="0"/>
              <a:t>Do this if you want to do String Manipulation!!</a:t>
            </a:r>
          </a:p>
        </p:txBody>
      </p:sp>
    </p:spTree>
    <p:extLst>
      <p:ext uri="{BB962C8B-B14F-4D97-AF65-F5344CB8AC3E}">
        <p14:creationId xmlns:p14="http://schemas.microsoft.com/office/powerpoint/2010/main" val="145902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D854-0626-4799-9FF9-D8654CF2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F4753-7EF2-4AB0-B687-A983DCA74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end of a String is indicated by the </a:t>
            </a:r>
            <a:r>
              <a:rPr lang="en-US" b="1" dirty="0"/>
              <a:t>NUL Terminator</a:t>
            </a:r>
            <a:r>
              <a:rPr lang="en-US" dirty="0"/>
              <a:t>: </a:t>
            </a:r>
            <a:r>
              <a:rPr lang="en-US" b="1" dirty="0"/>
              <a:t>‘\0’</a:t>
            </a:r>
            <a:endParaRPr lang="en-US" dirty="0"/>
          </a:p>
          <a:p>
            <a:r>
              <a:rPr lang="en-US" dirty="0"/>
              <a:t>Therefore, if we want to </a:t>
            </a:r>
            <a:r>
              <a:rPr lang="en-US" b="1" dirty="0"/>
              <a:t>truncate </a:t>
            </a:r>
            <a:r>
              <a:rPr lang="en-US" dirty="0"/>
              <a:t>a string, we would move the location of </a:t>
            </a:r>
            <a:r>
              <a:rPr lang="en-US" b="1" dirty="0"/>
              <a:t>‘\0’</a:t>
            </a:r>
            <a:r>
              <a:rPr lang="en-US" dirty="0"/>
              <a:t>!</a:t>
            </a:r>
          </a:p>
          <a:p>
            <a:r>
              <a:rPr lang="en-US" dirty="0"/>
              <a:t>You can find the string manipulation functions in </a:t>
            </a:r>
            <a:r>
              <a:rPr lang="en-US" b="1" dirty="0"/>
              <a:t>&lt;</a:t>
            </a:r>
            <a:r>
              <a:rPr lang="en-US" b="1" dirty="0" err="1"/>
              <a:t>string.h</a:t>
            </a:r>
            <a:r>
              <a:rPr lang="en-US" b="1" dirty="0"/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8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1512</TotalTime>
  <Words>1306</Words>
  <Application>Microsoft Office PowerPoint</Application>
  <PresentationFormat>Widescreen</PresentationFormat>
  <Paragraphs>156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Garamond</vt:lpstr>
      <vt:lpstr>Organic</vt:lpstr>
      <vt:lpstr>CS 0449 Recitation 2</vt:lpstr>
      <vt:lpstr>Quick Quiz!</vt:lpstr>
      <vt:lpstr>A friendly reminder</vt:lpstr>
      <vt:lpstr>Lab 2 will be out on Monday (probably)!</vt:lpstr>
      <vt:lpstr>Memory</vt:lpstr>
      <vt:lpstr>Memory</vt:lpstr>
      <vt:lpstr>Let’s zoom in at a piece of memory!</vt:lpstr>
      <vt:lpstr>Lockers: Pointer Analogy</vt:lpstr>
      <vt:lpstr>Lockers</vt:lpstr>
      <vt:lpstr>Like a Locker Room!</vt:lpstr>
      <vt:lpstr>Pointers!!</vt:lpstr>
      <vt:lpstr>What is a Pointer?</vt:lpstr>
      <vt:lpstr>Address-Of (&amp;)</vt:lpstr>
      <vt:lpstr>A Quick Example with Pointers</vt:lpstr>
      <vt:lpstr>A Quick Example with Pointers</vt:lpstr>
      <vt:lpstr>A Quick Example with Pointers</vt:lpstr>
      <vt:lpstr>Pointers and Arrays</vt:lpstr>
      <vt:lpstr>Pointers and Arrays</vt:lpstr>
      <vt:lpstr>Accessing the Value at a Pointer</vt:lpstr>
      <vt:lpstr>The Value-At (or "Dereference") Operator:</vt:lpstr>
      <vt:lpstr>A Quick Example:</vt:lpstr>
      <vt:lpstr>A Quick Example:</vt:lpstr>
      <vt:lpstr>A Quick Example:</vt:lpstr>
      <vt:lpstr>Array-Indexing Operators</vt:lpstr>
      <vt:lpstr>The Array-Indexing Operators:</vt:lpstr>
      <vt:lpstr>What the brackets actually do</vt:lpstr>
      <vt:lpstr>Tipping the Scales!</vt:lpstr>
      <vt:lpstr>Pointer Arithmetic</vt:lpstr>
      <vt:lpstr>Memory Addresses are just numbers!</vt:lpstr>
      <vt:lpstr>Void Pointers</vt:lpstr>
      <vt:lpstr>What is a void pointer?</vt:lpstr>
      <vt:lpstr>String Manipulation in C</vt:lpstr>
      <vt:lpstr>What’s the difference here?</vt:lpstr>
      <vt:lpstr>Strings in 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0449 Recitation 2</dc:title>
  <dc:creator>Lu, Gordon</dc:creator>
  <cp:lastModifiedBy>Lu, Gordon</cp:lastModifiedBy>
  <cp:revision>16</cp:revision>
  <dcterms:created xsi:type="dcterms:W3CDTF">2020-01-23T06:30:06Z</dcterms:created>
  <dcterms:modified xsi:type="dcterms:W3CDTF">2020-01-24T07:42:57Z</dcterms:modified>
</cp:coreProperties>
</file>