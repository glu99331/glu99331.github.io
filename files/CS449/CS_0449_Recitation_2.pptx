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comments/comment1.xml" ContentType="application/vnd.openxmlformats-officedocument.presentationml.comments+xml"/>
  <Override PartName="/ppt/comments/comment2.xml" ContentType="application/vnd.openxmlformats-officedocument.presentationml.comments+xml"/>
  <Override PartName="/ppt/comments/comment3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72" r:id="rId3"/>
    <p:sldId id="257" r:id="rId4"/>
    <p:sldId id="260" r:id="rId5"/>
    <p:sldId id="259" r:id="rId6"/>
    <p:sldId id="261" r:id="rId7"/>
    <p:sldId id="264" r:id="rId8"/>
    <p:sldId id="262" r:id="rId9"/>
    <p:sldId id="265" r:id="rId10"/>
    <p:sldId id="266" r:id="rId11"/>
    <p:sldId id="258" r:id="rId12"/>
    <p:sldId id="267" r:id="rId13"/>
    <p:sldId id="268" r:id="rId14"/>
    <p:sldId id="273" r:id="rId15"/>
    <p:sldId id="276" r:id="rId16"/>
    <p:sldId id="274" r:id="rId17"/>
    <p:sldId id="277" r:id="rId18"/>
    <p:sldId id="279" r:id="rId19"/>
    <p:sldId id="278" r:id="rId20"/>
    <p:sldId id="280" r:id="rId21"/>
    <p:sldId id="281" r:id="rId22"/>
    <p:sldId id="282" r:id="rId23"/>
    <p:sldId id="283" r:id="rId24"/>
    <p:sldId id="284" r:id="rId25"/>
    <p:sldId id="287" r:id="rId26"/>
    <p:sldId id="288" r:id="rId27"/>
    <p:sldId id="285" r:id="rId28"/>
    <p:sldId id="286" r:id="rId29"/>
    <p:sldId id="269" r:id="rId30"/>
    <p:sldId id="270" r:id="rId31"/>
    <p:sldId id="271" r:id="rId3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Lu, Gordon" initials="LG" lastIdx="4" clrIdx="0">
    <p:extLst>
      <p:ext uri="{19B8F6BF-5375-455C-9EA6-DF929625EA0E}">
        <p15:presenceInfo xmlns:p15="http://schemas.microsoft.com/office/powerpoint/2012/main" userId="Lu, Gordo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75" d="100"/>
          <a:sy n="75" d="100"/>
        </p:scale>
        <p:origin x="82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0-01-23T01:35:10.890" idx="2">
    <p:pos x="2460" y="1828"/>
    <p:text>sizeof() is a compile-time operator which tells you how many bytes something takes up.</p:text>
    <p:extLst>
      <p:ext uri="{C676402C-5697-4E1C-873F-D02D1690AC5C}">
        <p15:threadingInfo xmlns:p15="http://schemas.microsoft.com/office/powerpoint/2012/main" timeZoneBias="300"/>
      </p:ext>
    </p:extLst>
  </p:cm>
  <p:cm authorId="1" dt="2020-01-23T01:35:53.665" idx="3">
    <p:pos x="2460" y="1924"/>
    <p:text>IT CANNOT FIND THE SIZE OF SOMETHING AT RUNTIME.</p:text>
    <p:extLst>
      <p:ext uri="{C676402C-5697-4E1C-873F-D02D1690AC5C}">
        <p15:threadingInfo xmlns:p15="http://schemas.microsoft.com/office/powerpoint/2012/main" timeZoneBias="300">
          <p15:parentCm authorId="1" idx="2"/>
        </p15:threadingInfo>
      </p:ext>
    </p:extLs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0-01-23T01:27:47.668" idx="1">
    <p:pos x="5652" y="1914"/>
    <p:text>In Java, [ ] is a type constructor. This means when we do int arr[ ] [ ] it's different from int arr [ ]. In C, * is a type constructor. So int *p is not the same type as int **p</p:text>
    <p:extLst>
      <p:ext uri="{C676402C-5697-4E1C-873F-D02D1690AC5C}">
        <p15:threadingInfo xmlns:p15="http://schemas.microsoft.com/office/powerpoint/2012/main" timeZoneBias="300"/>
      </p:ext>
    </p:extLs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0-01-23T01:47:14.185" idx="4">
    <p:pos x="2877" y="2131"/>
    <p:text>It's actually implicitly: const char* name</p:text>
    <p:extLst>
      <p:ext uri="{C676402C-5697-4E1C-873F-D02D1690AC5C}">
        <p15:threadingInfo xmlns:p15="http://schemas.microsoft.com/office/powerpoint/2012/main" timeZoneBias="30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/>
          <p:cNvGrpSpPr/>
          <p:nvPr/>
        </p:nvGrpSpPr>
        <p:grpSpPr>
          <a:xfrm>
            <a:off x="0" y="0"/>
            <a:ext cx="12188825" cy="6872226"/>
            <a:chOff x="0" y="0"/>
            <a:chExt cx="12188825" cy="6872226"/>
          </a:xfrm>
        </p:grpSpPr>
        <p:pic>
          <p:nvPicPr>
            <p:cNvPr id="9" name="Picture 8" descr="HD-PanelTitle-V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26" name="Rectangle 25"/>
            <p:cNvSpPr/>
            <p:nvPr/>
          </p:nvSpPr>
          <p:spPr>
            <a:xfrm>
              <a:off x="2328332" y="1540931"/>
              <a:ext cx="7543802" cy="3835401"/>
            </a:xfrm>
            <a:prstGeom prst="rect">
              <a:avLst/>
            </a:prstGeom>
            <a:noFill/>
            <a:ln w="15875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7" name="Picture 16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" r="47673"/>
            <a:stretch/>
          </p:blipFill>
          <p:spPr>
            <a:xfrm rot="5400000">
              <a:off x="5245268" y="530352"/>
              <a:ext cx="1673352" cy="612648"/>
            </a:xfrm>
            <a:prstGeom prst="rect">
              <a:avLst/>
            </a:prstGeom>
          </p:spPr>
        </p:pic>
        <p:pic>
          <p:nvPicPr>
            <p:cNvPr id="18" name="Picture 17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48819"/>
            <a:stretch/>
          </p:blipFill>
          <p:spPr>
            <a:xfrm rot="5400000">
              <a:off x="5263556" y="5747514"/>
              <a:ext cx="1636776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692398" y="1871131"/>
            <a:ext cx="6815669" cy="1515533"/>
          </a:xfrm>
        </p:spPr>
        <p:txBody>
          <a:bodyPr anchor="b">
            <a:noAutofit/>
          </a:bodyPr>
          <a:lstStyle>
            <a:lvl1pPr algn="ctr">
              <a:defRPr sz="54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92398" y="3657597"/>
            <a:ext cx="6815669" cy="1320802"/>
          </a:xfrm>
        </p:spPr>
        <p:txBody>
          <a:bodyPr anchor="t">
            <a:normAutofit/>
          </a:bodyPr>
          <a:lstStyle>
            <a:lvl1pPr marL="0" indent="0" algn="ctr">
              <a:buNone/>
              <a:defRPr sz="21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983232" y="5037663"/>
            <a:ext cx="897467" cy="279400"/>
          </a:xfrm>
        </p:spPr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692397" y="5037663"/>
            <a:ext cx="5214635" cy="27940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8956900" y="5037663"/>
            <a:ext cx="551167" cy="279400"/>
          </a:xfrm>
        </p:spPr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2399" y="3522131"/>
            <a:ext cx="681566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7423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668159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15069" y="1752606"/>
            <a:ext cx="8158688" cy="1822514"/>
          </a:xfrm>
        </p:spPr>
        <p:txBody>
          <a:bodyPr anchor="b">
            <a:normAutofit/>
          </a:bodyPr>
          <a:lstStyle>
            <a:lvl1pPr algn="ctr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15067" y="3846051"/>
            <a:ext cx="8158690" cy="954547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2012723" y="3710585"/>
            <a:ext cx="8163380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33014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98448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1344" y="2560320"/>
            <a:ext cx="4718304" cy="331012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6720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95400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0671" y="2658533"/>
            <a:ext cx="471830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0671" y="3243262"/>
            <a:ext cx="4718304" cy="2632605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cxnSp>
        <p:nvCxnSpPr>
          <p:cNvPr id="18" name="Straight Connector 17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879369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6858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76221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3811" y="1388534"/>
            <a:ext cx="3718455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18668" y="982131"/>
            <a:ext cx="5469466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3811" y="3031065"/>
            <a:ext cx="3718455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cxnSp>
        <p:nvCxnSpPr>
          <p:cNvPr id="16" name="Straight Connector 15"/>
          <p:cNvCxnSpPr/>
          <p:nvPr/>
        </p:nvCxnSpPr>
        <p:spPr>
          <a:xfrm>
            <a:off x="1396169" y="2912533"/>
            <a:ext cx="35144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35905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399" y="1883832"/>
            <a:ext cx="6241816" cy="1371600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094831" y="1041400"/>
            <a:ext cx="3063347" cy="4775200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399" y="3255432"/>
            <a:ext cx="6241816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3182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4815415"/>
            <a:ext cx="9609666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41427" y="1041399"/>
            <a:ext cx="10105972" cy="33358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  <a:miter lim="800000"/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95401" y="5382153"/>
            <a:ext cx="9609666" cy="493712"/>
          </a:xfrm>
        </p:spPr>
        <p:txBody>
          <a:bodyPr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96248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03868" y="982132"/>
            <a:ext cx="9592732" cy="2954868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03868" y="4343399"/>
            <a:ext cx="9592732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8816069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674812" y="3352800"/>
            <a:ext cx="8839202" cy="584200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20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343399"/>
            <a:ext cx="9609666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sp>
        <p:nvSpPr>
          <p:cNvPr id="14" name="TextBox 13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600267" y="2827870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396169" y="4140199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01759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2" y="3308581"/>
            <a:ext cx="9609668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777381"/>
            <a:ext cx="9609668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13555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3" y="982132"/>
            <a:ext cx="9296398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6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9312"/>
            <a:ext cx="9609668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4529667"/>
            <a:ext cx="9609668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TextBox 11"/>
          <p:cNvSpPr txBox="1"/>
          <p:nvPr/>
        </p:nvSpPr>
        <p:spPr>
          <a:xfrm>
            <a:off x="862013" y="8799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0267" y="259926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081877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982132"/>
            <a:ext cx="9609666" cy="2243668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295401" y="3630168"/>
            <a:ext cx="9609668" cy="84124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0" y="4470399"/>
            <a:ext cx="9609670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396169" y="3429000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1749974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1396169" y="2421466"/>
            <a:ext cx="9407298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339565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999356" y="982131"/>
            <a:ext cx="1890895" cy="489373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95398" y="982132"/>
            <a:ext cx="7433025" cy="4893734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  <p:cxnSp>
        <p:nvCxnSpPr>
          <p:cNvPr id="14" name="Straight Connector 13"/>
          <p:cNvCxnSpPr/>
          <p:nvPr/>
        </p:nvCxnSpPr>
        <p:spPr>
          <a:xfrm>
            <a:off x="8863890" y="990600"/>
            <a:ext cx="0" cy="487680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61443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3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88825" cy="6856215"/>
            <a:chOff x="0" y="0"/>
            <a:chExt cx="12188825" cy="6856215"/>
          </a:xfrm>
        </p:grpSpPr>
        <p:pic>
          <p:nvPicPr>
            <p:cNvPr id="8" name="Picture 7" descr="HD-PanelContent-V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12188825" cy="6856214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608012" y="609600"/>
              <a:ext cx="10972800" cy="5638800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93"/>
            <a:stretch/>
          </p:blipFill>
          <p:spPr>
            <a:xfrm rot="5400000">
              <a:off x="5706471" y="76265"/>
              <a:ext cx="758952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5093"/>
            <a:stretch/>
          </p:blipFill>
          <p:spPr>
            <a:xfrm rot="5400000">
              <a:off x="5706470" y="6173526"/>
              <a:ext cx="758952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95402" y="982132"/>
            <a:ext cx="9601196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2556932"/>
            <a:ext cx="9601196" cy="331893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677501" y="5969000"/>
            <a:ext cx="16002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651E2A4D-CADF-43C9-B43F-A615E8FB04B4}" type="datetimeFigureOut">
              <a:rPr lang="en-US" smtClean="0"/>
              <a:t>1/23/2020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95401" y="5969000"/>
            <a:ext cx="7305900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53901" y="5969000"/>
            <a:ext cx="54269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C65C9450-64D1-4FFF-94A6-C1BA9BC1E0B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54451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  <p:sldLayoutId id="2147483695" r:id="rId1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60052-54D8-4697-8AA1-A953BA0AC54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CS 0449 Recitation 2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C6CA7C-3E19-4CD5-9C27-D20F61C7D33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Gordon Lu</a:t>
            </a:r>
          </a:p>
        </p:txBody>
      </p:sp>
    </p:spTree>
    <p:extLst>
      <p:ext uri="{BB962C8B-B14F-4D97-AF65-F5344CB8AC3E}">
        <p14:creationId xmlns:p14="http://schemas.microsoft.com/office/powerpoint/2010/main" val="25789933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1EAB50-E6A4-44AD-89C0-0AD358E05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friendly reminder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EAB1FE-8921-46E4-B9E6-916D0F237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Never return an array in C. </a:t>
            </a:r>
          </a:p>
          <a:p>
            <a:endParaRPr lang="en-US" dirty="0"/>
          </a:p>
          <a:p>
            <a:r>
              <a:rPr lang="en-US" b="1" dirty="0"/>
              <a:t>Arrays don’t exist in C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/>
              <a:t>When you pass an array into a function, it becomes a </a:t>
            </a:r>
            <a:r>
              <a:rPr lang="en-US" b="1" dirty="0"/>
              <a:t>Pointer</a:t>
            </a:r>
            <a:r>
              <a:rPr lang="en-US" dirty="0"/>
              <a:t>.</a:t>
            </a:r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40089430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B4D0F0-FBA2-49E3-817A-318F6577CF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Lab 2 will be out soon!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95FED5-3241-4328-A4BC-4DEF0FD5AC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focus on Lab 2 will be </a:t>
            </a:r>
            <a:r>
              <a:rPr lang="en-US" b="1" dirty="0"/>
              <a:t>pointer arithmetic</a:t>
            </a:r>
            <a:endParaRPr lang="en-US" dirty="0"/>
          </a:p>
          <a:p>
            <a:r>
              <a:rPr lang="en-US" dirty="0"/>
              <a:t>So, I’ll be talking about pointers!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57641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A17A72-B88B-450E-835A-1C2722503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  <p:style>
          <a:lnRef idx="2">
            <a:schemeClr val="accent2"/>
          </a:lnRef>
          <a:fillRef idx="1003">
            <a:schemeClr val="dk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D13D13-FAEE-4BC8-B0D0-9D476834B2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7FA37B-95F1-4C56-A310-C85B64F5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2607041"/>
            <a:ext cx="9601196" cy="1303867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Memory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ADDECF-37FB-45A1-BAD3-6252E3064A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83042" y="2267682"/>
            <a:ext cx="9273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51697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F6097D-55F3-4153-8ABC-6068AB6289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D45E4D-8135-4734-8590-85FA82CA18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1800" dirty="0"/>
              <a:t>In order to gain a more solid understanding of a pointer, let’s try and understand memory a little better.</a:t>
            </a:r>
          </a:p>
          <a:p>
            <a:r>
              <a:rPr lang="en-US" sz="1800" b="1" dirty="0"/>
              <a:t>Memory</a:t>
            </a:r>
            <a:r>
              <a:rPr lang="en-US" sz="1800" dirty="0"/>
              <a:t> is a </a:t>
            </a:r>
            <a:r>
              <a:rPr lang="en-US" sz="1800" b="1" dirty="0"/>
              <a:t>big one-dimensional array of bytes</a:t>
            </a:r>
            <a:endParaRPr lang="en-US" sz="1800" dirty="0"/>
          </a:p>
          <a:p>
            <a:r>
              <a:rPr lang="en-US" sz="1800" dirty="0"/>
              <a:t>Every byte value has an </a:t>
            </a:r>
            <a:r>
              <a:rPr lang="en-US" sz="1800" b="1" dirty="0"/>
              <a:t>address</a:t>
            </a:r>
            <a:endParaRPr lang="en-US" sz="1800" dirty="0"/>
          </a:p>
          <a:p>
            <a:r>
              <a:rPr lang="en-US" sz="1800" dirty="0"/>
              <a:t>This is its "</a:t>
            </a:r>
            <a:r>
              <a:rPr lang="en-US" sz="1800" b="1" dirty="0"/>
              <a:t>array index</a:t>
            </a:r>
            <a:r>
              <a:rPr lang="en-US" sz="1800" dirty="0"/>
              <a:t>"</a:t>
            </a:r>
          </a:p>
          <a:p>
            <a:r>
              <a:rPr lang="en-US" sz="1800" dirty="0"/>
              <a:t>Addresses start at 0, like arrays in C/Java</a:t>
            </a:r>
          </a:p>
          <a:p>
            <a:r>
              <a:rPr lang="en-US" sz="1800" dirty="0"/>
              <a:t>For values </a:t>
            </a:r>
            <a:r>
              <a:rPr lang="en-US" sz="1800" b="1" dirty="0"/>
              <a:t>bigger than a byte, </a:t>
            </a:r>
            <a:r>
              <a:rPr lang="en-US" sz="1800" dirty="0"/>
              <a:t>we use consecutive bytes</a:t>
            </a:r>
          </a:p>
          <a:p>
            <a:r>
              <a:rPr lang="en-US" sz="1800" dirty="0"/>
              <a:t>The </a:t>
            </a:r>
            <a:r>
              <a:rPr lang="en-US" sz="1800" b="1" dirty="0"/>
              <a:t>address</a:t>
            </a:r>
            <a:r>
              <a:rPr lang="en-US" sz="1800" dirty="0"/>
              <a:t> of any value, regardless of size, is the </a:t>
            </a:r>
            <a:r>
              <a:rPr lang="en-US" sz="1800" b="1" dirty="0"/>
              <a:t>address of the first byte</a:t>
            </a:r>
            <a:r>
              <a:rPr lang="en-US" sz="1800" dirty="0"/>
              <a:t> (</a:t>
            </a:r>
            <a:r>
              <a:rPr lang="en-US" sz="1800" i="1" dirty="0"/>
              <a:t>smallest</a:t>
            </a:r>
            <a:r>
              <a:rPr lang="en-US" sz="1800" dirty="0"/>
              <a:t> address)</a:t>
            </a:r>
          </a:p>
          <a:p>
            <a:pPr marL="0" indent="0">
              <a:buNone/>
            </a:pPr>
            <a:endParaRPr lang="en-US" sz="1800" dirty="0"/>
          </a:p>
          <a:p>
            <a:endParaRPr lang="en-US" sz="1800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26108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658D0-3424-4204-BBA5-3CFF7A4B90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zoom in at a piece of memory!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8678CB-6892-4ADC-8265-27DFB696C3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Here is an </a:t>
            </a:r>
            <a:r>
              <a:rPr lang="en-US" b="1" dirty="0"/>
              <a:t>int</a:t>
            </a:r>
            <a:r>
              <a:rPr lang="en-US" dirty="0"/>
              <a:t> variable </a:t>
            </a:r>
          </a:p>
          <a:p>
            <a:r>
              <a:rPr lang="en-US" dirty="0"/>
              <a:t>What is its </a:t>
            </a:r>
            <a:r>
              <a:rPr lang="en-US" dirty="0" err="1"/>
              <a:t>sizeof</a:t>
            </a:r>
            <a:r>
              <a:rPr lang="en-US" dirty="0"/>
              <a:t>()?</a:t>
            </a:r>
          </a:p>
          <a:p>
            <a:pPr marL="0" lvl="0" indent="0">
              <a:buNone/>
            </a:pPr>
            <a:r>
              <a:rPr lang="en-US" dirty="0"/>
              <a:t>Its </a:t>
            </a:r>
            <a:r>
              <a:rPr lang="en-US" dirty="0" err="1"/>
              <a:t>sizeof</a:t>
            </a:r>
            <a:r>
              <a:rPr lang="en-US" dirty="0"/>
              <a:t>() is 4 in this case - 4 bytes long</a:t>
            </a:r>
          </a:p>
          <a:p>
            <a:r>
              <a:rPr lang="en-US" dirty="0"/>
              <a:t>What is its address?</a:t>
            </a:r>
          </a:p>
          <a:p>
            <a:pPr marL="0" lvl="0" indent="0">
              <a:buNone/>
            </a:pPr>
            <a:r>
              <a:rPr lang="en-US" dirty="0"/>
              <a:t>Its address is 0xDC04</a:t>
            </a:r>
          </a:p>
          <a:p>
            <a:r>
              <a:rPr lang="en-US" dirty="0"/>
              <a:t>What is its value?</a:t>
            </a:r>
          </a:p>
          <a:p>
            <a:pPr marL="0" lvl="0" indent="0">
              <a:buNone/>
            </a:pPr>
            <a:r>
              <a:rPr lang="en-US" dirty="0"/>
              <a:t>Its value could be either 0xDEC0EFBE (big-endian) or 0xC0DEBEEF (little-endian)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62F4DD-E107-4933-BA81-D860A2782BBF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00404" y="2556931"/>
            <a:ext cx="1022664" cy="26369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71694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A17A72-B88B-450E-835A-1C2722503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  <p:style>
          <a:lnRef idx="2">
            <a:schemeClr val="accent2"/>
          </a:lnRef>
          <a:fillRef idx="1003">
            <a:schemeClr val="dk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D13D13-FAEE-4BC8-B0D0-9D476834B2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7FA37B-95F1-4C56-A310-C85B64F5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2607041"/>
            <a:ext cx="9601196" cy="1303867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Lockers: Pointer Analogy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ADDECF-37FB-45A1-BAD3-6252E3064A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83042" y="2267682"/>
            <a:ext cx="9273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5280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BFD145-BC1A-473F-847C-027E77D57B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Lockers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13C2C3-6F9B-4A44-9E2D-BCC88B27BC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pPr marL="0" indent="0">
              <a:buNone/>
            </a:pPr>
            <a:r>
              <a:rPr lang="en-US" dirty="0"/>
              <a:t>1) Think about a locker. what is its purpose?</a:t>
            </a:r>
          </a:p>
          <a:p>
            <a:pPr marL="0" indent="0">
              <a:buNone/>
            </a:pPr>
            <a:r>
              <a:rPr lang="en-US" dirty="0"/>
              <a:t>- To </a:t>
            </a:r>
            <a:r>
              <a:rPr lang="en-US" b="1" dirty="0"/>
              <a:t>contain</a:t>
            </a:r>
            <a:r>
              <a:rPr lang="en-US" dirty="0"/>
              <a:t> things.</a:t>
            </a:r>
          </a:p>
          <a:p>
            <a:pPr marL="0" indent="0">
              <a:buNone/>
            </a:pPr>
            <a:r>
              <a:rPr lang="en-US" dirty="0"/>
              <a:t>2) How are lockers identified?</a:t>
            </a:r>
          </a:p>
          <a:p>
            <a:pPr marL="0" indent="0">
              <a:buNone/>
            </a:pPr>
            <a:r>
              <a:rPr lang="en-US" dirty="0"/>
              <a:t>- They're </a:t>
            </a:r>
            <a:r>
              <a:rPr lang="en-US" b="1" dirty="0"/>
              <a:t>numbered.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3) How do you access a locker?</a:t>
            </a:r>
          </a:p>
          <a:p>
            <a:pPr marL="0" indent="0">
              <a:buNone/>
            </a:pPr>
            <a:r>
              <a:rPr lang="en-US" dirty="0"/>
              <a:t>- By knowing the locker's </a:t>
            </a:r>
            <a:r>
              <a:rPr lang="en-US" b="1" dirty="0"/>
              <a:t>number</a:t>
            </a:r>
            <a:r>
              <a:rPr lang="en-US" dirty="0"/>
              <a:t> and </a:t>
            </a:r>
            <a:r>
              <a:rPr lang="en-US" b="1" dirty="0"/>
              <a:t>combination</a:t>
            </a:r>
            <a:r>
              <a:rPr lang="en-US" dirty="0"/>
              <a:t>.</a:t>
            </a:r>
          </a:p>
          <a:p>
            <a:pPr marL="0" indent="0">
              <a:buNone/>
            </a:pPr>
            <a:r>
              <a:rPr lang="en-US" dirty="0"/>
              <a:t>- but for this example, let's assume </a:t>
            </a:r>
            <a:r>
              <a:rPr lang="en-US" b="1" i="1" dirty="0"/>
              <a:t>there are no locks.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4) How would you </a:t>
            </a:r>
            <a:r>
              <a:rPr lang="en-US" b="1" i="1" dirty="0"/>
              <a:t>give someone else access</a:t>
            </a:r>
            <a:r>
              <a:rPr lang="en-US" dirty="0"/>
              <a:t> to your (lock-less) locker?</a:t>
            </a:r>
          </a:p>
          <a:p>
            <a:pPr marL="0" indent="0">
              <a:buNone/>
            </a:pPr>
            <a:r>
              <a:rPr lang="en-US" dirty="0"/>
              <a:t>- Would you rip it out of the wall?</a:t>
            </a:r>
          </a:p>
          <a:p>
            <a:pPr marL="0" indent="0">
              <a:buNone/>
            </a:pPr>
            <a:r>
              <a:rPr lang="en-US" dirty="0"/>
              <a:t>- No… you </a:t>
            </a:r>
            <a:r>
              <a:rPr lang="en-US" b="1" dirty="0"/>
              <a:t>give them the locker number.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91363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D6262-0FD5-4436-9430-E0EB6B21C7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Like a Locker Room!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83FFE6-517E-4841-B36F-C053D682D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pPr marL="0" indent="0">
              <a:buNone/>
            </a:pPr>
            <a:r>
              <a:rPr lang="en-US" dirty="0"/>
              <a:t>1) Just like a locker </a:t>
            </a:r>
            <a:r>
              <a:rPr lang="en-US" b="1" dirty="0"/>
              <a:t>contains </a:t>
            </a:r>
            <a:r>
              <a:rPr lang="en-US" b="1" i="1" dirty="0"/>
              <a:t>things</a:t>
            </a:r>
            <a:r>
              <a:rPr lang="en-US" dirty="0"/>
              <a:t>…</a:t>
            </a:r>
          </a:p>
          <a:p>
            <a:pPr marL="0" indent="0">
              <a:buNone/>
            </a:pPr>
            <a:r>
              <a:rPr lang="en-US" dirty="0"/>
              <a:t>- Variables contain </a:t>
            </a:r>
            <a:r>
              <a:rPr lang="en-US" b="1" dirty="0"/>
              <a:t>values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- But a variable </a:t>
            </a:r>
            <a:r>
              <a:rPr lang="en-US" i="1" dirty="0"/>
              <a:t>is a </a:t>
            </a:r>
            <a:r>
              <a:rPr lang="en-US" b="1" i="1" dirty="0"/>
              <a:t>thing itself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2) Each variable is like a locker:</a:t>
            </a:r>
          </a:p>
          <a:p>
            <a:pPr marL="0" indent="0">
              <a:buNone/>
            </a:pPr>
            <a:r>
              <a:rPr lang="en-US" dirty="0"/>
              <a:t>- It has a </a:t>
            </a:r>
            <a:r>
              <a:rPr lang="en-US" b="1" dirty="0"/>
              <a:t>number: </a:t>
            </a:r>
            <a:r>
              <a:rPr lang="en-US" dirty="0"/>
              <a:t>its </a:t>
            </a:r>
            <a:r>
              <a:rPr lang="en-US" b="1" dirty="0"/>
              <a:t>address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- It </a:t>
            </a:r>
            <a:r>
              <a:rPr lang="en-US" b="1" dirty="0"/>
              <a:t>contains </a:t>
            </a:r>
            <a:r>
              <a:rPr lang="en-US" dirty="0"/>
              <a:t>something: its </a:t>
            </a:r>
            <a:r>
              <a:rPr lang="en-US" b="1" dirty="0"/>
              <a:t>value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- It </a:t>
            </a:r>
            <a:r>
              <a:rPr lang="en-US" b="1" dirty="0"/>
              <a:t>belongs</a:t>
            </a:r>
            <a:r>
              <a:rPr lang="en-US" dirty="0"/>
              <a:t> to someone: its </a:t>
            </a:r>
            <a:r>
              <a:rPr lang="en-US" b="1" dirty="0"/>
              <a:t>owner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3) How do you </a:t>
            </a:r>
            <a:r>
              <a:rPr lang="en-US" i="1" dirty="0"/>
              <a:t>give </a:t>
            </a:r>
            <a:r>
              <a:rPr lang="en-US" b="1" i="1" dirty="0"/>
              <a:t>someone else access</a:t>
            </a:r>
            <a:r>
              <a:rPr lang="en-US" i="1" dirty="0"/>
              <a:t> </a:t>
            </a:r>
            <a:r>
              <a:rPr lang="en-US" dirty="0"/>
              <a:t>to your variable?</a:t>
            </a:r>
          </a:p>
          <a:p>
            <a:pPr marL="0" indent="0">
              <a:buNone/>
            </a:pPr>
            <a:r>
              <a:rPr lang="en-US" dirty="0"/>
              <a:t>- </a:t>
            </a:r>
            <a:r>
              <a:rPr lang="en-US" b="1" i="1" dirty="0"/>
              <a:t>You give them the locker number</a:t>
            </a:r>
            <a:r>
              <a:rPr lang="en-US" i="1" dirty="0"/>
              <a:t>.</a:t>
            </a:r>
            <a:endParaRPr lang="en-US" dirty="0"/>
          </a:p>
          <a:p>
            <a:pPr marL="0" lvl="0" indent="0">
              <a:buNone/>
            </a:pPr>
            <a:r>
              <a:rPr lang="en-US" dirty="0"/>
              <a:t>- Which is its </a:t>
            </a:r>
            <a:r>
              <a:rPr lang="en-US" b="1" dirty="0"/>
              <a:t>memory address.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- Variable names are just a convenient way to refer to their addresses!</a:t>
            </a:r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05528FB-2413-41DC-91E4-F58E9FCA38D8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69952" y="2556932"/>
            <a:ext cx="4893762" cy="30215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06554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C8ADD3-8ACF-4DF9-B8A3-3EEA2581AB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Pointers!!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C99ACB-9972-4F96-9A0F-08A6F9E39D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1) If we put a slip of paper in locker 3 which says "locker #2"…</a:t>
            </a:r>
          </a:p>
          <a:p>
            <a:pPr marL="0" indent="0">
              <a:buNone/>
            </a:pPr>
            <a:r>
              <a:rPr lang="en-US" dirty="0"/>
              <a:t>2) Now we can access </a:t>
            </a:r>
            <a:r>
              <a:rPr lang="en-US" b="1" i="1" dirty="0"/>
              <a:t>two</a:t>
            </a:r>
            <a:r>
              <a:rPr lang="en-US" dirty="0"/>
              <a:t> things:</a:t>
            </a:r>
          </a:p>
          <a:p>
            <a:pPr marL="0" indent="0">
              <a:buNone/>
            </a:pPr>
            <a:r>
              <a:rPr lang="en-US" dirty="0"/>
              <a:t>- The locker </a:t>
            </a:r>
            <a:r>
              <a:rPr lang="en-US" b="1" dirty="0"/>
              <a:t>itself (3)</a:t>
            </a:r>
            <a:r>
              <a:rPr lang="en-US" dirty="0"/>
              <a:t>, and</a:t>
            </a:r>
          </a:p>
          <a:p>
            <a:pPr marL="0" indent="0">
              <a:buNone/>
            </a:pPr>
            <a:r>
              <a:rPr lang="en-US" dirty="0"/>
              <a:t>- The locker that it </a:t>
            </a:r>
            <a:r>
              <a:rPr lang="en-US" b="1" dirty="0"/>
              <a:t>points to (2)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3) A </a:t>
            </a:r>
            <a:r>
              <a:rPr lang="en-US" b="1" dirty="0"/>
              <a:t>pointer</a:t>
            </a:r>
            <a:r>
              <a:rPr lang="en-US" dirty="0"/>
              <a:t> is a variable which holds </a:t>
            </a:r>
            <a:r>
              <a:rPr lang="en-US" b="1" dirty="0"/>
              <a:t>another variable's memory address.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4) If you have a pointer, now you can access </a:t>
            </a:r>
            <a:r>
              <a:rPr lang="en-US" i="1" dirty="0"/>
              <a:t>two</a:t>
            </a:r>
            <a:r>
              <a:rPr lang="en-US" dirty="0"/>
              <a:t> things:</a:t>
            </a:r>
          </a:p>
          <a:p>
            <a:pPr marL="0" indent="0">
              <a:buNone/>
            </a:pPr>
            <a:r>
              <a:rPr lang="en-US" dirty="0"/>
              <a:t>- The pointer variable </a:t>
            </a:r>
            <a:r>
              <a:rPr lang="en-US" b="1" dirty="0"/>
              <a:t>itself</a:t>
            </a:r>
            <a:r>
              <a:rPr lang="en-US" dirty="0"/>
              <a:t>, and</a:t>
            </a:r>
          </a:p>
          <a:p>
            <a:pPr marL="0" indent="0">
              <a:buNone/>
            </a:pPr>
            <a:r>
              <a:rPr lang="en-US" dirty="0"/>
              <a:t>- The variable that it </a:t>
            </a:r>
            <a:r>
              <a:rPr lang="en-US" b="1" dirty="0"/>
              <a:t>points to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5) </a:t>
            </a:r>
            <a:r>
              <a:rPr lang="en-US" i="1" dirty="0"/>
              <a:t>"every problem in CS can be solved with another level of indirection."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AB228E0-8DC2-468A-ACAA-92D01F51D713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18157" y="2658745"/>
            <a:ext cx="2604135" cy="2721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90070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BE9FA-DE20-4A20-A637-EE3160DAFA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Pointer?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3CD711F-1415-462D-8CBF-8B6CE733C2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b="1" dirty="0"/>
              <a:t>pointer </a:t>
            </a:r>
            <a:r>
              <a:rPr lang="en-US" dirty="0"/>
              <a:t>is a variable that holds a memory address of another variable.</a:t>
            </a:r>
          </a:p>
          <a:p>
            <a:r>
              <a:rPr lang="en-US" dirty="0"/>
              <a:t>Essentially, anytime you would do </a:t>
            </a:r>
            <a:r>
              <a:rPr lang="en-US" b="1" dirty="0"/>
              <a:t>[ ] </a:t>
            </a:r>
            <a:r>
              <a:rPr lang="en-US" dirty="0"/>
              <a:t>in Java, you’d do </a:t>
            </a:r>
            <a:r>
              <a:rPr lang="en-US" b="1" dirty="0"/>
              <a:t>* </a:t>
            </a:r>
            <a:r>
              <a:rPr lang="en-US" dirty="0"/>
              <a:t>in C.</a:t>
            </a:r>
          </a:p>
          <a:p>
            <a:r>
              <a:rPr lang="en-US" dirty="0"/>
              <a:t>You can access a value a pointer points to using the </a:t>
            </a:r>
            <a:r>
              <a:rPr lang="en-US" b="1" dirty="0"/>
              <a:t>dereference operator (*)</a:t>
            </a:r>
            <a:r>
              <a:rPr lang="en-US" dirty="0"/>
              <a:t>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27651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A139A-7BA2-4E6E-9BAD-0160F2942E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Address-Of (&amp;)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5AD40-33EC-4880-858C-5556EB1594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can get the address of a variable via the </a:t>
            </a:r>
            <a:r>
              <a:rPr lang="en-US" b="1" dirty="0"/>
              <a:t>address-of operator (&amp;)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int x;</a:t>
            </a:r>
          </a:p>
          <a:p>
            <a:pPr marL="0" indent="0">
              <a:buNone/>
            </a:pPr>
            <a:r>
              <a:rPr lang="en-US" dirty="0"/>
              <a:t>int* p = &amp;x;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35584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BC0FD-C520-4BBD-B526-A33653E93F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Quick Example with Pointers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8BD462-12D5-4675-BABB-753C0414D1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800" dirty="0"/>
              <a:t>int x = 10;</a:t>
            </a:r>
          </a:p>
          <a:p>
            <a:pPr marL="0" indent="0">
              <a:buNone/>
            </a:pPr>
            <a:r>
              <a:rPr lang="en-US" sz="1800" dirty="0"/>
              <a:t>int y = 20;</a:t>
            </a:r>
          </a:p>
          <a:p>
            <a:pPr marL="0" indent="0">
              <a:buNone/>
            </a:pPr>
            <a:r>
              <a:rPr lang="en-US" sz="1800" dirty="0"/>
              <a:t>int* p = &amp;x; does the following: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AE64A1F-6B46-43BA-8846-AF355781CB6F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2661" y="3695256"/>
            <a:ext cx="7686675" cy="23488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99561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38013-E45F-4B12-A8E5-A65A944AE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Quick Example with Pointers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50E23-5FF4-4479-A9E7-BD2CFE398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dirty="0"/>
              <a:t>int x = 10;</a:t>
            </a:r>
          </a:p>
          <a:p>
            <a:pPr marL="0" indent="0">
              <a:buNone/>
            </a:pPr>
            <a:r>
              <a:rPr lang="en-US" sz="2000" dirty="0"/>
              <a:t>int y = 20;</a:t>
            </a:r>
          </a:p>
          <a:p>
            <a:pPr marL="0" indent="0">
              <a:buNone/>
            </a:pPr>
            <a:r>
              <a:rPr lang="en-US" sz="2000" dirty="0"/>
              <a:t>int* p = &amp;y; does the following: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61A64A2-4DAF-480C-BC68-A587BA8B25C1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04755" y="3828416"/>
            <a:ext cx="5943600" cy="219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1775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38013-E45F-4B12-A8E5-A65A944AED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Quick Example with Pointers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F50E23-5FF4-4479-A9E7-BD2CFE398E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000" dirty="0"/>
              <a:t>int x = 10;</a:t>
            </a:r>
          </a:p>
          <a:p>
            <a:pPr marL="0" indent="0">
              <a:buNone/>
            </a:pPr>
            <a:r>
              <a:rPr lang="en-US" sz="2000" dirty="0"/>
              <a:t>int y = 20;</a:t>
            </a:r>
          </a:p>
          <a:p>
            <a:pPr marL="0" indent="0">
              <a:buNone/>
            </a:pPr>
            <a:r>
              <a:rPr lang="en-US" sz="2000" dirty="0"/>
              <a:t>int** pp = &amp;p; does the following: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509234E-291D-4866-BA0F-9B690978392B}"/>
              </a:ext>
            </a:extLst>
          </p:cNvPr>
          <p:cNvPicPr/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86165" y="2585784"/>
            <a:ext cx="5943600" cy="28848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5434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D66CF4-BE5E-4296-80FB-541508829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and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907B28-A79E-455D-A701-32FAD728B7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88364" y="2556932"/>
            <a:ext cx="9601196" cy="3318936"/>
          </a:xfrm>
        </p:spPr>
        <p:txBody>
          <a:bodyPr/>
          <a:lstStyle/>
          <a:p>
            <a:r>
              <a:rPr lang="en-US" dirty="0"/>
              <a:t>1) A pointer can point to </a:t>
            </a:r>
            <a:r>
              <a:rPr lang="en-US" b="1" dirty="0"/>
              <a:t>one or more values.</a:t>
            </a:r>
            <a:endParaRPr lang="en-US" dirty="0"/>
          </a:p>
          <a:p>
            <a:r>
              <a:rPr lang="en-US" dirty="0"/>
              <a:t>2) A </a:t>
            </a:r>
            <a:r>
              <a:rPr lang="en-US" b="1" dirty="0"/>
              <a:t>char*</a:t>
            </a:r>
            <a:r>
              <a:rPr lang="en-US" dirty="0"/>
              <a:t> may point to a single </a:t>
            </a:r>
            <a:r>
              <a:rPr lang="en-US" b="1" dirty="0"/>
              <a:t>char</a:t>
            </a:r>
            <a:r>
              <a:rPr lang="en-US" dirty="0"/>
              <a:t>, or to </a:t>
            </a:r>
            <a:r>
              <a:rPr lang="en-US" b="1" dirty="0"/>
              <a:t>an array of characters.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Initially, with the following code: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0F4B69-969C-4956-9E3D-BAFB06ACECE9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80317" y="4040926"/>
            <a:ext cx="5943600" cy="136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8298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F0192-6C04-40F0-83E3-9EC1DF0C59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Pointers and Arrays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D0040-3662-48D6-B5CF-515948921E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2556932"/>
            <a:ext cx="9601196" cy="3318936"/>
          </a:xfrm>
        </p:spPr>
        <p:txBody>
          <a:bodyPr/>
          <a:lstStyle/>
          <a:p>
            <a:r>
              <a:rPr lang="en-US" dirty="0"/>
              <a:t>But, now if we do: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“Pointing to a single value" is the same as “pointing to an array of length 1"…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D090DEF-1FEF-4316-A5C9-5DAAB824D51A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80643" y="2556932"/>
            <a:ext cx="5943600" cy="2607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54643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A17A72-B88B-450E-835A-1C2722503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  <p:style>
          <a:lnRef idx="2">
            <a:schemeClr val="accent2"/>
          </a:lnRef>
          <a:fillRef idx="1003">
            <a:schemeClr val="dk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D13D13-FAEE-4BC8-B0D0-9D476834B2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7FA37B-95F1-4C56-A310-C85B64F5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2607041"/>
            <a:ext cx="9601196" cy="1303867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Accessing the Value at a Pointer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ADDECF-37FB-45A1-BAD3-6252E3064A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83042" y="2267682"/>
            <a:ext cx="9273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726830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A8AE91-A86E-4F0B-9F14-D930507BA5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Value-At (or "Dereference") Operator: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294B86-DB3B-4E79-A61E-87A5310BC2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1) </a:t>
            </a:r>
            <a:r>
              <a:rPr lang="en-US" b="1" dirty="0"/>
              <a:t>*</a:t>
            </a:r>
            <a:r>
              <a:rPr lang="en-US" dirty="0"/>
              <a:t> is the </a:t>
            </a:r>
            <a:r>
              <a:rPr lang="en-US" b="1" dirty="0"/>
              <a:t>value-at operator </a:t>
            </a:r>
            <a:r>
              <a:rPr lang="en-US" dirty="0"/>
              <a:t>-</a:t>
            </a:r>
            <a:r>
              <a:rPr lang="en-US" b="1" dirty="0"/>
              <a:t> </a:t>
            </a:r>
            <a:r>
              <a:rPr lang="en-US" dirty="0"/>
              <a:t>it's the </a:t>
            </a:r>
            <a:r>
              <a:rPr lang="en-US" b="1" dirty="0"/>
              <a:t>inverse of &amp;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- Every time you use it, you </a:t>
            </a:r>
            <a:r>
              <a:rPr lang="en-US" i="1" dirty="0"/>
              <a:t>remove </a:t>
            </a:r>
            <a:r>
              <a:rPr lang="en-US" dirty="0"/>
              <a:t>a star</a:t>
            </a:r>
          </a:p>
          <a:p>
            <a:pPr marL="0" indent="0">
              <a:buNone/>
            </a:pPr>
            <a:r>
              <a:rPr lang="en-US" dirty="0"/>
              <a:t>2) It </a:t>
            </a:r>
            <a:r>
              <a:rPr lang="en-US" b="1" dirty="0"/>
              <a:t>accesses the variable</a:t>
            </a:r>
            <a:r>
              <a:rPr lang="en-US" dirty="0"/>
              <a:t> that a pointer </a:t>
            </a:r>
            <a:r>
              <a:rPr lang="en-US" b="1" i="1" dirty="0"/>
              <a:t>points to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- We say that it </a:t>
            </a:r>
            <a:r>
              <a:rPr lang="en-US" b="1" dirty="0"/>
              <a:t>"dereferences" </a:t>
            </a:r>
            <a:r>
              <a:rPr lang="en-US" dirty="0"/>
              <a:t>a pointer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80147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1065D-79A6-43DA-83A7-5CA763314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Quick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82C2-47ED-4454-9B3C-DCDA2CD88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the following code, </a:t>
            </a:r>
            <a:r>
              <a:rPr lang="en-US" b="1" dirty="0"/>
              <a:t>p currently points to x’s memory address</a:t>
            </a:r>
            <a:r>
              <a:rPr lang="en-US" dirty="0"/>
              <a:t>: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72AEEFE-BB9C-4C89-B2B8-7852B3E45DB1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42640" y="3222121"/>
            <a:ext cx="5506720" cy="1248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72673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1065D-79A6-43DA-83A7-5CA763314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Quick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82C2-47ED-4454-9B3C-DCDA2CD88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Changing the value of </a:t>
            </a:r>
            <a:r>
              <a:rPr lang="en-US" b="1" dirty="0"/>
              <a:t>p</a:t>
            </a:r>
            <a:r>
              <a:rPr lang="en-US" dirty="0"/>
              <a:t> (via dereference) will change x’s original value!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F61834-4A92-4D21-8121-645E29E6FC49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240" y="3429000"/>
            <a:ext cx="5943600" cy="135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9936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71065D-79A6-43DA-83A7-5CA763314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Quick Example: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82C2-47ED-4454-9B3C-DCDA2CD882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 Changing the value of </a:t>
            </a:r>
            <a:r>
              <a:rPr lang="en-US" b="1" dirty="0"/>
              <a:t>p</a:t>
            </a:r>
            <a:r>
              <a:rPr lang="en-US" dirty="0"/>
              <a:t> (via dereference) will change x’s original value!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CF61834-4A92-4D21-8121-645E29E6FC49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09240" y="3429000"/>
            <a:ext cx="5943600" cy="1355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83369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A17A72-B88B-450E-835A-1C2722503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  <p:style>
          <a:lnRef idx="2">
            <a:schemeClr val="accent2"/>
          </a:lnRef>
          <a:fillRef idx="1003">
            <a:schemeClr val="dk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D13D13-FAEE-4BC8-B0D0-9D476834B2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7FA37B-95F1-4C56-A310-C85B64F5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2607041"/>
            <a:ext cx="9601196" cy="1303867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Array-Indexing Operators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ADDECF-37FB-45A1-BAD3-6252E3064A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83042" y="2267682"/>
            <a:ext cx="9273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4867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2CF297-D00C-493A-B612-A719691CBF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Array-Indexing Operators: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CBBF1D-31C0-4A3E-BFA4-5BB39CD64F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2556932"/>
            <a:ext cx="9601196" cy="3318936"/>
          </a:xfrm>
        </p:spPr>
        <p:txBody>
          <a:bodyPr/>
          <a:lstStyle/>
          <a:p>
            <a:r>
              <a:rPr lang="en-US" b="1" dirty="0"/>
              <a:t>p[n] </a:t>
            </a:r>
            <a:r>
              <a:rPr lang="en-US" dirty="0"/>
              <a:t>means "access the </a:t>
            </a:r>
            <a:r>
              <a:rPr lang="en-US" b="1" i="1" dirty="0"/>
              <a:t>n</a:t>
            </a:r>
            <a:r>
              <a:rPr lang="en-US" dirty="0"/>
              <a:t>th item pointed to by </a:t>
            </a:r>
            <a:r>
              <a:rPr lang="en-US" b="1" dirty="0"/>
              <a:t>p</a:t>
            </a:r>
            <a:r>
              <a:rPr lang="en-US" dirty="0"/>
              <a:t>."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C0A3CBF-AF66-44B8-9287-AC68E629D9C2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6680" y="3021012"/>
            <a:ext cx="5943600" cy="2390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2892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587852-CB4D-4A0C-ADB1-2B11DB4BB7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the brackets actually do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AA26A-ECC2-43F6-A0D7-2386A12B46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95402" y="2556932"/>
            <a:ext cx="9601196" cy="3318936"/>
          </a:xfrm>
        </p:spPr>
        <p:txBody>
          <a:bodyPr/>
          <a:lstStyle/>
          <a:p>
            <a:r>
              <a:rPr lang="en-US" dirty="0"/>
              <a:t>1) </a:t>
            </a:r>
            <a:r>
              <a:rPr lang="en-US" b="1" dirty="0"/>
              <a:t>p[n] </a:t>
            </a:r>
            <a:r>
              <a:rPr lang="en-US" dirty="0"/>
              <a:t>in C </a:t>
            </a:r>
            <a:r>
              <a:rPr lang="en-US" i="1" dirty="0"/>
              <a:t>really </a:t>
            </a:r>
            <a:r>
              <a:rPr lang="en-US" dirty="0"/>
              <a:t>means "dereference address </a:t>
            </a:r>
            <a:r>
              <a:rPr lang="en-US" b="1" dirty="0"/>
              <a:t>p + n</a:t>
            </a:r>
            <a:r>
              <a:rPr lang="en-US" dirty="0"/>
              <a:t>"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5F30BF9-E59C-4179-B6B5-6CC60D5F553E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6511" y="3007569"/>
            <a:ext cx="4394489" cy="296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327602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DE247A-E3C6-4EE9-9CC5-CA7D8238D8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Tipping the Scales!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824F31-AD30-4255-B6D9-32AC92A140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Let's say we have an array of </a:t>
            </a:r>
            <a:r>
              <a:rPr lang="en-US" dirty="0" err="1"/>
              <a:t>ints</a:t>
            </a:r>
            <a:r>
              <a:rPr lang="en-US" dirty="0"/>
              <a:t>:</a:t>
            </a:r>
          </a:p>
          <a:p>
            <a:r>
              <a:rPr lang="en-US" dirty="0"/>
              <a:t>Let's say </a:t>
            </a:r>
            <a:r>
              <a:rPr lang="en-US" b="1" dirty="0" err="1"/>
              <a:t>arr</a:t>
            </a:r>
            <a:r>
              <a:rPr lang="en-US" dirty="0"/>
              <a:t> points to address </a:t>
            </a:r>
            <a:r>
              <a:rPr lang="en-US" b="1" dirty="0"/>
              <a:t>0xDC00</a:t>
            </a:r>
            <a:endParaRPr lang="en-US" dirty="0"/>
          </a:p>
          <a:p>
            <a:r>
              <a:rPr lang="en-US" dirty="0"/>
              <a:t>What is </a:t>
            </a:r>
            <a:r>
              <a:rPr lang="en-US" b="1" dirty="0" err="1"/>
              <a:t>sizeof</a:t>
            </a:r>
            <a:r>
              <a:rPr lang="en-US" b="1" dirty="0"/>
              <a:t>(int)</a:t>
            </a:r>
            <a:r>
              <a:rPr lang="en-US" dirty="0"/>
              <a:t>?</a:t>
            </a:r>
          </a:p>
          <a:p>
            <a:r>
              <a:rPr lang="en-US" b="1" dirty="0"/>
              <a:t>4 bytes.</a:t>
            </a:r>
            <a:endParaRPr lang="en-US" dirty="0"/>
          </a:p>
          <a:p>
            <a:r>
              <a:rPr lang="en-US" b="1" dirty="0" err="1"/>
              <a:t>arr</a:t>
            </a:r>
            <a:r>
              <a:rPr lang="en-US" b="1" dirty="0"/>
              <a:t>[1]</a:t>
            </a:r>
            <a:r>
              <a:rPr lang="en-US" dirty="0"/>
              <a:t> means </a:t>
            </a:r>
            <a:r>
              <a:rPr lang="en-US" b="1" dirty="0"/>
              <a:t>*(</a:t>
            </a:r>
            <a:r>
              <a:rPr lang="en-US" b="1" dirty="0" err="1"/>
              <a:t>arr</a:t>
            </a:r>
            <a:r>
              <a:rPr lang="en-US" b="1" dirty="0"/>
              <a:t> + 1)</a:t>
            </a:r>
            <a:r>
              <a:rPr lang="en-US" dirty="0"/>
              <a:t>…</a:t>
            </a:r>
          </a:p>
          <a:p>
            <a:r>
              <a:rPr lang="en-US" dirty="0"/>
              <a:t>but where is the next value? at </a:t>
            </a:r>
            <a:r>
              <a:rPr lang="en-US" b="1" dirty="0"/>
              <a:t>0xDC01</a:t>
            </a:r>
            <a:r>
              <a:rPr lang="en-US" dirty="0"/>
              <a:t>?</a:t>
            </a:r>
          </a:p>
          <a:p>
            <a:r>
              <a:rPr lang="en-US" b="1" dirty="0"/>
              <a:t>No! at 0xDC04.</a:t>
            </a:r>
            <a:endParaRPr lang="en-US" dirty="0"/>
          </a:p>
          <a:p>
            <a:r>
              <a:rPr lang="en-US" dirty="0"/>
              <a:t>and </a:t>
            </a:r>
            <a:r>
              <a:rPr lang="en-US" b="1" dirty="0" err="1"/>
              <a:t>arr</a:t>
            </a:r>
            <a:r>
              <a:rPr lang="en-US" b="1" dirty="0"/>
              <a:t>[2]</a:t>
            </a:r>
            <a:r>
              <a:rPr lang="en-US" dirty="0"/>
              <a:t> is at </a:t>
            </a:r>
            <a:r>
              <a:rPr lang="en-US" b="1" dirty="0"/>
              <a:t>0xDC08</a:t>
            </a:r>
            <a:r>
              <a:rPr lang="en-US" dirty="0"/>
              <a:t>…</a:t>
            </a:r>
          </a:p>
          <a:p>
            <a:r>
              <a:rPr lang="en-US" dirty="0"/>
              <a:t>When you add an offset to a pointer, the offset is </a:t>
            </a:r>
            <a:r>
              <a:rPr lang="en-US" b="1" dirty="0"/>
              <a:t>multiplied by the size of the item being pointed to </a:t>
            </a:r>
            <a:r>
              <a:rPr lang="en-US" dirty="0"/>
              <a:t>before being added to the base address.</a:t>
            </a:r>
          </a:p>
          <a:p>
            <a:r>
              <a:rPr lang="en-US" dirty="0"/>
              <a:t>This is called "</a:t>
            </a:r>
            <a:r>
              <a:rPr lang="en-US" b="1" dirty="0"/>
              <a:t>scaling</a:t>
            </a:r>
            <a:r>
              <a:rPr lang="en-US" dirty="0"/>
              <a:t>."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7E76C89-391D-478B-BCD3-058187FC0D9A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085" y="2671445"/>
            <a:ext cx="3089910" cy="33591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787965C4-B1B9-4F79-ABAD-6EDC4A0A2F26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73622" y="734377"/>
            <a:ext cx="1519555" cy="4067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3856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A17A72-B88B-450E-835A-1C2722503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  <p:style>
          <a:lnRef idx="2">
            <a:schemeClr val="accent2"/>
          </a:lnRef>
          <a:fillRef idx="1003">
            <a:schemeClr val="dk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D13D13-FAEE-4BC8-B0D0-9D476834B2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7FA37B-95F1-4C56-A310-C85B64F5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2607041"/>
            <a:ext cx="9601196" cy="1303867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Pointer Arithmetic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ADDECF-37FB-45A1-BAD3-6252E3064A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83042" y="2267682"/>
            <a:ext cx="9273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956966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EB7196-4E91-450E-90A4-80461702E6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 Addresses are just numbers!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DD4352-6FA5-4B6D-B18A-0BD95C1E3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800" dirty="0"/>
              <a:t>1) Pointers hold memory addresses. </a:t>
            </a:r>
          </a:p>
          <a:p>
            <a:pPr marL="0" indent="0">
              <a:buNone/>
            </a:pPr>
            <a:r>
              <a:rPr lang="en-US" sz="1800" dirty="0"/>
              <a:t>- Memory addresses are </a:t>
            </a:r>
            <a:r>
              <a:rPr lang="en-US" sz="1800" b="1" dirty="0"/>
              <a:t>numbers.</a:t>
            </a:r>
            <a:endParaRPr lang="en-US" sz="1800" dirty="0"/>
          </a:p>
          <a:p>
            <a:pPr marL="0" indent="0">
              <a:buNone/>
            </a:pPr>
            <a:r>
              <a:rPr lang="en-US" sz="1800" dirty="0"/>
              <a:t>2) It's useful to do </a:t>
            </a:r>
            <a:r>
              <a:rPr lang="en-US" sz="1800" b="1" dirty="0"/>
              <a:t>arithmetic</a:t>
            </a:r>
            <a:r>
              <a:rPr lang="en-US" sz="1800" dirty="0"/>
              <a:t> on </a:t>
            </a:r>
            <a:r>
              <a:rPr lang="en-US" sz="1800" b="1" dirty="0"/>
              <a:t>memory addresses.</a:t>
            </a:r>
            <a:endParaRPr lang="en-US" sz="1800" dirty="0"/>
          </a:p>
          <a:p>
            <a:r>
              <a:rPr lang="en-US" sz="1800" dirty="0"/>
              <a:t>This will print !, since t points to !</a:t>
            </a:r>
          </a:p>
          <a:p>
            <a:r>
              <a:rPr lang="en-US" sz="1800" dirty="0"/>
              <a:t>There is no dereferencing happening in the pointer arithmetic.</a:t>
            </a:r>
          </a:p>
          <a:p>
            <a:r>
              <a:rPr lang="en-US" sz="1800" dirty="0"/>
              <a:t>We are operating </a:t>
            </a:r>
            <a:r>
              <a:rPr lang="en-US" sz="1800" b="1" i="1" dirty="0"/>
              <a:t>on the pointer itself</a:t>
            </a:r>
            <a:r>
              <a:rPr lang="en-US" sz="1800" i="1" dirty="0"/>
              <a:t>.</a:t>
            </a:r>
            <a:endParaRPr lang="en-US" sz="1800" dirty="0"/>
          </a:p>
          <a:p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453CA7F-564D-4AE9-ADC5-2B1D2499F0A2}"/>
              </a:ext>
            </a:extLst>
          </p:cNvPr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6359" y="1940559"/>
            <a:ext cx="5288281" cy="22758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665007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78A17A72-B88B-450E-835A-1C2722503AF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/>
        </p:spPr>
        <p:style>
          <a:lnRef idx="2">
            <a:schemeClr val="accent2"/>
          </a:lnRef>
          <a:fillRef idx="1003">
            <a:schemeClr val="dk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1D13D13-FAEE-4BC8-B0D0-9D476834B2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12192000" cy="6858000"/>
          </a:xfrm>
          <a:prstGeom prst="rect">
            <a:avLst/>
          </a:prstGeom>
          <a:solidFill>
            <a:schemeClr val="tx1"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aramond" panose="02020404030301010803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E7FA37B-95F1-4C56-A310-C85B64F55D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5401" y="2607041"/>
            <a:ext cx="9601196" cy="1303867"/>
          </a:xfrm>
        </p:spPr>
        <p:txBody>
          <a:bodyPr>
            <a:normAutofit/>
          </a:bodyPr>
          <a:lstStyle/>
          <a:p>
            <a:r>
              <a:rPr lang="en-US" b="1" dirty="0">
                <a:solidFill>
                  <a:schemeClr val="bg1"/>
                </a:solidFill>
              </a:rPr>
              <a:t>String Manipulation in C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87ADDECF-37FB-45A1-BAD3-6252E3064A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83042" y="2267682"/>
            <a:ext cx="927385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576700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D8B769-A57E-4906-AD8C-A274DC8E7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the difference here?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92A7B0-F3A9-4EC6-A178-9E92467257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char* name = “hello!”;</a:t>
            </a:r>
          </a:p>
          <a:p>
            <a:r>
              <a:rPr lang="en-US" dirty="0"/>
              <a:t>char name[100] = “hello”;</a:t>
            </a:r>
          </a:p>
          <a:p>
            <a:endParaRPr lang="en-US" dirty="0"/>
          </a:p>
          <a:p>
            <a:r>
              <a:rPr lang="en-US" dirty="0"/>
              <a:t>When we declare char* name = “hello”; this puts “hello” into the static data segment.</a:t>
            </a:r>
          </a:p>
          <a:p>
            <a:r>
              <a:rPr lang="en-US" dirty="0"/>
              <a:t>This means we can’t modify this variable! </a:t>
            </a:r>
          </a:p>
          <a:p>
            <a:endParaRPr lang="en-US" dirty="0"/>
          </a:p>
          <a:p>
            <a:r>
              <a:rPr lang="en-US" dirty="0"/>
              <a:t>When we declare char name[100] = “name”, this allocates space for 100 characters, fills the first </a:t>
            </a:r>
            <a:r>
              <a:rPr lang="en-US" b="1" i="1" dirty="0"/>
              <a:t>however many</a:t>
            </a:r>
            <a:r>
              <a:rPr lang="en-US" i="1" dirty="0"/>
              <a:t> </a:t>
            </a:r>
            <a:r>
              <a:rPr lang="en-US" dirty="0"/>
              <a:t>with that string, and fills the rest with </a:t>
            </a:r>
            <a:r>
              <a:rPr lang="en-US" b="1" dirty="0"/>
              <a:t>\0 characters</a:t>
            </a:r>
          </a:p>
          <a:p>
            <a:r>
              <a:rPr lang="en-US" dirty="0"/>
              <a:t>Do this if you want to do String Manipulation!!</a:t>
            </a:r>
          </a:p>
        </p:txBody>
      </p:sp>
    </p:spTree>
    <p:extLst>
      <p:ext uri="{BB962C8B-B14F-4D97-AF65-F5344CB8AC3E}">
        <p14:creationId xmlns:p14="http://schemas.microsoft.com/office/powerpoint/2010/main" val="1459025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AAD854-0626-4799-9FF9-D8654CF25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Strings in 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77F4753-7EF2-4AB0-B687-A983DCA74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end of a String is indicated by the </a:t>
            </a:r>
            <a:r>
              <a:rPr lang="en-US" b="1" dirty="0"/>
              <a:t>NUL Terminator</a:t>
            </a:r>
            <a:r>
              <a:rPr lang="en-US" dirty="0"/>
              <a:t>: </a:t>
            </a:r>
            <a:r>
              <a:rPr lang="en-US" b="1" dirty="0"/>
              <a:t>‘\0’</a:t>
            </a:r>
            <a:endParaRPr lang="en-US" dirty="0"/>
          </a:p>
          <a:p>
            <a:r>
              <a:rPr lang="en-US" dirty="0"/>
              <a:t>Therefore, if we want to </a:t>
            </a:r>
            <a:r>
              <a:rPr lang="en-US" b="1" dirty="0"/>
              <a:t>truncate </a:t>
            </a:r>
            <a:r>
              <a:rPr lang="en-US" dirty="0"/>
              <a:t>a string, we would move the location of </a:t>
            </a:r>
            <a:r>
              <a:rPr lang="en-US" b="1" dirty="0"/>
              <a:t>‘\0’</a:t>
            </a:r>
            <a:r>
              <a:rPr lang="en-US" dirty="0"/>
              <a:t>!</a:t>
            </a:r>
          </a:p>
          <a:p>
            <a:r>
              <a:rPr lang="en-US" dirty="0"/>
              <a:t>You can find the string manipulation functions in </a:t>
            </a:r>
            <a:r>
              <a:rPr lang="en-US" b="1" dirty="0"/>
              <a:t>&lt;</a:t>
            </a:r>
            <a:r>
              <a:rPr lang="en-US" b="1" dirty="0" err="1"/>
              <a:t>string.h</a:t>
            </a:r>
            <a:r>
              <a:rPr lang="en-US" b="1" dirty="0"/>
              <a:t>&gt;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768354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B15E28"/>
      </a:accent1>
      <a:accent2>
        <a:srgbClr val="B13228"/>
      </a:accent2>
      <a:accent3>
        <a:srgbClr val="8B7B56"/>
      </a:accent3>
      <a:accent4>
        <a:srgbClr val="E09C41"/>
      </a:accent4>
      <a:accent5>
        <a:srgbClr val="9EAE51"/>
      </a:accent5>
      <a:accent6>
        <a:srgbClr val="6E7355"/>
      </a:accent6>
      <a:hlink>
        <a:srgbClr val="D37A21"/>
      </a:hlink>
      <a:folHlink>
        <a:srgbClr val="CA8F55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039A4B3-0617-4CFC-B614-27363ECC28A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52</TotalTime>
  <Words>1205</Words>
  <Application>Microsoft Office PowerPoint</Application>
  <PresentationFormat>Widescreen</PresentationFormat>
  <Paragraphs>145</Paragraphs>
  <Slides>31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4" baseType="lpstr">
      <vt:lpstr>Arial</vt:lpstr>
      <vt:lpstr>Garamond</vt:lpstr>
      <vt:lpstr>Organic</vt:lpstr>
      <vt:lpstr>CS 0449 Recitation 2</vt:lpstr>
      <vt:lpstr>A friendly reminder</vt:lpstr>
      <vt:lpstr>Lab 2 will be out soon!</vt:lpstr>
      <vt:lpstr>Memory</vt:lpstr>
      <vt:lpstr>Memory</vt:lpstr>
      <vt:lpstr>Let’s zoom in at a piece of memory!</vt:lpstr>
      <vt:lpstr>Lockers: Pointer Analogy</vt:lpstr>
      <vt:lpstr>Lockers</vt:lpstr>
      <vt:lpstr>Like a Locker Room!</vt:lpstr>
      <vt:lpstr>Pointers!!</vt:lpstr>
      <vt:lpstr>What is a Pointer?</vt:lpstr>
      <vt:lpstr>Address-Of (&amp;)</vt:lpstr>
      <vt:lpstr>A Quick Example with Pointers</vt:lpstr>
      <vt:lpstr>A Quick Example with Pointers</vt:lpstr>
      <vt:lpstr>A Quick Example with Pointers</vt:lpstr>
      <vt:lpstr>Pointers and Arrays</vt:lpstr>
      <vt:lpstr>Pointers and Arrays</vt:lpstr>
      <vt:lpstr>Accessing the Value at a Pointer</vt:lpstr>
      <vt:lpstr>The Value-At (or "Dereference") Operator:</vt:lpstr>
      <vt:lpstr>A Quick Example:</vt:lpstr>
      <vt:lpstr>A Quick Example:</vt:lpstr>
      <vt:lpstr>A Quick Example:</vt:lpstr>
      <vt:lpstr>Array-Indexing Operators</vt:lpstr>
      <vt:lpstr>The Array-Indexing Operators:</vt:lpstr>
      <vt:lpstr>What the brackets actually do</vt:lpstr>
      <vt:lpstr>Tipping the Scales!</vt:lpstr>
      <vt:lpstr>Pointer Arithmetic</vt:lpstr>
      <vt:lpstr>Memory Addresses are just numbers!</vt:lpstr>
      <vt:lpstr>String Manipulation in C</vt:lpstr>
      <vt:lpstr>What’s the difference here?</vt:lpstr>
      <vt:lpstr>Strings in C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 0449 Recitation 2</dc:title>
  <dc:creator>Lu, Gordon</dc:creator>
  <cp:lastModifiedBy>Lu, Gordon</cp:lastModifiedBy>
  <cp:revision>7</cp:revision>
  <dcterms:created xsi:type="dcterms:W3CDTF">2020-01-23T06:30:06Z</dcterms:created>
  <dcterms:modified xsi:type="dcterms:W3CDTF">2020-01-23T07:22:45Z</dcterms:modified>
</cp:coreProperties>
</file>