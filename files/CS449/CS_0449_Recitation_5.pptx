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0" r:id="rId1"/>
  </p:sldMasterIdLst>
  <p:notesMasterIdLst>
    <p:notesMasterId r:id="rId30"/>
  </p:notesMasterIdLst>
  <p:sldIdLst>
    <p:sldId id="256" r:id="rId2"/>
    <p:sldId id="257" r:id="rId3"/>
    <p:sldId id="326" r:id="rId4"/>
    <p:sldId id="258" r:id="rId5"/>
    <p:sldId id="259" r:id="rId6"/>
    <p:sldId id="303" r:id="rId7"/>
    <p:sldId id="305" r:id="rId8"/>
    <p:sldId id="304" r:id="rId9"/>
    <p:sldId id="306" r:id="rId10"/>
    <p:sldId id="307" r:id="rId11"/>
    <p:sldId id="308" r:id="rId12"/>
    <p:sldId id="309" r:id="rId13"/>
    <p:sldId id="310" r:id="rId14"/>
    <p:sldId id="311" r:id="rId15"/>
    <p:sldId id="312" r:id="rId16"/>
    <p:sldId id="313" r:id="rId17"/>
    <p:sldId id="314" r:id="rId18"/>
    <p:sldId id="315" r:id="rId19"/>
    <p:sldId id="316" r:id="rId20"/>
    <p:sldId id="317" r:id="rId21"/>
    <p:sldId id="318" r:id="rId22"/>
    <p:sldId id="319" r:id="rId23"/>
    <p:sldId id="321" r:id="rId24"/>
    <p:sldId id="320" r:id="rId25"/>
    <p:sldId id="322" r:id="rId26"/>
    <p:sldId id="323" r:id="rId27"/>
    <p:sldId id="324" r:id="rId28"/>
    <p:sldId id="325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67" y="1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492C8A-8ECA-459E-AFBD-6FE4D2B9F193}" type="datetimeFigureOut">
              <a:rPr lang="en-US" smtClean="0"/>
              <a:t>2/14/2020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B527E0-436C-4C9C-A044-D6E023A68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799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What is internal fragmentation?
https://www.polleverywhere.com/multiple_choice_polls/XduAG6BHEoOwX3jdBswNG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B527E0-436C-4C9C-A044-D6E023A68498}" type="slidenum">
              <a:rPr lang="en-US" smtClean="0"/>
              <a:t>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4DE243-FB0B-4FBA-918D-A4D79841A486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503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Can You Have More Than Two Free Blocks in a Row?
https://www.polleverywhere.com/multiple_choice_polls/85TOEckFMrn1Pstr7SD5o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B527E0-436C-4C9C-A044-D6E023A68498}" type="slidenum">
              <a:rPr lang="en-US" smtClean="0"/>
              <a:t>23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98C1B0-4C8C-4F0E-8D5E-68F7CBB2A4BE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4766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88825" cy="6872226"/>
            <a:chOff x="0" y="0"/>
            <a:chExt cx="12188825" cy="6872226"/>
          </a:xfrm>
        </p:grpSpPr>
        <p:pic>
          <p:nvPicPr>
            <p:cNvPr id="9" name="Picture 8" descr="HD-PanelTitle-V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" r="47673"/>
            <a:stretch/>
          </p:blipFill>
          <p:spPr>
            <a:xfrm rot="5400000">
              <a:off x="5245268" y="530352"/>
              <a:ext cx="1673352" cy="612648"/>
            </a:xfrm>
            <a:prstGeom prst="rect">
              <a:avLst/>
            </a:prstGeom>
          </p:spPr>
        </p:pic>
        <p:pic>
          <p:nvPicPr>
            <p:cNvPr id="18" name="Picture 17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8819"/>
            <a:stretch/>
          </p:blipFill>
          <p:spPr>
            <a:xfrm rot="5400000">
              <a:off x="5263556" y="5747514"/>
              <a:ext cx="1636776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2/14/2020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4108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smtClean="0"/>
              <a:t>2/14/2020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0321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0857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smtClean="0"/>
              <a:t>2/14/2020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427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2/14/2020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1140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2/14/2020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7994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2/14/2020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541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0099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2299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11716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96311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00416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6539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51789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18767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06093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0556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88825" cy="6856215"/>
            <a:chOff x="0" y="0"/>
            <a:chExt cx="12188825" cy="6856215"/>
          </a:xfrm>
        </p:grpSpPr>
        <p:pic>
          <p:nvPicPr>
            <p:cNvPr id="8" name="Picture 7" descr="HD-PanelContent-V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1" y="76265"/>
              <a:ext cx="758952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0" y="6173526"/>
              <a:ext cx="758952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smtClean="0"/>
              <a:pPr/>
              <a:t>2/14/2020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469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  <p:sldLayoutId id="2147483684" r:id="rId14"/>
    <p:sldLayoutId id="2147483685" r:id="rId15"/>
    <p:sldLayoutId id="2147483686" r:id="rId16"/>
    <p:sldLayoutId id="214748368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50FCF-A403-4661-8FD7-6CFEBB6377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 0449 Recitation 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C90C1E-B9F1-4310-A52E-D01D24CB62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Gordon Lu</a:t>
            </a:r>
          </a:p>
        </p:txBody>
      </p:sp>
    </p:spTree>
    <p:extLst>
      <p:ext uri="{BB962C8B-B14F-4D97-AF65-F5344CB8AC3E}">
        <p14:creationId xmlns:p14="http://schemas.microsoft.com/office/powerpoint/2010/main" val="38496695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B0D9C-36C9-4F34-A141-C3F7500BA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Announcements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4EDB9-2CE2-48D5-AACA-BEBFD4215A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Queue lab was released on Monday, start it if you haven’t already!</a:t>
            </a:r>
          </a:p>
          <a:p>
            <a:r>
              <a:rPr lang="en-US" dirty="0"/>
              <a:t>The malloc lab will be posted sometime after the Queue Lab is due: this is a tough assignment, please start it early!</a:t>
            </a:r>
          </a:p>
          <a:p>
            <a:r>
              <a:rPr lang="en-US" dirty="0"/>
              <a:t>Homework 3 was just posted, make sure you understand your x86. The labs following malloc will be very difficult otherwise.</a:t>
            </a:r>
          </a:p>
          <a:p>
            <a:r>
              <a:rPr lang="en-US" dirty="0"/>
              <a:t>The </a:t>
            </a:r>
            <a:r>
              <a:rPr lang="en-US" b="1" dirty="0"/>
              <a:t>bomb lab </a:t>
            </a:r>
            <a:r>
              <a:rPr lang="en-US" dirty="0"/>
              <a:t>is one of the toughest assignments you’ll go through: Every time you get into a bomb, </a:t>
            </a:r>
            <a:r>
              <a:rPr lang="en-US" b="1" dirty="0"/>
              <a:t>you lose actual points from your assignment score</a:t>
            </a:r>
            <a:r>
              <a:rPr lang="en-US" dirty="0"/>
              <a:t>, be careful!!</a:t>
            </a:r>
          </a:p>
        </p:txBody>
      </p:sp>
    </p:spTree>
    <p:extLst>
      <p:ext uri="{BB962C8B-B14F-4D97-AF65-F5344CB8AC3E}">
        <p14:creationId xmlns:p14="http://schemas.microsoft.com/office/powerpoint/2010/main" val="12260153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B0D9C-36C9-4F34-A141-C3F7500BA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Announcements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4EDB9-2CE2-48D5-AACA-BEBFD4215A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We’re (</a:t>
            </a:r>
            <a:r>
              <a:rPr lang="en-US" dirty="0" err="1"/>
              <a:t>wilkie</a:t>
            </a:r>
            <a:r>
              <a:rPr lang="en-US" dirty="0"/>
              <a:t> and the other TAs) are trying to restructure the class so it’s not so intense.</a:t>
            </a:r>
          </a:p>
          <a:p>
            <a:endParaRPr lang="en-US" dirty="0"/>
          </a:p>
          <a:p>
            <a:r>
              <a:rPr lang="en-US" dirty="0"/>
              <a:t>We are planning on tossing the </a:t>
            </a:r>
            <a:r>
              <a:rPr lang="en-US" b="1" dirty="0"/>
              <a:t>cache lab</a:t>
            </a:r>
            <a:r>
              <a:rPr lang="en-US" dirty="0"/>
              <a:t>, and extending the amount of time you get for the malloc lab.</a:t>
            </a:r>
          </a:p>
          <a:p>
            <a:endParaRPr lang="en-US" dirty="0"/>
          </a:p>
          <a:p>
            <a:r>
              <a:rPr lang="en-US" dirty="0"/>
              <a:t>I have talked to </a:t>
            </a:r>
            <a:r>
              <a:rPr lang="en-US" dirty="0" err="1"/>
              <a:t>Dr.Petrucci</a:t>
            </a:r>
            <a:r>
              <a:rPr lang="en-US" dirty="0"/>
              <a:t> regarding the constraints of the </a:t>
            </a:r>
            <a:r>
              <a:rPr lang="en-US" b="1" dirty="0"/>
              <a:t>malloc lab</a:t>
            </a:r>
            <a:r>
              <a:rPr lang="en-US" dirty="0"/>
              <a:t>, and now you will no longer have to worry about having malloc run in O(n) time and space, neither will you need to worry about caching pointers for a Quick Fit allocation scheme.</a:t>
            </a:r>
          </a:p>
        </p:txBody>
      </p:sp>
    </p:spTree>
    <p:extLst>
      <p:ext uri="{BB962C8B-B14F-4D97-AF65-F5344CB8AC3E}">
        <p14:creationId xmlns:p14="http://schemas.microsoft.com/office/powerpoint/2010/main" val="11714351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AADDE-AD15-48FC-B6DF-B2F7D991C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Make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1894D-30A7-43D3-A948-A0CF2E833A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can try the exploration on Multifile compilation on </a:t>
            </a:r>
            <a:r>
              <a:rPr lang="en-US" b="1" dirty="0" err="1"/>
              <a:t>Wilkie’s</a:t>
            </a:r>
            <a:r>
              <a:rPr lang="en-US" b="1" dirty="0"/>
              <a:t> website</a:t>
            </a:r>
            <a:r>
              <a:rPr lang="en-US" dirty="0"/>
              <a:t>, it’s a fun activity that you do in your spare time!!</a:t>
            </a:r>
          </a:p>
        </p:txBody>
      </p:sp>
    </p:spTree>
    <p:extLst>
      <p:ext uri="{BB962C8B-B14F-4D97-AF65-F5344CB8AC3E}">
        <p14:creationId xmlns:p14="http://schemas.microsoft.com/office/powerpoint/2010/main" val="11694986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3B223-A4CA-47FD-8B6C-B4EEE597C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 for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191EE-9B59-4CA1-BEA6-0611F89DC0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Recap Memory Deallocation</a:t>
            </a:r>
          </a:p>
          <a:p>
            <a:r>
              <a:rPr lang="en-US" dirty="0"/>
              <a:t>Hints on the Queue Lab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95588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8A17A72-B88B-450E-835A-1C2722503A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/>
        </p:spPr>
        <p:style>
          <a:lnRef idx="2">
            <a:schemeClr val="accent2"/>
          </a:lnRef>
          <a:fillRef idx="1003">
            <a:schemeClr val="dk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1D13D13-FAEE-4BC8-B0D0-9D476834B2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7FA37B-95F1-4C56-A310-C85B64F55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1" y="2607041"/>
            <a:ext cx="9601196" cy="1303867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Let’s get back to business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7ADDECF-37FB-45A1-BAD3-6252E3064A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83042" y="2267682"/>
            <a:ext cx="927385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164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29C137F-60D6-42B5-9D47-3BAD4A536B94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54000" y="254000"/>
            <a:ext cx="11684000" cy="63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044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C2A4A-E328-49AE-8165-E6F8D2D25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correct answer is C!!</a:t>
            </a:r>
          </a:p>
        </p:txBody>
      </p:sp>
    </p:spTree>
    <p:extLst>
      <p:ext uri="{BB962C8B-B14F-4D97-AF65-F5344CB8AC3E}">
        <p14:creationId xmlns:p14="http://schemas.microsoft.com/office/powerpoint/2010/main" val="14745557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C908E-1D93-4453-A30C-4313A0C46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1" y="938951"/>
            <a:ext cx="9601196" cy="1303867"/>
          </a:xfrm>
        </p:spPr>
        <p:txBody>
          <a:bodyPr/>
          <a:lstStyle/>
          <a:p>
            <a:r>
              <a:rPr lang="en-US" dirty="0"/>
              <a:t>A brief reminder of internal fragmentation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365AB-9C89-4169-87BB-A39777DAC3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Let’s say we called </a:t>
            </a:r>
            <a:r>
              <a:rPr lang="en-US" b="1" dirty="0"/>
              <a:t>malloc(60)</a:t>
            </a:r>
            <a:r>
              <a:rPr lang="en-US" dirty="0"/>
              <a:t>, and we have the following heap: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B43737-E45B-4FFE-82CE-7613C995EE5D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3774" y="3185160"/>
            <a:ext cx="5943600" cy="487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633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EA6FA-D3E0-46BF-A183-9F1583B1C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brief reminder of internal fragmentation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E7537-B52E-4ACA-B410-423A6C10E9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Well, we could just allocate the 60, and mark the block as used: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But… we’ve left ourselves with 40 free blocks as used </a:t>
            </a:r>
            <a:r>
              <a:rPr lang="en-US" dirty="0">
                <a:sym typeface="Wingdings" panose="05000000000000000000" pitchFamily="2" charset="2"/>
              </a:rPr>
              <a:t>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is </a:t>
            </a:r>
            <a:r>
              <a:rPr lang="en-US" b="1" dirty="0"/>
              <a:t>internal fragmentation!!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70FDCB-DF6A-4CB9-B216-4BE22A6F2A9D}"/>
              </a:ext>
            </a:extLst>
          </p:cNvPr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0775"/>
          <a:stretch/>
        </p:blipFill>
        <p:spPr>
          <a:xfrm>
            <a:off x="2955235" y="3001617"/>
            <a:ext cx="5943600" cy="4273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029B2B7-07CE-4AFE-BB62-629B9AAC6BF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78757"/>
          <a:stretch/>
        </p:blipFill>
        <p:spPr>
          <a:xfrm>
            <a:off x="3076650" y="4011359"/>
            <a:ext cx="5822185" cy="427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118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8A17A72-B88B-450E-835A-1C2722503A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/>
        </p:spPr>
        <p:style>
          <a:lnRef idx="2">
            <a:schemeClr val="accent2"/>
          </a:lnRef>
          <a:fillRef idx="1003">
            <a:schemeClr val="dk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1D13D13-FAEE-4BC8-B0D0-9D476834B2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7FA37B-95F1-4C56-A310-C85B64F55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1" y="2607041"/>
            <a:ext cx="9601196" cy="1303867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Splitting a Free Block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7ADDECF-37FB-45A1-BAD3-6252E3064A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83042" y="2267682"/>
            <a:ext cx="927385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9125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0B238-C229-470B-96DD-BBB84728F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Efficient Memory Allocation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9F90B-EB8A-4915-ABC1-436FA1D834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Rather than just carelessly allocate memory, </a:t>
            </a:r>
            <a:r>
              <a:rPr lang="en-US" b="1" dirty="0"/>
              <a:t>we want to allocate exactly the amount of memory that the user requests!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0995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3F48B-B862-41A6-A91D-011F9E852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General Split Block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61D31F-39BD-4666-B037-9484E5C989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we want to allocate 60 bytes:</a:t>
            </a:r>
          </a:p>
          <a:p>
            <a:pPr marL="0" indent="0">
              <a:buNone/>
            </a:pPr>
            <a:endParaRPr lang="en-US" dirty="0"/>
          </a:p>
          <a:p>
            <a:pPr marL="457200" indent="-457200">
              <a:buAutoNum type="arabicParenR"/>
            </a:pPr>
            <a:r>
              <a:rPr lang="en-US" dirty="0"/>
              <a:t>Count 60B into the block and put a new header there: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C6C2A5-EA7A-4AAD-BDD2-79030BD4A8B5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8561" y="2914534"/>
            <a:ext cx="4714875" cy="7518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5AFC0A6-1DB8-4B7D-A2AA-BFEC359B3146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8561" y="4023976"/>
            <a:ext cx="4467225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412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DDFB9-1295-4AEE-ADA4-A6E457A42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General Split Block Algorithm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67A50B-BA69-4E50-B95D-4B0628E84C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dirty="0"/>
              <a:t>2) Do </a:t>
            </a:r>
            <a:r>
              <a:rPr lang="en-US" b="1" dirty="0"/>
              <a:t>100-60-sizeof(header) </a:t>
            </a:r>
            <a:r>
              <a:rPr lang="en-US" dirty="0"/>
              <a:t>to get the size of the new free block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Assume headers are 12 bytes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D26372-D810-4E02-BD5D-A8D7C92A1CA9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2370" y="4487603"/>
            <a:ext cx="4737100" cy="10877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0594C94-E765-43BD-8436-4E6DD938E161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5233" y="2744469"/>
            <a:ext cx="4679315" cy="10642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8D3CA5A-3879-4408-B908-B893EEF97F2A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1261" y="3668395"/>
            <a:ext cx="4747260" cy="1096010"/>
          </a:xfrm>
          <a:prstGeom prst="rect">
            <a:avLst/>
          </a:prstGeom>
        </p:spPr>
      </p:pic>
      <p:sp>
        <p:nvSpPr>
          <p:cNvPr id="9" name="Curved Right Arrow 222">
            <a:extLst>
              <a:ext uri="{FF2B5EF4-FFF2-40B4-BE49-F238E27FC236}">
                <a16:creationId xmlns:a16="http://schemas.microsoft.com/office/drawing/2014/main" id="{1E74C35B-43EA-4DB4-972A-19DC43120160}"/>
              </a:ext>
            </a:extLst>
          </p:cNvPr>
          <p:cNvSpPr/>
          <p:nvPr/>
        </p:nvSpPr>
        <p:spPr>
          <a:xfrm>
            <a:off x="3428364" y="3357562"/>
            <a:ext cx="288925" cy="902335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0" name="Curved Right Arrow 222">
            <a:extLst>
              <a:ext uri="{FF2B5EF4-FFF2-40B4-BE49-F238E27FC236}">
                <a16:creationId xmlns:a16="http://schemas.microsoft.com/office/drawing/2014/main" id="{CB2B84C6-7192-4936-8544-FA6EFB31C812}"/>
              </a:ext>
            </a:extLst>
          </p:cNvPr>
          <p:cNvSpPr/>
          <p:nvPr/>
        </p:nvSpPr>
        <p:spPr>
          <a:xfrm>
            <a:off x="3394394" y="4313237"/>
            <a:ext cx="288925" cy="902335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788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9" grpId="0" animBg="1"/>
      <p:bldP spid="1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DDFB9-1295-4AEE-ADA4-A6E457A42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General Split Block Algorithm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67A50B-BA69-4E50-B95D-4B0628E84C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3) Insert the new header into the linked list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1FC24F-A173-4AC7-AB75-3187225656B2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5546" y="3047856"/>
            <a:ext cx="5943600" cy="1482725"/>
          </a:xfrm>
          <a:prstGeom prst="rect">
            <a:avLst/>
          </a:prstGeom>
        </p:spPr>
      </p:pic>
      <p:sp>
        <p:nvSpPr>
          <p:cNvPr id="14" name="Curved Right Arrow 222">
            <a:extLst>
              <a:ext uri="{FF2B5EF4-FFF2-40B4-BE49-F238E27FC236}">
                <a16:creationId xmlns:a16="http://schemas.microsoft.com/office/drawing/2014/main" id="{EDEF099B-1554-441C-B48F-3BEAFD3EAC5D}"/>
              </a:ext>
            </a:extLst>
          </p:cNvPr>
          <p:cNvSpPr/>
          <p:nvPr/>
        </p:nvSpPr>
        <p:spPr>
          <a:xfrm>
            <a:off x="2372158" y="4079413"/>
            <a:ext cx="288925" cy="902335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9F68ABD-ACA0-4A48-9C80-E262605E7A7C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5546" y="4530580"/>
            <a:ext cx="5988050" cy="145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357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28ECB-9345-4FE4-8092-305E979FD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General Split Block Algorithm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6D2D3-EB7B-45F7-B4E0-425CE0D72B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Update the old header to the new size and mark it used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7BC589-CCAD-4261-B237-12AC794E5B8E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0117" y="3099534"/>
            <a:ext cx="5943600" cy="1331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225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8A17A72-B88B-450E-835A-1C2722503A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/>
        </p:spPr>
        <p:style>
          <a:lnRef idx="2">
            <a:schemeClr val="accent2"/>
          </a:lnRef>
          <a:fillRef idx="1003">
            <a:schemeClr val="dk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1D13D13-FAEE-4BC8-B0D0-9D476834B2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7FA37B-95F1-4C56-A310-C85B64F55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1" y="2607041"/>
            <a:ext cx="9601196" cy="1303867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Heap Deallocation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7ADDECF-37FB-45A1-BAD3-6252E3064A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83042" y="2267682"/>
            <a:ext cx="927385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5140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86A65-2B23-4B86-9167-839C565BA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It’s actually a lot easier than malloc!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735E5-60FA-4264-A678-BC003F58EC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So, the user wants to free up 100B of memory: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So, just mark the block as free, and that’s it!!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68B519-92B1-4319-8DB6-F341256E24EA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61"/>
          <a:stretch/>
        </p:blipFill>
        <p:spPr>
          <a:xfrm>
            <a:off x="3124199" y="2980286"/>
            <a:ext cx="5943600" cy="9266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8BE848E-C34B-4C44-9394-566751A02BDC}"/>
              </a:ext>
            </a:extLst>
          </p:cNvPr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>
          <a:xfrm>
            <a:off x="3124199" y="4660219"/>
            <a:ext cx="5943600" cy="827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126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612A4-E50E-497D-A8CF-A437F8834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But… what if we have two adjacent free blocks?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47A9C-A867-40A2-B719-89AD618C44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Even if we have 120B of memory, we can’t allocate it!!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E0384F-21C7-4EAC-BAA3-1A034C5F6E5F}"/>
              </a:ext>
            </a:extLst>
          </p:cNvPr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1290"/>
          <a:stretch/>
        </p:blipFill>
        <p:spPr>
          <a:xfrm>
            <a:off x="2850931" y="3070477"/>
            <a:ext cx="5943600" cy="870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4511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DCF3E-7939-43C0-B4D3-3F41FA8F8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Coalescing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CD6C6-EE1E-479C-A811-5520F75432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So, we </a:t>
            </a:r>
            <a:r>
              <a:rPr lang="en-US" b="1" dirty="0"/>
              <a:t>coalesce</a:t>
            </a:r>
            <a:r>
              <a:rPr lang="en-US" dirty="0"/>
              <a:t> the adjacent free blocks! (coalesce -&gt; compact them blocks together!!)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71060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25FC8-B027-4550-85CD-0FCC027C7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Coalescing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D12FF8-56DB-444C-BA16-FD910D91B4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the current heap: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457200" indent="-457200">
              <a:buAutoNum type="arabicParenR"/>
            </a:pPr>
            <a:r>
              <a:rPr lang="en-US" dirty="0"/>
              <a:t>Sum the sizes of the </a:t>
            </a:r>
            <a:r>
              <a:rPr lang="en-US" b="1" dirty="0"/>
              <a:t>two blocks + </a:t>
            </a:r>
            <a:r>
              <a:rPr lang="en-US" b="1" dirty="0" err="1"/>
              <a:t>sizeof</a:t>
            </a:r>
            <a:r>
              <a:rPr lang="en-US" b="1" dirty="0"/>
              <a:t>(header)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B9AE0E-9E30-4EB7-B2FC-A0B27501BB8B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2916555"/>
            <a:ext cx="5943600" cy="10248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0925AA3-5643-498B-A883-B0482BE09C2B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199" y="4567133"/>
            <a:ext cx="5943600" cy="1308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74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B3842-45F5-4F7E-8B4D-4988D6546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Coalescing Algorithm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EDAE1-2A58-4572-BF79-B88E662F64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2) Remove the middle header from the linked list.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3) Update the first header with the new size.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0238DD-49B8-4780-86CF-4E6C08D95E60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8586" y="2969348"/>
            <a:ext cx="5284076" cy="11717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41538BC-51AE-491F-BA73-D40314032943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8586" y="4553492"/>
            <a:ext cx="5284076" cy="1354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042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CDB735-3CE2-41EA-856D-96865574933E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54000" y="254000"/>
            <a:ext cx="11684000" cy="63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17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727F5-6124-4299-9991-CE4FB1904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Can you have more than two free blocks in a row?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B9666-9540-4C53-9434-EBBDC75F16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Yep, if you free a block between two free blocks!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457200" indent="-457200">
              <a:buAutoNum type="arabicParenR"/>
            </a:pPr>
            <a:r>
              <a:rPr lang="en-US" dirty="0"/>
              <a:t>Coalescing the first two free blocks yields: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232C82-7373-42B4-ACC6-C721DE37D45F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3001645"/>
            <a:ext cx="5943600" cy="85471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585179E-1C30-4CFB-B36F-19ED8C7076C7}"/>
              </a:ext>
            </a:extLst>
          </p:cNvPr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9445"/>
          <a:stretch/>
        </p:blipFill>
        <p:spPr>
          <a:xfrm>
            <a:off x="3124200" y="4550434"/>
            <a:ext cx="5943600" cy="77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217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727F5-6124-4299-9991-CE4FB1904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Can you have more than two free blocks in a row (cont.)?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B9666-9540-4C53-9434-EBBDC75F16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2) Coalescing the new free block with the third free block yields: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75B5DC-83EE-4326-8318-C5635D77B7CC}"/>
              </a:ext>
            </a:extLst>
          </p:cNvPr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287"/>
          <a:stretch/>
        </p:blipFill>
        <p:spPr>
          <a:xfrm>
            <a:off x="3124199" y="3005608"/>
            <a:ext cx="5943600" cy="846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48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8A17A72-B88B-450E-835A-1C2722503A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/>
        </p:spPr>
        <p:style>
          <a:lnRef idx="2">
            <a:schemeClr val="accent2"/>
          </a:lnRef>
          <a:fillRef idx="1003">
            <a:schemeClr val="dk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1D13D13-FAEE-4BC8-B0D0-9D476834B2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7FA37B-95F1-4C56-A310-C85B64F55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1" y="2607041"/>
            <a:ext cx="9601196" cy="1303867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Hints on the Lab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7ADDECF-37FB-45A1-BAD3-6252E3064A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83042" y="2267682"/>
            <a:ext cx="927385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1388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FC23C-0A6C-4DA4-976D-EC3F70801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Queue Lab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5F9364-7798-42A8-9C31-03CF160BE9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 dumb as it may sound, the best way to debug this lab is to draw a picture!</a:t>
            </a:r>
          </a:p>
          <a:p>
            <a:r>
              <a:rPr lang="en-US" dirty="0"/>
              <a:t>I’ll walk through the logic, and the picture of the diagram will be here: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00546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8A17A72-B88B-450E-835A-1C2722503A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/>
        </p:spPr>
        <p:style>
          <a:lnRef idx="2">
            <a:schemeClr val="accent2"/>
          </a:lnRef>
          <a:fillRef idx="1003">
            <a:schemeClr val="dk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1D13D13-FAEE-4BC8-B0D0-9D476834B2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7FA37B-95F1-4C56-A310-C85B64F55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1" y="2607041"/>
            <a:ext cx="9601196" cy="1303867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Any Questions? 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7ADDECF-37FB-45A1-BAD3-6252E3064A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83042" y="2267682"/>
            <a:ext cx="927385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8129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8dc86fec-889e-44a8-89e3-f365140b37cf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4499a6cf-1409-4850-994a-1be53c6a921a"/>
</p:tagLst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B15E28"/>
      </a:accent1>
      <a:accent2>
        <a:srgbClr val="B13228"/>
      </a:accent2>
      <a:accent3>
        <a:srgbClr val="8B7B56"/>
      </a:accent3>
      <a:accent4>
        <a:srgbClr val="E09C41"/>
      </a:accent4>
      <a:accent5>
        <a:srgbClr val="9EAE51"/>
      </a:accent5>
      <a:accent6>
        <a:srgbClr val="6E7355"/>
      </a:accent6>
      <a:hlink>
        <a:srgbClr val="D37A21"/>
      </a:hlink>
      <a:folHlink>
        <a:srgbClr val="CA8F55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039A4B3-0617-4CFC-B614-27363ECC28A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1208</TotalTime>
  <Words>721</Words>
  <Application>Microsoft Office PowerPoint</Application>
  <PresentationFormat>Widescreen</PresentationFormat>
  <Paragraphs>90</Paragraphs>
  <Slides>28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Calibri</vt:lpstr>
      <vt:lpstr>Garamond</vt:lpstr>
      <vt:lpstr>Organic</vt:lpstr>
      <vt:lpstr>CS 0449 Recitation 5</vt:lpstr>
      <vt:lpstr>General Announcements</vt:lpstr>
      <vt:lpstr>General Announcements (cont.)</vt:lpstr>
      <vt:lpstr>Make</vt:lpstr>
      <vt:lpstr>Plan for today</vt:lpstr>
      <vt:lpstr>Let’s get back to business</vt:lpstr>
      <vt:lpstr>PowerPoint Presentation</vt:lpstr>
      <vt:lpstr>The correct answer is C!!</vt:lpstr>
      <vt:lpstr>A brief reminder of internal fragmentation</vt:lpstr>
      <vt:lpstr>A brief reminder of internal fragmentation</vt:lpstr>
      <vt:lpstr>Splitting a Free Block</vt:lpstr>
      <vt:lpstr>Efficient Memory Allocation</vt:lpstr>
      <vt:lpstr>A General Split Block Algorithm</vt:lpstr>
      <vt:lpstr>A General Split Block Algorithm (cont.)</vt:lpstr>
      <vt:lpstr>A General Split Block Algorithm (cont.)</vt:lpstr>
      <vt:lpstr>A General Split Block Algorithm (cont.)</vt:lpstr>
      <vt:lpstr>Heap Deallocation</vt:lpstr>
      <vt:lpstr>It’s actually a lot easier than malloc!</vt:lpstr>
      <vt:lpstr>But… what if we have two adjacent free blocks?</vt:lpstr>
      <vt:lpstr>Coalescing</vt:lpstr>
      <vt:lpstr>General Coalescing Algorithm</vt:lpstr>
      <vt:lpstr>General Coalescing Algorithm (cont.)</vt:lpstr>
      <vt:lpstr>PowerPoint Presentation</vt:lpstr>
      <vt:lpstr>Can you have more than two free blocks in a row?</vt:lpstr>
      <vt:lpstr>Can you have more than two free blocks in a row (cont.)?</vt:lpstr>
      <vt:lpstr>Hints on the Lab</vt:lpstr>
      <vt:lpstr>The Queue Lab</vt:lpstr>
      <vt:lpstr>Any Questions?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0449 Recitation 5</dc:title>
  <dc:creator>Lu, Gordon</dc:creator>
  <cp:lastModifiedBy>Lu, Gordon</cp:lastModifiedBy>
  <cp:revision>12</cp:revision>
  <dcterms:created xsi:type="dcterms:W3CDTF">2020-02-14T05:26:14Z</dcterms:created>
  <dcterms:modified xsi:type="dcterms:W3CDTF">2020-02-15T01:37:13Z</dcterms:modified>
</cp:coreProperties>
</file>