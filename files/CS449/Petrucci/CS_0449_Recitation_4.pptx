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3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4" r:id="rId37"/>
    <p:sldId id="293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5E801-7621-4C43-8DBE-FDD845955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63779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8623-147B-4340-827D-E1CA6094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67B87-8866-466E-A9A9-A3DCA586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C-Scope, Lifetime, and the Stack</a:t>
            </a:r>
          </a:p>
          <a:p>
            <a:r>
              <a:rPr lang="en-US" dirty="0"/>
              <a:t>The Heap &amp; Memory Allocation</a:t>
            </a:r>
          </a:p>
          <a:p>
            <a:r>
              <a:rPr lang="en-US" dirty="0"/>
              <a:t>Hints for the Queue Lab</a:t>
            </a:r>
          </a:p>
          <a:p>
            <a:r>
              <a:rPr lang="en-US" dirty="0"/>
              <a:t>Q&amp;A on the Queue Lab?</a:t>
            </a:r>
          </a:p>
        </p:txBody>
      </p:sp>
    </p:spTree>
    <p:extLst>
      <p:ext uri="{BB962C8B-B14F-4D97-AF65-F5344CB8AC3E}">
        <p14:creationId xmlns:p14="http://schemas.microsoft.com/office/powerpoint/2010/main" val="124161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Scope, Lifetime, and Ownership</a:t>
            </a:r>
          </a:p>
        </p:txBody>
      </p:sp>
    </p:spTree>
    <p:extLst>
      <p:ext uri="{BB962C8B-B14F-4D97-AF65-F5344CB8AC3E}">
        <p14:creationId xmlns:p14="http://schemas.microsoft.com/office/powerpoint/2010/main" val="342620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4938-A7D0-47C3-B7CF-D88D08BE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E5E4-C3ED-4C7F-9416-45DFD70A8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Scope is where a </a:t>
            </a:r>
            <a:r>
              <a:rPr lang="en-US" b="1" dirty="0"/>
              <a:t>variable can be seen</a:t>
            </a:r>
            <a:r>
              <a:rPr lang="en-US" dirty="0"/>
              <a:t>.</a:t>
            </a:r>
          </a:p>
          <a:p>
            <a:r>
              <a:rPr lang="en-US" dirty="0"/>
              <a:t>C has three basic levels of scope.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 descr="Paper">
            <a:extLst>
              <a:ext uri="{FF2B5EF4-FFF2-40B4-BE49-F238E27FC236}">
                <a16:creationId xmlns:a16="http://schemas.microsoft.com/office/drawing/2014/main" id="{8BFC7BC1-5436-44E4-9EF8-09762629F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5687" y="4189035"/>
            <a:ext cx="1839540" cy="1839540"/>
          </a:xfrm>
          <a:prstGeom prst="rect">
            <a:avLst/>
          </a:prstGeom>
        </p:spPr>
      </p:pic>
      <p:pic>
        <p:nvPicPr>
          <p:cNvPr id="6" name="Graphic 5" descr="Paper">
            <a:extLst>
              <a:ext uri="{FF2B5EF4-FFF2-40B4-BE49-F238E27FC236}">
                <a16:creationId xmlns:a16="http://schemas.microsoft.com/office/drawing/2014/main" id="{DF446E6B-7994-466D-8CEB-8965E3CDD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7962" y="4189035"/>
            <a:ext cx="1839540" cy="1839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8F85AD-635F-4191-A563-71C4A168EB74}"/>
              </a:ext>
            </a:extLst>
          </p:cNvPr>
          <p:cNvSpPr txBox="1"/>
          <p:nvPr/>
        </p:nvSpPr>
        <p:spPr>
          <a:xfrm>
            <a:off x="3595687" y="3819703"/>
            <a:ext cx="529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globals</a:t>
            </a:r>
            <a:r>
              <a:rPr lang="en-US" b="1" dirty="0"/>
              <a:t> </a:t>
            </a:r>
            <a:r>
              <a:rPr lang="en-US" dirty="0"/>
              <a:t>which can be seen by </a:t>
            </a:r>
            <a:r>
              <a:rPr lang="en-US" b="1" dirty="0"/>
              <a:t>any </a:t>
            </a:r>
            <a:r>
              <a:rPr lang="en-US" dirty="0"/>
              <a:t>function in </a:t>
            </a:r>
            <a:r>
              <a:rPr lang="en-US" b="1" dirty="0"/>
              <a:t>any </a:t>
            </a:r>
            <a:r>
              <a:rPr lang="en-US" dirty="0"/>
              <a:t>file 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29265-F9BC-4A50-9805-C58D20F0DA7C}"/>
              </a:ext>
            </a:extLst>
          </p:cNvPr>
          <p:cNvSpPr txBox="1"/>
          <p:nvPr/>
        </p:nvSpPr>
        <p:spPr>
          <a:xfrm>
            <a:off x="8612819" y="4406973"/>
            <a:ext cx="1740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static </a:t>
            </a:r>
            <a:r>
              <a:rPr lang="en-US" b="1" dirty="0" err="1"/>
              <a:t>globals</a:t>
            </a:r>
            <a:r>
              <a:rPr lang="en-US" b="1" dirty="0"/>
              <a:t> </a:t>
            </a:r>
            <a:r>
              <a:rPr lang="en-US" dirty="0"/>
              <a:t>which can be seen by </a:t>
            </a:r>
            <a:r>
              <a:rPr lang="en-US" b="1" dirty="0"/>
              <a:t>any  </a:t>
            </a:r>
            <a:r>
              <a:rPr lang="en-US" dirty="0"/>
              <a:t>function in </a:t>
            </a:r>
            <a:r>
              <a:rPr lang="en-US" b="1" dirty="0"/>
              <a:t>one</a:t>
            </a:r>
            <a:r>
              <a:rPr lang="en-US" dirty="0"/>
              <a:t> file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5ECF4-4216-4079-B97A-83F4B76A1DC4}"/>
              </a:ext>
            </a:extLst>
          </p:cNvPr>
          <p:cNvSpPr txBox="1"/>
          <p:nvPr/>
        </p:nvSpPr>
        <p:spPr>
          <a:xfrm>
            <a:off x="1838835" y="4799540"/>
            <a:ext cx="1740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locals </a:t>
            </a:r>
            <a:r>
              <a:rPr lang="en-US" dirty="0"/>
              <a:t>which can be seen by </a:t>
            </a:r>
            <a:r>
              <a:rPr lang="en-US" b="1" dirty="0"/>
              <a:t>one </a:t>
            </a:r>
            <a:r>
              <a:rPr lang="en-US" dirty="0"/>
              <a:t>function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9624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C3A7-B899-41A3-A5AB-71C12F45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D627A-6B76-4C7F-9E47-641BD9AA0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AutoNum type="arabicParenR"/>
            </a:pPr>
            <a:r>
              <a:rPr lang="en-US" dirty="0"/>
              <a:t>Every variable takes up </a:t>
            </a:r>
            <a:r>
              <a:rPr lang="en-US" b="1" dirty="0"/>
              <a:t>space in memory</a:t>
            </a:r>
          </a:p>
          <a:p>
            <a:r>
              <a:rPr lang="en-US" dirty="0"/>
              <a:t>That memory </a:t>
            </a:r>
            <a:r>
              <a:rPr lang="en-US" b="1" dirty="0"/>
              <a:t>must be allocated</a:t>
            </a:r>
            <a:r>
              <a:rPr lang="en-US" dirty="0"/>
              <a:t>: reserved for the variable</a:t>
            </a:r>
          </a:p>
          <a:p>
            <a:r>
              <a:rPr lang="en-US" dirty="0" err="1"/>
              <a:t>andddd</a:t>
            </a:r>
            <a:r>
              <a:rPr lang="en-US" dirty="0"/>
              <a:t> when no longer needed, </a:t>
            </a:r>
            <a:r>
              <a:rPr lang="en-US" b="1" dirty="0"/>
              <a:t>deallocated</a:t>
            </a:r>
            <a:r>
              <a:rPr lang="en-US" dirty="0"/>
              <a:t>: released for other use</a:t>
            </a:r>
          </a:p>
          <a:p>
            <a:pPr marL="342900" indent="-342900">
              <a:buFont typeface="+mj-lt"/>
              <a:buAutoNum type="arabicParenR" startAt="2"/>
            </a:pPr>
            <a:r>
              <a:rPr lang="en-US" b="1" dirty="0"/>
              <a:t>Lifetime </a:t>
            </a:r>
            <a:r>
              <a:rPr lang="en-US" dirty="0"/>
              <a:t>is the time </a:t>
            </a:r>
            <a:r>
              <a:rPr lang="en-US" b="1" dirty="0"/>
              <a:t>between allocation </a:t>
            </a:r>
            <a:r>
              <a:rPr lang="en-US" dirty="0"/>
              <a:t>and </a:t>
            </a:r>
            <a:r>
              <a:rPr lang="en-US" b="1" dirty="0"/>
              <a:t>deallocation</a:t>
            </a:r>
            <a:endParaRPr lang="en-US" dirty="0"/>
          </a:p>
          <a:p>
            <a:pPr marL="342900" indent="-342900">
              <a:buFont typeface="+mj-lt"/>
              <a:buAutoNum type="arabicParenR" startAt="2"/>
            </a:pPr>
            <a:r>
              <a:rPr lang="en-US" b="1" dirty="0"/>
              <a:t>Global</a:t>
            </a:r>
            <a:r>
              <a:rPr lang="en-US" dirty="0"/>
              <a:t> </a:t>
            </a:r>
            <a:r>
              <a:rPr lang="en-US" b="1" dirty="0"/>
              <a:t>Variables</a:t>
            </a:r>
            <a:r>
              <a:rPr lang="en-US" dirty="0"/>
              <a:t> last from program start to program exit</a:t>
            </a:r>
          </a:p>
          <a:p>
            <a:pPr marL="342900" indent="-342900">
              <a:buFont typeface="+mj-lt"/>
              <a:buAutoNum type="arabicParenR" startAt="2"/>
            </a:pPr>
            <a:r>
              <a:rPr lang="en-US" b="1" dirty="0"/>
              <a:t>Local Variables </a:t>
            </a:r>
            <a:r>
              <a:rPr lang="en-US" dirty="0"/>
              <a:t>only last as long as the enclosing function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IMPORTANT: </a:t>
            </a:r>
            <a:r>
              <a:rPr lang="en-US" dirty="0"/>
              <a:t>Lifetime and Scope are </a:t>
            </a:r>
            <a:r>
              <a:rPr lang="en-US" b="1" dirty="0"/>
              <a:t>NOT </a:t>
            </a:r>
            <a:r>
              <a:rPr lang="en-US" dirty="0"/>
              <a:t>the same thing, although the lifetimes and scopes of locals and </a:t>
            </a:r>
            <a:r>
              <a:rPr lang="en-US" dirty="0" err="1"/>
              <a:t>globals</a:t>
            </a:r>
            <a:r>
              <a:rPr lang="en-US" dirty="0"/>
              <a:t> overlap.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181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1D4C-1D93-4668-BBAC-E719977D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0EAD-6C66-4155-9564-24508D9F0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Ownership </a:t>
            </a:r>
            <a:r>
              <a:rPr lang="en-US" dirty="0"/>
              <a:t>answers the question: </a:t>
            </a:r>
            <a:r>
              <a:rPr lang="en-US" b="1" dirty="0"/>
              <a:t>Who is responsible for deallocating a piece of memory?</a:t>
            </a:r>
            <a:endParaRPr lang="en-US" dirty="0"/>
          </a:p>
          <a:p>
            <a:r>
              <a:rPr lang="en-US" dirty="0" err="1"/>
              <a:t>orrrr</a:t>
            </a:r>
            <a:r>
              <a:rPr lang="en-US" dirty="0"/>
              <a:t>, how do we determine </a:t>
            </a:r>
            <a:r>
              <a:rPr lang="en-US" b="1" dirty="0"/>
              <a:t>when it’s okay </a:t>
            </a:r>
            <a:r>
              <a:rPr lang="en-US" dirty="0"/>
              <a:t>to deallocate memory?</a:t>
            </a:r>
          </a:p>
          <a:p>
            <a:endParaRPr lang="en-US" dirty="0"/>
          </a:p>
          <a:p>
            <a:r>
              <a:rPr lang="en-US" dirty="0"/>
              <a:t>C is dumb, and pretends the problem doesn’t exist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Locals are </a:t>
            </a:r>
            <a:r>
              <a:rPr lang="en-US" b="1" dirty="0"/>
              <a:t>owned </a:t>
            </a:r>
            <a:r>
              <a:rPr lang="en-US" dirty="0"/>
              <a:t>by </a:t>
            </a:r>
            <a:r>
              <a:rPr lang="en-US" b="1" dirty="0"/>
              <a:t>functions</a:t>
            </a:r>
            <a:endParaRPr lang="en-US" dirty="0"/>
          </a:p>
          <a:p>
            <a:r>
              <a:rPr lang="en-US" dirty="0" err="1"/>
              <a:t>Globals</a:t>
            </a:r>
            <a:r>
              <a:rPr lang="en-US" dirty="0"/>
              <a:t> are </a:t>
            </a:r>
            <a:r>
              <a:rPr lang="en-US" b="1" dirty="0"/>
              <a:t>owned </a:t>
            </a:r>
            <a:r>
              <a:rPr lang="en-US" dirty="0"/>
              <a:t>by </a:t>
            </a:r>
            <a:r>
              <a:rPr lang="en-US" b="1" dirty="0"/>
              <a:t>the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Stack</a:t>
            </a:r>
          </a:p>
        </p:txBody>
      </p:sp>
    </p:spTree>
    <p:extLst>
      <p:ext uri="{BB962C8B-B14F-4D97-AF65-F5344CB8AC3E}">
        <p14:creationId xmlns:p14="http://schemas.microsoft.com/office/powerpoint/2010/main" val="234877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D9B4-D229-407B-8251-68A29585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Stack?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6E1B-3C5E-4F0E-80C5-9F89E05FD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1) It’s an </a:t>
            </a:r>
            <a:r>
              <a:rPr lang="en-US" b="1" dirty="0"/>
              <a:t>area of memory </a:t>
            </a:r>
            <a:r>
              <a:rPr lang="en-US" dirty="0"/>
              <a:t>provided to your program by the OS.</a:t>
            </a:r>
          </a:p>
          <a:p>
            <a:r>
              <a:rPr lang="en-US" dirty="0"/>
              <a:t>When your program starts, it’s already there</a:t>
            </a:r>
          </a:p>
          <a:p>
            <a:pPr marL="0" indent="0">
              <a:buNone/>
            </a:pPr>
            <a:r>
              <a:rPr lang="en-US" dirty="0"/>
              <a:t>2) The stack holds </a:t>
            </a:r>
            <a:r>
              <a:rPr lang="en-US" b="1" dirty="0"/>
              <a:t>information about function calls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 It’s not a </a:t>
            </a:r>
            <a:r>
              <a:rPr lang="en-US" b="1" dirty="0"/>
              <a:t>strict </a:t>
            </a:r>
            <a:r>
              <a:rPr lang="en-US" dirty="0"/>
              <a:t>stack</a:t>
            </a:r>
          </a:p>
          <a:p>
            <a:r>
              <a:rPr lang="en-US" dirty="0"/>
              <a:t>You can read and write any part of it</a:t>
            </a:r>
          </a:p>
          <a:p>
            <a:r>
              <a:rPr lang="en-US" dirty="0"/>
              <a:t>…but it </a:t>
            </a:r>
            <a:r>
              <a:rPr lang="en-US" b="1" dirty="0"/>
              <a:t>grows </a:t>
            </a:r>
            <a:r>
              <a:rPr lang="en-US" dirty="0"/>
              <a:t>and </a:t>
            </a:r>
            <a:r>
              <a:rPr lang="en-US" b="1" dirty="0"/>
              <a:t>shrinks </a:t>
            </a:r>
            <a:r>
              <a:rPr lang="en-US" dirty="0"/>
              <a:t>like a stack</a:t>
            </a:r>
          </a:p>
          <a:p>
            <a:r>
              <a:rPr lang="en-US" b="1" dirty="0"/>
              <a:t>push </a:t>
            </a:r>
            <a:r>
              <a:rPr lang="en-US" dirty="0"/>
              <a:t>and </a:t>
            </a:r>
            <a:r>
              <a:rPr lang="en-US" b="1" dirty="0"/>
              <a:t>pop </a:t>
            </a:r>
            <a:r>
              <a:rPr lang="en-US" dirty="0"/>
              <a:t>describe growth and shrinkage</a:t>
            </a:r>
          </a:p>
          <a:p>
            <a:pPr marL="0" indent="0">
              <a:buNone/>
            </a:pPr>
            <a:r>
              <a:rPr lang="en-US" dirty="0"/>
              <a:t>4) Each program (</a:t>
            </a:r>
            <a:r>
              <a:rPr lang="en-US" b="1" dirty="0"/>
              <a:t>thread</a:t>
            </a:r>
            <a:r>
              <a:rPr lang="en-US" dirty="0"/>
              <a:t>) gets </a:t>
            </a:r>
            <a:r>
              <a:rPr lang="en-US" b="1" dirty="0"/>
              <a:t>one </a:t>
            </a:r>
            <a:r>
              <a:rPr lang="en-US" dirty="0"/>
              <a:t>stack</a:t>
            </a:r>
          </a:p>
          <a:p>
            <a:r>
              <a:rPr lang="en-US" dirty="0"/>
              <a:t>I mean.. </a:t>
            </a:r>
            <a:r>
              <a:rPr lang="en-US" dirty="0" err="1"/>
              <a:t>cuz</a:t>
            </a:r>
            <a:r>
              <a:rPr lang="en-US" dirty="0"/>
              <a:t> one function is running at a time!!</a:t>
            </a:r>
          </a:p>
        </p:txBody>
      </p:sp>
    </p:spTree>
    <p:extLst>
      <p:ext uri="{BB962C8B-B14F-4D97-AF65-F5344CB8AC3E}">
        <p14:creationId xmlns:p14="http://schemas.microsoft.com/office/powerpoint/2010/main" val="123944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5676-F681-448D-AA0C-1D080B9F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6DE0-2B48-4FD5-AA16-2F8FE03F9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US" dirty="0"/>
              <a:t>When a function is called, a bunch of data is </a:t>
            </a:r>
            <a:r>
              <a:rPr lang="en-US" b="1" dirty="0"/>
              <a:t>pushed </a:t>
            </a:r>
            <a:r>
              <a:rPr lang="en-US" dirty="0"/>
              <a:t>onto the stack.</a:t>
            </a:r>
          </a:p>
          <a:p>
            <a:pPr marL="342900" indent="-342900">
              <a:buAutoNum type="arabicParenR"/>
            </a:pPr>
            <a:r>
              <a:rPr lang="en-US" dirty="0"/>
              <a:t>This is the call’s </a:t>
            </a:r>
            <a:r>
              <a:rPr lang="en-US" b="1" dirty="0"/>
              <a:t>activation record </a:t>
            </a:r>
            <a:r>
              <a:rPr lang="en-US" dirty="0"/>
              <a:t>(</a:t>
            </a:r>
            <a:r>
              <a:rPr lang="en-US" b="1" dirty="0"/>
              <a:t>stack frame</a:t>
            </a:r>
            <a:r>
              <a:rPr lang="en-US" dirty="0"/>
              <a:t>)</a:t>
            </a:r>
          </a:p>
          <a:p>
            <a:pPr marL="342900" indent="-342900">
              <a:buAutoNum type="arabicParenR"/>
            </a:pPr>
            <a:r>
              <a:rPr lang="en-US" dirty="0"/>
              <a:t>It contains </a:t>
            </a:r>
            <a:r>
              <a:rPr lang="en-US" b="1" dirty="0"/>
              <a:t>local variables </a:t>
            </a:r>
            <a:r>
              <a:rPr lang="en-US" dirty="0"/>
              <a:t>(including arguments) and the </a:t>
            </a:r>
            <a:r>
              <a:rPr lang="en-US" b="1" dirty="0"/>
              <a:t>return address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1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90E1F-07BC-44DD-8331-3CBCB4FD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Activation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DAF1B-44D1-474E-B352-0C1265219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main(){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help_me</a:t>
            </a:r>
            <a:r>
              <a:rPr lang="en-US" dirty="0"/>
              <a:t>, dude;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buf</a:t>
            </a:r>
            <a:r>
              <a:rPr lang="en-US" dirty="0"/>
              <a:t>[10];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08753C-0392-48DC-A960-9E669EA09311}"/>
              </a:ext>
            </a:extLst>
          </p:cNvPr>
          <p:cNvCxnSpPr>
            <a:cxnSpLocks/>
          </p:cNvCxnSpPr>
          <p:nvPr/>
        </p:nvCxnSpPr>
        <p:spPr>
          <a:xfrm flipH="1">
            <a:off x="6498415" y="2743200"/>
            <a:ext cx="39" cy="2006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6BED5E-6BD7-49F9-B4BD-DE56FD21A385}"/>
              </a:ext>
            </a:extLst>
          </p:cNvPr>
          <p:cNvCxnSpPr>
            <a:cxnSpLocks/>
          </p:cNvCxnSpPr>
          <p:nvPr/>
        </p:nvCxnSpPr>
        <p:spPr>
          <a:xfrm>
            <a:off x="8682364" y="2743200"/>
            <a:ext cx="0" cy="2006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0086F41-4178-4C36-A5D1-DC57C5629874}"/>
              </a:ext>
            </a:extLst>
          </p:cNvPr>
          <p:cNvSpPr/>
          <p:nvPr/>
        </p:nvSpPr>
        <p:spPr>
          <a:xfrm>
            <a:off x="6498415" y="3074200"/>
            <a:ext cx="2183871" cy="14470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2C46A5-E809-43CC-AF06-4258F9DA4367}"/>
              </a:ext>
            </a:extLst>
          </p:cNvPr>
          <p:cNvSpPr txBox="1"/>
          <p:nvPr/>
        </p:nvSpPr>
        <p:spPr>
          <a:xfrm>
            <a:off x="6498337" y="3146211"/>
            <a:ext cx="15485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address</a:t>
            </a:r>
          </a:p>
          <a:p>
            <a:r>
              <a:rPr lang="en-US" dirty="0" err="1"/>
              <a:t>help_me</a:t>
            </a:r>
            <a:endParaRPr lang="en-US" dirty="0"/>
          </a:p>
          <a:p>
            <a:r>
              <a:rPr lang="en-US" dirty="0"/>
              <a:t>dude</a:t>
            </a:r>
          </a:p>
          <a:p>
            <a:r>
              <a:rPr lang="en-US" dirty="0" err="1"/>
              <a:t>buf</a:t>
            </a:r>
            <a:r>
              <a:rPr lang="en-US" dirty="0"/>
              <a:t>[10]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8D780-4344-4242-B45B-93B048E3758B}"/>
              </a:ext>
            </a:extLst>
          </p:cNvPr>
          <p:cNvSpPr txBox="1"/>
          <p:nvPr/>
        </p:nvSpPr>
        <p:spPr>
          <a:xfrm>
            <a:off x="7154990" y="4479398"/>
            <a:ext cx="89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garbage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926C92-F15A-430E-8A94-8F4D6C53FC2D}"/>
              </a:ext>
            </a:extLst>
          </p:cNvPr>
          <p:cNvSpPr txBox="1"/>
          <p:nvPr/>
        </p:nvSpPr>
        <p:spPr>
          <a:xfrm>
            <a:off x="6913498" y="2743198"/>
            <a:ext cx="137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main‘s caller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0FC88-F236-4BFA-8E4C-51AD5048EA72}"/>
              </a:ext>
            </a:extLst>
          </p:cNvPr>
          <p:cNvSpPr txBox="1"/>
          <p:nvPr/>
        </p:nvSpPr>
        <p:spPr>
          <a:xfrm>
            <a:off x="7133917" y="2450785"/>
            <a:ext cx="91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Stack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A31BDFD7-EC30-459D-BB49-156FA5D765A4}"/>
              </a:ext>
            </a:extLst>
          </p:cNvPr>
          <p:cNvSpPr/>
          <p:nvPr/>
        </p:nvSpPr>
        <p:spPr>
          <a:xfrm>
            <a:off x="8923222" y="3188073"/>
            <a:ext cx="431191" cy="133318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34562B-B271-43F8-AEB3-B3E7DBAA8D84}"/>
              </a:ext>
            </a:extLst>
          </p:cNvPr>
          <p:cNvSpPr txBox="1"/>
          <p:nvPr/>
        </p:nvSpPr>
        <p:spPr>
          <a:xfrm>
            <a:off x="9429066" y="3670000"/>
            <a:ext cx="1082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main’s AR</a:t>
            </a:r>
          </a:p>
        </p:txBody>
      </p:sp>
    </p:spTree>
    <p:extLst>
      <p:ext uri="{BB962C8B-B14F-4D97-AF65-F5344CB8AC3E}">
        <p14:creationId xmlns:p14="http://schemas.microsoft.com/office/powerpoint/2010/main" val="93101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3" grpId="0"/>
      <p:bldP spid="15" grpId="0"/>
      <p:bldP spid="16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56E0-265C-40DE-A9C6-4819C3A92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low-level layout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88D2C-3A87-4B33-BFC2-5E737FC93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variable (</a:t>
            </a:r>
            <a:r>
              <a:rPr lang="en-US" b="1"/>
              <a:t>including </a:t>
            </a:r>
            <a:r>
              <a:rPr lang="en-US"/>
              <a:t>array variables) gets enough bytes in the </a:t>
            </a:r>
            <a:r>
              <a:rPr lang="en-US" b="1"/>
              <a:t>AR </a:t>
            </a:r>
            <a:r>
              <a:rPr lang="en-US"/>
              <a:t>to hold its value.</a:t>
            </a:r>
          </a:p>
          <a:p>
            <a:r>
              <a:rPr lang="en-US" b="1"/>
              <a:t>Where </a:t>
            </a:r>
            <a:r>
              <a:rPr lang="en-US"/>
              <a:t>the variable is located is up to… the COMPILER!!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int x;</a:t>
            </a:r>
          </a:p>
          <a:p>
            <a:pPr marL="0" indent="0">
              <a:buNone/>
            </a:pPr>
            <a:r>
              <a:rPr lang="en-US" b="1"/>
              <a:t>char arr[3];</a:t>
            </a:r>
          </a:p>
          <a:p>
            <a:pPr marL="0" indent="0">
              <a:buNone/>
            </a:pPr>
            <a:r>
              <a:rPr lang="en-US" b="1"/>
              <a:t>short y;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E4B20-79E8-41B2-8361-5FDE2E9C9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37" y="2153412"/>
            <a:ext cx="1147763" cy="40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2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0B31-D059-414E-B88E-AD1A99A8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= Push, Return = pop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39F19-2FC6-4EBF-9FD1-9AE2B9089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stack </a:t>
            </a:r>
            <a:r>
              <a:rPr lang="en-US" b="1" dirty="0"/>
              <a:t>grows </a:t>
            </a:r>
            <a:r>
              <a:rPr lang="en-US" dirty="0"/>
              <a:t>when we call a function, and </a:t>
            </a:r>
            <a:r>
              <a:rPr lang="en-US" b="1" dirty="0"/>
              <a:t>shrinks </a:t>
            </a:r>
            <a:r>
              <a:rPr lang="en-US" dirty="0"/>
              <a:t>when it exits</a:t>
            </a:r>
          </a:p>
          <a:p>
            <a:pPr marL="0" indent="0">
              <a:buNone/>
            </a:pPr>
            <a:r>
              <a:rPr lang="en-US" dirty="0"/>
              <a:t>int main(){		void fork(int* </a:t>
            </a:r>
            <a:r>
              <a:rPr lang="en-US" dirty="0" err="1"/>
              <a:t>ptr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int x;			    *</a:t>
            </a:r>
            <a:r>
              <a:rPr lang="en-US" dirty="0" err="1"/>
              <a:t>ptr</a:t>
            </a:r>
            <a:r>
              <a:rPr lang="en-US" dirty="0"/>
              <a:t> = knife();</a:t>
            </a:r>
          </a:p>
          <a:p>
            <a:pPr marL="0" indent="0">
              <a:buNone/>
            </a:pPr>
            <a:r>
              <a:rPr lang="en-US" dirty="0"/>
              <a:t>fork(&amp;x);			}</a:t>
            </a:r>
          </a:p>
          <a:p>
            <a:pPr marL="0" indent="0">
              <a:buNone/>
            </a:pPr>
            <a:r>
              <a:rPr lang="en-US" dirty="0"/>
              <a:t>return 0;			int knife(){</a:t>
            </a:r>
          </a:p>
          <a:p>
            <a:pPr marL="0" indent="0">
              <a:buNone/>
            </a:pPr>
            <a:r>
              <a:rPr lang="en-US" dirty="0"/>
              <a:t>}			     return 10;</a:t>
            </a:r>
          </a:p>
          <a:p>
            <a:pPr marL="0" indent="0">
              <a:buNone/>
            </a:pPr>
            <a:r>
              <a:rPr lang="en-US" dirty="0"/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69599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CC54-82CF-45BC-B33E-585C1712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A559-C9A7-4599-A575-404BE38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program’s </a:t>
            </a:r>
            <a:r>
              <a:rPr lang="en-US" b="1" dirty="0"/>
              <a:t>AR </a:t>
            </a:r>
            <a:r>
              <a:rPr lang="en-US" dirty="0"/>
              <a:t>in main without any other function calls is: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AD8CB-EDCE-45CF-949C-E4BFC4AC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799" y="3127252"/>
            <a:ext cx="38481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8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89F2-2D23-4E4C-B9CC-A2C43CD8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B3D50-FB1D-460D-A56E-1A8FA3C45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</a:t>
            </a:r>
            <a:r>
              <a:rPr lang="en-US" b="1" dirty="0"/>
              <a:t>fork() </a:t>
            </a:r>
            <a:r>
              <a:rPr lang="en-US" dirty="0"/>
              <a:t>is called, the </a:t>
            </a:r>
            <a:r>
              <a:rPr lang="en-US" b="1" dirty="0"/>
              <a:t>AR </a:t>
            </a:r>
            <a:r>
              <a:rPr lang="en-US" dirty="0"/>
              <a:t>becomes: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5CBD9-83AD-4E55-8FE4-B2C9DBB3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889" y="3141285"/>
            <a:ext cx="31718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9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89F2-2D23-4E4C-B9CC-A2C43CD8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B3D50-FB1D-460D-A56E-1A8FA3C45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</a:t>
            </a:r>
            <a:r>
              <a:rPr lang="en-US" b="1" dirty="0"/>
              <a:t>knife() </a:t>
            </a:r>
            <a:r>
              <a:rPr lang="en-US" dirty="0"/>
              <a:t>is called within </a:t>
            </a:r>
            <a:r>
              <a:rPr lang="en-US" b="1" dirty="0"/>
              <a:t>fork(),</a:t>
            </a:r>
            <a:r>
              <a:rPr lang="en-US" dirty="0"/>
              <a:t> the </a:t>
            </a:r>
            <a:r>
              <a:rPr lang="en-US" b="1" dirty="0"/>
              <a:t>AR </a:t>
            </a:r>
            <a:r>
              <a:rPr lang="en-US" dirty="0"/>
              <a:t>becomes: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7F570-BBC6-4094-868E-4BCC5D2F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3024187"/>
            <a:ext cx="32194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5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12E6-C74D-47C3-A723-3E87E7CF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46766-99AC-4524-B6FC-B299DD12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</a:t>
            </a:r>
            <a:r>
              <a:rPr lang="en-US" b="1" dirty="0"/>
              <a:t>knife() </a:t>
            </a:r>
            <a:r>
              <a:rPr lang="en-US" dirty="0"/>
              <a:t>is finished returning, the </a:t>
            </a:r>
            <a:r>
              <a:rPr lang="en-US" b="1" dirty="0"/>
              <a:t>AR </a:t>
            </a:r>
            <a:r>
              <a:rPr lang="en-US" dirty="0"/>
              <a:t>becomes: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40B46-A364-4D0F-89F8-496D6F769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7" y="3128962"/>
            <a:ext cx="38385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9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12E6-C74D-47C3-A723-3E87E7CF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46766-99AC-4524-B6FC-B299DD12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</a:t>
            </a:r>
            <a:r>
              <a:rPr lang="en-US" b="1" dirty="0"/>
              <a:t>fork() </a:t>
            </a:r>
            <a:r>
              <a:rPr lang="en-US" dirty="0"/>
              <a:t>is finished returning, the </a:t>
            </a:r>
            <a:r>
              <a:rPr lang="en-US" b="1" dirty="0"/>
              <a:t>AR </a:t>
            </a:r>
            <a:r>
              <a:rPr lang="en-US" dirty="0"/>
              <a:t>becomes: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C7CAB-5EAD-45DE-93E0-80F0AA1F2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62" y="3081337"/>
            <a:ext cx="47339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8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</p:spTree>
    <p:extLst>
      <p:ext uri="{BB962C8B-B14F-4D97-AF65-F5344CB8AC3E}">
        <p14:creationId xmlns:p14="http://schemas.microsoft.com/office/powerpoint/2010/main" val="271109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79FE-9AC7-4E1F-A862-D4E9EEA8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E3F9-8BFD-4570-978B-00E7F2396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Recursive functions </a:t>
            </a:r>
            <a:r>
              <a:rPr lang="en-US" b="1" dirty="0"/>
              <a:t>work by using the call stack as an implicit </a:t>
            </a:r>
            <a:r>
              <a:rPr lang="en-US" b="1" dirty="0" err="1"/>
              <a:t>stackdata</a:t>
            </a:r>
            <a:r>
              <a:rPr lang="en-US" b="1" dirty="0"/>
              <a:t> structure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237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B8D0-9CC0-4EA0-AB96-1F88314A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72FCD-F6F9-49D5-A314-8AEB5876C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the recursive implementation of factorial:</a:t>
            </a:r>
          </a:p>
          <a:p>
            <a:pPr marL="0" indent="0">
              <a:buNone/>
            </a:pPr>
            <a:r>
              <a:rPr lang="en-US" dirty="0"/>
              <a:t>int fact(int x){</a:t>
            </a:r>
          </a:p>
          <a:p>
            <a:pPr marL="0" indent="0">
              <a:buNone/>
            </a:pPr>
            <a:r>
              <a:rPr lang="en-US" dirty="0"/>
              <a:t>if(x &lt;= 2){</a:t>
            </a:r>
            <a:br>
              <a:rPr lang="en-US" dirty="0"/>
            </a:br>
            <a:r>
              <a:rPr lang="en-US" dirty="0"/>
              <a:t>  return x;</a:t>
            </a:r>
          </a:p>
          <a:p>
            <a:pPr marL="0" indent="0">
              <a:buNone/>
            </a:pPr>
            <a:r>
              <a:rPr lang="en-US" dirty="0"/>
              <a:t>} else{</a:t>
            </a:r>
          </a:p>
          <a:p>
            <a:pPr marL="0" indent="0">
              <a:buNone/>
            </a:pPr>
            <a:r>
              <a:rPr lang="en-US" dirty="0"/>
              <a:t>  return x*fact(x-1);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697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on Activation Records</a:t>
            </a:r>
          </a:p>
        </p:txBody>
      </p:sp>
    </p:spTree>
    <p:extLst>
      <p:ext uri="{BB962C8B-B14F-4D97-AF65-F5344CB8AC3E}">
        <p14:creationId xmlns:p14="http://schemas.microsoft.com/office/powerpoint/2010/main" val="2417101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2C57-A506-4CE1-A508-C2926DB6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They don’t really go away…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00A4-359B-4C7A-B4C2-E78C1BF19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US" dirty="0"/>
              <a:t>The stack is used </a:t>
            </a:r>
            <a:r>
              <a:rPr lang="en-US" b="1" dirty="0"/>
              <a:t>constantly</a:t>
            </a:r>
            <a:endParaRPr lang="en-US" dirty="0"/>
          </a:p>
          <a:p>
            <a:r>
              <a:rPr lang="en-US" dirty="0"/>
              <a:t>So, it needs to be </a:t>
            </a:r>
            <a:r>
              <a:rPr lang="en-US" b="1" dirty="0"/>
              <a:t>REALLY FAST</a:t>
            </a:r>
            <a:endParaRPr lang="en-US" dirty="0"/>
          </a:p>
          <a:p>
            <a:pPr marL="342900" indent="-342900">
              <a:buFont typeface="+mj-lt"/>
              <a:buAutoNum type="arabicParenR" startAt="2"/>
            </a:pPr>
            <a:r>
              <a:rPr lang="en-US" dirty="0"/>
              <a:t>So, we implement it as a </a:t>
            </a:r>
            <a:r>
              <a:rPr lang="en-US" b="1" dirty="0"/>
              <a:t>pointer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stack pointer </a:t>
            </a:r>
            <a:r>
              <a:rPr lang="en-US" dirty="0"/>
              <a:t>(</a:t>
            </a:r>
            <a:r>
              <a:rPr lang="en-US" b="1" dirty="0" err="1"/>
              <a:t>sp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arenR" startAt="3"/>
            </a:pPr>
            <a:r>
              <a:rPr lang="en-US" b="1" dirty="0"/>
              <a:t>Pushing the AR </a:t>
            </a:r>
            <a:r>
              <a:rPr lang="en-US" dirty="0"/>
              <a:t>moves the </a:t>
            </a:r>
            <a:r>
              <a:rPr lang="en-US" b="1" dirty="0" err="1"/>
              <a:t>sp</a:t>
            </a:r>
            <a:r>
              <a:rPr lang="en-US" b="1" dirty="0"/>
              <a:t> down</a:t>
            </a:r>
            <a:endParaRPr lang="en-US" dirty="0"/>
          </a:p>
          <a:p>
            <a:pPr marL="342900" indent="-342900">
              <a:buFont typeface="+mj-lt"/>
              <a:buAutoNum type="arabicParenR" startAt="3"/>
            </a:pPr>
            <a:r>
              <a:rPr lang="en-US" b="1" dirty="0"/>
              <a:t>Popping the AR </a:t>
            </a:r>
            <a:r>
              <a:rPr lang="en-US" dirty="0"/>
              <a:t>moves the </a:t>
            </a:r>
            <a:r>
              <a:rPr lang="en-US" b="1" dirty="0" err="1"/>
              <a:t>sp</a:t>
            </a:r>
            <a:r>
              <a:rPr lang="en-US" b="1" dirty="0"/>
              <a:t> up</a:t>
            </a:r>
          </a:p>
        </p:txBody>
      </p:sp>
    </p:spTree>
    <p:extLst>
      <p:ext uri="{BB962C8B-B14F-4D97-AF65-F5344CB8AC3E}">
        <p14:creationId xmlns:p14="http://schemas.microsoft.com/office/powerpoint/2010/main" val="389415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6A42-F4A3-4980-909B-6F60BB56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0E04-9970-456A-961C-D4CDCFA4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Initially, the stack pointer 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AE6B8-B638-4038-8516-038F7470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5" y="3100387"/>
            <a:ext cx="25908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2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6A42-F4A3-4980-909B-6F60BB56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0E04-9970-456A-961C-D4CDCFA4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pushing onto the call stack, the stack pointer 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542095-BC9E-46D9-92D5-EBCCEB256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25" y="3143250"/>
            <a:ext cx="42481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7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6A42-F4A3-4980-909B-6F60BB56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0E04-9970-456A-961C-D4CDCFA4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popping off the call stack, the stack pointer 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769A5-1370-4C96-8CF8-8E9C6ECD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37" y="3155572"/>
            <a:ext cx="46196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6A42-F4A3-4980-909B-6F60BB56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0E04-9970-456A-961C-D4CDCFA4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AR’s memory </a:t>
            </a:r>
            <a:r>
              <a:rPr lang="en-US" dirty="0"/>
              <a:t>is still there, so calling another function is </a:t>
            </a:r>
            <a:r>
              <a:rPr lang="en-US" b="1" dirty="0"/>
              <a:t>BAD</a:t>
            </a:r>
          </a:p>
          <a:p>
            <a:r>
              <a:rPr lang="en-US" dirty="0"/>
              <a:t>This is where the garbage in uninitialized variables comes from!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329BA-CEBA-4C0A-913B-46265C84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854" y="3429000"/>
            <a:ext cx="51530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3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193980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F992-82F5-4A05-BF50-9D7954F5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D21AE-AEF4-44CE-AB0D-967072EBA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heap </a:t>
            </a:r>
            <a:r>
              <a:rPr lang="en-US" dirty="0"/>
              <a:t>is a </a:t>
            </a:r>
            <a:r>
              <a:rPr lang="en-US" b="1" dirty="0"/>
              <a:t>programmer-managed </a:t>
            </a:r>
            <a:r>
              <a:rPr lang="en-US" dirty="0"/>
              <a:t>area of memory.</a:t>
            </a:r>
          </a:p>
          <a:p>
            <a:r>
              <a:rPr lang="en-US" dirty="0"/>
              <a:t>It has nothing to do with the heap data structure!</a:t>
            </a:r>
          </a:p>
          <a:p>
            <a:pPr marL="0" indent="0">
              <a:buNone/>
            </a:pPr>
            <a:r>
              <a:rPr lang="en-US" dirty="0"/>
              <a:t>You can </a:t>
            </a:r>
            <a:r>
              <a:rPr lang="en-US" b="1" dirty="0"/>
              <a:t>create and destroy pieces of memory on demand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7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8C48-7AB2-4A00-AC69-A1E5586E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6C564-0E98-43B9-8D05-560AE9B38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stack </a:t>
            </a:r>
            <a:r>
              <a:rPr lang="en-US" dirty="0"/>
              <a:t>and </a:t>
            </a:r>
            <a:r>
              <a:rPr lang="en-US" b="1" dirty="0"/>
              <a:t>heap </a:t>
            </a:r>
            <a:r>
              <a:rPr lang="en-US" dirty="0"/>
              <a:t>both change size</a:t>
            </a:r>
          </a:p>
          <a:p>
            <a:r>
              <a:rPr lang="en-US" dirty="0"/>
              <a:t>The </a:t>
            </a:r>
            <a:r>
              <a:rPr lang="en-US" b="1" dirty="0"/>
              <a:t>stack </a:t>
            </a:r>
            <a:r>
              <a:rPr lang="en-US" dirty="0"/>
              <a:t>grows </a:t>
            </a:r>
            <a:r>
              <a:rPr lang="en-US" b="1" dirty="0"/>
              <a:t>down </a:t>
            </a:r>
            <a:r>
              <a:rPr lang="en-US" dirty="0"/>
              <a:t>(higher addresses to lower addresses)</a:t>
            </a:r>
          </a:p>
          <a:p>
            <a:r>
              <a:rPr lang="en-US" dirty="0"/>
              <a:t>The </a:t>
            </a:r>
            <a:r>
              <a:rPr lang="en-US" b="1" dirty="0"/>
              <a:t>heap </a:t>
            </a:r>
            <a:r>
              <a:rPr lang="en-US" dirty="0"/>
              <a:t>grows </a:t>
            </a:r>
            <a:r>
              <a:rPr lang="en-US" b="1" dirty="0"/>
              <a:t>up </a:t>
            </a:r>
            <a:r>
              <a:rPr lang="en-US" dirty="0"/>
              <a:t>(lower addresses to higher)</a:t>
            </a:r>
          </a:p>
          <a:p>
            <a:r>
              <a:rPr lang="en-US" dirty="0"/>
              <a:t>If they meet, your program is </a:t>
            </a:r>
            <a:r>
              <a:rPr lang="en-US" b="1" dirty="0"/>
              <a:t>out of memory!</a:t>
            </a:r>
          </a:p>
          <a:p>
            <a:endParaRPr lang="en-US" b="1" dirty="0"/>
          </a:p>
          <a:p>
            <a:r>
              <a:rPr lang="en-US" dirty="0"/>
              <a:t>Having the stack and heap grow towards each other allows for maximum memory utilization, e.g. if you have a huge heap and small stack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D62C1-229F-4353-AB3C-7837FC6A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181" y="2777752"/>
            <a:ext cx="15049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0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CB2C-F894-43A3-A00F-55C262E9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2BBC-BF71-4D23-BF48-1A4D51FBD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The heap functions are in </a:t>
            </a:r>
            <a:r>
              <a:rPr lang="en-US" b="1" dirty="0"/>
              <a:t>&lt;</a:t>
            </a:r>
            <a:r>
              <a:rPr lang="en-US" b="1" dirty="0" err="1"/>
              <a:t>stdlib.h</a:t>
            </a:r>
            <a:r>
              <a:rPr lang="en-US" b="1" dirty="0"/>
              <a:t>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2) To allocate memory, we invoke </a:t>
            </a:r>
            <a:r>
              <a:rPr lang="en-US" b="1" dirty="0"/>
              <a:t>malloc:</a:t>
            </a:r>
          </a:p>
          <a:p>
            <a:pPr marL="0" indent="0">
              <a:buNone/>
            </a:pPr>
            <a:r>
              <a:rPr lang="en-US" dirty="0"/>
              <a:t>int* </a:t>
            </a:r>
            <a:r>
              <a:rPr lang="en-US" dirty="0" err="1"/>
              <a:t>arr</a:t>
            </a:r>
            <a:r>
              <a:rPr lang="en-US" dirty="0"/>
              <a:t> = malloc(</a:t>
            </a:r>
            <a:r>
              <a:rPr lang="en-US" dirty="0" err="1"/>
              <a:t>sizeof</a:t>
            </a:r>
            <a:r>
              <a:rPr lang="en-US" dirty="0"/>
              <a:t>(int) * 20);</a:t>
            </a:r>
          </a:p>
          <a:p>
            <a:r>
              <a:rPr lang="en-US" dirty="0"/>
              <a:t>This allocates a 20-item int array </a:t>
            </a:r>
            <a:r>
              <a:rPr lang="en-US" b="1" dirty="0"/>
              <a:t>on the heap</a:t>
            </a:r>
            <a:endParaRPr lang="en-US" dirty="0"/>
          </a:p>
          <a:p>
            <a:r>
              <a:rPr lang="en-US" b="1" dirty="0"/>
              <a:t>malloc</a:t>
            </a:r>
            <a:r>
              <a:rPr lang="en-US" dirty="0"/>
              <a:t> takes the number of </a:t>
            </a:r>
            <a:r>
              <a:rPr lang="en-US" b="1" dirty="0"/>
              <a:t>bytes </a:t>
            </a:r>
            <a:r>
              <a:rPr lang="en-US" dirty="0"/>
              <a:t>to allocate and makes a block of bytes </a:t>
            </a:r>
            <a:r>
              <a:rPr lang="en-US" b="1" dirty="0"/>
              <a:t>at least that big </a:t>
            </a:r>
            <a:r>
              <a:rPr lang="en-US" dirty="0"/>
              <a:t>and returns a </a:t>
            </a:r>
            <a:r>
              <a:rPr lang="en-US" b="1" dirty="0"/>
              <a:t>pointer </a:t>
            </a:r>
            <a:r>
              <a:rPr lang="en-US" dirty="0"/>
              <a:t>to it.</a:t>
            </a:r>
          </a:p>
          <a:p>
            <a:pPr marL="0" indent="0">
              <a:buNone/>
            </a:pPr>
            <a:r>
              <a:rPr lang="en-US" dirty="0"/>
              <a:t>3) When you’re done with that block of memory, you invoke </a:t>
            </a:r>
            <a:r>
              <a:rPr lang="en-US" b="1" dirty="0"/>
              <a:t>free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free(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0916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F122-B063-47B2-A006-B7CE4404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a Struct on the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F132-F05A-4E5B-93C1-3E6797C62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1) This is the closes to Java’s </a:t>
            </a:r>
            <a:r>
              <a:rPr lang="en-US" b="1" dirty="0"/>
              <a:t>new </a:t>
            </a:r>
            <a:r>
              <a:rPr lang="en-US" dirty="0"/>
              <a:t>as C gets:</a:t>
            </a:r>
            <a:br>
              <a:rPr lang="en-US" dirty="0"/>
            </a:br>
            <a:r>
              <a:rPr lang="en-US" dirty="0"/>
              <a:t>Food* f = malloc(</a:t>
            </a:r>
            <a:r>
              <a:rPr lang="en-US" dirty="0" err="1"/>
              <a:t>sizeof</a:t>
            </a:r>
            <a:r>
              <a:rPr lang="en-US" dirty="0"/>
              <a:t>(Food));</a:t>
            </a:r>
          </a:p>
          <a:p>
            <a:pPr marL="0" indent="0">
              <a:buNone/>
            </a:pPr>
            <a:r>
              <a:rPr lang="en-US" dirty="0"/>
              <a:t>2) But just like anything on the stack…</a:t>
            </a:r>
          </a:p>
          <a:p>
            <a:r>
              <a:rPr lang="en-US" b="1" dirty="0"/>
              <a:t>Everything you malloc contains garbage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3) To fix this, we invoke </a:t>
            </a:r>
            <a:r>
              <a:rPr lang="en-US" b="1" dirty="0" err="1"/>
              <a:t>memset</a:t>
            </a:r>
            <a:r>
              <a:rPr lang="en-US" dirty="0"/>
              <a:t> from </a:t>
            </a:r>
            <a:r>
              <a:rPr lang="en-US" b="1" dirty="0"/>
              <a:t>&lt;</a:t>
            </a:r>
            <a:r>
              <a:rPr lang="en-US" b="1" dirty="0" err="1"/>
              <a:t>string.h</a:t>
            </a:r>
            <a:r>
              <a:rPr lang="en-US" b="1" dirty="0"/>
              <a:t>&gt;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memset</a:t>
            </a:r>
            <a:r>
              <a:rPr lang="en-US" dirty="0"/>
              <a:t>(f, 0, </a:t>
            </a:r>
            <a:r>
              <a:rPr lang="en-US" dirty="0" err="1"/>
              <a:t>sizeof</a:t>
            </a:r>
            <a:r>
              <a:rPr lang="en-US" dirty="0"/>
              <a:t>(Food));</a:t>
            </a:r>
          </a:p>
          <a:p>
            <a:r>
              <a:rPr lang="en-US" dirty="0"/>
              <a:t>This says “</a:t>
            </a:r>
            <a:r>
              <a:rPr lang="en-US" b="1" dirty="0"/>
              <a:t>fill the memory at f with 0s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4) </a:t>
            </a:r>
            <a:r>
              <a:rPr lang="en-US" dirty="0" err="1"/>
              <a:t>orrrr</a:t>
            </a:r>
            <a:r>
              <a:rPr lang="en-US" dirty="0"/>
              <a:t> use </a:t>
            </a:r>
            <a:r>
              <a:rPr lang="en-US" b="1" dirty="0" err="1"/>
              <a:t>calloc</a:t>
            </a:r>
            <a:r>
              <a:rPr lang="en-US" b="1" dirty="0"/>
              <a:t>() </a:t>
            </a:r>
            <a:r>
              <a:rPr lang="en-US" dirty="0"/>
              <a:t>instead of </a:t>
            </a:r>
            <a:r>
              <a:rPr lang="en-US" b="1" dirty="0"/>
              <a:t>malloc()</a:t>
            </a:r>
          </a:p>
          <a:p>
            <a:pPr marL="0" indent="0">
              <a:buNone/>
            </a:pPr>
            <a:r>
              <a:rPr lang="en-US" dirty="0"/>
              <a:t>Food* f = </a:t>
            </a:r>
            <a:r>
              <a:rPr lang="en-US" dirty="0" err="1"/>
              <a:t>calloc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(Food), 1);</a:t>
            </a:r>
          </a:p>
          <a:p>
            <a:r>
              <a:rPr lang="en-US" dirty="0"/>
              <a:t>This says “</a:t>
            </a:r>
            <a:r>
              <a:rPr lang="en-US" b="1" dirty="0"/>
              <a:t>allocate 1 * </a:t>
            </a:r>
            <a:r>
              <a:rPr lang="en-US" b="1" dirty="0" err="1"/>
              <a:t>sizeof</a:t>
            </a:r>
            <a:r>
              <a:rPr lang="en-US" b="1" dirty="0"/>
              <a:t>(Food) bytes and fill them with 0s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516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226D-3FDC-4D80-8905-882F02A3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2157F-E9A1-4933-A333-FC1A6855B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we do this:</a:t>
            </a:r>
            <a:br>
              <a:rPr lang="en-US" dirty="0"/>
            </a:br>
            <a:r>
              <a:rPr lang="en-US" dirty="0"/>
              <a:t>	while(1)</a:t>
            </a:r>
          </a:p>
          <a:p>
            <a:pPr marL="0" indent="0">
              <a:buNone/>
            </a:pPr>
            <a:r>
              <a:rPr lang="en-US" dirty="0"/>
              <a:t>	    malloc(101728);</a:t>
            </a:r>
          </a:p>
          <a:p>
            <a:pPr marL="0" indent="0">
              <a:buNone/>
            </a:pPr>
            <a:r>
              <a:rPr lang="en-US" dirty="0"/>
              <a:t>2) Your program will run out of memory…</a:t>
            </a:r>
          </a:p>
          <a:p>
            <a:r>
              <a:rPr lang="en-US" dirty="0"/>
              <a:t>But you won’t get an error</a:t>
            </a:r>
          </a:p>
          <a:p>
            <a:r>
              <a:rPr lang="en-US" dirty="0"/>
              <a:t>This </a:t>
            </a:r>
            <a:r>
              <a:rPr lang="en-US" b="1" dirty="0"/>
              <a:t>loop will run FOREVER </a:t>
            </a:r>
          </a:p>
          <a:p>
            <a:r>
              <a:rPr lang="en-US" dirty="0"/>
              <a:t>If you run out of memory, </a:t>
            </a:r>
            <a:r>
              <a:rPr lang="en-US" b="1" dirty="0"/>
              <a:t>malloc </a:t>
            </a:r>
            <a:r>
              <a:rPr lang="en-US" dirty="0"/>
              <a:t>returns </a:t>
            </a:r>
            <a:r>
              <a:rPr lang="en-US" b="1" dirty="0"/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2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226D-3FDC-4D80-8905-882F02A3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2157F-E9A1-4933-A333-FC1A6855B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int* </a:t>
            </a:r>
            <a:r>
              <a:rPr lang="en-US" dirty="0" err="1"/>
              <a:t>arr</a:t>
            </a:r>
            <a:r>
              <a:rPr lang="en-US" dirty="0"/>
              <a:t> = malloc(</a:t>
            </a:r>
            <a:r>
              <a:rPr lang="en-US" dirty="0" err="1"/>
              <a:t>sizeof</a:t>
            </a:r>
            <a:r>
              <a:rPr lang="en-US" dirty="0"/>
              <a:t>(int) * 20);</a:t>
            </a:r>
          </a:p>
          <a:p>
            <a:pPr marL="0" indent="0">
              <a:buNone/>
            </a:pPr>
            <a:r>
              <a:rPr lang="en-US" dirty="0"/>
              <a:t>free(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[0] = 1000; //OH NO</a:t>
            </a:r>
          </a:p>
          <a:p>
            <a:r>
              <a:rPr lang="en-US" dirty="0"/>
              <a:t>You don’t know what’ll happen.</a:t>
            </a:r>
          </a:p>
          <a:p>
            <a:r>
              <a:rPr lang="en-US" dirty="0"/>
              <a:t>Whenever you free heap memory, </a:t>
            </a:r>
            <a:r>
              <a:rPr lang="en-US" b="1" dirty="0"/>
              <a:t>all pointers to it become invalid, and it’s your responsibility to never use them again.</a:t>
            </a:r>
          </a:p>
          <a:p>
            <a:r>
              <a:rPr lang="en-US" dirty="0"/>
              <a:t>So if multiple things point to this memory…</a:t>
            </a:r>
          </a:p>
          <a:p>
            <a:pPr lvl="1"/>
            <a:r>
              <a:rPr lang="en-US" dirty="0"/>
              <a:t>They’re allowed to </a:t>
            </a:r>
            <a:r>
              <a:rPr lang="en-US" b="1" dirty="0"/>
              <a:t>point to it</a:t>
            </a:r>
            <a:r>
              <a:rPr lang="en-US" dirty="0"/>
              <a:t>… but they better not access it</a:t>
            </a:r>
          </a:p>
          <a:p>
            <a:pPr lvl="1"/>
            <a:r>
              <a:rPr lang="en-US" dirty="0"/>
              <a:t>It’s like a bomb rigged to explode when you dereference it</a:t>
            </a:r>
          </a:p>
          <a:p>
            <a:r>
              <a:rPr lang="en-US" dirty="0"/>
              <a:t>Here’s another kind of </a:t>
            </a:r>
            <a:r>
              <a:rPr lang="en-US" b="1" dirty="0"/>
              <a:t>invalid pointer: </a:t>
            </a:r>
            <a:r>
              <a:rPr lang="en-US" dirty="0"/>
              <a:t>It </a:t>
            </a:r>
            <a:r>
              <a:rPr lang="en-US" b="1" dirty="0"/>
              <a:t>used </a:t>
            </a:r>
            <a:r>
              <a:rPr lang="en-US" dirty="0"/>
              <a:t>to point to some </a:t>
            </a:r>
            <a:r>
              <a:rPr lang="en-US" b="1" dirty="0"/>
              <a:t>valid heap memory</a:t>
            </a:r>
            <a:r>
              <a:rPr lang="en-US" dirty="0"/>
              <a:t>, but </a:t>
            </a:r>
            <a:r>
              <a:rPr lang="en-US" b="1" dirty="0"/>
              <a:t>not anymore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6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587D-4C47-44C5-BF6C-01BC3109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Heap Commandments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E13A7-B237-4B6E-888F-3FDB45961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US" dirty="0"/>
              <a:t>When you malloc, check if it returns NULL</a:t>
            </a:r>
          </a:p>
          <a:p>
            <a:pPr marL="342900" indent="-342900">
              <a:buAutoNum type="arabicParenR"/>
            </a:pPr>
            <a:r>
              <a:rPr lang="en-US" dirty="0"/>
              <a:t>You must free everything you allocate</a:t>
            </a:r>
          </a:p>
          <a:p>
            <a:pPr marL="342900" indent="-342900">
              <a:buAutoNum type="arabicParenR"/>
            </a:pPr>
            <a:r>
              <a:rPr lang="en-US" dirty="0"/>
              <a:t>… and you must free it exactly once.</a:t>
            </a:r>
          </a:p>
          <a:p>
            <a:pPr marL="342900" indent="-342900">
              <a:buAutoNum type="arabicParenR"/>
            </a:pPr>
            <a:r>
              <a:rPr lang="en-US" dirty="0"/>
              <a:t>You must not access memory that has been freed.</a:t>
            </a:r>
          </a:p>
        </p:txBody>
      </p:sp>
    </p:spTree>
    <p:extLst>
      <p:ext uri="{BB962C8B-B14F-4D97-AF65-F5344CB8AC3E}">
        <p14:creationId xmlns:p14="http://schemas.microsoft.com/office/powerpoint/2010/main" val="199875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Hints for the lab</a:t>
            </a:r>
          </a:p>
        </p:txBody>
      </p:sp>
    </p:spTree>
    <p:extLst>
      <p:ext uri="{BB962C8B-B14F-4D97-AF65-F5344CB8AC3E}">
        <p14:creationId xmlns:p14="http://schemas.microsoft.com/office/powerpoint/2010/main" val="1875058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60B6-B9EA-4E71-B4FA-03665118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Advice for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1984-FCE5-421D-9229-ECD83CC0A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Always, always, always be sure to draw pictures!!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Make sure you check if malloc fails.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23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4E60-6C66-4A33-9F5E-7B14971B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Reverse</a:t>
            </a:r>
          </a:p>
        </p:txBody>
      </p:sp>
    </p:spTree>
    <p:extLst>
      <p:ext uri="{BB962C8B-B14F-4D97-AF65-F5344CB8AC3E}">
        <p14:creationId xmlns:p14="http://schemas.microsoft.com/office/powerpoint/2010/main" val="1154378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CA6A-33F0-4517-A3F3-D61DACB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Walk through an approach for insert head</a:t>
            </a:r>
          </a:p>
        </p:txBody>
      </p:sp>
    </p:spTree>
    <p:extLst>
      <p:ext uri="{BB962C8B-B14F-4D97-AF65-F5344CB8AC3E}">
        <p14:creationId xmlns:p14="http://schemas.microsoft.com/office/powerpoint/2010/main" val="2361448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39C-AA2B-459C-9DAE-90C58C226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to expect for Next Time</a:t>
            </a:r>
          </a:p>
        </p:txBody>
      </p:sp>
    </p:spTree>
    <p:extLst>
      <p:ext uri="{BB962C8B-B14F-4D97-AF65-F5344CB8AC3E}">
        <p14:creationId xmlns:p14="http://schemas.microsoft.com/office/powerpoint/2010/main" val="802905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65BC-729B-4371-A113-B31E579A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1FE7-8DCE-4D46-AE29-CFC769A02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plan on covering Memory Allocation in depth, meaning Bitmaps, Linked Allocations</a:t>
            </a:r>
          </a:p>
          <a:p>
            <a:r>
              <a:rPr lang="en-US" dirty="0"/>
              <a:t>I’ll also cover x86, and guides on using debugging in 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Also, don’t hesitate to send me an email if you ever find yourself confused!!</a:t>
            </a:r>
          </a:p>
        </p:txBody>
      </p:sp>
    </p:spTree>
    <p:extLst>
      <p:ext uri="{BB962C8B-B14F-4D97-AF65-F5344CB8AC3E}">
        <p14:creationId xmlns:p14="http://schemas.microsoft.com/office/powerpoint/2010/main" val="352766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101</TotalTime>
  <Words>1339</Words>
  <Application>Microsoft Office PowerPoint</Application>
  <PresentationFormat>Widescreen</PresentationFormat>
  <Paragraphs>179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Gill Sans MT</vt:lpstr>
      <vt:lpstr>Parcel</vt:lpstr>
      <vt:lpstr>CS 0449 Recitation 4</vt:lpstr>
      <vt:lpstr>Logistics</vt:lpstr>
      <vt:lpstr>Scope, Lifetime, and Ownership</vt:lpstr>
      <vt:lpstr>Scope</vt:lpstr>
      <vt:lpstr>LIFETIME</vt:lpstr>
      <vt:lpstr>Ownership</vt:lpstr>
      <vt:lpstr>The Stack</vt:lpstr>
      <vt:lpstr>What’s the Stack?</vt:lpstr>
      <vt:lpstr>Activation Records</vt:lpstr>
      <vt:lpstr>An example Activation Record</vt:lpstr>
      <vt:lpstr>The low-level layout</vt:lpstr>
      <vt:lpstr>Call = Push, Return = pop</vt:lpstr>
      <vt:lpstr>Example</vt:lpstr>
      <vt:lpstr>Example</vt:lpstr>
      <vt:lpstr>Example</vt:lpstr>
      <vt:lpstr>Example</vt:lpstr>
      <vt:lpstr>Example</vt:lpstr>
      <vt:lpstr>Recursive Functions</vt:lpstr>
      <vt:lpstr>Recursive Functions</vt:lpstr>
      <vt:lpstr>Live Example</vt:lpstr>
      <vt:lpstr>More on Activation Records</vt:lpstr>
      <vt:lpstr>They don’t really go away…</vt:lpstr>
      <vt:lpstr>Example</vt:lpstr>
      <vt:lpstr>Example</vt:lpstr>
      <vt:lpstr>Example</vt:lpstr>
      <vt:lpstr>Example</vt:lpstr>
      <vt:lpstr>Memory Management</vt:lpstr>
      <vt:lpstr>The Heap</vt:lpstr>
      <vt:lpstr>Memory Layout</vt:lpstr>
      <vt:lpstr>The functions</vt:lpstr>
      <vt:lpstr>Allocating a Struct on the Heap</vt:lpstr>
      <vt:lpstr>Caveat I</vt:lpstr>
      <vt:lpstr>Caveat II</vt:lpstr>
      <vt:lpstr>The Heap Commandments</vt:lpstr>
      <vt:lpstr>Hints for the lab</vt:lpstr>
      <vt:lpstr>General Advice for the Lab</vt:lpstr>
      <vt:lpstr>Queue Reverse</vt:lpstr>
      <vt:lpstr>Let’s Walk through an approach for insert head</vt:lpstr>
      <vt:lpstr>What to expect for Next Time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4</dc:title>
  <dc:creator>Lu, Gordon</dc:creator>
  <cp:lastModifiedBy>Lu, Gordon</cp:lastModifiedBy>
  <cp:revision>10</cp:revision>
  <dcterms:created xsi:type="dcterms:W3CDTF">2020-09-18T06:20:00Z</dcterms:created>
  <dcterms:modified xsi:type="dcterms:W3CDTF">2020-09-18T08:02:45Z</dcterms:modified>
</cp:coreProperties>
</file>