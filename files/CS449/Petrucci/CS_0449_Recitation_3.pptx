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4"/>
  </p:sldMasterIdLst>
  <p:notesMasterIdLst>
    <p:notesMasterId r:id="rId28"/>
  </p:notes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4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1B4C5C-FA83-47D7-B173-A5F076D36252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9212DC-48BB-4B7C-9C15-D24EC9A01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444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4) What is the output of the following code?
https://www.polleverywhere.com/multiple_choice_polls/PvsLICwLTaEoaBELzD9QZ?flow=Default&amp;onscreen=persist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212DC-48BB-4B7C-9C15-D24EC9A012D4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53E4F1-D524-4AAD-BB87-2B8069B5BD06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53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5) What is the output of the following code?
https://www.polleverywhere.com/multiple_choice_polls/8yWtp60mGPiKQrL2MTkxs?flow=Default&amp;onscreen=persist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212DC-48BB-4B7C-9C15-D24EC9A012D4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2B3DA-74C4-43C7-873A-6ECD8BF474C1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11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1) What is the output of the following code chunk?
https://www.polleverywhere.com/multiple_choice_polls/82xl4mRuDdBrI5Kp8rE4n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212DC-48BB-4B7C-9C15-D24EC9A012D4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6C47D-0961-4568-B19F-CA229979B02C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692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2. What is the output of the following code?
https://www.polleverywhere.com/multiple_choice_polls/usEgWDUBW29QUMDCC9ZI6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212DC-48BB-4B7C-9C15-D24EC9A012D4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A23139-8008-48F8-86BF-3873D55493AF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01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3. What is the output of the following chunk of code?
https://www.polleverywhere.com/multiple_choice_polls/D23Lvf4bCCapBBWMGS4Oa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212DC-48BB-4B7C-9C15-D24EC9A012D4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03D3ED-672E-4418-9D2E-CCEF215D82B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97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7. Assuming the size of an int is 4 bytes, what is the output of the following code?
https://www.polleverywhere.com/multiple_choice_polls/zphA5hut0hBtn9RPy8uZV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212DC-48BB-4B7C-9C15-D24EC9A012D4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6646EE-D524-4CBC-B36E-996775969741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340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8. What is the output of the following code?
https://www.polleverywhere.com/multiple_choice_polls/NrO03YpZ50umJ0LBjxQX0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212DC-48BB-4B7C-9C15-D24EC9A012D4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58F163-F171-48AC-8EA9-C902CE807325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68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9. Advanced Pointer Question: What is the output of the following code chunk?
https://www.polleverywhere.com/multiple_choice_polls/9HA4XPsbJRGlovamRpiIu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212DC-48BB-4B7C-9C15-D24EC9A012D4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919D18-CC2A-44EA-8DEA-5C99D5A995BE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945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9/8/2020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9/8/2020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9/8/2020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9/8/2020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9/8/2020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9/8/2020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9/8/2020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9/8/2020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9/8/2020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9/8/2020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0E508-39B2-434D-92DF-DFBD9304AF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449 Recitation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6D208A-F4E2-46BB-9ADA-2CA9DE69FF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Gordon Lu</a:t>
            </a:r>
          </a:p>
        </p:txBody>
      </p:sp>
    </p:spTree>
    <p:extLst>
      <p:ext uri="{BB962C8B-B14F-4D97-AF65-F5344CB8AC3E}">
        <p14:creationId xmlns:p14="http://schemas.microsoft.com/office/powerpoint/2010/main" val="158573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8623-147B-4340-827D-E1CA6094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67B87-8866-466E-A9A9-A3DCA586D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We’re going to have a “quiz” today to test your knowledge of pointers and strings!!</a:t>
            </a:r>
          </a:p>
          <a:p>
            <a:r>
              <a:rPr lang="en-US" dirty="0"/>
              <a:t>Structs will be covered</a:t>
            </a:r>
          </a:p>
          <a:p>
            <a:r>
              <a:rPr lang="en-US" dirty="0"/>
              <a:t>Q&amp;A on </a:t>
            </a:r>
            <a:r>
              <a:rPr lang="en-US"/>
              <a:t>the Pointers Lab?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216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B18448-69A2-4B3A-8D12-948C55D4A71F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0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4DDD69-D993-419D-9CF4-AAE3EA813A93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637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FE923B-F7EA-405A-9146-E883EB29331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319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F8CA1E-C4A4-4B7D-9EDA-2C9B08DF3A83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631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8BC725-CACE-4B95-97E6-778377D5F081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011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3219E0-E19F-48E8-AEE2-C3245BD99613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503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24C526-4AB1-4318-A7C4-A1282C7B6931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378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ADC290-E385-4D8D-A98C-73CD42A21680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804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0E508-39B2-434D-92DF-DFBD9304AF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Now onto Structs!!</a:t>
            </a:r>
          </a:p>
        </p:txBody>
      </p:sp>
    </p:spTree>
    <p:extLst>
      <p:ext uri="{BB962C8B-B14F-4D97-AF65-F5344CB8AC3E}">
        <p14:creationId xmlns:p14="http://schemas.microsoft.com/office/powerpoint/2010/main" val="1659743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031B-1F08-444A-8E57-8391ED2E7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Struct: Classes’ Ancestors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2DC9A-9017-4280-B52F-0BD447D9C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Remember classes in Java??</a:t>
            </a:r>
          </a:p>
          <a:p>
            <a:r>
              <a:rPr lang="en-US" dirty="0"/>
              <a:t>Well, you can think of a struct like… a class</a:t>
            </a:r>
          </a:p>
          <a:p>
            <a:pPr lvl="1"/>
            <a:r>
              <a:rPr lang="en-US" dirty="0"/>
              <a:t>…without all of the fancy functions</a:t>
            </a:r>
          </a:p>
          <a:p>
            <a:pPr lvl="1"/>
            <a:r>
              <a:rPr lang="en-US" dirty="0"/>
              <a:t>... just the instance fields…</a:t>
            </a:r>
          </a:p>
          <a:p>
            <a:pPr marL="0" indent="0">
              <a:buNone/>
            </a:pPr>
            <a:r>
              <a:rPr lang="en-US" dirty="0"/>
              <a:t>All you can do with a </a:t>
            </a:r>
            <a:r>
              <a:rPr lang="en-US" b="1" dirty="0"/>
              <a:t>struct </a:t>
            </a:r>
            <a:r>
              <a:rPr lang="en-US" dirty="0"/>
              <a:t>is store data!!</a:t>
            </a:r>
          </a:p>
        </p:txBody>
      </p:sp>
    </p:spTree>
    <p:extLst>
      <p:ext uri="{BB962C8B-B14F-4D97-AF65-F5344CB8AC3E}">
        <p14:creationId xmlns:p14="http://schemas.microsoft.com/office/powerpoint/2010/main" val="293784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08B67-09CE-478F-823E-81C10B9F8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Struct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6F319-987F-4F15-B327-9C657C0C6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Here’s an example of a Struct that represents a node:</a:t>
            </a:r>
          </a:p>
          <a:p>
            <a:pPr marL="0" indent="0">
              <a:buNone/>
            </a:pPr>
            <a:r>
              <a:rPr lang="en-US" b="1" dirty="0"/>
              <a:t>struct Node{</a:t>
            </a:r>
          </a:p>
          <a:p>
            <a:pPr marL="0" indent="0">
              <a:buNone/>
            </a:pPr>
            <a:r>
              <a:rPr lang="en-US" b="1" dirty="0"/>
              <a:t>struct Node* next;</a:t>
            </a:r>
          </a:p>
          <a:p>
            <a:pPr marL="0" indent="0">
              <a:buNone/>
            </a:pPr>
            <a:r>
              <a:rPr lang="en-US" b="1" dirty="0"/>
              <a:t>int data;</a:t>
            </a:r>
          </a:p>
          <a:p>
            <a:pPr marL="0" indent="0">
              <a:buNone/>
            </a:pPr>
            <a:r>
              <a:rPr lang="en-US" b="1" dirty="0"/>
              <a:t>};</a:t>
            </a:r>
          </a:p>
          <a:p>
            <a:r>
              <a:rPr lang="en-US" dirty="0"/>
              <a:t>Note the semicolon!!! </a:t>
            </a:r>
          </a:p>
          <a:p>
            <a:pPr lvl="1"/>
            <a:r>
              <a:rPr lang="en-US" dirty="0"/>
              <a:t>If you forget it, you’ll get a lot of errors!</a:t>
            </a:r>
          </a:p>
          <a:p>
            <a:pPr marL="2286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47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9537-3365-4BF9-9167-532DD8401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CF30E-5D1B-48B9-BAE2-A83921A3C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Here’s another example of a struct:</a:t>
            </a:r>
          </a:p>
          <a:p>
            <a:pPr marL="0" indent="0">
              <a:buNone/>
            </a:pPr>
            <a:r>
              <a:rPr lang="en-US" b="1" dirty="0"/>
              <a:t>struct 449 {</a:t>
            </a:r>
          </a:p>
          <a:p>
            <a:pPr marL="0" indent="0">
              <a:buNone/>
            </a:pPr>
            <a:r>
              <a:rPr lang="en-US" b="1" dirty="0"/>
              <a:t>char name[10];</a:t>
            </a:r>
          </a:p>
          <a:p>
            <a:pPr marL="0" indent="0">
              <a:buNone/>
            </a:pPr>
            <a:r>
              <a:rPr lang="en-US" b="1" dirty="0"/>
              <a:t>double grade;</a:t>
            </a:r>
          </a:p>
          <a:p>
            <a:pPr marL="0" indent="0">
              <a:buNone/>
            </a:pPr>
            <a:r>
              <a:rPr lang="en-US" b="1" dirty="0"/>
              <a:t>int </a:t>
            </a:r>
            <a:r>
              <a:rPr lang="en-US" b="1" dirty="0" err="1"/>
              <a:t>num_labs_aced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b="1" dirty="0"/>
              <a:t>};</a:t>
            </a:r>
          </a:p>
          <a:p>
            <a:pPr marL="0" indent="0">
              <a:buNone/>
            </a:pPr>
            <a:r>
              <a:rPr lang="en-US" dirty="0"/>
              <a:t>A struct created like this needs to be declared like so:</a:t>
            </a:r>
          </a:p>
          <a:p>
            <a:pPr marL="0" indent="0">
              <a:buNone/>
            </a:pPr>
            <a:r>
              <a:rPr lang="en-US" b="1" dirty="0"/>
              <a:t>struct 449 student;</a:t>
            </a:r>
          </a:p>
        </p:txBody>
      </p:sp>
    </p:spTree>
    <p:extLst>
      <p:ext uri="{BB962C8B-B14F-4D97-AF65-F5344CB8AC3E}">
        <p14:creationId xmlns:p14="http://schemas.microsoft.com/office/powerpoint/2010/main" val="1927229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97F0B-27A0-4D0A-A0C8-5AD4A9FB0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Memory Representation of a Struct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8D6DA-B4FA-46CE-9346-EED2DB118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All the </a:t>
            </a:r>
            <a:r>
              <a:rPr lang="en-US" b="1" dirty="0"/>
              <a:t>struct fields </a:t>
            </a:r>
            <a:r>
              <a:rPr lang="en-US" dirty="0"/>
              <a:t>are allocated </a:t>
            </a:r>
            <a:r>
              <a:rPr lang="en-US" b="1" dirty="0"/>
              <a:t>inside </a:t>
            </a:r>
            <a:r>
              <a:rPr lang="en-US" dirty="0"/>
              <a:t>the </a:t>
            </a:r>
            <a:r>
              <a:rPr lang="en-US" b="1" dirty="0"/>
              <a:t>struct variable:</a:t>
            </a:r>
          </a:p>
          <a:p>
            <a:pPr marL="0" indent="0">
              <a:buNone/>
            </a:pP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struct 449{</a:t>
            </a:r>
          </a:p>
          <a:p>
            <a:pPr marL="0" indent="0">
              <a:buNone/>
            </a:pPr>
            <a:r>
              <a:rPr lang="en-US" dirty="0"/>
              <a:t>char name[10];</a:t>
            </a:r>
          </a:p>
          <a:p>
            <a:pPr marL="0" indent="0">
              <a:buNone/>
            </a:pPr>
            <a:r>
              <a:rPr lang="en-US" dirty="0"/>
              <a:t>double grade;</a:t>
            </a:r>
          </a:p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num_labs_aced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0D00A88-E918-4848-B832-C4BF2A5E6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546788"/>
              </p:ext>
            </p:extLst>
          </p:nvPr>
        </p:nvGraphicFramePr>
        <p:xfrm>
          <a:off x="2231136" y="3348566"/>
          <a:ext cx="81280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455">
                  <a:extLst>
                    <a:ext uri="{9D8B030D-6E8A-4147-A177-3AD203B41FA5}">
                      <a16:colId xmlns:a16="http://schemas.microsoft.com/office/drawing/2014/main" val="938086665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3604082195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4015725647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336337437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1860429882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540160103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3587821480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508584049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1266857382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3430503731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738805532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429297557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1691260382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3340105747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1995756675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771987665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3381703922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2757656678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3444317898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2916110196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3958597998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29150119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772137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5D04112-032D-4B2C-93FE-73939BA9F13A}"/>
              </a:ext>
            </a:extLst>
          </p:cNvPr>
          <p:cNvCxnSpPr>
            <a:cxnSpLocks/>
          </p:cNvCxnSpPr>
          <p:nvPr/>
        </p:nvCxnSpPr>
        <p:spPr>
          <a:xfrm flipV="1">
            <a:off x="3360198" y="3719406"/>
            <a:ext cx="484909" cy="7093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2F48E70-B956-44AD-BB8F-03AE2D5A65ED}"/>
              </a:ext>
            </a:extLst>
          </p:cNvPr>
          <p:cNvCxnSpPr>
            <a:cxnSpLocks/>
          </p:cNvCxnSpPr>
          <p:nvPr/>
        </p:nvCxnSpPr>
        <p:spPr>
          <a:xfrm flipV="1">
            <a:off x="3489227" y="3719406"/>
            <a:ext cx="2693364" cy="119395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7515E0-19A6-40F4-A561-5347DA3DA381}"/>
              </a:ext>
            </a:extLst>
          </p:cNvPr>
          <p:cNvCxnSpPr>
            <a:cxnSpLocks/>
          </p:cNvCxnSpPr>
          <p:nvPr/>
        </p:nvCxnSpPr>
        <p:spPr>
          <a:xfrm flipV="1">
            <a:off x="3845107" y="3803073"/>
            <a:ext cx="5288502" cy="14856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9049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A2186-9864-4B2C-9699-629449A50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Alignment and Padding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57DD2-7434-4749-B8E7-B4AB2431C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compile your program, it won’t be the size you expect… the C compiler will align the fields!</a:t>
            </a:r>
          </a:p>
          <a:p>
            <a:r>
              <a:rPr lang="en-US" dirty="0"/>
              <a:t>It will align the struct, so each field is a multiple of the </a:t>
            </a:r>
            <a:r>
              <a:rPr lang="en-US" b="1" dirty="0"/>
              <a:t>maximum alignment of the largest data member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For example, in your 449_student struct, our struct would be aligned to a multiple of its largest data member, which is a double, meaning a multiple of 8 bytes.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1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4989-0FF5-42B7-B833-2D9ECE3AE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TypeDefs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4381C-862F-4CE4-ACFC-A3ECE0D5A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typedef </a:t>
            </a:r>
            <a:r>
              <a:rPr lang="en-US" dirty="0"/>
              <a:t>is a way of making a </a:t>
            </a:r>
            <a:r>
              <a:rPr lang="en-US" b="1" dirty="0"/>
              <a:t>type alias</a:t>
            </a:r>
            <a:endParaRPr lang="en-US" dirty="0"/>
          </a:p>
          <a:p>
            <a:r>
              <a:rPr lang="en-US" dirty="0"/>
              <a:t>In other words, just a convenient way to refer to a type</a:t>
            </a:r>
          </a:p>
          <a:p>
            <a:pPr marL="0" indent="0">
              <a:buNone/>
            </a:pPr>
            <a:r>
              <a:rPr lang="en-US" dirty="0"/>
              <a:t>The syntax of a </a:t>
            </a:r>
            <a:r>
              <a:rPr lang="en-US" b="1" dirty="0"/>
              <a:t>typedef </a:t>
            </a:r>
            <a:r>
              <a:rPr lang="en-US" dirty="0"/>
              <a:t>is a variable declaration…</a:t>
            </a:r>
          </a:p>
          <a:p>
            <a:r>
              <a:rPr lang="en-US" dirty="0"/>
              <a:t>but with </a:t>
            </a:r>
            <a:r>
              <a:rPr lang="en-US" b="1" dirty="0"/>
              <a:t>typedef </a:t>
            </a:r>
            <a:r>
              <a:rPr lang="en-US" dirty="0"/>
              <a:t>in front</a:t>
            </a:r>
          </a:p>
          <a:p>
            <a:pPr marL="0" indent="0">
              <a:buNone/>
            </a:pPr>
            <a:r>
              <a:rPr lang="en-US" dirty="0"/>
              <a:t>Example:</a:t>
            </a:r>
            <a:br>
              <a:rPr lang="en-US" dirty="0"/>
            </a:br>
            <a:r>
              <a:rPr lang="en-US" b="1" dirty="0"/>
              <a:t>typedef int X; </a:t>
            </a:r>
            <a:r>
              <a:rPr lang="en-US" dirty="0"/>
              <a:t>//X is another name for an int now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X </a:t>
            </a:r>
            <a:r>
              <a:rPr lang="en-US" b="1" dirty="0" err="1"/>
              <a:t>x</a:t>
            </a:r>
            <a:r>
              <a:rPr lang="en-US" b="1" dirty="0"/>
              <a:t>; </a:t>
            </a:r>
            <a:r>
              <a:rPr lang="en-US" dirty="0"/>
              <a:t>//same as saying int x;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48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EEE3-51EF-4C3D-A3B7-BA0F2EEF0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better way to Declare 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78312-6A14-411A-A9FD-416B5C600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Typically most C programmers will declare </a:t>
            </a:r>
            <a:r>
              <a:rPr lang="en-US" b="1" dirty="0"/>
              <a:t>structs </a:t>
            </a:r>
            <a:r>
              <a:rPr lang="en-US" dirty="0"/>
              <a:t>like so:</a:t>
            </a:r>
          </a:p>
          <a:p>
            <a:pPr marL="0" indent="0">
              <a:buNone/>
            </a:pPr>
            <a:r>
              <a:rPr lang="en-US" b="1" dirty="0"/>
              <a:t>typedef struct 449{</a:t>
            </a:r>
          </a:p>
          <a:p>
            <a:pPr marL="0" indent="0">
              <a:buNone/>
            </a:pPr>
            <a:r>
              <a:rPr lang="en-US" b="1" dirty="0"/>
              <a:t>char name[10];</a:t>
            </a:r>
          </a:p>
          <a:p>
            <a:pPr marL="0" indent="0">
              <a:buNone/>
            </a:pPr>
            <a:r>
              <a:rPr lang="en-US" b="1" dirty="0"/>
              <a:t>double grade;</a:t>
            </a:r>
          </a:p>
          <a:p>
            <a:pPr marL="0" indent="0">
              <a:buNone/>
            </a:pPr>
            <a:r>
              <a:rPr lang="en-US" b="1" dirty="0"/>
              <a:t>int </a:t>
            </a:r>
            <a:r>
              <a:rPr lang="en-US" b="1" dirty="0" err="1"/>
              <a:t>num_labs_aced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b="1" dirty="0"/>
              <a:t>} 449;</a:t>
            </a:r>
          </a:p>
          <a:p>
            <a:pPr marL="0" indent="0">
              <a:buNone/>
            </a:pPr>
            <a:r>
              <a:rPr lang="en-US" dirty="0"/>
              <a:t>This way, you can create a struct like so:</a:t>
            </a:r>
            <a:br>
              <a:rPr lang="en-US" dirty="0"/>
            </a:br>
            <a:r>
              <a:rPr lang="en-US" dirty="0"/>
              <a:t>449 student; </a:t>
            </a:r>
          </a:p>
        </p:txBody>
      </p:sp>
    </p:spTree>
    <p:extLst>
      <p:ext uri="{BB962C8B-B14F-4D97-AF65-F5344CB8AC3E}">
        <p14:creationId xmlns:p14="http://schemas.microsoft.com/office/powerpoint/2010/main" val="276447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A479B-0B05-4E27-8547-331C28799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Struct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5B97-482C-439D-9BCB-24D4783DD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You can initialize structs pretty nicely, it kind of looks like the hard coded array initialization!</a:t>
            </a:r>
          </a:p>
          <a:p>
            <a:pPr marL="0" indent="0">
              <a:buNone/>
            </a:pPr>
            <a:r>
              <a:rPr lang="en-US" b="1" dirty="0"/>
              <a:t>449 s1 = {“</a:t>
            </a:r>
            <a:r>
              <a:rPr lang="en-US" b="1" dirty="0" err="1"/>
              <a:t>gordon</a:t>
            </a:r>
            <a:r>
              <a:rPr lang="en-US" b="1" dirty="0"/>
              <a:t>”, 98.0, 100.0};</a:t>
            </a:r>
          </a:p>
          <a:p>
            <a:r>
              <a:rPr lang="en-US" dirty="0"/>
              <a:t>You can also make struct arrays!</a:t>
            </a:r>
          </a:p>
          <a:p>
            <a:pPr marL="0" indent="0">
              <a:buNone/>
            </a:pPr>
            <a:r>
              <a:rPr lang="en-US" b="1" dirty="0"/>
              <a:t> 449 students[ ] = {</a:t>
            </a:r>
          </a:p>
          <a:p>
            <a:pPr marL="0" indent="0">
              <a:buNone/>
            </a:pPr>
            <a:r>
              <a:rPr lang="en-US" b="1" dirty="0"/>
              <a:t>			{“</a:t>
            </a:r>
            <a:r>
              <a:rPr lang="en-US" b="1" dirty="0" err="1"/>
              <a:t>gordon</a:t>
            </a:r>
            <a:r>
              <a:rPr lang="en-US" b="1" dirty="0"/>
              <a:t>”, 100.0, 100.0},</a:t>
            </a:r>
          </a:p>
          <a:p>
            <a:pPr marL="0" indent="0">
              <a:buNone/>
            </a:pPr>
            <a:r>
              <a:rPr lang="en-US" b="1" dirty="0"/>
              <a:t>			{“</a:t>
            </a:r>
            <a:r>
              <a:rPr lang="en-US" b="1" dirty="0" err="1"/>
              <a:t>wilkie</a:t>
            </a:r>
            <a:r>
              <a:rPr lang="en-US" b="1" dirty="0"/>
              <a:t>”, 100.0, 100.0},</a:t>
            </a:r>
          </a:p>
          <a:p>
            <a:pPr marL="0" indent="0">
              <a:buNone/>
            </a:pPr>
            <a:r>
              <a:rPr lang="en-US" b="1" dirty="0"/>
              <a:t>			{“</a:t>
            </a:r>
            <a:r>
              <a:rPr lang="en-US" b="1" dirty="0" err="1"/>
              <a:t>vinicius</a:t>
            </a:r>
            <a:r>
              <a:rPr lang="en-US" b="1" dirty="0"/>
              <a:t>“, 100.0, 100.0},</a:t>
            </a:r>
          </a:p>
          <a:p>
            <a:pPr marL="0" indent="0">
              <a:buNone/>
            </a:pPr>
            <a:r>
              <a:rPr lang="en-US" b="1" dirty="0"/>
              <a:t>		 };</a:t>
            </a:r>
          </a:p>
          <a:p>
            <a:r>
              <a:rPr lang="en-US" dirty="0"/>
              <a:t>You know what this means, right? You can make </a:t>
            </a:r>
            <a:r>
              <a:rPr lang="en-US" b="1" dirty="0"/>
              <a:t>struct pointers too!!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015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A7C8A-ED1A-432D-8638-A0403D00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Access (The </a:t>
            </a:r>
            <a:r>
              <a:rPr lang="en-US" b="1" dirty="0"/>
              <a:t>.</a:t>
            </a:r>
            <a:r>
              <a:rPr lang="en-US" dirty="0"/>
              <a:t> Operator)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5CCA0-D37E-4C4A-9B67-E6B5E413F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works just like in Java!</a:t>
            </a:r>
          </a:p>
          <a:p>
            <a:r>
              <a:rPr lang="en-US" dirty="0"/>
              <a:t>Regular structs require the </a:t>
            </a:r>
            <a:r>
              <a:rPr lang="en-US" b="1" dirty="0"/>
              <a:t>. </a:t>
            </a:r>
            <a:r>
              <a:rPr lang="en-US" dirty="0"/>
              <a:t>Operator:</a:t>
            </a:r>
          </a:p>
          <a:p>
            <a:pPr marL="0" indent="0">
              <a:buNone/>
            </a:pPr>
            <a:r>
              <a:rPr lang="en-US" dirty="0"/>
              <a:t>students[0].grade = 10000.0;</a:t>
            </a:r>
          </a:p>
          <a:p>
            <a:r>
              <a:rPr lang="en-US" dirty="0"/>
              <a:t>Struct pointers require the -&gt; Operator:</a:t>
            </a:r>
          </a:p>
          <a:p>
            <a:pPr marL="0" indent="0">
              <a:buNone/>
            </a:pPr>
            <a:r>
              <a:rPr lang="en-US" dirty="0"/>
              <a:t>student_1 = &amp;students[0];</a:t>
            </a:r>
          </a:p>
          <a:p>
            <a:pPr marL="0" indent="0">
              <a:buNone/>
            </a:pPr>
            <a:r>
              <a:rPr lang="en-US" dirty="0"/>
              <a:t>student_1 -&gt; grade = 10000.0;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85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46AF-BEDA-41D2-A644-A33F2BE87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and Returning 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53149-83A1-46D1-948F-E558106C4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If you pass a struct to or return a struct from a function…</a:t>
            </a:r>
            <a:r>
              <a:rPr lang="en-US" b="1" dirty="0"/>
              <a:t>the whole struct is copied!!</a:t>
            </a:r>
          </a:p>
          <a:p>
            <a:pPr marL="0" indent="0">
              <a:buNone/>
            </a:pPr>
            <a:r>
              <a:rPr lang="en-US" dirty="0"/>
              <a:t>typedef struct </a:t>
            </a:r>
            <a:r>
              <a:rPr lang="en-US" dirty="0" err="1"/>
              <a:t>bigStruct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arr</a:t>
            </a:r>
            <a:r>
              <a:rPr lang="en-US" dirty="0"/>
              <a:t>[256];</a:t>
            </a:r>
          </a:p>
          <a:p>
            <a:pPr marL="0" indent="0">
              <a:buNone/>
            </a:pPr>
            <a:r>
              <a:rPr lang="en-US" dirty="0"/>
              <a:t>} </a:t>
            </a:r>
            <a:r>
              <a:rPr lang="en-US" dirty="0" err="1"/>
              <a:t>bigStruct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func</a:t>
            </a:r>
            <a:r>
              <a:rPr lang="en-US" dirty="0"/>
              <a:t>(</a:t>
            </a:r>
            <a:r>
              <a:rPr lang="en-US" dirty="0" err="1"/>
              <a:t>bigStruct</a:t>
            </a:r>
            <a:r>
              <a:rPr lang="en-US" dirty="0"/>
              <a:t> big){ }</a:t>
            </a:r>
          </a:p>
          <a:p>
            <a:pPr marL="0" indent="0">
              <a:buNone/>
            </a:pP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 err="1"/>
              <a:t>bigStruct</a:t>
            </a:r>
            <a:r>
              <a:rPr lang="en-US" dirty="0"/>
              <a:t> big;</a:t>
            </a:r>
          </a:p>
          <a:p>
            <a:pPr marL="0" indent="0">
              <a:buNone/>
            </a:pPr>
            <a:r>
              <a:rPr lang="en-US" dirty="0" err="1"/>
              <a:t>func</a:t>
            </a:r>
            <a:r>
              <a:rPr lang="en-US" dirty="0"/>
              <a:t>(big); //This will copy 256 * 4 bits…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964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8C34B-F0BA-4D21-8109-4E098D156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CABF9-BD2A-4A65-9121-66064ABA0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Rather than pass by value, structs are often passed as a </a:t>
            </a:r>
            <a:r>
              <a:rPr lang="en-US" b="1" dirty="0"/>
              <a:t>pointer: </a:t>
            </a:r>
            <a:r>
              <a:rPr lang="en-US" dirty="0"/>
              <a:t>“</a:t>
            </a:r>
            <a:r>
              <a:rPr lang="en-US" b="1" dirty="0"/>
              <a:t>by reference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func</a:t>
            </a:r>
            <a:r>
              <a:rPr lang="en-US" dirty="0"/>
              <a:t>(</a:t>
            </a:r>
            <a:r>
              <a:rPr lang="en-US" dirty="0" err="1"/>
              <a:t>bigStruct</a:t>
            </a:r>
            <a:r>
              <a:rPr lang="en-US" dirty="0"/>
              <a:t>* big){ }</a:t>
            </a:r>
          </a:p>
          <a:p>
            <a:pPr marL="0" indent="0">
              <a:buNone/>
            </a:pP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 err="1"/>
              <a:t>bigStruct</a:t>
            </a:r>
            <a:r>
              <a:rPr lang="en-US" dirty="0"/>
              <a:t> big;</a:t>
            </a:r>
          </a:p>
          <a:p>
            <a:pPr marL="0" indent="0">
              <a:buNone/>
            </a:pPr>
            <a:r>
              <a:rPr lang="en-US" dirty="0" err="1"/>
              <a:t>func</a:t>
            </a:r>
            <a:r>
              <a:rPr lang="en-US" dirty="0"/>
              <a:t>(&amp;big); </a:t>
            </a:r>
          </a:p>
          <a:p>
            <a:r>
              <a:rPr lang="en-US" dirty="0"/>
              <a:t>This will copy the size of </a:t>
            </a:r>
            <a:r>
              <a:rPr lang="en-US" b="1" dirty="0"/>
              <a:t>1 pointer!!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623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0E508-39B2-434D-92DF-DFBD9304AF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5202890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e292a3c1-2ed7-44f9-bf20-9c615cb63fc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d97a0e66-6904-4da8-b91a-7cb76d816a4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9dd8307-a954-4f3d-af18-f90231c99c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29d9032-18d3-4ea8-8beb-caf6d4e5a01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c6c7be46-c37a-4119-858e-beb0b610db7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da5860e4-552f-4a59-a0d9-bbb3b49df70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3112a49-d697-4e2d-b0f7-e9f286b5aaa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58a3a584-4d25-43d9-a005-b9ad8a123ff3"/>
</p:tagLst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51E360FFF8E045BC9E794BF0F8E060" ma:contentTypeVersion="4" ma:contentTypeDescription="Create a new document." ma:contentTypeScope="" ma:versionID="601fb0477c1a00ea6c9cdda8af407385">
  <xsd:schema xmlns:xsd="http://www.w3.org/2001/XMLSchema" xmlns:xs="http://www.w3.org/2001/XMLSchema" xmlns:p="http://schemas.microsoft.com/office/2006/metadata/properties" xmlns:ns3="b12b050b-08b8-4c9a-9e6b-d2ba71f76ee2" targetNamespace="http://schemas.microsoft.com/office/2006/metadata/properties" ma:root="true" ma:fieldsID="f3c9c52ccd6619c053e6551ce3886dd6" ns3:_="">
    <xsd:import namespace="b12b050b-08b8-4c9a-9e6b-d2ba71f76ee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2b050b-08b8-4c9a-9e6b-d2ba71f76e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D09308C-497D-49D5-BDEA-D61C1EC3AA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2b050b-08b8-4c9a-9e6b-d2ba71f76e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AC80781-BFCD-4240-891D-84472800E37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224B97-BBFC-4540-8A2C-F7CA72C10925}">
  <ds:schemaRefs>
    <ds:schemaRef ds:uri="http://schemas.microsoft.com/office/2006/documentManagement/types"/>
    <ds:schemaRef ds:uri="http://purl.org/dc/dcmitype/"/>
    <ds:schemaRef ds:uri="http://www.w3.org/XML/1998/namespace"/>
    <ds:schemaRef ds:uri="http://purl.org/dc/elements/1.1/"/>
    <ds:schemaRef ds:uri="http://purl.org/dc/terms/"/>
    <ds:schemaRef ds:uri="b12b050b-08b8-4c9a-9e6b-d2ba71f76ee2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1454</TotalTime>
  <Words>955</Words>
  <Application>Microsoft Office PowerPoint</Application>
  <PresentationFormat>Widescreen</PresentationFormat>
  <Paragraphs>110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Gill Sans MT</vt:lpstr>
      <vt:lpstr>Parcel</vt:lpstr>
      <vt:lpstr>CS 449 Recitation 3</vt:lpstr>
      <vt:lpstr>Logistics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Now onto Structs!!</vt:lpstr>
      <vt:lpstr>Struct: Classes’ Ancestors</vt:lpstr>
      <vt:lpstr>An Example Struct</vt:lpstr>
      <vt:lpstr>Another Example</vt:lpstr>
      <vt:lpstr>The Memory Representation of a Struct</vt:lpstr>
      <vt:lpstr>Alignment and Padding</vt:lpstr>
      <vt:lpstr>TypeDefs</vt:lpstr>
      <vt:lpstr>The better way to Declare Structs</vt:lpstr>
      <vt:lpstr>Initializing Struct Fields</vt:lpstr>
      <vt:lpstr>Field Access (The . Operator)</vt:lpstr>
      <vt:lpstr>Passing and Returning Structs</vt:lpstr>
      <vt:lpstr>Passing by Reference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449 Recitation 3</dc:title>
  <dc:creator>Lu, Gordon</dc:creator>
  <cp:lastModifiedBy>Lu, Gordon</cp:lastModifiedBy>
  <cp:revision>7</cp:revision>
  <dcterms:created xsi:type="dcterms:W3CDTF">2020-09-08T18:06:10Z</dcterms:created>
  <dcterms:modified xsi:type="dcterms:W3CDTF">2020-09-09T18:20:37Z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0x0101004651E360FFF8E045BC9E794BF0F8E060</vt:lpwstr>
  </property>
</Properties>
</file>