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, Gordon" initials="LG" lastIdx="1" clrIdx="0">
    <p:extLst>
      <p:ext uri="{19B8F6BF-5375-455C-9EA6-DF929625EA0E}">
        <p15:presenceInfo xmlns:p15="http://schemas.microsoft.com/office/powerpoint/2012/main" userId="Lu, Gord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6T16:34:44.592" idx="1">
    <p:pos x="10" y="10"/>
    <p:text>Alright.. it's not actually called this... but IT SOUNDS COOL</p:text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1498D-1924-4F97-9E8E-EACAC4F3772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DD14B-FFEB-42F3-A399-F4594106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3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time would a "re-scheduled" recitation work best for you?
https://www.polleverywhere.com/free_text_polls/OhZxLX36wElVRoVj8ibZq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DD14B-FFEB-42F3-A399-F45941065B92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AF444-0EDA-4202-A1C5-7B6B2726528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1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94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1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4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9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5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6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2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3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9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F8BB1F7-F8EF-48CB-9BE4-5D58AB8BE73D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8D5FA88-7D1D-4F15-9CE4-1449AE79D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8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lu99331-office-hours.youcanbook.me/" TargetMode="External"/><Relationship Id="rId2" Type="http://schemas.openxmlformats.org/officeDocument/2006/relationships/hyperlink" Target="https://glu99331.github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B66D-682E-4B16-8CD8-F7E902F60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A13B7-6943-46AB-A61C-419E1E9FD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7778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7F29-CCA1-46B1-B96A-E564A35D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5DBE4-EACB-411C-AB4C-0AF43B19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My name is Gordon Lu!</a:t>
            </a:r>
          </a:p>
          <a:p>
            <a:r>
              <a:rPr lang="en-US" dirty="0"/>
              <a:t>I’m a junior CS/Econ/Math/Stat major!</a:t>
            </a:r>
          </a:p>
          <a:p>
            <a:r>
              <a:rPr lang="en-US" dirty="0"/>
              <a:t>If you ever need help with anything CS-related, don’t hesitate to send me an email!</a:t>
            </a:r>
          </a:p>
          <a:p>
            <a:endParaRPr lang="en-US" dirty="0"/>
          </a:p>
          <a:p>
            <a:r>
              <a:rPr lang="en-US" dirty="0"/>
              <a:t>My goal is to make sure you get the most out of this course. I hate to see someone struggle, so feel free to contact me if you ever feel stuck!</a:t>
            </a:r>
          </a:p>
          <a:p>
            <a:r>
              <a:rPr lang="en-US" dirty="0"/>
              <a:t>I’m not only limited to 449, I’m also a UTA for 447, and help lots of people with some of the upper-levels such as 1501 and 1550! </a:t>
            </a:r>
          </a:p>
        </p:txBody>
      </p:sp>
    </p:spTree>
    <p:extLst>
      <p:ext uri="{BB962C8B-B14F-4D97-AF65-F5344CB8AC3E}">
        <p14:creationId xmlns:p14="http://schemas.microsoft.com/office/powerpoint/2010/main" val="332335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820F-8294-4E41-818A-A8BC5F53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5E04-F984-4842-85FD-AE4652A4A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will be frequently posting slides on my website!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https://glu99331.github.io/</a:t>
            </a:r>
            <a:endParaRPr lang="en-US" dirty="0"/>
          </a:p>
          <a:p>
            <a:r>
              <a:rPr lang="en-US" dirty="0"/>
              <a:t>You can schedule appointments with me here: </a:t>
            </a:r>
          </a:p>
          <a:p>
            <a:pPr marL="0" indent="0">
              <a:buNone/>
            </a:pPr>
            <a:r>
              <a:rPr lang="en-US" b="0" i="0" u="none" strike="noStrike" dirty="0">
                <a:solidFill>
                  <a:srgbClr val="007BFF"/>
                </a:solidFill>
                <a:effectLst/>
                <a:hlinkClick r:id="rId3"/>
              </a:rPr>
              <a:t>https://glu99331-office-hours.youcanbook.me/</a:t>
            </a:r>
            <a:endParaRPr lang="en-US" b="0" i="0" u="none" strike="noStrike" dirty="0">
              <a:solidFill>
                <a:srgbClr val="007BFF"/>
              </a:solidFill>
              <a:effectLst/>
            </a:endParaRPr>
          </a:p>
          <a:p>
            <a:pPr marL="0" indent="0">
              <a:buNone/>
            </a:pPr>
            <a:endParaRPr lang="en-US" b="0" i="0" u="none" strike="noStrike" dirty="0">
              <a:solidFill>
                <a:srgbClr val="007BFF"/>
              </a:solidFill>
              <a:effectLst/>
            </a:endParaRPr>
          </a:p>
          <a:p>
            <a:pPr marL="0" indent="0">
              <a:buNone/>
            </a:pPr>
            <a:endParaRPr lang="en-US" dirty="0">
              <a:solidFill>
                <a:srgbClr val="007BFF"/>
              </a:solidFill>
              <a:latin typeface="Poppins-Regular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7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02465-8454-46E5-940B-EE2789A6F87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5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4F54-18B3-4CA9-8042-C0F046AF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Programming Language Continuum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DD2B-110E-4303-8567-2433EFC07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So… you’re probably wondering: </a:t>
            </a:r>
            <a:r>
              <a:rPr lang="en-US" b="1" dirty="0"/>
              <a:t>Why are we learning C?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Going from left to right:</a:t>
            </a:r>
          </a:p>
          <a:p>
            <a:r>
              <a:rPr lang="en-US" dirty="0"/>
              <a:t>Each hides a further layer of abstraction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ED4A54-FB52-423A-8552-1C515AF8E02B}"/>
              </a:ext>
            </a:extLst>
          </p:cNvPr>
          <p:cNvCxnSpPr>
            <a:cxnSpLocks/>
          </p:cNvCxnSpPr>
          <p:nvPr/>
        </p:nvCxnSpPr>
        <p:spPr>
          <a:xfrm>
            <a:off x="1627632" y="4306824"/>
            <a:ext cx="86319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01EB79-8E86-4750-B70D-B21CEE47BECE}"/>
              </a:ext>
            </a:extLst>
          </p:cNvPr>
          <p:cNvSpPr txBox="1"/>
          <p:nvPr/>
        </p:nvSpPr>
        <p:spPr>
          <a:xfrm>
            <a:off x="1295401" y="3847068"/>
            <a:ext cx="1137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Low-Level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5C51C-862F-42A0-B720-D95B88A8FC81}"/>
              </a:ext>
            </a:extLst>
          </p:cNvPr>
          <p:cNvSpPr txBox="1"/>
          <p:nvPr/>
        </p:nvSpPr>
        <p:spPr>
          <a:xfrm>
            <a:off x="9585961" y="3882874"/>
            <a:ext cx="11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High-Level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77266-1EB0-45DF-8E00-E097E3287AD3}"/>
              </a:ext>
            </a:extLst>
          </p:cNvPr>
          <p:cNvSpPr txBox="1"/>
          <p:nvPr/>
        </p:nvSpPr>
        <p:spPr>
          <a:xfrm>
            <a:off x="1295401" y="4397249"/>
            <a:ext cx="120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MIPS, x86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0194C-F19B-477B-BE02-A26DDFBDD04C}"/>
              </a:ext>
            </a:extLst>
          </p:cNvPr>
          <p:cNvSpPr txBox="1"/>
          <p:nvPr/>
        </p:nvSpPr>
        <p:spPr>
          <a:xfrm>
            <a:off x="5142557" y="4377946"/>
            <a:ext cx="92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C++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898D6-4BA9-4378-A650-0C3A203AAB33}"/>
              </a:ext>
            </a:extLst>
          </p:cNvPr>
          <p:cNvSpPr txBox="1"/>
          <p:nvPr/>
        </p:nvSpPr>
        <p:spPr>
          <a:xfrm>
            <a:off x="9374621" y="4397249"/>
            <a:ext cx="13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Java, Python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026C75B-D771-49C0-BACE-D4E3E829B446}"/>
              </a:ext>
            </a:extLst>
          </p:cNvPr>
          <p:cNvSpPr/>
          <p:nvPr/>
        </p:nvSpPr>
        <p:spPr>
          <a:xfrm>
            <a:off x="5435880" y="3847068"/>
            <a:ext cx="354976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065D8-F87D-49D5-8EAD-1C233F4B11FE}"/>
              </a:ext>
            </a:extLst>
          </p:cNvPr>
          <p:cNvSpPr txBox="1"/>
          <p:nvPr/>
        </p:nvSpPr>
        <p:spPr>
          <a:xfrm>
            <a:off x="4853675" y="3492741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Where we are:</a:t>
            </a:r>
          </a:p>
        </p:txBody>
      </p:sp>
    </p:spTree>
    <p:extLst>
      <p:ext uri="{BB962C8B-B14F-4D97-AF65-F5344CB8AC3E}">
        <p14:creationId xmlns:p14="http://schemas.microsoft.com/office/powerpoint/2010/main" val="424845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D1F3-3D8C-40E0-B691-1D2FC43B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Aliases on Thoth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C0595-B433-452B-8F33-9C369940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Once you </a:t>
            </a:r>
            <a:r>
              <a:rPr lang="en-US" b="1" dirty="0" err="1"/>
              <a:t>ssh</a:t>
            </a:r>
            <a:r>
              <a:rPr lang="en-US" b="1" dirty="0"/>
              <a:t> </a:t>
            </a:r>
            <a:r>
              <a:rPr lang="en-US" dirty="0"/>
              <a:t>into Thoth, you can set up aliases to reduce the amount of typing you do!</a:t>
            </a:r>
          </a:p>
          <a:p>
            <a:endParaRPr lang="en-US" dirty="0"/>
          </a:p>
          <a:p>
            <a:r>
              <a:rPr lang="en-US" dirty="0"/>
              <a:t>To add an alias, first open the </a:t>
            </a:r>
            <a:r>
              <a:rPr lang="en-US" dirty="0" err="1"/>
              <a:t>bash_source</a:t>
            </a:r>
            <a:r>
              <a:rPr lang="en-US" dirty="0"/>
              <a:t> file like so: </a:t>
            </a:r>
            <a:r>
              <a:rPr lang="en-US" b="1" dirty="0"/>
              <a:t>nano .</a:t>
            </a:r>
            <a:r>
              <a:rPr lang="en-US" b="1" dirty="0" err="1"/>
              <a:t>bash_profile</a:t>
            </a:r>
            <a:endParaRPr lang="en-US" b="1" dirty="0"/>
          </a:p>
          <a:p>
            <a:r>
              <a:rPr lang="en-US" dirty="0"/>
              <a:t>Scroll down to the portion of text that says </a:t>
            </a:r>
            <a:r>
              <a:rPr lang="en-US" b="1" dirty="0"/>
              <a:t>ALIASES</a:t>
            </a:r>
            <a:r>
              <a:rPr lang="en-US" dirty="0"/>
              <a:t>, this might take a little bit to find!</a:t>
            </a:r>
          </a:p>
          <a:p>
            <a:r>
              <a:rPr lang="en-US" dirty="0"/>
              <a:t>Add the aliases you want, like this: </a:t>
            </a:r>
            <a:r>
              <a:rPr lang="en-US" b="1" dirty="0"/>
              <a:t>alias compile=“</a:t>
            </a:r>
            <a:r>
              <a:rPr lang="en-US" b="1" dirty="0" err="1"/>
              <a:t>gcc</a:t>
            </a:r>
            <a:r>
              <a:rPr lang="en-US" b="1" dirty="0"/>
              <a:t> –Wall –</a:t>
            </a:r>
            <a:r>
              <a:rPr lang="en-US" b="1" dirty="0" err="1"/>
              <a:t>Werror</a:t>
            </a:r>
            <a:r>
              <a:rPr lang="en-US" b="1" dirty="0"/>
              <a:t>  --std=c99 -o”</a:t>
            </a:r>
            <a:endParaRPr lang="en-US" dirty="0"/>
          </a:p>
          <a:p>
            <a:r>
              <a:rPr lang="en-US" dirty="0"/>
              <a:t>Now CTRL+O, and then CTRL+X</a:t>
            </a:r>
          </a:p>
          <a:p>
            <a:r>
              <a:rPr lang="en-US" dirty="0"/>
              <a:t>Then refresh the bash environment like so: source ~/.</a:t>
            </a:r>
            <a:r>
              <a:rPr lang="en-US" dirty="0" err="1"/>
              <a:t>bash_profile</a:t>
            </a:r>
            <a:endParaRPr lang="en-US" dirty="0"/>
          </a:p>
          <a:p>
            <a:r>
              <a:rPr lang="en-US" dirty="0"/>
              <a:t>Then try to compile a program like so: compile filename </a:t>
            </a:r>
            <a:r>
              <a:rPr lang="en-US" dirty="0" err="1"/>
              <a:t>filename.c</a:t>
            </a:r>
            <a:endParaRPr lang="en-US" dirty="0"/>
          </a:p>
          <a:p>
            <a:r>
              <a:rPr lang="en-US" dirty="0"/>
              <a:t>YAY! LESS TYPING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7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29A3-5D02-4143-A051-6F68A78D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4BBDD-FFE4-4E33-946E-5D59406CC1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Logical OR ( | | ):</a:t>
                </a:r>
              </a:p>
              <a:p>
                <a:r>
                  <a:rPr lang="en-US" dirty="0"/>
                  <a:t>Given two 16-bit integers,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returns 1 if either (or both) are non-zero</a:t>
                </a:r>
              </a:p>
              <a:p>
                <a:r>
                  <a:rPr lang="en-US" dirty="0"/>
                  <a:t>Returns 0 if both are zero.</a:t>
                </a:r>
              </a:p>
              <a:p>
                <a:pPr marL="0" indent="0">
                  <a:buNone/>
                </a:pPr>
                <a:r>
                  <a:rPr lang="en-US" b="1" dirty="0"/>
                  <a:t>Logical AND (&amp;&amp;):</a:t>
                </a:r>
              </a:p>
              <a:p>
                <a:r>
                  <a:rPr lang="en-US" dirty="0"/>
                  <a:t>Given two 16-bit integers,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returns 1 if both are non-zero</a:t>
                </a:r>
              </a:p>
              <a:p>
                <a:r>
                  <a:rPr lang="en-US" dirty="0"/>
                  <a:t>Returns 0 if either or both are zero.</a:t>
                </a:r>
              </a:p>
              <a:p>
                <a:pPr marL="0" indent="0">
                  <a:buNone/>
                </a:pPr>
                <a:r>
                  <a:rPr lang="en-US" b="1" dirty="0"/>
                  <a:t>Logical Negation (!):</a:t>
                </a:r>
              </a:p>
              <a:p>
                <a:r>
                  <a:rPr lang="en-US" dirty="0"/>
                  <a:t>Given a 16-bit integer,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returns 1 if a is zero.</a:t>
                </a:r>
              </a:p>
              <a:p>
                <a:r>
                  <a:rPr lang="en-US" dirty="0"/>
                  <a:t>Returns 0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non-zero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4BBDD-FFE4-4E33-946E-5D59406CC1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65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4C39-01E8-4B4C-B1E3-6D432084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B414-FE17-4AF4-B450-F0AAAABAC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!0x9A </a:t>
                </a:r>
              </a:p>
              <a:p>
                <a:r>
                  <a:rPr lang="en-US" dirty="0"/>
                  <a:t>1001 1010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0x00</a:t>
                </a:r>
              </a:p>
              <a:p>
                <a:pPr marL="0" indent="0">
                  <a:buNone/>
                </a:pPr>
                <a:r>
                  <a:rPr lang="en-US" dirty="0"/>
                  <a:t>(0x1F || 0xD2)</a:t>
                </a:r>
              </a:p>
              <a:p>
                <a:r>
                  <a:rPr lang="en-US" dirty="0"/>
                  <a:t>0001 1111 || 1101 0010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0x1</a:t>
                </a:r>
              </a:p>
              <a:p>
                <a:pPr marL="0" indent="0">
                  <a:buNone/>
                </a:pPr>
                <a:r>
                  <a:rPr lang="en-US" dirty="0"/>
                  <a:t>(0x6E &amp;&amp; 0x92)</a:t>
                </a:r>
              </a:p>
              <a:p>
                <a:r>
                  <a:rPr lang="en-US" dirty="0"/>
                  <a:t>0110 1110 &amp;&amp; 1001 0010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0x1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B414-FE17-4AF4-B450-F0AAAABAC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5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DF91-6478-4309-98DC-F246DA90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724E0-776A-42B6-B02C-EC726C66A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They’re the typical operators that we saw in 441.</a:t>
                </a:r>
              </a:p>
              <a:p>
                <a:pPr marL="0" indent="0">
                  <a:buNone/>
                </a:pPr>
                <a:r>
                  <a:rPr lang="en-US" b="1" dirty="0"/>
                  <a:t>Bitwise OR ( | ): </a:t>
                </a:r>
              </a:p>
              <a:p>
                <a:r>
                  <a:rPr lang="en-US" dirty="0"/>
                  <a:t>Given two 16-bit integers,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looks bitwise, and sets the current bit to 1 if either the current bit of a or b (or both) is 1</a:t>
                </a:r>
              </a:p>
              <a:p>
                <a:r>
                  <a:rPr lang="en-US" dirty="0"/>
                  <a:t>Sets current bit of result to 0 otherwise.</a:t>
                </a:r>
              </a:p>
              <a:p>
                <a:pPr marL="0" indent="0">
                  <a:buNone/>
                </a:pPr>
                <a:r>
                  <a:rPr lang="en-US" b="1" dirty="0"/>
                  <a:t>Bitwise AND ( &amp; ): </a:t>
                </a:r>
              </a:p>
              <a:p>
                <a:r>
                  <a:rPr lang="en-US" dirty="0"/>
                  <a:t>Given two 16-bit integers,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looks bitwise, and sets the current bit to 1 if both the current bit of a and b is 1</a:t>
                </a:r>
              </a:p>
              <a:p>
                <a:r>
                  <a:rPr lang="en-US" dirty="0"/>
                  <a:t>Sets current bit of result to 0 otherwise.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724E0-776A-42B6-B02C-EC726C66A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965" b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36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B26E-4736-44B7-9FAF-17EAD8A4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 (Continued)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8C56F-D690-43D9-B9AA-820B55120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Bitwise Negation ( ~ ): </a:t>
                </a:r>
              </a:p>
              <a:p>
                <a:r>
                  <a:rPr lang="en-US" dirty="0"/>
                  <a:t>Given a 16-bit integer,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invert every bit.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Bitwise XOR ( ^ ):</a:t>
                </a:r>
              </a:p>
              <a:p>
                <a:r>
                  <a:rPr lang="en-US" dirty="0"/>
                  <a:t>Given two 16-bit integers,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looks bitwise, and sets the current bit to 1 if either the current bit of a or b is 1</a:t>
                </a:r>
              </a:p>
              <a:p>
                <a:r>
                  <a:rPr lang="en-US" dirty="0"/>
                  <a:t>Sets current bit of result to 0 otherwise.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8C56F-D690-43D9-B9AA-820B55120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03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CB44-0B72-4E36-8508-4068FB37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over the Quiz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2BE98-ADE7-455A-AB67-4F306CBAD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were given the following:</a:t>
                </a:r>
              </a:p>
              <a:p>
                <a:r>
                  <a:rPr lang="en-US" dirty="0"/>
                  <a:t>x = 0xBA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1011 1010</a:t>
                </a:r>
              </a:p>
              <a:p>
                <a:r>
                  <a:rPr lang="en-US" dirty="0"/>
                  <a:t>y = 0xE3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1110 0011</a:t>
                </a:r>
              </a:p>
              <a:p>
                <a:pPr marL="0" indent="0">
                  <a:buNone/>
                </a:pPr>
                <a:r>
                  <a:rPr lang="en-US" dirty="0"/>
                  <a:t>We are tasked to do the following:</a:t>
                </a:r>
              </a:p>
              <a:p>
                <a:pPr marL="0" indent="0">
                  <a:buNone/>
                </a:pPr>
                <a:r>
                  <a:rPr lang="en-US" dirty="0"/>
                  <a:t>(x || y) ^ ~(x &amp; y)</a:t>
                </a:r>
              </a:p>
              <a:p>
                <a:r>
                  <a:rPr lang="en-US" dirty="0"/>
                  <a:t>(1011 1010 || 1110 0011)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0x1</a:t>
                </a:r>
              </a:p>
              <a:p>
                <a:r>
                  <a:rPr lang="en-US" dirty="0"/>
                  <a:t>~(1011 1010 &amp; 1110 0011)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~(1010 0010)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(0101 1101) </a:t>
                </a:r>
              </a:p>
              <a:p>
                <a:r>
                  <a:rPr lang="en-US" dirty="0"/>
                  <a:t>(0000 0001 ^ 0101 1101)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0101 1100</a:t>
                </a:r>
              </a:p>
              <a:p>
                <a:r>
                  <a:rPr lang="en-US" dirty="0"/>
                  <a:t>0101 1100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0x5C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2BE98-ADE7-455A-AB67-4F306CBAD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081165-E953-4868-BAB2-2BEF13E53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IEEE 754 Review</a:t>
            </a:r>
          </a:p>
        </p:txBody>
      </p:sp>
    </p:spTree>
    <p:extLst>
      <p:ext uri="{BB962C8B-B14F-4D97-AF65-F5344CB8AC3E}">
        <p14:creationId xmlns:p14="http://schemas.microsoft.com/office/powerpoint/2010/main" val="3166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350F-0ECD-4165-8F28-C0794055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32B7C-D61C-4183-AD12-7B892B621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Formally,</a:t>
                </a:r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(Binary). </a:t>
                </a:r>
              </a:p>
              <a:p>
                <a:pPr marL="0" indent="0">
                  <a:buNone/>
                </a:pPr>
                <a:r>
                  <a:rPr lang="en-US" dirty="0"/>
                  <a:t>Then, x can be uniquely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𝑆𝑖𝑔𝑛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𝐵𝑖𝑡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&lt;(10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32B7C-D61C-4183-AD12-7B892B621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56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5745-95A7-4820-8EE6-C58B6469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15.375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0A81-4C29-4A1C-B655-19B1D08F9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306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Apply Conversion of Bases</a:t>
            </a:r>
          </a:p>
          <a:p>
            <a:pPr marL="0" indent="0">
              <a:buNone/>
            </a:pPr>
            <a:r>
              <a:rPr lang="en-US" sz="1400" dirty="0"/>
              <a:t>1) </a:t>
            </a:r>
            <a:r>
              <a:rPr lang="en-US" sz="1400" b="1" dirty="0"/>
              <a:t>For the Decimal portion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b="1" dirty="0"/>
              <a:t>1 = 3/2 = 7/2 = 15/2</a:t>
            </a:r>
          </a:p>
          <a:p>
            <a:pPr marL="0" indent="0">
              <a:buNone/>
            </a:pPr>
            <a:r>
              <a:rPr lang="en-US" sz="1400" dirty="0"/>
              <a:t>Mark each bit that is odd as a 1, otherwise mark it as 0.</a:t>
            </a:r>
          </a:p>
          <a:p>
            <a:pPr marL="0" indent="0">
              <a:buNone/>
            </a:pPr>
            <a:r>
              <a:rPr lang="en-US" sz="1400" dirty="0"/>
              <a:t>15 -&gt; 1111 in binary</a:t>
            </a:r>
          </a:p>
          <a:p>
            <a:pPr marL="0" indent="0">
              <a:buNone/>
            </a:pPr>
            <a:r>
              <a:rPr lang="en-US" sz="1400" dirty="0"/>
              <a:t>2) </a:t>
            </a:r>
            <a:r>
              <a:rPr lang="en-US" sz="1400" b="1" dirty="0"/>
              <a:t>For the Fractional portion:</a:t>
            </a:r>
          </a:p>
          <a:p>
            <a:pPr marL="0" indent="0">
              <a:buNone/>
            </a:pPr>
            <a:r>
              <a:rPr lang="en-US" sz="1400" dirty="0"/>
              <a:t>0.375 * 2 = 0.750 * 2 = (1.500 – 1) * 2 = 1.000</a:t>
            </a:r>
          </a:p>
          <a:p>
            <a:pPr marL="0" indent="0">
              <a:buNone/>
            </a:pPr>
            <a:r>
              <a:rPr lang="en-US" sz="1400" dirty="0"/>
              <a:t>Mark each number that did not exceed 1 with a 0, and 1 otherwise.</a:t>
            </a:r>
          </a:p>
          <a:p>
            <a:pPr marL="0" indent="0">
              <a:buNone/>
            </a:pPr>
            <a:r>
              <a:rPr lang="en-US" sz="1400" dirty="0"/>
              <a:t>0.375 -&gt; 011 in binary.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Therefore, 15.375 is 1111.011 in Binary!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382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FAAC-62A4-474F-B24D-25A2E56B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Single Precision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C22A0-9461-4917-B859-81D62BE1C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1 bit for the sign bit,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8 bits for the exponent bits,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𝟏𝟐𝟕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𝟐𝟓𝟒</m:t>
                    </m:r>
                  </m:oMath>
                </a14:m>
                <a:r>
                  <a:rPr lang="en-US" dirty="0"/>
                  <a:t>) </a:t>
                </a:r>
              </a:p>
              <a:p>
                <a:r>
                  <a:rPr lang="en-US" dirty="0"/>
                  <a:t>(0 and 255 are reserved values for error-checking, like 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  <a:endParaRPr lang="en-US" b="1" dirty="0"/>
              </a:p>
              <a:p>
                <a:r>
                  <a:rPr lang="en-US" dirty="0"/>
                  <a:t>23 bits for the fractional bits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FC22A0-9461-4917-B859-81D62BE1C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12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2DBF-194B-44A9-B391-93EBF247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640" y="510258"/>
            <a:ext cx="7729728" cy="1188720"/>
          </a:xfrm>
        </p:spPr>
        <p:txBody>
          <a:bodyPr/>
          <a:lstStyle/>
          <a:p>
            <a:r>
              <a:rPr lang="en-US" dirty="0"/>
              <a:t>31.25 in IEEE 754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79E6F1-4047-49BF-BCA3-BD761C222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26640" y="1847813"/>
                <a:ext cx="7729728" cy="377291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200" b="1" dirty="0"/>
                  <a:t>Apply conversion of bases on decimal part:</a:t>
                </a:r>
              </a:p>
              <a:p>
                <a:pPr marL="0" indent="0">
                  <a:buNone/>
                </a:pPr>
                <a:r>
                  <a:rPr lang="en-US" sz="1200" dirty="0"/>
                  <a:t>1) 1 = 3/2 = 7/2 = 15/2 = 31/2 </a:t>
                </a:r>
              </a:p>
              <a:p>
                <a:pPr marL="0" indent="0">
                  <a:buNone/>
                </a:pPr>
                <a:r>
                  <a:rPr lang="en-US" sz="1200" dirty="0"/>
                  <a:t>31 = 11111 in Binary.</a:t>
                </a:r>
              </a:p>
              <a:p>
                <a:pPr marL="0" indent="0">
                  <a:buNone/>
                </a:pPr>
                <a:r>
                  <a:rPr lang="en-US" sz="1200" b="1" dirty="0"/>
                  <a:t>Apply conversion of bases on fraction part:</a:t>
                </a:r>
              </a:p>
              <a:p>
                <a:pPr marL="0" indent="0">
                  <a:buNone/>
                </a:pPr>
                <a:r>
                  <a:rPr lang="en-US" sz="1200" dirty="0"/>
                  <a:t>1) (0.25 * 2) = 0.50 * 2 = 1.00 </a:t>
                </a:r>
              </a:p>
              <a:p>
                <a:pPr marL="0" indent="0">
                  <a:buNone/>
                </a:pPr>
                <a:r>
                  <a:rPr lang="en-US" sz="1200" dirty="0"/>
                  <a:t>0.25 = 01 in Binary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/>
                  <a:t>In binary, 31.25 = 11111.01</a:t>
                </a:r>
              </a:p>
              <a:p>
                <a:pPr marL="0" indent="0">
                  <a:buNone/>
                </a:pPr>
                <a:r>
                  <a:rPr lang="en-US" sz="1200" dirty="0"/>
                  <a:t>Write in terms of Scientific Notation: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1.111101 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=4→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=127+4=131=10000011</m:t>
                    </m:r>
                  </m:oMath>
                </a14:m>
                <a:r>
                  <a:rPr lang="en-US" sz="1200" dirty="0"/>
                  <a:t> in binary</a:t>
                </a:r>
              </a:p>
              <a:p>
                <a:pPr marL="0" indent="0">
                  <a:buNone/>
                </a:pPr>
                <a:r>
                  <a:rPr lang="en-US" sz="1200" dirty="0"/>
                  <a:t>Therefore, in IEEE 754:</a:t>
                </a:r>
              </a:p>
              <a:p>
                <a:pPr marL="0" indent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79E6F1-4047-49BF-BCA3-BD761C222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6640" y="1847813"/>
                <a:ext cx="7729728" cy="3772916"/>
              </a:xfrm>
              <a:blipFill>
                <a:blip r:embed="rId2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B8652E12-0697-47B3-9C74-62409D825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7552"/>
              </p:ext>
            </p:extLst>
          </p:nvPr>
        </p:nvGraphicFramePr>
        <p:xfrm>
          <a:off x="2372610" y="5560298"/>
          <a:ext cx="83699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8">
                  <a:extLst>
                    <a:ext uri="{9D8B030D-6E8A-4147-A177-3AD203B41FA5}">
                      <a16:colId xmlns:a16="http://schemas.microsoft.com/office/drawing/2014/main" val="38627348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77724678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1867098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09050562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7066746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257721076"/>
                    </a:ext>
                  </a:extLst>
                </a:gridCol>
                <a:gridCol w="250415">
                  <a:extLst>
                    <a:ext uri="{9D8B030D-6E8A-4147-A177-3AD203B41FA5}">
                      <a16:colId xmlns:a16="http://schemas.microsoft.com/office/drawing/2014/main" val="3081757925"/>
                    </a:ext>
                  </a:extLst>
                </a:gridCol>
                <a:gridCol w="257585">
                  <a:extLst>
                    <a:ext uri="{9D8B030D-6E8A-4147-A177-3AD203B41FA5}">
                      <a16:colId xmlns:a16="http://schemas.microsoft.com/office/drawing/2014/main" val="4257450039"/>
                    </a:ext>
                  </a:extLst>
                </a:gridCol>
                <a:gridCol w="374968">
                  <a:extLst>
                    <a:ext uri="{9D8B030D-6E8A-4147-A177-3AD203B41FA5}">
                      <a16:colId xmlns:a16="http://schemas.microsoft.com/office/drawing/2014/main" val="191454585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37970375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5455077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87875033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2090697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6941472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4682412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2851766"/>
                    </a:ext>
                  </a:extLst>
                </a:gridCol>
                <a:gridCol w="299720">
                  <a:extLst>
                    <a:ext uri="{9D8B030D-6E8A-4147-A177-3AD203B41FA5}">
                      <a16:colId xmlns:a16="http://schemas.microsoft.com/office/drawing/2014/main" val="293912859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85512525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31085057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84651752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68005620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81451082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7070422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19879873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9644750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11723782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88736036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2463314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0736934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96216254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26315077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590873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16735"/>
                  </a:ext>
                </a:extLst>
              </a:tr>
            </a:tbl>
          </a:graphicData>
        </a:graphic>
      </p:graphicFrame>
      <p:sp>
        <p:nvSpPr>
          <p:cNvPr id="14" name="Right Brace 13">
            <a:extLst>
              <a:ext uri="{FF2B5EF4-FFF2-40B4-BE49-F238E27FC236}">
                <a16:creationId xmlns:a16="http://schemas.microsoft.com/office/drawing/2014/main" id="{417FBE6D-59C4-4965-8DAC-287C6993D3C9}"/>
              </a:ext>
            </a:extLst>
          </p:cNvPr>
          <p:cNvSpPr/>
          <p:nvPr/>
        </p:nvSpPr>
        <p:spPr>
          <a:xfrm rot="16200000">
            <a:off x="7599115" y="2472958"/>
            <a:ext cx="368880" cy="5663953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C13C8-0257-446D-9119-D5142122CF10}"/>
              </a:ext>
            </a:extLst>
          </p:cNvPr>
          <p:cNvSpPr txBox="1"/>
          <p:nvPr/>
        </p:nvSpPr>
        <p:spPr>
          <a:xfrm>
            <a:off x="7173210" y="4758931"/>
            <a:ext cx="1571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Fractional Bits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06C7698-BB17-4999-831D-0763CE082192}"/>
              </a:ext>
            </a:extLst>
          </p:cNvPr>
          <p:cNvSpPr/>
          <p:nvPr/>
        </p:nvSpPr>
        <p:spPr>
          <a:xfrm rot="5400000">
            <a:off x="3536417" y="5366477"/>
            <a:ext cx="486606" cy="175777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FAC35-3D85-46FC-9132-1241BB3236C1}"/>
              </a:ext>
            </a:extLst>
          </p:cNvPr>
          <p:cNvSpPr txBox="1"/>
          <p:nvPr/>
        </p:nvSpPr>
        <p:spPr>
          <a:xfrm>
            <a:off x="3229306" y="6488668"/>
            <a:ext cx="1333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 = e + 127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53B382-D142-4B3B-A08B-C585B98BB8C6}"/>
              </a:ext>
            </a:extLst>
          </p:cNvPr>
          <p:cNvCxnSpPr>
            <a:cxnSpLocks/>
          </p:cNvCxnSpPr>
          <p:nvPr/>
        </p:nvCxnSpPr>
        <p:spPr>
          <a:xfrm flipV="1">
            <a:off x="2554602" y="5931138"/>
            <a:ext cx="0" cy="3434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C2F30A-FF2C-4502-A618-D3014C381712}"/>
                  </a:ext>
                </a:extLst>
              </p:cNvPr>
              <p:cNvSpPr txBox="1"/>
              <p:nvPr/>
            </p:nvSpPr>
            <p:spPr>
              <a:xfrm>
                <a:off x="2135632" y="6345515"/>
                <a:ext cx="11841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Sign Bit,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endPara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C2F30A-FF2C-4502-A618-D3014C381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632" y="6345515"/>
                <a:ext cx="1184170" cy="369332"/>
              </a:xfrm>
              <a:prstGeom prst="rect">
                <a:avLst/>
              </a:prstGeom>
              <a:blipFill>
                <a:blip r:embed="rId3"/>
                <a:stretch>
                  <a:fillRect l="-4103" t="-9836" r="-41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A14A9FDF-E683-484B-9F61-B7485E4B4704}"/>
              </a:ext>
            </a:extLst>
          </p:cNvPr>
          <p:cNvSpPr/>
          <p:nvPr/>
        </p:nvSpPr>
        <p:spPr>
          <a:xfrm rot="5400000">
            <a:off x="6487484" y="4480652"/>
            <a:ext cx="710035" cy="367533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3D74C5-4640-4055-A72F-D41A3E92C39E}"/>
              </a:ext>
            </a:extLst>
          </p:cNvPr>
          <p:cNvSpPr txBox="1"/>
          <p:nvPr/>
        </p:nvSpPr>
        <p:spPr>
          <a:xfrm>
            <a:off x="6938544" y="6414117"/>
            <a:ext cx="1554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Leading Zeros</a:t>
            </a:r>
          </a:p>
        </p:txBody>
      </p:sp>
    </p:spTree>
    <p:extLst>
      <p:ext uri="{BB962C8B-B14F-4D97-AF65-F5344CB8AC3E}">
        <p14:creationId xmlns:p14="http://schemas.microsoft.com/office/powerpoint/2010/main" val="409417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  <p:bldP spid="15" grpId="0"/>
      <p:bldP spid="16" grpId="0" animBg="1"/>
      <p:bldP spid="17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F87C-EA22-4FED-A7FB-B767402F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review the second Question from the Quiz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97995B-7A82-4F37-9C77-872198C9E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What is the correct value encoded by the following floating-point number?</a:t>
                </a:r>
              </a:p>
              <a:p>
                <a:r>
                  <a:rPr lang="en-US" dirty="0"/>
                  <a:t>0b 0 10000000 11000000000000000000000</a:t>
                </a:r>
              </a:p>
              <a:p>
                <a:endParaRPr lang="en-US" dirty="0"/>
              </a:p>
              <a:p>
                <a:r>
                  <a:rPr lang="en-US" dirty="0"/>
                  <a:t>Signed bit is 0, so it’s positive</a:t>
                </a:r>
              </a:p>
              <a:p>
                <a:r>
                  <a:rPr lang="en-US" dirty="0"/>
                  <a:t>Exponent can be calculated as so: 1000 0000 – 0111 1111 = 1</a:t>
                </a:r>
              </a:p>
              <a:p>
                <a:r>
                  <a:rPr lang="en-US" dirty="0"/>
                  <a:t>Mantissa is: 1.11 </a:t>
                </a:r>
              </a:p>
              <a:p>
                <a:pPr marL="0" indent="0">
                  <a:buNone/>
                </a:pPr>
                <a:r>
                  <a:rPr lang="en-US" dirty="0"/>
                  <a:t>Thus, we have: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1.11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97995B-7A82-4F37-9C77-872198C9E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0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1806-4F30-44C5-862B-67C61019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next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27ADA-612F-4C62-9AC8-6829ECD91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Pointers will take a while to explain…I’d rather not rush it, and wait till next week to cover it along with Lab 1…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75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08F996-02B1-4CF1-81FE-01055F7C0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711864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Now for some live coding and the Data Representation Worksheet!</a:t>
            </a:r>
          </a:p>
        </p:txBody>
      </p:sp>
    </p:spTree>
    <p:extLst>
      <p:ext uri="{BB962C8B-B14F-4D97-AF65-F5344CB8AC3E}">
        <p14:creationId xmlns:p14="http://schemas.microsoft.com/office/powerpoint/2010/main" val="899026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0b165f0-6eeb-45af-a387-62d916019f02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361</TotalTime>
  <Words>1152</Words>
  <Application>Microsoft Office PowerPoint</Application>
  <PresentationFormat>Widescreen</PresentationFormat>
  <Paragraphs>174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Gill Sans MT</vt:lpstr>
      <vt:lpstr>Poppins-Regular</vt:lpstr>
      <vt:lpstr>Parcel</vt:lpstr>
      <vt:lpstr>CS 0449 Recitation 1</vt:lpstr>
      <vt:lpstr>Who Am I?</vt:lpstr>
      <vt:lpstr>Logistics</vt:lpstr>
      <vt:lpstr>PowerPoint Presentation</vt:lpstr>
      <vt:lpstr>The Programming Language Continuum</vt:lpstr>
      <vt:lpstr>Setting up Aliases on Thoth</vt:lpstr>
      <vt:lpstr>Logical Operators</vt:lpstr>
      <vt:lpstr>Examples</vt:lpstr>
      <vt:lpstr>Bitwise Operators</vt:lpstr>
      <vt:lpstr>Bitwise Operators (Continued)</vt:lpstr>
      <vt:lpstr>Going over the Quiz</vt:lpstr>
      <vt:lpstr>IEEE 754 Review</vt:lpstr>
      <vt:lpstr>Fixed-Point Representation</vt:lpstr>
      <vt:lpstr>Convert 15.375 to Binary</vt:lpstr>
      <vt:lpstr>IEEE 754 Single Precision</vt:lpstr>
      <vt:lpstr>31.25 in IEEE 754</vt:lpstr>
      <vt:lpstr>Let’s review the second Question from the Quiz</vt:lpstr>
      <vt:lpstr>Pointers next time…</vt:lpstr>
      <vt:lpstr>Now for some live coding and the Data Representation Worksheet!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1</dc:title>
  <dc:creator>Lu, Gordon</dc:creator>
  <cp:lastModifiedBy>Lu, Gordon</cp:lastModifiedBy>
  <cp:revision>10</cp:revision>
  <dcterms:created xsi:type="dcterms:W3CDTF">2020-08-26T20:28:45Z</dcterms:created>
  <dcterms:modified xsi:type="dcterms:W3CDTF">2020-08-27T02:30:31Z</dcterms:modified>
</cp:coreProperties>
</file>