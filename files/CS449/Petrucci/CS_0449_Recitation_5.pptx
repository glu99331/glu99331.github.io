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5" r:id="rId21"/>
    <p:sldId id="294" r:id="rId22"/>
    <p:sldId id="296" r:id="rId23"/>
    <p:sldId id="297" r:id="rId24"/>
    <p:sldId id="260" r:id="rId25"/>
    <p:sldId id="261" r:id="rId26"/>
    <p:sldId id="258" r:id="rId27"/>
    <p:sldId id="259" r:id="rId28"/>
    <p:sldId id="262" r:id="rId29"/>
    <p:sldId id="272" r:id="rId30"/>
    <p:sldId id="274" r:id="rId31"/>
    <p:sldId id="275" r:id="rId32"/>
    <p:sldId id="273" r:id="rId33"/>
    <p:sldId id="276" r:id="rId34"/>
    <p:sldId id="263" r:id="rId35"/>
    <p:sldId id="298" r:id="rId36"/>
    <p:sldId id="299" r:id="rId37"/>
    <p:sldId id="300" r:id="rId38"/>
    <p:sldId id="301" r:id="rId39"/>
    <p:sldId id="302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6752-A2A1-47E9-92D9-F64DD493E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449 Recitation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831C5-A32D-4223-BA6D-A26AECCD2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297951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CFC7-CE76-4135-8799-9595A382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16524-469A-4F35-8E0E-89484C53F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MIPS and x86 Correspondences</a:t>
            </a:r>
          </a:p>
          <a:p>
            <a:endParaRPr lang="en-US" dirty="0"/>
          </a:p>
          <a:p>
            <a:r>
              <a:rPr lang="en-US" dirty="0"/>
              <a:t>Getting the password from an Executable!!!</a:t>
            </a:r>
          </a:p>
        </p:txBody>
      </p:sp>
    </p:spTree>
    <p:extLst>
      <p:ext uri="{BB962C8B-B14F-4D97-AF65-F5344CB8AC3E}">
        <p14:creationId xmlns:p14="http://schemas.microsoft.com/office/powerpoint/2010/main" val="81265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885" y="1762539"/>
            <a:ext cx="4798243" cy="2604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cap="all" dirty="0"/>
              <a:t>X86 Assembly review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6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2715-7108-4B07-82CD-7C72710A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vs 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09DA5-166E-421B-857A-5A39196CE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MIPS is a </a:t>
            </a:r>
            <a:r>
              <a:rPr lang="en-US" sz="2400" b="1" dirty="0"/>
              <a:t>RISC ISA</a:t>
            </a:r>
            <a:r>
              <a:rPr lang="en-US" sz="2400" dirty="0"/>
              <a:t>: Small amount of instructions, not human-oriented, but easy to build!</a:t>
            </a:r>
          </a:p>
          <a:p>
            <a:r>
              <a:rPr lang="en-US" sz="2400" dirty="0"/>
              <a:t>x86 is a </a:t>
            </a:r>
            <a:r>
              <a:rPr lang="en-US" sz="2400" b="1" dirty="0"/>
              <a:t>CISC ISA</a:t>
            </a:r>
            <a:r>
              <a:rPr lang="en-US" sz="2400" dirty="0"/>
              <a:t>: Lots of instructions, human-oriented, but tough to build!</a:t>
            </a:r>
          </a:p>
          <a:p>
            <a:r>
              <a:rPr lang="en-US" sz="2400" dirty="0"/>
              <a:t>MIPS has the $</a:t>
            </a:r>
            <a:r>
              <a:rPr lang="en-US" sz="2400" b="1" dirty="0"/>
              <a:t>pc </a:t>
            </a:r>
            <a:r>
              <a:rPr lang="en-US" sz="2400" dirty="0"/>
              <a:t>register to keep track of the Program Counter, </a:t>
            </a:r>
            <a:r>
              <a:rPr lang="en-US" sz="2400" b="1" dirty="0"/>
              <a:t>x86 </a:t>
            </a:r>
            <a:r>
              <a:rPr lang="en-US" sz="2400" dirty="0"/>
              <a:t>and </a:t>
            </a:r>
            <a:r>
              <a:rPr lang="en-US" sz="2400" b="1" dirty="0"/>
              <a:t>IA-32 </a:t>
            </a:r>
            <a:r>
              <a:rPr lang="en-US" sz="2400" dirty="0"/>
              <a:t>have the </a:t>
            </a:r>
            <a:r>
              <a:rPr lang="en-US" sz="2400" b="1" dirty="0"/>
              <a:t>%rip </a:t>
            </a:r>
            <a:r>
              <a:rPr lang="en-US" sz="2400" dirty="0"/>
              <a:t>and </a:t>
            </a:r>
            <a:r>
              <a:rPr lang="en-US" sz="2400" b="1" dirty="0"/>
              <a:t>%</a:t>
            </a:r>
            <a:r>
              <a:rPr lang="en-US" sz="2400" b="1" dirty="0" err="1"/>
              <a:t>eip</a:t>
            </a:r>
            <a:r>
              <a:rPr lang="en-US" sz="2400" b="1" dirty="0"/>
              <a:t> </a:t>
            </a:r>
            <a:r>
              <a:rPr lang="en-US" sz="2400" dirty="0"/>
              <a:t>registers for the Program Counter!</a:t>
            </a:r>
          </a:p>
        </p:txBody>
      </p:sp>
    </p:spTree>
    <p:extLst>
      <p:ext uri="{BB962C8B-B14F-4D97-AF65-F5344CB8AC3E}">
        <p14:creationId xmlns:p14="http://schemas.microsoft.com/office/powerpoint/2010/main" val="172035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73F4-B096-4CF4-AAB2-7B1B3A5C3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4160"/>
            <a:ext cx="7729728" cy="1188720"/>
          </a:xfrm>
        </p:spPr>
        <p:txBody>
          <a:bodyPr>
            <a:normAutofit/>
          </a:bodyPr>
          <a:lstStyle/>
          <a:p>
            <a:r>
              <a:rPr lang="en-US" sz="3600" dirty="0"/>
              <a:t>IA-32 vs x86-64: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D75A-267A-4623-B852-FC4CAEF2F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2880"/>
            <a:ext cx="9601200" cy="3581400"/>
          </a:xfrm>
        </p:spPr>
        <p:txBody>
          <a:bodyPr>
            <a:normAutofit/>
          </a:bodyPr>
          <a:lstStyle/>
          <a:p>
            <a:r>
              <a:rPr lang="en-US" sz="1600" dirty="0"/>
              <a:t>IA-32 is the 32-bit version of x86.</a:t>
            </a:r>
          </a:p>
          <a:p>
            <a:pPr marL="0" indent="0">
              <a:buNone/>
            </a:pPr>
            <a:r>
              <a:rPr lang="en-US" sz="1600" dirty="0"/>
              <a:t>There are 8 general purpose registers in IA-32: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EA8ADCB-76B2-4F1F-A5D6-46FE7CFF2B6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171700"/>
          <a:ext cx="9769875" cy="462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6625">
                  <a:extLst>
                    <a:ext uri="{9D8B030D-6E8A-4147-A177-3AD203B41FA5}">
                      <a16:colId xmlns:a16="http://schemas.microsoft.com/office/drawing/2014/main" val="174202182"/>
                    </a:ext>
                  </a:extLst>
                </a:gridCol>
                <a:gridCol w="3256625">
                  <a:extLst>
                    <a:ext uri="{9D8B030D-6E8A-4147-A177-3AD203B41FA5}">
                      <a16:colId xmlns:a16="http://schemas.microsoft.com/office/drawing/2014/main" val="164318492"/>
                    </a:ext>
                  </a:extLst>
                </a:gridCol>
                <a:gridCol w="3256625">
                  <a:extLst>
                    <a:ext uri="{9D8B030D-6E8A-4147-A177-3AD203B41FA5}">
                      <a16:colId xmlns:a16="http://schemas.microsoft.com/office/drawing/2014/main" val="2033382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Smaller Parts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55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eax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Accumulator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%ax, Lower 16 bits of </a:t>
                      </a:r>
                      <a:r>
                        <a:rPr lang="en-US" sz="1050" dirty="0" err="1"/>
                        <a:t>eax</a:t>
                      </a:r>
                      <a:r>
                        <a:rPr lang="en-US" sz="1050" dirty="0"/>
                        <a:t>, </a:t>
                      </a:r>
                    </a:p>
                    <a:p>
                      <a:pPr algn="ctr"/>
                      <a:r>
                        <a:rPr lang="en-US" sz="1050" dirty="0"/>
                        <a:t>%ah: Upper 8 bits of %ax </a:t>
                      </a:r>
                    </a:p>
                    <a:p>
                      <a:pPr algn="ctr"/>
                      <a:r>
                        <a:rPr lang="en-US" sz="1050" dirty="0"/>
                        <a:t>%al: Lower 8 bits of %ax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9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ebx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%bx, Lower 16 bits of </a:t>
                      </a:r>
                      <a:r>
                        <a:rPr lang="en-US" sz="1050" dirty="0" err="1"/>
                        <a:t>ebx</a:t>
                      </a:r>
                      <a:r>
                        <a:rPr lang="en-US" sz="1050" dirty="0"/>
                        <a:t>, </a:t>
                      </a:r>
                    </a:p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bh</a:t>
                      </a:r>
                      <a:r>
                        <a:rPr lang="en-US" sz="1050" dirty="0"/>
                        <a:t>: Upper 8 bits of %bx </a:t>
                      </a:r>
                    </a:p>
                    <a:p>
                      <a:pPr algn="ctr"/>
                      <a:r>
                        <a:rPr lang="en-US" sz="1050" dirty="0"/>
                        <a:t>%bl: Lower 8 bits of %bx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346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%ecx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%cx, Lower 16 bits of </a:t>
                      </a:r>
                      <a:r>
                        <a:rPr lang="en-US" sz="1050" dirty="0" err="1"/>
                        <a:t>ecx</a:t>
                      </a:r>
                      <a:r>
                        <a:rPr lang="en-US" sz="1050" dirty="0"/>
                        <a:t>, </a:t>
                      </a:r>
                    </a:p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ch</a:t>
                      </a:r>
                      <a:r>
                        <a:rPr lang="en-US" sz="1050" dirty="0"/>
                        <a:t>: Upper 8 bits of %cx </a:t>
                      </a:r>
                    </a:p>
                    <a:p>
                      <a:pPr algn="ctr"/>
                      <a:r>
                        <a:rPr lang="en-US" sz="1050" dirty="0"/>
                        <a:t>%cl: Lower 8 bits of %cx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82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edx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%dx, Lower 16 bits of </a:t>
                      </a:r>
                      <a:r>
                        <a:rPr lang="en-US" sz="1050" dirty="0" err="1"/>
                        <a:t>edx</a:t>
                      </a:r>
                      <a:r>
                        <a:rPr lang="en-US" sz="1050" dirty="0"/>
                        <a:t>, </a:t>
                      </a:r>
                    </a:p>
                    <a:p>
                      <a:pPr algn="ctr"/>
                      <a:r>
                        <a:rPr lang="en-US" sz="1050" dirty="0"/>
                        <a:t>%dh: Upper 8 bits of %dx </a:t>
                      </a:r>
                    </a:p>
                    <a:p>
                      <a:pPr algn="ctr"/>
                      <a:r>
                        <a:rPr lang="en-US" sz="1050" dirty="0"/>
                        <a:t>%dl: Lower 8 bits of %dx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80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esi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Source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si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33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edi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Destination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1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esp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Stack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sp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43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</a:t>
                      </a:r>
                      <a:r>
                        <a:rPr lang="en-US" sz="1050" dirty="0" err="1"/>
                        <a:t>ebp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Base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%bp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89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41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00B4-374B-412F-8E4B-E5111436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385" y="249074"/>
            <a:ext cx="7729728" cy="1188720"/>
          </a:xfrm>
        </p:spPr>
        <p:txBody>
          <a:bodyPr/>
          <a:lstStyle/>
          <a:p>
            <a:r>
              <a:rPr lang="en-US" dirty="0"/>
              <a:t>x86 Registers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05CEAB-823C-4696-9601-470F1C70CD59}"/>
              </a:ext>
            </a:extLst>
          </p:cNvPr>
          <p:cNvGraphicFramePr>
            <a:graphicFrameLocks noGrp="1"/>
          </p:cNvGraphicFramePr>
          <p:nvPr/>
        </p:nvGraphicFramePr>
        <p:xfrm>
          <a:off x="1779973" y="1660124"/>
          <a:ext cx="8154140" cy="45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7070">
                  <a:extLst>
                    <a:ext uri="{9D8B030D-6E8A-4147-A177-3AD203B41FA5}">
                      <a16:colId xmlns:a16="http://schemas.microsoft.com/office/drawing/2014/main" val="174202182"/>
                    </a:ext>
                  </a:extLst>
                </a:gridCol>
                <a:gridCol w="4077070">
                  <a:extLst>
                    <a:ext uri="{9D8B030D-6E8A-4147-A177-3AD203B41FA5}">
                      <a16:colId xmlns:a16="http://schemas.microsoft.com/office/drawing/2014/main" val="164318492"/>
                    </a:ext>
                  </a:extLst>
                </a:gridCol>
              </a:tblGrid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IA-32 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556811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rax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eax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96831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rbx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ebx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346772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rcx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ecx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82809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rdx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edx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803815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rsi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esi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333405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rdi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edi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1262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</a:t>
                      </a:r>
                      <a:r>
                        <a:rPr lang="en-US" sz="2000" dirty="0" err="1"/>
                        <a:t>rsp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esp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432061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rbp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  <a:r>
                        <a:rPr lang="en-US" sz="2000" dirty="0" err="1"/>
                        <a:t>ebp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892973"/>
                  </a:ext>
                </a:extLst>
              </a:tr>
              <a:tr h="45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%r8 - %r15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%r8d - %r15d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81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35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6504-8355-4066-96D4-C9ABE2A2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Instruction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3A1B8-A93D-4630-AC5C-0E2A79E1E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1) Transferring data between Memory and a Register: (R/I type formats)</a:t>
            </a:r>
          </a:p>
          <a:p>
            <a:pPr>
              <a:buFontTx/>
              <a:buChar char="-"/>
            </a:pPr>
            <a:r>
              <a:rPr lang="en-US" dirty="0"/>
              <a:t>Load data from memory into register: </a:t>
            </a:r>
            <a:r>
              <a:rPr lang="en-US" b="1" dirty="0"/>
              <a:t>%reg = Mem[</a:t>
            </a:r>
            <a:r>
              <a:rPr lang="en-US" b="1" dirty="0" err="1"/>
              <a:t>addr</a:t>
            </a:r>
            <a:r>
              <a:rPr lang="en-US" b="1" dirty="0"/>
              <a:t>] </a:t>
            </a:r>
            <a:r>
              <a:rPr lang="en-US" dirty="0"/>
              <a:t>(Analogous to </a:t>
            </a:r>
            <a:r>
              <a:rPr lang="en-US" dirty="0" err="1"/>
              <a:t>lw</a:t>
            </a:r>
            <a:r>
              <a:rPr lang="en-US" dirty="0"/>
              <a:t> $t0, 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Store register data into memory: </a:t>
            </a:r>
            <a:r>
              <a:rPr lang="en-US" b="1" dirty="0"/>
              <a:t>Mem[</a:t>
            </a:r>
            <a:r>
              <a:rPr lang="en-US" b="1" dirty="0" err="1"/>
              <a:t>addr</a:t>
            </a:r>
            <a:r>
              <a:rPr lang="en-US" b="1" dirty="0"/>
              <a:t>] = %reg</a:t>
            </a:r>
            <a:r>
              <a:rPr lang="en-US" dirty="0"/>
              <a:t> (Analogous to </a:t>
            </a:r>
            <a:r>
              <a:rPr lang="en-US" dirty="0" err="1"/>
              <a:t>sw</a:t>
            </a:r>
            <a:r>
              <a:rPr lang="en-US" dirty="0"/>
              <a:t> (</a:t>
            </a:r>
            <a:r>
              <a:rPr lang="en-US" dirty="0" err="1"/>
              <a:t>arr</a:t>
            </a:r>
            <a:r>
              <a:rPr lang="en-US" dirty="0"/>
              <a:t>), $t0)</a:t>
            </a:r>
          </a:p>
          <a:p>
            <a:pPr marL="0" indent="0">
              <a:buNone/>
            </a:pPr>
            <a:r>
              <a:rPr lang="en-US" dirty="0"/>
              <a:t>2) Performing arithmetic operations on a register or memory (R/I type formats)</a:t>
            </a:r>
          </a:p>
          <a:p>
            <a:pPr>
              <a:buFontTx/>
              <a:buChar char="-"/>
            </a:pPr>
            <a:r>
              <a:rPr lang="en-US" dirty="0"/>
              <a:t>c = a + b, etc.</a:t>
            </a:r>
          </a:p>
          <a:p>
            <a:pPr marL="0" indent="0">
              <a:buNone/>
            </a:pPr>
            <a:r>
              <a:rPr lang="en-US" dirty="0"/>
              <a:t>3) Control Flow: What instructions come next! (J type formats)</a:t>
            </a:r>
          </a:p>
          <a:p>
            <a:pPr>
              <a:buFontTx/>
              <a:buChar char="-"/>
            </a:pPr>
            <a:r>
              <a:rPr lang="en-US" dirty="0"/>
              <a:t>Unconditional jumps</a:t>
            </a:r>
          </a:p>
          <a:p>
            <a:pPr>
              <a:buFontTx/>
              <a:buChar char="-"/>
            </a:pPr>
            <a:r>
              <a:rPr lang="en-US" dirty="0"/>
              <a:t>Conditional branches </a:t>
            </a:r>
          </a:p>
        </p:txBody>
      </p:sp>
    </p:spTree>
    <p:extLst>
      <p:ext uri="{BB962C8B-B14F-4D97-AF65-F5344CB8AC3E}">
        <p14:creationId xmlns:p14="http://schemas.microsoft.com/office/powerpoint/2010/main" val="152210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126E-2F3F-4D72-B923-CF69CD45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Operand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7908-4B88-4369-A73C-B5806A368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Immediates</a:t>
            </a:r>
            <a:r>
              <a:rPr lang="en-US" dirty="0"/>
              <a:t>: Constants</a:t>
            </a:r>
          </a:p>
          <a:p>
            <a:pPr>
              <a:buFontTx/>
              <a:buChar char="-"/>
            </a:pPr>
            <a:r>
              <a:rPr lang="en-US" dirty="0"/>
              <a:t>Indicated by </a:t>
            </a:r>
            <a:r>
              <a:rPr lang="en-US" b="1" dirty="0"/>
              <a:t>$</a:t>
            </a:r>
            <a:r>
              <a:rPr lang="en-US" dirty="0"/>
              <a:t> in x86: </a:t>
            </a:r>
            <a:r>
              <a:rPr lang="en-US" b="1" dirty="0"/>
              <a:t>$560</a:t>
            </a:r>
            <a:endParaRPr lang="en-US" dirty="0"/>
          </a:p>
          <a:p>
            <a:r>
              <a:rPr lang="en-US" dirty="0"/>
              <a:t>Register: 16 integer registers, 6 argument registers</a:t>
            </a:r>
          </a:p>
          <a:p>
            <a:pPr>
              <a:buFontTx/>
              <a:buChar char="-"/>
            </a:pPr>
            <a:r>
              <a:rPr lang="en-US" b="1" dirty="0"/>
              <a:t>%</a:t>
            </a:r>
            <a:r>
              <a:rPr lang="en-US" b="1" dirty="0" err="1"/>
              <a:t>rsp</a:t>
            </a:r>
            <a:r>
              <a:rPr lang="en-US" b="1" dirty="0"/>
              <a:t> </a:t>
            </a:r>
            <a:r>
              <a:rPr lang="en-US" dirty="0"/>
              <a:t>is special: It’s the stack pointer!</a:t>
            </a:r>
          </a:p>
          <a:p>
            <a:r>
              <a:rPr lang="en-US" dirty="0"/>
              <a:t>Memory: Consecutive bytes of memory at a computed address!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(%</a:t>
            </a:r>
            <a:r>
              <a:rPr lang="en-US" b="1" dirty="0" err="1"/>
              <a:t>rax</a:t>
            </a:r>
            <a:r>
              <a:rPr lang="en-US" b="1" dirty="0"/>
              <a:t>)</a:t>
            </a:r>
            <a:r>
              <a:rPr lang="en-US" dirty="0"/>
              <a:t> -&gt; Take data in %</a:t>
            </a:r>
            <a:r>
              <a:rPr lang="en-US" dirty="0" err="1"/>
              <a:t>rax</a:t>
            </a:r>
            <a:r>
              <a:rPr lang="en-US" dirty="0"/>
              <a:t> and get data at that address: *</a:t>
            </a:r>
            <a:r>
              <a:rPr lang="en-US" b="1" dirty="0"/>
              <a:t>(</a:t>
            </a:r>
            <a:r>
              <a:rPr lang="en-US" b="1" dirty="0" err="1"/>
              <a:t>rax</a:t>
            </a:r>
            <a:r>
              <a:rPr lang="en-US" b="1" dirty="0"/>
              <a:t> + 0)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40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815548"/>
            <a:ext cx="5671930" cy="25513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cap="all" dirty="0"/>
              <a:t>X86 Assembly: Basic Instructions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2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8AD7-8170-44C7-940D-EDF87A5F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Data: The </a:t>
            </a:r>
            <a:r>
              <a:rPr lang="en-US" b="1" dirty="0"/>
              <a:t>mov </a:t>
            </a:r>
            <a:r>
              <a:rPr lang="en-US" dirty="0"/>
              <a:t>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35A1E-6D95-4FCB-979B-5D81AB3B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General Form: </a:t>
            </a:r>
            <a:r>
              <a:rPr lang="en-US" b="1" dirty="0"/>
              <a:t>mov(_)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dest</a:t>
            </a:r>
            <a:endParaRPr lang="en-US" dirty="0"/>
          </a:p>
          <a:p>
            <a:r>
              <a:rPr lang="en-US" dirty="0"/>
              <a:t>(_): specializes expected size of operands!</a:t>
            </a:r>
          </a:p>
          <a:p>
            <a:r>
              <a:rPr lang="en-US" dirty="0"/>
              <a:t>Word means </a:t>
            </a:r>
            <a:r>
              <a:rPr lang="en-US" b="1" dirty="0"/>
              <a:t>16 bits = 2 bytes in x86 instructions </a:t>
            </a:r>
            <a:r>
              <a:rPr lang="en-US" dirty="0"/>
              <a:t>(equivalent to half-word in MIPS)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pPr marL="0" indent="0">
              <a:buNone/>
            </a:pPr>
            <a:r>
              <a:rPr lang="en-US" dirty="0" err="1"/>
              <a:t>mov</a:t>
            </a:r>
            <a:r>
              <a:rPr lang="en-US" b="1" dirty="0" err="1"/>
              <a:t>b</a:t>
            </a:r>
            <a:r>
              <a:rPr lang="en-US" b="1" dirty="0"/>
              <a:t>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dest</a:t>
            </a:r>
            <a:r>
              <a:rPr lang="en-US" b="1" dirty="0"/>
              <a:t>			</a:t>
            </a:r>
            <a:r>
              <a:rPr lang="en-US" dirty="0" err="1"/>
              <a:t>mov</a:t>
            </a:r>
            <a:r>
              <a:rPr lang="en-US" b="1" dirty="0" err="1"/>
              <a:t>l</a:t>
            </a:r>
            <a:r>
              <a:rPr lang="en-US" b="1" dirty="0"/>
              <a:t>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dest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Move a single </a:t>
            </a:r>
            <a:r>
              <a:rPr lang="en-US" b="1" dirty="0"/>
              <a:t>byte		- </a:t>
            </a:r>
            <a:r>
              <a:rPr lang="en-US" dirty="0"/>
              <a:t>Move 4 byte “</a:t>
            </a:r>
            <a:r>
              <a:rPr lang="en-US" b="1" dirty="0"/>
              <a:t>long-word</a:t>
            </a:r>
            <a:r>
              <a:rPr lang="en-US" dirty="0"/>
              <a:t>”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mov</a:t>
            </a:r>
            <a:r>
              <a:rPr lang="en-US" b="1" dirty="0" err="1"/>
              <a:t>w</a:t>
            </a:r>
            <a:r>
              <a:rPr lang="en-US" b="1" dirty="0"/>
              <a:t>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dest</a:t>
            </a:r>
            <a:r>
              <a:rPr lang="en-US" b="1" dirty="0"/>
              <a:t>			</a:t>
            </a:r>
            <a:r>
              <a:rPr lang="en-US" dirty="0" err="1"/>
              <a:t>mov</a:t>
            </a:r>
            <a:r>
              <a:rPr lang="en-US" b="1" dirty="0" err="1"/>
              <a:t>q</a:t>
            </a:r>
            <a:r>
              <a:rPr lang="en-US" b="1" dirty="0"/>
              <a:t>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dest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Move 2-byte </a:t>
            </a:r>
            <a:r>
              <a:rPr lang="en-US" b="1" dirty="0"/>
              <a:t>word</a:t>
            </a:r>
            <a:r>
              <a:rPr lang="en-US" dirty="0"/>
              <a:t>		- Move 8 byte “</a:t>
            </a:r>
            <a:r>
              <a:rPr lang="en-US" b="1" dirty="0"/>
              <a:t>quad-word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594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807D-055C-48A4-8794-A0DF4D75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Combinations of Operands with the </a:t>
            </a:r>
            <a:r>
              <a:rPr lang="en-US" b="1" dirty="0"/>
              <a:t>mov</a:t>
            </a:r>
            <a:r>
              <a:rPr lang="en-US" dirty="0"/>
              <a:t> Instruction</a:t>
            </a:r>
            <a:endParaRPr lang="en-US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180706-2D5E-4E6B-A4DF-34071B6531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096171"/>
              </p:ext>
            </p:extLst>
          </p:nvPr>
        </p:nvGraphicFramePr>
        <p:xfrm>
          <a:off x="1371600" y="2286000"/>
          <a:ext cx="96012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10021373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91726124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33187918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83692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 Operand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Destination Operand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Src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66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movq</a:t>
                      </a:r>
                      <a:r>
                        <a:rPr lang="en-US" dirty="0"/>
                        <a:t> $0x4, %</a:t>
                      </a:r>
                      <a:r>
                        <a:rPr lang="en-US" dirty="0" err="1"/>
                        <a:t>rax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= 0x4;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858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movq</a:t>
                      </a:r>
                      <a:r>
                        <a:rPr lang="en-US" dirty="0"/>
                        <a:t> $-147, (%</a:t>
                      </a:r>
                      <a:r>
                        <a:rPr lang="en-US" dirty="0" err="1"/>
                        <a:t>rax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  <a:r>
                        <a:rPr lang="en-US" dirty="0" err="1"/>
                        <a:t>ptr</a:t>
                      </a:r>
                      <a:r>
                        <a:rPr lang="en-US" dirty="0"/>
                        <a:t> = -147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75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movq</a:t>
                      </a:r>
                      <a:r>
                        <a:rPr lang="en-US" dirty="0"/>
                        <a:t> %</a:t>
                      </a:r>
                      <a:r>
                        <a:rPr lang="en-US" dirty="0" err="1"/>
                        <a:t>rax</a:t>
                      </a:r>
                      <a:r>
                        <a:rPr lang="en-US" dirty="0"/>
                        <a:t>, %</a:t>
                      </a:r>
                      <a:r>
                        <a:rPr lang="en-US" dirty="0" err="1"/>
                        <a:t>rdx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dest</a:t>
                      </a:r>
                      <a:r>
                        <a:rPr lang="en-US" dirty="0"/>
                        <a:t> =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32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movq</a:t>
                      </a:r>
                      <a:r>
                        <a:rPr lang="en-US" dirty="0"/>
                        <a:t> %</a:t>
                      </a:r>
                      <a:r>
                        <a:rPr lang="en-US" dirty="0" err="1"/>
                        <a:t>rax</a:t>
                      </a:r>
                      <a:r>
                        <a:rPr lang="en-US" dirty="0"/>
                        <a:t>, (%</a:t>
                      </a:r>
                      <a:r>
                        <a:rPr lang="en-US" dirty="0" err="1"/>
                        <a:t>rdx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  <a:r>
                        <a:rPr lang="en-US" dirty="0" err="1"/>
                        <a:t>dest_ptr</a:t>
                      </a:r>
                      <a:r>
                        <a:rPr lang="en-US" dirty="0"/>
                        <a:t> =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8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movq</a:t>
                      </a:r>
                      <a:r>
                        <a:rPr lang="en-US" dirty="0"/>
                        <a:t> (%</a:t>
                      </a:r>
                      <a:r>
                        <a:rPr lang="en-US" dirty="0" err="1"/>
                        <a:t>rax</a:t>
                      </a:r>
                      <a:r>
                        <a:rPr lang="en-US" dirty="0"/>
                        <a:t>), %</a:t>
                      </a:r>
                      <a:r>
                        <a:rPr lang="en-US" dirty="0" err="1"/>
                        <a:t>rdx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dest</a:t>
                      </a:r>
                      <a:r>
                        <a:rPr lang="en-US" dirty="0"/>
                        <a:t> = *(</a:t>
                      </a:r>
                      <a:r>
                        <a:rPr lang="en-US" dirty="0" err="1"/>
                        <a:t>ptr_src</a:t>
                      </a:r>
                      <a:r>
                        <a:rPr lang="en-US" dirty="0"/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9496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C53101-080C-4614-B356-8B7D7FC64285}"/>
              </a:ext>
            </a:extLst>
          </p:cNvPr>
          <p:cNvSpPr txBox="1"/>
          <p:nvPr/>
        </p:nvSpPr>
        <p:spPr>
          <a:xfrm>
            <a:off x="5615062" y="5087968"/>
            <a:ext cx="4154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 err="1"/>
              <a:t>src</a:t>
            </a:r>
            <a:r>
              <a:rPr lang="en-US" dirty="0"/>
              <a:t>, </a:t>
            </a:r>
            <a:r>
              <a:rPr lang="en-US" dirty="0" err="1"/>
              <a:t>dest</a:t>
            </a:r>
            <a:r>
              <a:rPr lang="en-US" dirty="0"/>
              <a:t> syntax is known as </a:t>
            </a:r>
            <a:r>
              <a:rPr lang="en-US" b="1" dirty="0"/>
              <a:t>AT&amp;T syntax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71CB31-DFA5-437A-B3EF-593BF38F9655}"/>
              </a:ext>
            </a:extLst>
          </p:cNvPr>
          <p:cNvCxnSpPr>
            <a:cxnSpLocks/>
          </p:cNvCxnSpPr>
          <p:nvPr/>
        </p:nvCxnSpPr>
        <p:spPr>
          <a:xfrm flipV="1">
            <a:off x="7448365" y="4780280"/>
            <a:ext cx="0" cy="3983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20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B074-3E3C-41B6-BC49-C77D71B4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Memory 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474D6-CEA2-4446-B723-4E4D33C7D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Indirect: Mem[Reg[R]]</a:t>
            </a:r>
          </a:p>
          <a:p>
            <a:pPr marL="0" indent="0">
              <a:buNone/>
            </a:pPr>
            <a:r>
              <a:rPr lang="en-US" dirty="0"/>
              <a:t>The Data in register </a:t>
            </a:r>
            <a:r>
              <a:rPr lang="en-US" b="1" dirty="0"/>
              <a:t>R </a:t>
            </a:r>
            <a:r>
              <a:rPr lang="en-US" dirty="0"/>
              <a:t>specifies the Memory Address!</a:t>
            </a:r>
          </a:p>
          <a:p>
            <a:pPr>
              <a:buFontTx/>
              <a:buChar char="-"/>
            </a:pPr>
            <a:r>
              <a:rPr lang="en-US" dirty="0"/>
              <a:t>Just like Pointer Dereferencing!!</a:t>
            </a:r>
          </a:p>
          <a:p>
            <a:pPr>
              <a:buFontTx/>
              <a:buChar char="-"/>
            </a:pPr>
            <a:r>
              <a:rPr lang="en-US" dirty="0"/>
              <a:t>Example: </a:t>
            </a:r>
            <a:r>
              <a:rPr lang="en-US" b="1" dirty="0" err="1"/>
              <a:t>movq</a:t>
            </a:r>
            <a:r>
              <a:rPr lang="en-US" dirty="0"/>
              <a:t> (%</a:t>
            </a:r>
            <a:r>
              <a:rPr lang="en-US" dirty="0" err="1"/>
              <a:t>rcx</a:t>
            </a:r>
            <a:r>
              <a:rPr lang="en-US" dirty="0"/>
              <a:t>), %</a:t>
            </a:r>
            <a:r>
              <a:rPr lang="en-US" dirty="0" err="1"/>
              <a:t>rax</a:t>
            </a:r>
            <a:endParaRPr lang="en-US" dirty="0"/>
          </a:p>
          <a:p>
            <a:r>
              <a:rPr lang="en-US" b="1" dirty="0"/>
              <a:t>Displacement: Mem[Reg[R] + D]</a:t>
            </a:r>
          </a:p>
          <a:p>
            <a:pPr>
              <a:buFontTx/>
              <a:buChar char="-"/>
            </a:pPr>
            <a:r>
              <a:rPr lang="en-US" dirty="0"/>
              <a:t>Data in register </a:t>
            </a:r>
            <a:r>
              <a:rPr lang="en-US" b="1" dirty="0"/>
              <a:t>R </a:t>
            </a:r>
            <a:r>
              <a:rPr lang="en-US" dirty="0"/>
              <a:t>specifies the start of some memory region!</a:t>
            </a:r>
          </a:p>
          <a:p>
            <a:pPr>
              <a:buFontTx/>
              <a:buChar char="-"/>
            </a:pPr>
            <a:r>
              <a:rPr lang="en-US" dirty="0"/>
              <a:t>Displacement </a:t>
            </a:r>
            <a:r>
              <a:rPr lang="en-US" b="1" dirty="0"/>
              <a:t>D </a:t>
            </a:r>
            <a:r>
              <a:rPr lang="en-US" dirty="0"/>
              <a:t>specifies offset from that address!</a:t>
            </a:r>
          </a:p>
          <a:p>
            <a:pPr>
              <a:buFontTx/>
              <a:buChar char="-"/>
            </a:pPr>
            <a:r>
              <a:rPr lang="en-US" dirty="0"/>
              <a:t>Example: </a:t>
            </a:r>
            <a:r>
              <a:rPr lang="en-US" b="1" dirty="0" err="1"/>
              <a:t>movq</a:t>
            </a:r>
            <a:r>
              <a:rPr lang="en-US" b="1" dirty="0"/>
              <a:t> </a:t>
            </a:r>
            <a:r>
              <a:rPr lang="en-US" dirty="0"/>
              <a:t>8(%</a:t>
            </a:r>
            <a:r>
              <a:rPr lang="en-US" dirty="0" err="1"/>
              <a:t>rbp</a:t>
            </a:r>
            <a:r>
              <a:rPr lang="en-US" dirty="0"/>
              <a:t>), %</a:t>
            </a:r>
            <a:r>
              <a:rPr lang="en-US" dirty="0" err="1"/>
              <a:t>rdx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4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11A6-2285-44D6-89A0-8FEAC32F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776" y="204211"/>
            <a:ext cx="7729728" cy="1188720"/>
          </a:xfrm>
        </p:spPr>
        <p:txBody>
          <a:bodyPr/>
          <a:lstStyle/>
          <a:p>
            <a:r>
              <a:rPr lang="en-US" dirty="0"/>
              <a:t>Complete Memory 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0B057-A5AB-4830-80ED-58CD6F1F4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581400"/>
          </a:xfrm>
        </p:spPr>
        <p:txBody>
          <a:bodyPr/>
          <a:lstStyle/>
          <a:p>
            <a:r>
              <a:rPr lang="en-US" b="1" dirty="0"/>
              <a:t>General:</a:t>
            </a:r>
          </a:p>
          <a:p>
            <a:pPr marL="0" indent="0">
              <a:buNone/>
            </a:pPr>
            <a:r>
              <a:rPr lang="en-US" b="1" dirty="0"/>
              <a:t>D(</a:t>
            </a:r>
            <a:r>
              <a:rPr lang="en-US" b="1" dirty="0" err="1"/>
              <a:t>Rb</a:t>
            </a:r>
            <a:r>
              <a:rPr lang="en-US" b="1" dirty="0"/>
              <a:t>, Ri, S):</a:t>
            </a:r>
            <a:r>
              <a:rPr lang="en-US" dirty="0"/>
              <a:t> </a:t>
            </a:r>
            <a:r>
              <a:rPr lang="en-US" b="1" dirty="0"/>
              <a:t>Mem[Reg[</a:t>
            </a:r>
            <a:r>
              <a:rPr lang="en-US" b="1" dirty="0" err="1"/>
              <a:t>Rb</a:t>
            </a:r>
            <a:r>
              <a:rPr lang="en-US" b="1" dirty="0"/>
              <a:t>]+ Reg[Ri]*S+D]</a:t>
            </a:r>
          </a:p>
          <a:p>
            <a:pPr marL="457200" indent="-457200">
              <a:buAutoNum type="arabicParenR"/>
            </a:pPr>
            <a:r>
              <a:rPr lang="en-US" b="1" dirty="0" err="1"/>
              <a:t>Rb</a:t>
            </a:r>
            <a:r>
              <a:rPr lang="en-US" b="1" dirty="0"/>
              <a:t>: Base Register </a:t>
            </a:r>
            <a:r>
              <a:rPr lang="en-US" dirty="0"/>
              <a:t>(any register)</a:t>
            </a:r>
          </a:p>
          <a:p>
            <a:pPr marL="457200" indent="-457200">
              <a:buAutoNum type="arabicParenR"/>
            </a:pPr>
            <a:r>
              <a:rPr lang="en-US" b="1" dirty="0"/>
              <a:t>Ri: Index Register </a:t>
            </a:r>
            <a:r>
              <a:rPr lang="en-US" dirty="0"/>
              <a:t>(any register </a:t>
            </a:r>
            <a:r>
              <a:rPr lang="en-US" b="1" dirty="0"/>
              <a:t>except %</a:t>
            </a:r>
            <a:r>
              <a:rPr lang="en-US" b="1" dirty="0" err="1"/>
              <a:t>rsp</a:t>
            </a:r>
            <a:r>
              <a:rPr lang="en-US" dirty="0"/>
              <a:t>)</a:t>
            </a:r>
          </a:p>
          <a:p>
            <a:pPr marL="457200" indent="-457200">
              <a:buAutoNum type="arabicParenR"/>
            </a:pPr>
            <a:r>
              <a:rPr lang="en-US" b="1" dirty="0"/>
              <a:t>S: Scaling Factor (</a:t>
            </a:r>
            <a:r>
              <a:rPr lang="en-US" dirty="0"/>
              <a:t>1,2,4,8 (align to type you’re working with))</a:t>
            </a:r>
          </a:p>
          <a:p>
            <a:pPr marL="457200" indent="-457200">
              <a:buAutoNum type="arabicParenR"/>
            </a:pPr>
            <a:r>
              <a:rPr lang="en-US" b="1" dirty="0"/>
              <a:t>D: Displacement Value </a:t>
            </a:r>
            <a:r>
              <a:rPr lang="en-US" dirty="0"/>
              <a:t>(aka the </a:t>
            </a:r>
            <a:r>
              <a:rPr lang="en-US" b="1" dirty="0"/>
              <a:t>immediate</a:t>
            </a:r>
            <a:r>
              <a:rPr lang="en-US" dirty="0"/>
              <a:t>)</a:t>
            </a:r>
          </a:p>
          <a:p>
            <a:r>
              <a:rPr lang="en-US" b="1" dirty="0"/>
              <a:t>Special Cases: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9EF2D7F-BB40-4474-88EA-180C6E61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539928"/>
              </p:ext>
            </p:extLst>
          </p:nvPr>
        </p:nvGraphicFramePr>
        <p:xfrm>
          <a:off x="1632505" y="4385569"/>
          <a:ext cx="8127999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42581306"/>
                    </a:ext>
                  </a:extLst>
                </a:gridCol>
                <a:gridCol w="3124282">
                  <a:extLst>
                    <a:ext uri="{9D8B030D-6E8A-4147-A177-3AD203B41FA5}">
                      <a16:colId xmlns:a16="http://schemas.microsoft.com/office/drawing/2014/main" val="300581460"/>
                    </a:ext>
                  </a:extLst>
                </a:gridCol>
                <a:gridCol w="2294384">
                  <a:extLst>
                    <a:ext uri="{9D8B030D-6E8A-4147-A177-3AD203B41FA5}">
                      <a16:colId xmlns:a16="http://schemas.microsoft.com/office/drawing/2014/main" val="2455774396"/>
                    </a:ext>
                  </a:extLst>
                </a:gridCol>
              </a:tblGrid>
              <a:tr h="335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Special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39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D(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, 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Mem[Reg[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] + Reg[Ri] + 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(S =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48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, Ri, 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Mem[Reg[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] + Reg[Ri]*S]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(D =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354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, 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Mem[Reg[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] + Reg[Ri]]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(S = 1, D =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29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(, Ri, 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Mem[Reg[Ri] * 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 = 0, D =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984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5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9B7B-FB27-41B9-854D-E542153E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Address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C0804-34F1-4AE5-9C62-0F127A858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959786" cy="3101983"/>
          </a:xfrm>
        </p:spPr>
        <p:txBody>
          <a:bodyPr/>
          <a:lstStyle/>
          <a:p>
            <a:r>
              <a:rPr lang="en-US" dirty="0"/>
              <a:t>If not specified, the default values are: </a:t>
            </a:r>
            <a:r>
              <a:rPr lang="en-US" b="1" dirty="0"/>
              <a:t>S = 1, D = 0, Reg[</a:t>
            </a:r>
            <a:r>
              <a:rPr lang="en-US" b="1" dirty="0" err="1"/>
              <a:t>Rb</a:t>
            </a:r>
            <a:r>
              <a:rPr lang="en-US" b="1" dirty="0"/>
              <a:t>] = 0, Reg[Ri] = 0</a:t>
            </a:r>
          </a:p>
          <a:p>
            <a:pPr marL="0" indent="0">
              <a:buNone/>
            </a:pPr>
            <a:r>
              <a:rPr lang="en-US" dirty="0"/>
              <a:t>Assuming </a:t>
            </a:r>
            <a:r>
              <a:rPr lang="en-US" b="1" dirty="0"/>
              <a:t>%</a:t>
            </a:r>
            <a:r>
              <a:rPr lang="en-US" b="1" dirty="0" err="1"/>
              <a:t>rdx</a:t>
            </a:r>
            <a:r>
              <a:rPr lang="en-US" b="1" dirty="0"/>
              <a:t> = 0xf000, %</a:t>
            </a:r>
            <a:r>
              <a:rPr lang="en-US" b="1" dirty="0" err="1"/>
              <a:t>rcx</a:t>
            </a:r>
            <a:r>
              <a:rPr lang="en-US" b="1" dirty="0"/>
              <a:t> = 0x0100: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30B1602-6550-4C78-AF56-0712F8E19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675915"/>
              </p:ext>
            </p:extLst>
          </p:nvPr>
        </p:nvGraphicFramePr>
        <p:xfrm>
          <a:off x="1596349" y="3777489"/>
          <a:ext cx="9601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54864642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33936689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718833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77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0x8(%</a:t>
                      </a:r>
                      <a:r>
                        <a:rPr lang="en-US" dirty="0" err="1"/>
                        <a:t>rdx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Reg[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] + D = 0xf000 + 0x8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381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(%</a:t>
                      </a:r>
                      <a:r>
                        <a:rPr lang="en-US" dirty="0" err="1"/>
                        <a:t>rdx</a:t>
                      </a:r>
                      <a:r>
                        <a:rPr lang="en-US" dirty="0"/>
                        <a:t>, %</a:t>
                      </a:r>
                      <a:r>
                        <a:rPr lang="en-US" dirty="0" err="1"/>
                        <a:t>rcx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0xf000 + 0x100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15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(%</a:t>
                      </a:r>
                      <a:r>
                        <a:rPr lang="en-US" dirty="0" err="1"/>
                        <a:t>rdx</a:t>
                      </a:r>
                      <a:r>
                        <a:rPr lang="en-US" dirty="0"/>
                        <a:t>, %</a:t>
                      </a:r>
                      <a:r>
                        <a:rPr lang="en-US" dirty="0" err="1"/>
                        <a:t>rcx</a:t>
                      </a:r>
                      <a:r>
                        <a:rPr lang="en-US" dirty="0"/>
                        <a:t>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0xf000 + 0x100*4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96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0x80(,rdx,2)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0xf000*2 + 0x80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0x1e080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87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41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7A9C-5995-4B40-8EAB-38B07D20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Computation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B6549-63E8-4751-827B-ED01A54BC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/>
              <a:t>leaq</a:t>
            </a:r>
            <a:r>
              <a:rPr lang="en-US" b="1" dirty="0"/>
              <a:t>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dest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L</a:t>
            </a:r>
            <a:r>
              <a:rPr lang="en-US" dirty="0"/>
              <a:t>oad </a:t>
            </a:r>
            <a:r>
              <a:rPr lang="en-US" b="1" dirty="0"/>
              <a:t>E</a:t>
            </a:r>
            <a:r>
              <a:rPr lang="en-US" dirty="0"/>
              <a:t>ffective</a:t>
            </a:r>
            <a:r>
              <a:rPr lang="en-US" b="1" dirty="0"/>
              <a:t> A</a:t>
            </a:r>
            <a:r>
              <a:rPr lang="en-US" dirty="0"/>
              <a:t>ddress </a:t>
            </a:r>
            <a:r>
              <a:rPr lang="en-US" b="1" dirty="0"/>
              <a:t>Q</a:t>
            </a:r>
            <a:r>
              <a:rPr lang="en-US" dirty="0"/>
              <a:t>uad-word</a:t>
            </a:r>
          </a:p>
          <a:p>
            <a:pPr>
              <a:buFontTx/>
              <a:buChar char="-"/>
            </a:pPr>
            <a:r>
              <a:rPr lang="en-US" dirty="0"/>
              <a:t>Set destination operand to address denoted by the expression (doesn’t go into memory, it just does math!!)</a:t>
            </a:r>
          </a:p>
          <a:p>
            <a:r>
              <a:rPr lang="en-US" dirty="0"/>
              <a:t>Uses:</a:t>
            </a:r>
          </a:p>
          <a:p>
            <a:pPr>
              <a:buFontTx/>
              <a:buChar char="-"/>
            </a:pPr>
            <a:r>
              <a:rPr lang="en-US" dirty="0"/>
              <a:t>Computing addressing without memory reference</a:t>
            </a:r>
          </a:p>
          <a:p>
            <a:pPr marL="0" indent="0">
              <a:buNone/>
            </a:pPr>
            <a:r>
              <a:rPr lang="en-US" dirty="0"/>
              <a:t>Example: Translation of </a:t>
            </a:r>
            <a:r>
              <a:rPr lang="en-US" b="1" dirty="0"/>
              <a:t>p = &amp;x[</a:t>
            </a:r>
            <a:r>
              <a:rPr lang="en-US" b="1" dirty="0" err="1"/>
              <a:t>i</a:t>
            </a:r>
            <a:r>
              <a:rPr lang="en-US" b="1" dirty="0"/>
              <a:t>];</a:t>
            </a:r>
          </a:p>
          <a:p>
            <a:pPr>
              <a:buFontTx/>
              <a:buChar char="-"/>
            </a:pPr>
            <a:r>
              <a:rPr lang="en-US" dirty="0"/>
              <a:t>Computing arithmetic expressions of the form </a:t>
            </a:r>
            <a:r>
              <a:rPr lang="en-US" b="1" dirty="0"/>
              <a:t>x + k * y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k = 1, 2, 4, or 8 (offset to get to next multiple of that data type in memory)</a:t>
            </a:r>
          </a:p>
        </p:txBody>
      </p:sp>
    </p:spTree>
    <p:extLst>
      <p:ext uri="{BB962C8B-B14F-4D97-AF65-F5344CB8AC3E}">
        <p14:creationId xmlns:p14="http://schemas.microsoft.com/office/powerpoint/2010/main" val="118135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25173"/>
            <a:ext cx="5626163" cy="19284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cap="all" dirty="0"/>
              <a:t>X86 Assembly: Conditionals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13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8A3-34CC-4537-84E5-856E7F796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Codes: </a:t>
            </a:r>
            <a:r>
              <a:rPr lang="en-US" b="1" dirty="0"/>
              <a:t>Implicit </a:t>
            </a:r>
            <a:r>
              <a:rPr lang="en-US" dirty="0"/>
              <a:t>Setting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7812D-6C59-49AB-BF5F-8F1D7838F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Implicitly set by </a:t>
                </a:r>
                <a:r>
                  <a:rPr lang="en-US" b="1" dirty="0"/>
                  <a:t>Arithmetic </a:t>
                </a:r>
                <a:r>
                  <a:rPr lang="en-US" dirty="0"/>
                  <a:t>Operations</a:t>
                </a:r>
              </a:p>
              <a:p>
                <a:r>
                  <a:rPr lang="en-US" dirty="0"/>
                  <a:t>Example: </a:t>
                </a:r>
                <a:r>
                  <a:rPr lang="en-US" b="1" dirty="0" err="1"/>
                  <a:t>addq</a:t>
                </a:r>
                <a:r>
                  <a:rPr lang="en-US" b="1" dirty="0"/>
                  <a:t> </a:t>
                </a:r>
                <a:r>
                  <a:rPr lang="en-US" b="1" dirty="0" err="1"/>
                  <a:t>src</a:t>
                </a:r>
                <a:r>
                  <a:rPr lang="en-US" b="1" dirty="0"/>
                  <a:t>, </a:t>
                </a:r>
                <a:r>
                  <a:rPr lang="en-US" b="1" dirty="0" err="1"/>
                  <a:t>dest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b="1" dirty="0"/>
                  <a:t> r = d + s</a:t>
                </a:r>
              </a:p>
              <a:p>
                <a:endParaRPr lang="en-US" dirty="0"/>
              </a:p>
              <a:p>
                <a:r>
                  <a:rPr lang="en-US" dirty="0"/>
                  <a:t>Carry Flag (CF): </a:t>
                </a:r>
                <a:r>
                  <a:rPr lang="en-US" b="1" dirty="0"/>
                  <a:t>CF = 1</a:t>
                </a:r>
                <a:r>
                  <a:rPr lang="en-US" dirty="0"/>
                  <a:t> if Carry Out from MSB (</a:t>
                </a:r>
                <a:r>
                  <a:rPr lang="en-US" b="1" dirty="0"/>
                  <a:t>Unsigned Overflow</a:t>
                </a:r>
                <a:r>
                  <a:rPr lang="en-US" dirty="0"/>
                  <a:t>)</a:t>
                </a:r>
                <a:endParaRPr lang="en-US" b="1" dirty="0"/>
              </a:p>
              <a:p>
                <a:r>
                  <a:rPr lang="en-US" dirty="0"/>
                  <a:t>Zero Flag (ZF): </a:t>
                </a:r>
                <a:r>
                  <a:rPr lang="en-US" b="1" dirty="0"/>
                  <a:t>ZF = 1 </a:t>
                </a:r>
                <a:r>
                  <a:rPr lang="en-US" dirty="0"/>
                  <a:t>if r = 0</a:t>
                </a:r>
              </a:p>
              <a:p>
                <a:r>
                  <a:rPr lang="en-US" dirty="0"/>
                  <a:t>Sign Flag (SF): </a:t>
                </a:r>
                <a:r>
                  <a:rPr lang="en-US" b="1" dirty="0"/>
                  <a:t>SF = 1</a:t>
                </a:r>
                <a:r>
                  <a:rPr lang="en-US" dirty="0"/>
                  <a:t> if r &lt; 0 (MSB is 1)</a:t>
                </a:r>
              </a:p>
              <a:p>
                <a:r>
                  <a:rPr lang="en-US" dirty="0"/>
                  <a:t>Overflow Flag (OF): </a:t>
                </a:r>
                <a:r>
                  <a:rPr lang="en-US" b="1" dirty="0"/>
                  <a:t>OF = 1</a:t>
                </a:r>
                <a:r>
                  <a:rPr lang="en-US" dirty="0"/>
                  <a:t> if signed overflow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7812D-6C59-49AB-BF5F-8F1D7838F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26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0246-21AE-41F4-86B7-3639830B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Condition Codes: </a:t>
            </a:r>
            <a:r>
              <a:rPr lang="en-US" b="1" dirty="0"/>
              <a:t>Explicit </a:t>
            </a:r>
            <a:r>
              <a:rPr lang="en-US" dirty="0"/>
              <a:t>Setting: </a:t>
            </a:r>
            <a:r>
              <a:rPr lang="en-US" b="1" dirty="0"/>
              <a:t>Compare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BE592-130D-4785-82B8-E5E1AA26B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Explicitly set by the </a:t>
            </a:r>
            <a:r>
              <a:rPr lang="en-US" b="1" dirty="0"/>
              <a:t>Compare </a:t>
            </a:r>
            <a:r>
              <a:rPr lang="en-US" dirty="0"/>
              <a:t>instruction</a:t>
            </a:r>
          </a:p>
          <a:p>
            <a:pPr>
              <a:buFontTx/>
              <a:buChar char="-"/>
            </a:pPr>
            <a:r>
              <a:rPr lang="en-US" b="1" dirty="0" err="1"/>
              <a:t>cmpq</a:t>
            </a:r>
            <a:r>
              <a:rPr lang="en-US" b="1" dirty="0"/>
              <a:t> src1, src2</a:t>
            </a:r>
          </a:p>
          <a:p>
            <a:pPr>
              <a:buFontTx/>
              <a:buChar char="-"/>
            </a:pPr>
            <a:r>
              <a:rPr lang="en-US" b="1" dirty="0" err="1"/>
              <a:t>cmpq</a:t>
            </a:r>
            <a:r>
              <a:rPr lang="en-US" b="1" dirty="0"/>
              <a:t> a, b </a:t>
            </a:r>
            <a:r>
              <a:rPr lang="en-US" dirty="0"/>
              <a:t>sets flags based on </a:t>
            </a:r>
            <a:r>
              <a:rPr lang="en-US" b="1" dirty="0"/>
              <a:t>b – a </a:t>
            </a:r>
            <a:r>
              <a:rPr lang="en-US" dirty="0"/>
              <a:t>but does not </a:t>
            </a:r>
            <a:r>
              <a:rPr lang="en-US" b="1" dirty="0"/>
              <a:t>STORE </a:t>
            </a:r>
            <a:r>
              <a:rPr lang="en-US" dirty="0"/>
              <a:t>the result anywhere!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Carry Flag (CF): </a:t>
            </a:r>
            <a:r>
              <a:rPr lang="en-US" b="1" dirty="0"/>
              <a:t>CF = 1</a:t>
            </a:r>
            <a:r>
              <a:rPr lang="en-US" dirty="0"/>
              <a:t> if Carry Out from MSB (</a:t>
            </a:r>
            <a:r>
              <a:rPr lang="en-US" b="1" dirty="0"/>
              <a:t>Unsigned Overflow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Zero Flag (ZF): </a:t>
            </a:r>
            <a:r>
              <a:rPr lang="en-US" b="1" dirty="0"/>
              <a:t>ZF = 1 </a:t>
            </a:r>
            <a:r>
              <a:rPr lang="en-US" dirty="0"/>
              <a:t>if a == b</a:t>
            </a:r>
          </a:p>
          <a:p>
            <a:r>
              <a:rPr lang="en-US" dirty="0"/>
              <a:t>Sign Flag (SF): </a:t>
            </a:r>
            <a:r>
              <a:rPr lang="en-US" b="1" dirty="0"/>
              <a:t>SF = 1</a:t>
            </a:r>
            <a:r>
              <a:rPr lang="en-US" dirty="0"/>
              <a:t> if (b – a) &lt; 0 (MSB is 1)</a:t>
            </a:r>
          </a:p>
          <a:p>
            <a:r>
              <a:rPr lang="en-US" dirty="0"/>
              <a:t>Overflow Flag (OF): </a:t>
            </a:r>
            <a:r>
              <a:rPr lang="en-US" b="1" dirty="0"/>
              <a:t>OF = 1</a:t>
            </a:r>
            <a:r>
              <a:rPr lang="en-US" dirty="0"/>
              <a:t> if signed overflow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76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28D6-3220-4244-9CE2-1A52177B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Condition Codes: </a:t>
            </a:r>
            <a:r>
              <a:rPr lang="en-US" b="1" dirty="0"/>
              <a:t>Explicit </a:t>
            </a:r>
            <a:r>
              <a:rPr lang="en-US" dirty="0"/>
              <a:t>Setting: </a:t>
            </a:r>
            <a:r>
              <a:rPr lang="en-US" b="1" dirty="0"/>
              <a:t>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E053C-3EAD-4A7C-94BF-D5FD9569C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Explicitly set by the </a:t>
            </a:r>
            <a:r>
              <a:rPr lang="en-US" b="1" dirty="0"/>
              <a:t>Test </a:t>
            </a:r>
            <a:r>
              <a:rPr lang="en-US" dirty="0"/>
              <a:t>instruction</a:t>
            </a:r>
          </a:p>
          <a:p>
            <a:pPr>
              <a:buFontTx/>
              <a:buChar char="-"/>
            </a:pPr>
            <a:r>
              <a:rPr lang="en-US" b="1" dirty="0" err="1"/>
              <a:t>testq</a:t>
            </a:r>
            <a:r>
              <a:rPr lang="en-US" b="1" dirty="0"/>
              <a:t> src2, src1</a:t>
            </a:r>
          </a:p>
          <a:p>
            <a:pPr>
              <a:buFontTx/>
              <a:buChar char="-"/>
            </a:pPr>
            <a:r>
              <a:rPr lang="en-US" b="1" dirty="0" err="1"/>
              <a:t>testq</a:t>
            </a:r>
            <a:r>
              <a:rPr lang="en-US" b="1" dirty="0"/>
              <a:t> a, b </a:t>
            </a:r>
            <a:r>
              <a:rPr lang="en-US" dirty="0"/>
              <a:t>sets flags based on </a:t>
            </a:r>
            <a:r>
              <a:rPr lang="en-US" b="1" dirty="0"/>
              <a:t>a &amp; b </a:t>
            </a:r>
            <a:r>
              <a:rPr lang="en-US" dirty="0"/>
              <a:t>but does not </a:t>
            </a:r>
            <a:r>
              <a:rPr lang="en-US" b="1" dirty="0"/>
              <a:t>STORE </a:t>
            </a:r>
            <a:r>
              <a:rPr lang="en-US" dirty="0"/>
              <a:t>the result anywhere!</a:t>
            </a:r>
          </a:p>
          <a:p>
            <a:pPr>
              <a:buFontTx/>
              <a:buChar char="-"/>
            </a:pPr>
            <a:r>
              <a:rPr lang="en-US" dirty="0"/>
              <a:t>It’s useful to have one of the operands to be a </a:t>
            </a:r>
            <a:r>
              <a:rPr lang="en-US" b="1" dirty="0"/>
              <a:t>mask</a:t>
            </a:r>
            <a:r>
              <a:rPr lang="en-US" dirty="0"/>
              <a:t>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Can’t have Carry Out or Overflow: CF = 0, OF = 0.</a:t>
            </a:r>
            <a:endParaRPr lang="en-US" b="1" dirty="0"/>
          </a:p>
          <a:p>
            <a:r>
              <a:rPr lang="en-US" dirty="0"/>
              <a:t>Zero Flag (ZF): </a:t>
            </a:r>
            <a:r>
              <a:rPr lang="en-US" b="1" dirty="0"/>
              <a:t>ZF = 1 </a:t>
            </a:r>
            <a:r>
              <a:rPr lang="en-US" dirty="0"/>
              <a:t>if a &amp; b == 0</a:t>
            </a:r>
          </a:p>
          <a:p>
            <a:r>
              <a:rPr lang="en-US" dirty="0"/>
              <a:t>Sign Flag (SF): </a:t>
            </a:r>
            <a:r>
              <a:rPr lang="en-US" b="1" dirty="0"/>
              <a:t>SF = 1</a:t>
            </a:r>
            <a:r>
              <a:rPr lang="en-US" dirty="0"/>
              <a:t> if a &amp; b &lt; 0 (signed)</a:t>
            </a:r>
          </a:p>
        </p:txBody>
      </p:sp>
    </p:spTree>
    <p:extLst>
      <p:ext uri="{BB962C8B-B14F-4D97-AF65-F5344CB8AC3E}">
        <p14:creationId xmlns:p14="http://schemas.microsoft.com/office/powerpoint/2010/main" val="164225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1154" y="781878"/>
            <a:ext cx="4798243" cy="2405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cap="all" dirty="0"/>
              <a:t>X86 Assembly: Branching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36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4669-8837-4A06-9FED-FD3A84BF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687" y="207176"/>
            <a:ext cx="7729728" cy="1188720"/>
          </a:xfrm>
        </p:spPr>
        <p:txBody>
          <a:bodyPr/>
          <a:lstStyle/>
          <a:p>
            <a:r>
              <a:rPr lang="en-US" dirty="0"/>
              <a:t>Using Condition Codes: Jumping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EF9A-0B8B-441E-9D24-EC5441920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255" y="1422400"/>
            <a:ext cx="9601200" cy="3581400"/>
          </a:xfrm>
        </p:spPr>
        <p:txBody>
          <a:bodyPr/>
          <a:lstStyle/>
          <a:p>
            <a:r>
              <a:rPr lang="en-US" b="1" dirty="0"/>
              <a:t>j</a:t>
            </a:r>
            <a:r>
              <a:rPr lang="en-US" dirty="0"/>
              <a:t> instructions</a:t>
            </a:r>
          </a:p>
          <a:p>
            <a:pPr marL="0" indent="0">
              <a:buNone/>
            </a:pPr>
            <a:r>
              <a:rPr lang="en-US" dirty="0"/>
              <a:t>Jumps to a </a:t>
            </a:r>
            <a:r>
              <a:rPr lang="en-US" b="1" dirty="0"/>
              <a:t>target </a:t>
            </a:r>
            <a:r>
              <a:rPr lang="en-US" dirty="0"/>
              <a:t>address based on condition codes: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F4523D-2AA7-49FC-A7E8-0F4C22C60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026632"/>
              </p:ext>
            </p:extLst>
          </p:nvPr>
        </p:nvGraphicFramePr>
        <p:xfrm>
          <a:off x="1469255" y="2259983"/>
          <a:ext cx="8128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841767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52586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05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jmp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Unconditional jump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467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equal (ZF ==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05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jne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not equal (ZF ==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41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js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negative (SF ==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858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jns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not negative (SF ==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353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jg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greater than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6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jge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greater than or equal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81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jl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less than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51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jle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less than or equal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95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above (Unsigned “&gt;”)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96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jb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Jump if below (Unsigned “&lt;“)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9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63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EE36-02E3-461F-B77A-8F79C7EF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796" y="162008"/>
            <a:ext cx="7729728" cy="1188720"/>
          </a:xfrm>
        </p:spPr>
        <p:txBody>
          <a:bodyPr/>
          <a:lstStyle/>
          <a:p>
            <a:r>
              <a:rPr lang="en-US" dirty="0"/>
              <a:t>Using Condition Codes: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DF68E-369B-46E1-875C-37DB32981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621" y="1428750"/>
            <a:ext cx="9601200" cy="3581400"/>
          </a:xfrm>
        </p:spPr>
        <p:txBody>
          <a:bodyPr/>
          <a:lstStyle/>
          <a:p>
            <a:r>
              <a:rPr lang="en-US" b="1" dirty="0"/>
              <a:t>set</a:t>
            </a:r>
            <a:r>
              <a:rPr lang="en-US" dirty="0"/>
              <a:t> instructions</a:t>
            </a:r>
          </a:p>
          <a:p>
            <a:pPr marL="0" indent="0">
              <a:buNone/>
            </a:pPr>
            <a:r>
              <a:rPr lang="en-US" dirty="0"/>
              <a:t>Set low-order byte of </a:t>
            </a:r>
            <a:r>
              <a:rPr lang="en-US" b="1" dirty="0" err="1"/>
              <a:t>dst</a:t>
            </a:r>
            <a:r>
              <a:rPr lang="en-US" b="1" dirty="0"/>
              <a:t> </a:t>
            </a:r>
            <a:r>
              <a:rPr lang="en-US" dirty="0"/>
              <a:t>to 0 or 1 based on condition codes</a:t>
            </a:r>
          </a:p>
          <a:p>
            <a:pPr marL="0" indent="0">
              <a:buNone/>
            </a:pPr>
            <a:r>
              <a:rPr lang="en-US" dirty="0"/>
              <a:t>- Does not alter remaining 7 bytes.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F53004E-D2BF-49C5-9FFC-3C867E416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52905"/>
              </p:ext>
            </p:extLst>
          </p:nvPr>
        </p:nvGraphicFramePr>
        <p:xfrm>
          <a:off x="1588524" y="2617470"/>
          <a:ext cx="8128000" cy="40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841767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52586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05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sete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equal (ZF ==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467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setne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not equal (ZF ==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05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sets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Set if negative (SF ==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41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setns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Set if not negative (SF ==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858966"/>
                  </a:ext>
                </a:extLst>
              </a:tr>
              <a:tr h="37412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setg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greater than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353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setge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greater than or equal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6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setl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less than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81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setle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less than or equal to (Signed)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51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seta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above (Unsigned “&gt;”)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95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setb</a:t>
                      </a:r>
                      <a:r>
                        <a:rPr lang="en-US" dirty="0"/>
                        <a:t>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if below (Unsigned “&lt;“)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96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05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301A3-88B3-4C9E-B19C-AE455DBC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movz</a:t>
            </a:r>
            <a:r>
              <a:rPr lang="en-US" b="1" dirty="0"/>
              <a:t>_ </a:t>
            </a:r>
            <a:r>
              <a:rPr lang="en-US" dirty="0"/>
              <a:t>and </a:t>
            </a:r>
            <a:r>
              <a:rPr lang="en-US" b="1" dirty="0" err="1"/>
              <a:t>movs</a:t>
            </a:r>
            <a:r>
              <a:rPr lang="en-US" b="1" dirty="0"/>
              <a:t>_ </a:t>
            </a:r>
            <a:r>
              <a:rPr lang="en-US" dirty="0"/>
              <a:t>instructions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2C9CB-5EB5-46D8-8D45-61BF3C89E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movz</a:t>
            </a:r>
            <a:r>
              <a:rPr lang="en-US" dirty="0"/>
              <a:t>_ _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regDest</a:t>
            </a:r>
            <a:r>
              <a:rPr lang="en-US" dirty="0"/>
              <a:t>: Move with </a:t>
            </a:r>
            <a:r>
              <a:rPr lang="en-US" b="1" dirty="0"/>
              <a:t>zero </a:t>
            </a:r>
            <a:r>
              <a:rPr lang="en-US" dirty="0"/>
              <a:t>extension</a:t>
            </a:r>
          </a:p>
          <a:p>
            <a:r>
              <a:rPr lang="en-US" dirty="0" err="1"/>
              <a:t>movs</a:t>
            </a:r>
            <a:r>
              <a:rPr lang="en-US" dirty="0"/>
              <a:t>_ _ </a:t>
            </a:r>
            <a:r>
              <a:rPr lang="en-US" b="1" dirty="0" err="1"/>
              <a:t>src</a:t>
            </a:r>
            <a:r>
              <a:rPr lang="en-US" b="1" dirty="0"/>
              <a:t>, </a:t>
            </a:r>
            <a:r>
              <a:rPr lang="en-US" b="1" dirty="0" err="1"/>
              <a:t>regDest</a:t>
            </a:r>
            <a:r>
              <a:rPr lang="en-US" dirty="0"/>
              <a:t>: Move with </a:t>
            </a:r>
            <a:r>
              <a:rPr lang="en-US" b="1" dirty="0"/>
              <a:t>sign </a:t>
            </a:r>
            <a:r>
              <a:rPr lang="en-US" dirty="0"/>
              <a:t>extension</a:t>
            </a:r>
          </a:p>
          <a:p>
            <a:pPr marL="457200" indent="-457200">
              <a:buAutoNum type="arabicParenR"/>
            </a:pPr>
            <a:r>
              <a:rPr lang="en-US" dirty="0"/>
              <a:t>Copy from a </a:t>
            </a:r>
            <a:r>
              <a:rPr lang="en-US" b="1" dirty="0"/>
              <a:t>smaller </a:t>
            </a:r>
            <a:r>
              <a:rPr lang="en-US" dirty="0"/>
              <a:t>source to a </a:t>
            </a:r>
            <a:r>
              <a:rPr lang="en-US" b="1" dirty="0"/>
              <a:t>larger </a:t>
            </a:r>
            <a:r>
              <a:rPr lang="en-US" dirty="0"/>
              <a:t>destination</a:t>
            </a:r>
          </a:p>
          <a:p>
            <a:pPr marL="457200" indent="-457200">
              <a:buAutoNum type="arabicParenR"/>
            </a:pPr>
            <a:r>
              <a:rPr lang="en-US" dirty="0"/>
              <a:t>Source can be memory or register: </a:t>
            </a:r>
            <a:r>
              <a:rPr lang="en-US" b="1" dirty="0"/>
              <a:t>Destination MUST </a:t>
            </a:r>
            <a:r>
              <a:rPr lang="en-US" dirty="0"/>
              <a:t>be </a:t>
            </a:r>
            <a:r>
              <a:rPr lang="en-US" b="1" dirty="0"/>
              <a:t>LARGER</a:t>
            </a:r>
            <a:r>
              <a:rPr lang="en-US" dirty="0"/>
              <a:t>!!</a:t>
            </a:r>
          </a:p>
          <a:p>
            <a:pPr marL="457200" indent="-457200">
              <a:buAutoNum type="arabicParenR"/>
            </a:pPr>
            <a:r>
              <a:rPr lang="en-US" dirty="0"/>
              <a:t>Fill remaining bits of </a:t>
            </a:r>
            <a:r>
              <a:rPr lang="en-US" b="1" dirty="0" err="1"/>
              <a:t>dest</a:t>
            </a:r>
            <a:r>
              <a:rPr lang="en-US" b="1" dirty="0"/>
              <a:t> </a:t>
            </a:r>
            <a:r>
              <a:rPr lang="en-US" dirty="0"/>
              <a:t>with </a:t>
            </a:r>
            <a:r>
              <a:rPr lang="en-US" b="1" dirty="0"/>
              <a:t>zero </a:t>
            </a:r>
            <a:r>
              <a:rPr lang="en-US" dirty="0"/>
              <a:t>(</a:t>
            </a:r>
            <a:r>
              <a:rPr lang="en-US" dirty="0" err="1"/>
              <a:t>mov</a:t>
            </a:r>
            <a:r>
              <a:rPr lang="en-US" b="1" dirty="0" err="1"/>
              <a:t>z</a:t>
            </a:r>
            <a:r>
              <a:rPr lang="en-US" dirty="0"/>
              <a:t>) or </a:t>
            </a:r>
            <a:r>
              <a:rPr lang="en-US" b="1" dirty="0"/>
              <a:t>sign bit</a:t>
            </a:r>
            <a:r>
              <a:rPr lang="en-US" dirty="0"/>
              <a:t> (</a:t>
            </a:r>
            <a:r>
              <a:rPr lang="en-US" dirty="0" err="1"/>
              <a:t>mov</a:t>
            </a:r>
            <a:r>
              <a:rPr lang="en-US" b="1" dirty="0" err="1"/>
              <a:t>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 err="1"/>
              <a:t>movzSD</a:t>
            </a:r>
            <a:r>
              <a:rPr lang="en-US" b="1" dirty="0"/>
              <a:t> / </a:t>
            </a:r>
            <a:r>
              <a:rPr lang="en-US" b="1" dirty="0" err="1"/>
              <a:t>movsSD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S: </a:t>
            </a:r>
            <a:r>
              <a:rPr lang="en-US" dirty="0"/>
              <a:t>Size of Source (b = 1 byte or w = 2)</a:t>
            </a:r>
          </a:p>
          <a:p>
            <a:pPr marL="0" indent="0">
              <a:buNone/>
            </a:pPr>
            <a:r>
              <a:rPr lang="en-US" dirty="0"/>
              <a:t>D: Size of </a:t>
            </a:r>
            <a:r>
              <a:rPr lang="en-US" dirty="0" err="1"/>
              <a:t>Dest</a:t>
            </a:r>
            <a:r>
              <a:rPr lang="en-US" dirty="0"/>
              <a:t> (w = 2 bytes, l = 4, q = 8)</a:t>
            </a:r>
          </a:p>
        </p:txBody>
      </p:sp>
    </p:spTree>
    <p:extLst>
      <p:ext uri="{BB962C8B-B14F-4D97-AF65-F5344CB8AC3E}">
        <p14:creationId xmlns:p14="http://schemas.microsoft.com/office/powerpoint/2010/main" val="98261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931" y="1789043"/>
            <a:ext cx="5838198" cy="25778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cap="all" dirty="0"/>
              <a:t>Calling Conventions Review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19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F875-2C38-4332-8C4B-AD5675975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418" y="800100"/>
            <a:ext cx="7705164" cy="1485900"/>
          </a:xfrm>
        </p:spPr>
        <p:txBody>
          <a:bodyPr>
            <a:normAutofit/>
          </a:bodyPr>
          <a:lstStyle/>
          <a:p>
            <a:r>
              <a:rPr lang="en-US" dirty="0"/>
              <a:t>Calling Conventions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99B6-767A-4641-B37B-EB48D6167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418" y="2781301"/>
            <a:ext cx="7705164" cy="3581400"/>
          </a:xfrm>
        </p:spPr>
        <p:txBody>
          <a:bodyPr>
            <a:normAutofit/>
          </a:bodyPr>
          <a:lstStyle/>
          <a:p>
            <a:r>
              <a:rPr lang="en-US" dirty="0"/>
              <a:t>Each function call will push an </a:t>
            </a:r>
            <a:r>
              <a:rPr lang="en-US" b="1" dirty="0"/>
              <a:t>Activation Record </a:t>
            </a:r>
            <a:r>
              <a:rPr lang="en-US" dirty="0"/>
              <a:t>onto the call stack </a:t>
            </a:r>
          </a:p>
          <a:p>
            <a:r>
              <a:rPr lang="en-US" dirty="0"/>
              <a:t>(This Activation Record will contain all the basic information about the function call (arguments, local variables, return address, other function calls,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dirty="0"/>
              <a:t>Returning will pop an </a:t>
            </a:r>
            <a:r>
              <a:rPr lang="en-US" b="1" dirty="0"/>
              <a:t>Activation Record </a:t>
            </a:r>
            <a:r>
              <a:rPr lang="en-US" dirty="0"/>
              <a:t>off the call stack.</a:t>
            </a:r>
          </a:p>
          <a:p>
            <a:r>
              <a:rPr lang="en-US" dirty="0"/>
              <a:t>Since the stack is utilized very often throughout a program’s duration, we use a </a:t>
            </a:r>
            <a:r>
              <a:rPr lang="en-US" b="1" dirty="0"/>
              <a:t>stack pointer</a:t>
            </a:r>
            <a:r>
              <a:rPr lang="en-US" dirty="0"/>
              <a:t>.</a:t>
            </a:r>
          </a:p>
          <a:p>
            <a:r>
              <a:rPr lang="en-US" dirty="0"/>
              <a:t>Push will move the </a:t>
            </a:r>
            <a:r>
              <a:rPr lang="en-US" b="1" dirty="0" err="1"/>
              <a:t>sp</a:t>
            </a:r>
            <a:r>
              <a:rPr lang="en-US" b="1" dirty="0"/>
              <a:t> </a:t>
            </a:r>
            <a:r>
              <a:rPr lang="en-US" dirty="0"/>
              <a:t>down, Pop will move the </a:t>
            </a:r>
            <a:r>
              <a:rPr lang="en-US" b="1" dirty="0" err="1"/>
              <a:t>sp</a:t>
            </a:r>
            <a:r>
              <a:rPr lang="en-US" b="1" dirty="0"/>
              <a:t> </a:t>
            </a:r>
            <a:r>
              <a:rPr lang="en-US" dirty="0"/>
              <a:t>up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1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5445-262C-4704-8C84-2BFCEC5A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418" y="659296"/>
            <a:ext cx="7705164" cy="1485900"/>
          </a:xfrm>
        </p:spPr>
        <p:txBody>
          <a:bodyPr>
            <a:normAutofit/>
          </a:bodyPr>
          <a:lstStyle/>
          <a:p>
            <a:r>
              <a:rPr lang="en-US" dirty="0"/>
              <a:t>General Idea of Calling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37C45-A146-47D8-A6F0-37E1B1051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418" y="2617304"/>
            <a:ext cx="7705164" cy="3581400"/>
          </a:xfrm>
        </p:spPr>
        <p:txBody>
          <a:bodyPr>
            <a:normAutofit/>
          </a:bodyPr>
          <a:lstStyle/>
          <a:p>
            <a:r>
              <a:rPr lang="en-US" dirty="0"/>
              <a:t>Every program is almost </a:t>
            </a:r>
            <a:r>
              <a:rPr lang="en-US" b="1" dirty="0"/>
              <a:t>always</a:t>
            </a:r>
            <a:r>
              <a:rPr lang="en-US" dirty="0"/>
              <a:t> going to have:</a:t>
            </a:r>
          </a:p>
          <a:p>
            <a:pPr marL="457200" indent="-457200">
              <a:buAutoNum type="arabicParenR"/>
            </a:pPr>
            <a:r>
              <a:rPr lang="en-US" dirty="0"/>
              <a:t>A </a:t>
            </a:r>
            <a:r>
              <a:rPr lang="en-US" b="1" dirty="0"/>
              <a:t>program counter register </a:t>
            </a:r>
            <a:r>
              <a:rPr lang="en-US" dirty="0"/>
              <a:t>(So we can keep track of where we are after a bunch of function calls and branches!)</a:t>
            </a:r>
          </a:p>
          <a:p>
            <a:pPr marL="457200" indent="-457200">
              <a:buAutoNum type="arabicParenR"/>
            </a:pPr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dirty="0"/>
              <a:t> to keep track of information across multiple function calls</a:t>
            </a:r>
          </a:p>
          <a:p>
            <a:pPr marL="457200" indent="-457200">
              <a:buAutoNum type="arabicParenR"/>
            </a:pPr>
            <a:r>
              <a:rPr lang="en-US" dirty="0"/>
              <a:t>A </a:t>
            </a:r>
            <a:r>
              <a:rPr lang="en-US" b="1" dirty="0"/>
              <a:t>stack pointer register </a:t>
            </a:r>
            <a:r>
              <a:rPr lang="en-US" dirty="0"/>
              <a:t>to push and pop </a:t>
            </a:r>
            <a:r>
              <a:rPr lang="en-US" b="1" dirty="0"/>
              <a:t>ARs </a:t>
            </a:r>
            <a:r>
              <a:rPr lang="en-US" dirty="0"/>
              <a:t>off the call stack!</a:t>
            </a:r>
          </a:p>
          <a:p>
            <a:pPr marL="457200" indent="-457200">
              <a:buAutoNum type="arabicParenR"/>
            </a:pPr>
            <a:r>
              <a:rPr lang="en-US" dirty="0" err="1"/>
              <a:t>andddd</a:t>
            </a:r>
            <a:r>
              <a:rPr lang="en-US" dirty="0"/>
              <a:t> </a:t>
            </a:r>
            <a:r>
              <a:rPr lang="en-US" b="1" dirty="0"/>
              <a:t>other registers </a:t>
            </a:r>
            <a:r>
              <a:rPr lang="en-US" dirty="0"/>
              <a:t>to store local data</a:t>
            </a:r>
          </a:p>
          <a:p>
            <a:pPr marL="457200" indent="-4572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51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28E4-1378-419B-BEFB-C0E8D5A8D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418" y="672548"/>
            <a:ext cx="7705164" cy="1485900"/>
          </a:xfrm>
        </p:spPr>
        <p:txBody>
          <a:bodyPr>
            <a:normAutofit/>
          </a:bodyPr>
          <a:lstStyle/>
          <a:p>
            <a:r>
              <a:rPr lang="en-US" dirty="0"/>
              <a:t>General Function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C5AD-4379-4FF1-929A-5D28141C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418" y="2604052"/>
            <a:ext cx="7705164" cy="35814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function call </a:t>
            </a:r>
            <a:r>
              <a:rPr lang="en-US" dirty="0"/>
              <a:t>consists of…</a:t>
            </a:r>
          </a:p>
          <a:p>
            <a:pPr marL="457200" indent="-457200">
              <a:buAutoNum type="arabicParenR"/>
            </a:pPr>
            <a:r>
              <a:rPr lang="en-US" dirty="0"/>
              <a:t>Putting </a:t>
            </a:r>
            <a:r>
              <a:rPr lang="en-US" b="1" dirty="0">
                <a:solidFill>
                  <a:srgbClr val="FF0000"/>
                </a:solidFill>
              </a:rPr>
              <a:t>arguments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return address </a:t>
            </a:r>
            <a:r>
              <a:rPr lang="en-US" dirty="0"/>
              <a:t>in the right places!!</a:t>
            </a:r>
          </a:p>
          <a:p>
            <a:pPr marL="457200" indent="-457200">
              <a:buAutoNum type="arabicParenR"/>
            </a:pPr>
            <a:r>
              <a:rPr lang="en-US" b="1" dirty="0"/>
              <a:t>Jumping </a:t>
            </a:r>
            <a:r>
              <a:rPr lang="en-US" dirty="0"/>
              <a:t>to the new function! (</a:t>
            </a:r>
            <a:r>
              <a:rPr lang="en-US" b="1" dirty="0" err="1"/>
              <a:t>jal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MIPS</a:t>
            </a:r>
            <a:r>
              <a:rPr lang="en-US" dirty="0"/>
              <a:t>)</a:t>
            </a:r>
          </a:p>
          <a:p>
            <a:pPr marL="457200" indent="-457200">
              <a:buAutoNum type="arabicParenR"/>
            </a:pPr>
            <a:r>
              <a:rPr lang="en-US" dirty="0"/>
              <a:t>Setting up the </a:t>
            </a:r>
            <a:r>
              <a:rPr lang="en-US" b="1" dirty="0"/>
              <a:t>AR </a:t>
            </a:r>
            <a:r>
              <a:rPr lang="en-US" dirty="0"/>
              <a:t>onto the stack (move the </a:t>
            </a:r>
            <a:r>
              <a:rPr lang="en-US" b="1" dirty="0" err="1"/>
              <a:t>sp</a:t>
            </a:r>
            <a:r>
              <a:rPr lang="en-US" b="1" dirty="0"/>
              <a:t> </a:t>
            </a:r>
            <a:r>
              <a:rPr lang="en-US" dirty="0"/>
              <a:t>down)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46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FFD7-6318-46E8-BDC1-1CB7F1E3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418" y="699052"/>
            <a:ext cx="7705164" cy="1485900"/>
          </a:xfrm>
        </p:spPr>
        <p:txBody>
          <a:bodyPr>
            <a:normAutofit/>
          </a:bodyPr>
          <a:lstStyle/>
          <a:p>
            <a:r>
              <a:rPr lang="en-US" dirty="0"/>
              <a:t>General Function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2E4AD-5796-4A7F-824F-A0149AEF9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3418" y="2577548"/>
            <a:ext cx="7705164" cy="35814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function return </a:t>
            </a:r>
            <a:r>
              <a:rPr lang="en-US" dirty="0"/>
              <a:t>consists of…</a:t>
            </a:r>
          </a:p>
          <a:p>
            <a:pPr marL="457200" indent="-457200">
              <a:buAutoNum type="arabicParenR"/>
            </a:pPr>
            <a:r>
              <a:rPr lang="en-US" dirty="0"/>
              <a:t>Putting the </a:t>
            </a:r>
            <a:r>
              <a:rPr lang="en-US" b="1" dirty="0"/>
              <a:t>return value</a:t>
            </a:r>
            <a:r>
              <a:rPr lang="en-US" dirty="0"/>
              <a:t> somewhere (</a:t>
            </a:r>
            <a:r>
              <a:rPr lang="en-US" b="1" dirty="0"/>
              <a:t>$v0 </a:t>
            </a:r>
            <a:r>
              <a:rPr lang="en-US" dirty="0"/>
              <a:t>in MIPS)</a:t>
            </a:r>
          </a:p>
          <a:p>
            <a:pPr marL="457200" indent="-457200">
              <a:buAutoNum type="arabicParenR"/>
            </a:pPr>
            <a:r>
              <a:rPr lang="en-US" dirty="0"/>
              <a:t>Cleaning up the AR off the stack (move up the </a:t>
            </a:r>
            <a:r>
              <a:rPr lang="en-US" b="1" dirty="0" err="1"/>
              <a:t>sp</a:t>
            </a:r>
            <a:r>
              <a:rPr lang="en-US" dirty="0"/>
              <a:t>)</a:t>
            </a:r>
          </a:p>
          <a:p>
            <a:pPr marL="457200" indent="-457200">
              <a:buAutoNum type="arabicParenR"/>
            </a:pPr>
            <a:r>
              <a:rPr lang="en-US" dirty="0"/>
              <a:t>Jumping back to the </a:t>
            </a:r>
            <a:r>
              <a:rPr lang="en-US" b="1" dirty="0"/>
              <a:t>return address </a:t>
            </a:r>
            <a:r>
              <a:rPr lang="en-US" dirty="0"/>
              <a:t>(</a:t>
            </a:r>
            <a:r>
              <a:rPr lang="en-US" b="1" dirty="0" err="1"/>
              <a:t>jr</a:t>
            </a:r>
            <a:r>
              <a:rPr lang="en-US" b="1" dirty="0"/>
              <a:t> ra </a:t>
            </a:r>
            <a:r>
              <a:rPr lang="en-US" dirty="0"/>
              <a:t>in MIPS)</a:t>
            </a:r>
          </a:p>
        </p:txBody>
      </p:sp>
    </p:spTree>
    <p:extLst>
      <p:ext uri="{BB962C8B-B14F-4D97-AF65-F5344CB8AC3E}">
        <p14:creationId xmlns:p14="http://schemas.microsoft.com/office/powerpoint/2010/main" val="65036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697" y="1007165"/>
            <a:ext cx="5745432" cy="33596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cap="all" dirty="0"/>
              <a:t>Calling Conventions in MIPS (Review)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87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4779-8549-42BD-9CDA-C61A4D6E8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Calling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7ADA4-38AB-422F-A853-6E9ED171B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the first 4 arguments are put into the a0 – a3 registers.</a:t>
            </a:r>
          </a:p>
          <a:p>
            <a:r>
              <a:rPr lang="en-US" dirty="0"/>
              <a:t>Any arguments beyond the (a0 – a3) registers must be pushed onto the stack in </a:t>
            </a:r>
            <a:r>
              <a:rPr lang="en-US" b="1" dirty="0"/>
              <a:t>reverse order</a:t>
            </a:r>
            <a:endParaRPr lang="en-US" dirty="0"/>
          </a:p>
          <a:p>
            <a:r>
              <a:rPr lang="en-US" dirty="0"/>
              <a:t>The stack grows down in memory, pushing arguments in reverse order guarantees that they’ll be </a:t>
            </a:r>
            <a:r>
              <a:rPr lang="en-US" b="1" dirty="0"/>
              <a:t>in order </a:t>
            </a:r>
            <a:r>
              <a:rPr lang="en-US" dirty="0"/>
              <a:t>in memory.</a:t>
            </a:r>
          </a:p>
          <a:p>
            <a:r>
              <a:rPr lang="en-US" dirty="0"/>
              <a:t>Then </a:t>
            </a:r>
            <a:r>
              <a:rPr lang="en-US" b="1" dirty="0" err="1"/>
              <a:t>jal</a:t>
            </a:r>
            <a:r>
              <a:rPr lang="en-US" b="1" dirty="0"/>
              <a:t> </a:t>
            </a:r>
            <a:r>
              <a:rPr lang="en-US" dirty="0"/>
              <a:t>to jump to the new function and cache the </a:t>
            </a:r>
            <a:r>
              <a:rPr lang="en-US" b="1" dirty="0"/>
              <a:t>return address </a:t>
            </a:r>
            <a:r>
              <a:rPr lang="en-US" dirty="0"/>
              <a:t>in the </a:t>
            </a:r>
            <a:r>
              <a:rPr lang="en-US" b="1" dirty="0"/>
              <a:t>ra </a:t>
            </a:r>
            <a:r>
              <a:rPr lang="en-US" dirty="0"/>
              <a:t>register.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5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3528-025E-4C89-B8F2-E3270AD1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MIPS Calling Conventions: </a:t>
            </a:r>
            <a:br>
              <a:rPr lang="en-US" dirty="0"/>
            </a:br>
            <a:r>
              <a:rPr lang="en-US" dirty="0"/>
              <a:t>Inside the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E7BAD-D6B1-4ECD-976C-887176819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Function Prologue:</a:t>
            </a:r>
            <a:r>
              <a:rPr lang="en-US" dirty="0"/>
              <a:t> Setting up resources before anything with the function is performed.</a:t>
            </a:r>
            <a:endParaRPr lang="en-US" b="1" dirty="0"/>
          </a:p>
          <a:p>
            <a:r>
              <a:rPr lang="en-US" dirty="0"/>
              <a:t>The </a:t>
            </a:r>
            <a:r>
              <a:rPr lang="en-US" b="1" dirty="0"/>
              <a:t>ra </a:t>
            </a:r>
            <a:r>
              <a:rPr lang="en-US" dirty="0"/>
              <a:t>is first pushed onto the stack, and any </a:t>
            </a:r>
            <a:r>
              <a:rPr lang="en-US" b="1" dirty="0"/>
              <a:t>saved registers </a:t>
            </a:r>
            <a:r>
              <a:rPr lang="en-US" dirty="0"/>
              <a:t>that the function needs are pushed onto the stack.</a:t>
            </a:r>
          </a:p>
          <a:p>
            <a:pPr marL="0" indent="0">
              <a:buNone/>
            </a:pPr>
            <a:r>
              <a:rPr lang="en-US" b="1" dirty="0"/>
              <a:t>Function Epilogue: </a:t>
            </a:r>
            <a:r>
              <a:rPr lang="en-US" dirty="0"/>
              <a:t>All the tidy work and cleaning up after the function has done its purpose.</a:t>
            </a:r>
          </a:p>
          <a:p>
            <a:r>
              <a:rPr lang="en-US" dirty="0"/>
              <a:t>Move the return value into the </a:t>
            </a:r>
            <a:r>
              <a:rPr lang="en-US" b="1" dirty="0"/>
              <a:t>v0 </a:t>
            </a:r>
            <a:r>
              <a:rPr lang="en-US" dirty="0"/>
              <a:t>register.</a:t>
            </a:r>
          </a:p>
          <a:p>
            <a:r>
              <a:rPr lang="en-US" dirty="0"/>
              <a:t>Pop previously pushed registers</a:t>
            </a:r>
          </a:p>
          <a:p>
            <a:r>
              <a:rPr lang="en-US" dirty="0"/>
              <a:t>Clean up the stack, then </a:t>
            </a:r>
            <a:r>
              <a:rPr lang="en-US" b="1" dirty="0"/>
              <a:t>jump to the return address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dirty="0"/>
              <a:t>***This ensures that the </a:t>
            </a:r>
            <a:r>
              <a:rPr lang="en-US" b="1" dirty="0"/>
              <a:t>stack </a:t>
            </a:r>
            <a:r>
              <a:rPr lang="en-US" dirty="0"/>
              <a:t>is </a:t>
            </a:r>
            <a:r>
              <a:rPr lang="en-US" b="1" dirty="0"/>
              <a:t>balanced</a:t>
            </a:r>
            <a:r>
              <a:rPr lang="en-US" dirty="0"/>
              <a:t>!***</a:t>
            </a:r>
          </a:p>
        </p:txBody>
      </p:sp>
    </p:spTree>
    <p:extLst>
      <p:ext uri="{BB962C8B-B14F-4D97-AF65-F5344CB8AC3E}">
        <p14:creationId xmlns:p14="http://schemas.microsoft.com/office/powerpoint/2010/main" val="396301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FCB-6F0E-45C7-A804-A4675840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073" y="1656522"/>
            <a:ext cx="5931056" cy="2710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cap="all" dirty="0"/>
              <a:t>Calling Conventions in x86 (REVIEW)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EA1D1D48-83A4-44B4-A2B6-F564720F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71403" y="1425173"/>
            <a:ext cx="4207669" cy="42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89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9C3A-9A89-46F4-9B97-E266AB929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and Returning in 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156EB-DCED-4B2D-A64F-814A8B4A7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just </a:t>
            </a:r>
            <a:r>
              <a:rPr lang="en-US" b="1" dirty="0"/>
              <a:t>call and ret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call </a:t>
            </a:r>
            <a:r>
              <a:rPr lang="en-US" b="1" dirty="0" err="1"/>
              <a:t>function_name</a:t>
            </a:r>
            <a:r>
              <a:rPr lang="en-US" b="1" dirty="0"/>
              <a:t> </a:t>
            </a:r>
            <a:r>
              <a:rPr lang="en-US" dirty="0"/>
              <a:t>pushes the </a:t>
            </a:r>
            <a:r>
              <a:rPr lang="en-US" b="1" dirty="0"/>
              <a:t>return address </a:t>
            </a:r>
            <a:r>
              <a:rPr lang="en-US" dirty="0"/>
              <a:t>then jumps to </a:t>
            </a:r>
            <a:r>
              <a:rPr lang="en-US" b="1" dirty="0" err="1"/>
              <a:t>function_name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(its just </a:t>
            </a:r>
            <a:r>
              <a:rPr lang="en-US" b="1" dirty="0" err="1"/>
              <a:t>jal</a:t>
            </a:r>
            <a:r>
              <a:rPr lang="en-US" b="1" dirty="0"/>
              <a:t> </a:t>
            </a:r>
            <a:r>
              <a:rPr lang="en-US" b="1" dirty="0" err="1"/>
              <a:t>function_name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ret </a:t>
            </a:r>
            <a:r>
              <a:rPr lang="en-US" dirty="0"/>
              <a:t>pops the </a:t>
            </a:r>
            <a:r>
              <a:rPr lang="en-US" b="1" dirty="0"/>
              <a:t>return address </a:t>
            </a:r>
            <a:r>
              <a:rPr lang="en-US" dirty="0"/>
              <a:t>and jumps to it (its just </a:t>
            </a:r>
            <a:r>
              <a:rPr lang="en-US" b="1" dirty="0" err="1"/>
              <a:t>jr</a:t>
            </a:r>
            <a:r>
              <a:rPr lang="en-US" b="1" dirty="0"/>
              <a:t> ra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ret 24 </a:t>
            </a:r>
            <a:r>
              <a:rPr lang="en-US" dirty="0"/>
              <a:t>pops the </a:t>
            </a:r>
            <a:r>
              <a:rPr lang="en-US" b="1" dirty="0"/>
              <a:t>return address</a:t>
            </a:r>
            <a:r>
              <a:rPr lang="en-US" dirty="0"/>
              <a:t>, </a:t>
            </a:r>
            <a:r>
              <a:rPr lang="en-US" b="1" dirty="0"/>
              <a:t>adds 24 to the </a:t>
            </a:r>
            <a:r>
              <a:rPr lang="en-US" b="1" dirty="0" err="1"/>
              <a:t>esp</a:t>
            </a:r>
            <a:r>
              <a:rPr lang="en-US" dirty="0"/>
              <a:t>, then jumps to the </a:t>
            </a:r>
            <a:r>
              <a:rPr lang="en-US" b="1" dirty="0"/>
              <a:t>return address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7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71E3-3041-401E-8C64-002130F75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2729"/>
            <a:ext cx="7729728" cy="1188720"/>
          </a:xfrm>
        </p:spPr>
        <p:txBody>
          <a:bodyPr/>
          <a:lstStyle/>
          <a:p>
            <a:r>
              <a:rPr lang="en-US" dirty="0"/>
              <a:t>Calling Conventions in x86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071D-EDC8-4D53-A622-16A49C689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42023"/>
            <a:ext cx="9601200" cy="43759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Calling a Function:</a:t>
            </a:r>
          </a:p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All arguments are pushed in reverse order: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b="1" dirty="0"/>
              <a:t>sub </a:t>
            </a:r>
            <a:r>
              <a:rPr lang="en-US" b="1" dirty="0" err="1"/>
              <a:t>esp</a:t>
            </a:r>
            <a:r>
              <a:rPr lang="en-US" b="1" dirty="0"/>
              <a:t>, 12</a:t>
            </a:r>
          </a:p>
          <a:p>
            <a:pPr marL="0" indent="0">
              <a:buNone/>
            </a:pPr>
            <a:r>
              <a:rPr lang="en-US" b="1" dirty="0"/>
              <a:t>mov [</a:t>
            </a:r>
            <a:r>
              <a:rPr lang="en-US" b="1" dirty="0" err="1"/>
              <a:t>esp</a:t>
            </a:r>
            <a:r>
              <a:rPr lang="en-US" b="1" dirty="0"/>
              <a:t> + 8], 3</a:t>
            </a:r>
          </a:p>
          <a:p>
            <a:pPr marL="0" indent="0">
              <a:buNone/>
            </a:pPr>
            <a:r>
              <a:rPr lang="en-US" b="1" dirty="0"/>
              <a:t>mov [</a:t>
            </a:r>
            <a:r>
              <a:rPr lang="en-US" b="1" dirty="0" err="1"/>
              <a:t>esp</a:t>
            </a:r>
            <a:r>
              <a:rPr lang="en-US" b="1" dirty="0"/>
              <a:t> + 4], 2</a:t>
            </a:r>
          </a:p>
          <a:p>
            <a:pPr marL="0" indent="0">
              <a:buNone/>
            </a:pPr>
            <a:r>
              <a:rPr lang="en-US" b="1" dirty="0"/>
              <a:t>mov [</a:t>
            </a:r>
            <a:r>
              <a:rPr lang="en-US" b="1" dirty="0" err="1"/>
              <a:t>esp</a:t>
            </a:r>
            <a:r>
              <a:rPr lang="en-US" b="1" dirty="0"/>
              <a:t>], 1</a:t>
            </a:r>
          </a:p>
          <a:p>
            <a:pPr marL="0" indent="0">
              <a:buNone/>
            </a:pPr>
            <a:r>
              <a:rPr lang="en-US" dirty="0"/>
              <a:t>2) Call both </a:t>
            </a:r>
            <a:r>
              <a:rPr lang="en-US" b="1" dirty="0"/>
              <a:t>jumps to the new function </a:t>
            </a:r>
            <a:r>
              <a:rPr lang="en-US" dirty="0"/>
              <a:t>and </a:t>
            </a:r>
            <a:r>
              <a:rPr lang="en-US" b="1" dirty="0"/>
              <a:t>pushes the return address!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call </a:t>
            </a:r>
            <a:r>
              <a:rPr lang="en-US" b="1" dirty="0" err="1"/>
              <a:t>func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17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5883-9BE5-4767-B326-E989FC2BF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87614"/>
            <a:ext cx="7729728" cy="1188720"/>
          </a:xfrm>
        </p:spPr>
        <p:txBody>
          <a:bodyPr/>
          <a:lstStyle/>
          <a:p>
            <a:pPr algn="ctr"/>
            <a:r>
              <a:rPr lang="en-US" dirty="0"/>
              <a:t>X86 Calling Conventions: </a:t>
            </a:r>
            <a:br>
              <a:rPr lang="en-US" dirty="0"/>
            </a:br>
            <a:r>
              <a:rPr lang="en-US" dirty="0"/>
              <a:t>Inside the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B2B6-566C-4403-8422-A7C337B53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97728"/>
            <a:ext cx="9752121" cy="48560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Function Prologue:</a:t>
            </a:r>
          </a:p>
          <a:p>
            <a:pPr marL="0" indent="0">
              <a:buNone/>
            </a:pPr>
            <a:r>
              <a:rPr lang="en-US" sz="1300" dirty="0"/>
              <a:t>1) </a:t>
            </a:r>
            <a:r>
              <a:rPr lang="en-US" sz="1300" b="1" dirty="0"/>
              <a:t>Make </a:t>
            </a:r>
            <a:r>
              <a:rPr lang="en-US" sz="1300" dirty="0"/>
              <a:t>space for </a:t>
            </a:r>
            <a:r>
              <a:rPr lang="en-US" sz="1300" b="1" dirty="0"/>
              <a:t>locals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 err="1"/>
              <a:t>func</a:t>
            </a:r>
            <a:r>
              <a:rPr lang="en-US" sz="1300" b="1" dirty="0"/>
              <a:t>:</a:t>
            </a:r>
          </a:p>
          <a:p>
            <a:pPr marL="0" indent="0">
              <a:buNone/>
            </a:pPr>
            <a:r>
              <a:rPr lang="en-US" sz="1300" b="1" dirty="0"/>
              <a:t>push </a:t>
            </a:r>
            <a:r>
              <a:rPr lang="en-US" sz="1300" b="1" dirty="0" err="1"/>
              <a:t>rbp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/>
              <a:t>mov </a:t>
            </a:r>
            <a:r>
              <a:rPr lang="en-US" sz="1300" b="1" dirty="0" err="1"/>
              <a:t>rbp</a:t>
            </a:r>
            <a:r>
              <a:rPr lang="en-US" sz="1300" b="1" dirty="0"/>
              <a:t>, </a:t>
            </a:r>
            <a:r>
              <a:rPr lang="en-US" sz="1300" b="1" dirty="0" err="1"/>
              <a:t>rsp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/>
              <a:t>sub </a:t>
            </a:r>
            <a:r>
              <a:rPr lang="en-US" sz="1300" b="1" dirty="0" err="1"/>
              <a:t>rsp</a:t>
            </a:r>
            <a:r>
              <a:rPr lang="en-US" sz="1300" b="1" dirty="0"/>
              <a:t>, 0x10</a:t>
            </a:r>
            <a:r>
              <a:rPr lang="en-US" sz="1300" dirty="0"/>
              <a:t> </a:t>
            </a:r>
            <a:r>
              <a:rPr lang="en-US" sz="1300" dirty="0">
                <a:sym typeface="Wingdings" panose="05000000000000000000" pitchFamily="2" charset="2"/>
              </a:rPr>
              <a:t></a:t>
            </a:r>
            <a:r>
              <a:rPr lang="en-US" sz="1300" b="1" dirty="0">
                <a:sym typeface="Wingdings" panose="05000000000000000000" pitchFamily="2" charset="2"/>
              </a:rPr>
              <a:t>Ma</a:t>
            </a:r>
            <a:r>
              <a:rPr lang="en-US" sz="1300" b="1" dirty="0"/>
              <a:t>ke</a:t>
            </a:r>
            <a:r>
              <a:rPr lang="en-US" sz="1300" dirty="0"/>
              <a:t> space for </a:t>
            </a:r>
            <a:r>
              <a:rPr lang="en-US" sz="1300" b="1" dirty="0"/>
              <a:t>locals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/>
              <a:t>2) Push any </a:t>
            </a:r>
            <a:r>
              <a:rPr lang="en-US" sz="1300" b="1" dirty="0" err="1"/>
              <a:t>callee</a:t>
            </a:r>
            <a:r>
              <a:rPr lang="en-US" sz="1300" b="1" dirty="0"/>
              <a:t>-saved registers </a:t>
            </a:r>
            <a:r>
              <a:rPr lang="en-US" sz="1300" dirty="0"/>
              <a:t>into </a:t>
            </a:r>
            <a:r>
              <a:rPr lang="en-US" sz="1300" b="1" dirty="0" err="1"/>
              <a:t>rbx</a:t>
            </a:r>
            <a:r>
              <a:rPr lang="en-US" sz="1300" b="1" dirty="0"/>
              <a:t>, </a:t>
            </a:r>
            <a:r>
              <a:rPr lang="en-US" sz="1300" b="1" dirty="0" err="1"/>
              <a:t>rdi</a:t>
            </a:r>
            <a:r>
              <a:rPr lang="en-US" sz="1300" b="1" dirty="0"/>
              <a:t>, and </a:t>
            </a:r>
            <a:r>
              <a:rPr lang="en-US" sz="1300" b="1" dirty="0" err="1"/>
              <a:t>rsi</a:t>
            </a:r>
            <a:r>
              <a:rPr lang="en-US" sz="1300" dirty="0"/>
              <a:t>, but only if we need them!</a:t>
            </a:r>
          </a:p>
          <a:p>
            <a:pPr marL="0" indent="0">
              <a:buNone/>
            </a:pPr>
            <a:r>
              <a:rPr lang="en-US" sz="1600" b="1" dirty="0"/>
              <a:t>Function Epilogue:</a:t>
            </a:r>
          </a:p>
          <a:p>
            <a:pPr marL="0" indent="0">
              <a:buNone/>
            </a:pPr>
            <a:r>
              <a:rPr lang="en-US" sz="1300" dirty="0"/>
              <a:t>1) Place the </a:t>
            </a:r>
            <a:r>
              <a:rPr lang="en-US" sz="1300" b="1" dirty="0"/>
              <a:t>return value </a:t>
            </a:r>
            <a:r>
              <a:rPr lang="en-US" sz="1300" dirty="0"/>
              <a:t>into </a:t>
            </a:r>
            <a:r>
              <a:rPr lang="en-US" sz="1300" b="1" dirty="0" err="1"/>
              <a:t>rax</a:t>
            </a:r>
            <a:r>
              <a:rPr lang="en-US" sz="1300" b="1" dirty="0"/>
              <a:t> </a:t>
            </a:r>
          </a:p>
          <a:p>
            <a:pPr marL="0" indent="0">
              <a:buNone/>
            </a:pPr>
            <a:r>
              <a:rPr lang="en-US" sz="1300" dirty="0"/>
              <a:t>2) </a:t>
            </a:r>
            <a:r>
              <a:rPr lang="en-US" sz="1300" b="1" dirty="0"/>
              <a:t>Pop and jump </a:t>
            </a:r>
            <a:r>
              <a:rPr lang="en-US" sz="1300" dirty="0"/>
              <a:t>to the </a:t>
            </a:r>
            <a:r>
              <a:rPr lang="en-US" sz="1300" b="1" dirty="0"/>
              <a:t>return address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/>
              <a:t>mov </a:t>
            </a:r>
            <a:r>
              <a:rPr lang="en-US" sz="1300" b="1" dirty="0" err="1"/>
              <a:t>rax</a:t>
            </a:r>
            <a:r>
              <a:rPr lang="en-US" sz="1300" b="1" dirty="0"/>
              <a:t>, [rbp-4]</a:t>
            </a:r>
          </a:p>
          <a:p>
            <a:pPr marL="0" indent="0">
              <a:buNone/>
            </a:pPr>
            <a:r>
              <a:rPr lang="en-US" sz="1300" b="1" dirty="0"/>
              <a:t>mov </a:t>
            </a:r>
            <a:r>
              <a:rPr lang="en-US" sz="1300" b="1" dirty="0" err="1"/>
              <a:t>rsp</a:t>
            </a:r>
            <a:r>
              <a:rPr lang="en-US" sz="1300" b="1" dirty="0"/>
              <a:t>, </a:t>
            </a:r>
            <a:r>
              <a:rPr lang="en-US" sz="1300" b="1" dirty="0" err="1"/>
              <a:t>rbp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/>
              <a:t>pop </a:t>
            </a:r>
            <a:r>
              <a:rPr lang="en-US" sz="1300" b="1" dirty="0" err="1"/>
              <a:t>rbp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/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280282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A63E-6233-46AD-B907-B8E42798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Prologue, Epilogue Shortcuts, and Base Pointer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4FA8-AC3D-4DA2-BC87-F2DA88D2C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Enter is the </a:t>
            </a:r>
            <a:r>
              <a:rPr lang="en-US" b="1" dirty="0"/>
              <a:t>same as</a:t>
            </a:r>
            <a:r>
              <a:rPr lang="en-US" dirty="0"/>
              <a:t>: </a:t>
            </a:r>
            <a:r>
              <a:rPr lang="en-US" b="1" dirty="0"/>
              <a:t>push </a:t>
            </a:r>
            <a:r>
              <a:rPr lang="en-US" b="1" dirty="0" err="1"/>
              <a:t>rbp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		              mov </a:t>
            </a:r>
            <a:r>
              <a:rPr lang="en-US" b="1" dirty="0" err="1"/>
              <a:t>rbp</a:t>
            </a:r>
            <a:r>
              <a:rPr lang="en-US" b="1" dirty="0"/>
              <a:t>, </a:t>
            </a:r>
            <a:r>
              <a:rPr lang="en-US" b="1" dirty="0" err="1"/>
              <a:t>rsp</a:t>
            </a:r>
            <a:endParaRPr lang="en-US" b="1" dirty="0"/>
          </a:p>
          <a:p>
            <a:r>
              <a:rPr lang="en-US" b="1" dirty="0"/>
              <a:t>Leave </a:t>
            </a:r>
            <a:r>
              <a:rPr lang="en-US" dirty="0"/>
              <a:t>is the </a:t>
            </a:r>
            <a:r>
              <a:rPr lang="en-US" b="1" dirty="0"/>
              <a:t>same as: mov </a:t>
            </a:r>
            <a:r>
              <a:rPr lang="en-US" b="1" dirty="0" err="1"/>
              <a:t>rsp</a:t>
            </a:r>
            <a:r>
              <a:rPr lang="en-US" b="1" dirty="0"/>
              <a:t>, </a:t>
            </a:r>
            <a:r>
              <a:rPr lang="en-US" b="1" dirty="0" err="1"/>
              <a:t>rbp</a:t>
            </a:r>
            <a:endParaRPr lang="en-US" b="1" dirty="0"/>
          </a:p>
          <a:p>
            <a:pPr marL="0" indent="0">
              <a:buNone/>
            </a:pPr>
            <a:r>
              <a:rPr lang="en-US" b="1" i="0" dirty="0"/>
              <a:t>			pop </a:t>
            </a:r>
            <a:r>
              <a:rPr lang="en-US" b="1" dirty="0" err="1"/>
              <a:t>r</a:t>
            </a:r>
            <a:r>
              <a:rPr lang="en-US" b="1" i="0" dirty="0" err="1"/>
              <a:t>bp</a:t>
            </a:r>
            <a:r>
              <a:rPr lang="en-US" b="1" i="0" dirty="0"/>
              <a:t>							</a:t>
            </a:r>
          </a:p>
          <a:p>
            <a:r>
              <a:rPr lang="en-US" b="1" dirty="0" err="1"/>
              <a:t>r</a:t>
            </a:r>
            <a:r>
              <a:rPr lang="en-US" b="1" i="0" dirty="0" err="1"/>
              <a:t>sp</a:t>
            </a:r>
            <a:r>
              <a:rPr lang="en-US" b="1" i="0" dirty="0"/>
              <a:t> </a:t>
            </a:r>
            <a:r>
              <a:rPr lang="en-US" i="0" dirty="0"/>
              <a:t>is the </a:t>
            </a:r>
            <a:r>
              <a:rPr lang="en-US" b="1" i="0" dirty="0"/>
              <a:t>stack pointer: </a:t>
            </a:r>
            <a:r>
              <a:rPr lang="en-US" i="0" dirty="0"/>
              <a:t>it marks the </a:t>
            </a:r>
            <a:r>
              <a:rPr lang="en-US" b="1" i="0" dirty="0"/>
              <a:t>bottom </a:t>
            </a:r>
            <a:r>
              <a:rPr lang="en-US" i="0" dirty="0"/>
              <a:t>of the </a:t>
            </a:r>
            <a:r>
              <a:rPr lang="en-US" b="1" i="0" dirty="0"/>
              <a:t>AR</a:t>
            </a:r>
          </a:p>
          <a:p>
            <a:r>
              <a:rPr lang="en-US" b="1" dirty="0" err="1"/>
              <a:t>rbp</a:t>
            </a:r>
            <a:r>
              <a:rPr lang="en-US" b="1" dirty="0"/>
              <a:t>: </a:t>
            </a:r>
            <a:r>
              <a:rPr lang="en-US" dirty="0"/>
              <a:t>is the </a:t>
            </a:r>
            <a:r>
              <a:rPr lang="en-US" b="1" dirty="0"/>
              <a:t>base pointer: </a:t>
            </a:r>
            <a:r>
              <a:rPr lang="en-US" dirty="0"/>
              <a:t>it marks the </a:t>
            </a:r>
            <a:r>
              <a:rPr lang="en-US" b="1" dirty="0"/>
              <a:t>top </a:t>
            </a:r>
            <a:r>
              <a:rPr lang="en-US" dirty="0"/>
              <a:t>of the </a:t>
            </a:r>
            <a:r>
              <a:rPr lang="en-US" b="1" dirty="0"/>
              <a:t>AR</a:t>
            </a:r>
            <a:endParaRPr lang="en-US" dirty="0"/>
          </a:p>
          <a:p>
            <a:r>
              <a:rPr lang="en-US" dirty="0"/>
              <a:t>Every subsequent function call will make a </a:t>
            </a:r>
            <a:r>
              <a:rPr lang="en-US" b="1" dirty="0"/>
              <a:t>link </a:t>
            </a:r>
            <a:r>
              <a:rPr lang="en-US" dirty="0"/>
              <a:t>from the main AR to the next one… </a:t>
            </a:r>
            <a:r>
              <a:rPr lang="en-US" b="1" dirty="0"/>
              <a:t>it’s a linked list of ARs, </a:t>
            </a:r>
            <a:r>
              <a:rPr lang="en-US" dirty="0"/>
              <a:t>every time we pop off, we deallocate a node off our LL of ARs!</a:t>
            </a:r>
            <a:endParaRPr lang="en-US" i="0" dirty="0"/>
          </a:p>
          <a:p>
            <a:pPr marL="2359152" lvl="5" indent="0">
              <a:buNone/>
            </a:pPr>
            <a:endParaRPr lang="en-US" sz="2000" b="1" i="0" dirty="0"/>
          </a:p>
          <a:p>
            <a:pPr marL="2359152" lvl="5" indent="0">
              <a:buNone/>
            </a:pPr>
            <a:endParaRPr lang="en-US" sz="2000" b="1" i="0" dirty="0"/>
          </a:p>
        </p:txBody>
      </p:sp>
    </p:spTree>
    <p:extLst>
      <p:ext uri="{BB962C8B-B14F-4D97-AF65-F5344CB8AC3E}">
        <p14:creationId xmlns:p14="http://schemas.microsoft.com/office/powerpoint/2010/main" val="248208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6752-A2A1-47E9-92D9-F64DD493E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Live Examination of Executable</a:t>
            </a:r>
          </a:p>
        </p:txBody>
      </p:sp>
    </p:spTree>
    <p:extLst>
      <p:ext uri="{BB962C8B-B14F-4D97-AF65-F5344CB8AC3E}">
        <p14:creationId xmlns:p14="http://schemas.microsoft.com/office/powerpoint/2010/main" val="2909484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63D66-BE6D-4C11-AE58-7E6CBB6B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All I have for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75FEE-70D8-4C47-AAAB-7DB949188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Unfortunately, I didn’t have time to really prep a live approach to the Bomb lab… BUT I will walkthrough something else!!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96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40E9-057F-40E8-9C5F-8D6DF5FD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46976-3436-4ACD-B71F-64D214DA8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Approaches to the Attack Lab</a:t>
            </a:r>
          </a:p>
          <a:p>
            <a:endParaRPr lang="en-US" dirty="0"/>
          </a:p>
          <a:p>
            <a:r>
              <a:rPr lang="en-US" dirty="0"/>
              <a:t>Memory Allocation Algorithms &amp; The Compilation Toolchain</a:t>
            </a:r>
          </a:p>
        </p:txBody>
      </p:sp>
    </p:spTree>
    <p:extLst>
      <p:ext uri="{BB962C8B-B14F-4D97-AF65-F5344CB8AC3E}">
        <p14:creationId xmlns:p14="http://schemas.microsoft.com/office/powerpoint/2010/main" val="420129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127</TotalTime>
  <Words>2544</Words>
  <Application>Microsoft Office PowerPoint</Application>
  <PresentationFormat>Widescreen</PresentationFormat>
  <Paragraphs>355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Cambria Math</vt:lpstr>
      <vt:lpstr>Gill Sans MT</vt:lpstr>
      <vt:lpstr>Parcel</vt:lpstr>
      <vt:lpstr>CS 449 Recitation 5</vt:lpstr>
      <vt:lpstr>Logistics</vt:lpstr>
      <vt:lpstr>X86 Assembly review</vt:lpstr>
      <vt:lpstr>MIPS vs x86</vt:lpstr>
      <vt:lpstr>IA-32 vs x86-64:</vt:lpstr>
      <vt:lpstr>x86 Registers</vt:lpstr>
      <vt:lpstr>Basic Instruction Types</vt:lpstr>
      <vt:lpstr>Basic Operand Types</vt:lpstr>
      <vt:lpstr>X86 Assembly: Basic Instructions</vt:lpstr>
      <vt:lpstr>Moving Data: The mov instruction</vt:lpstr>
      <vt:lpstr>Combinations of Operands with the mov Instruction</vt:lpstr>
      <vt:lpstr>Basic Memory Addressing Modes</vt:lpstr>
      <vt:lpstr>Complete Memory Addressing Modes</vt:lpstr>
      <vt:lpstr>Example: Address Computation</vt:lpstr>
      <vt:lpstr>Address Computation Instructions</vt:lpstr>
      <vt:lpstr>X86 Assembly: Conditionals</vt:lpstr>
      <vt:lpstr>Condition Codes: Implicit Setting</vt:lpstr>
      <vt:lpstr>Condition Codes: Explicit Setting: Compare</vt:lpstr>
      <vt:lpstr>Condition Codes: Explicit Setting: Test</vt:lpstr>
      <vt:lpstr>X86 Assembly: Branching</vt:lpstr>
      <vt:lpstr>Using Condition Codes: Jumping</vt:lpstr>
      <vt:lpstr>Using Condition Codes: Setting</vt:lpstr>
      <vt:lpstr>movz_ and movs_ instructions</vt:lpstr>
      <vt:lpstr>Calling Conventions Review</vt:lpstr>
      <vt:lpstr>Calling Conventions Overview</vt:lpstr>
      <vt:lpstr>General Idea of Calling Conventions</vt:lpstr>
      <vt:lpstr>General Function Calls</vt:lpstr>
      <vt:lpstr>General Function Returns</vt:lpstr>
      <vt:lpstr>Calling Conventions in MIPS (Review)</vt:lpstr>
      <vt:lpstr>MIPS Calling Conventions</vt:lpstr>
      <vt:lpstr>MIPS Calling Conventions:  Inside the Function</vt:lpstr>
      <vt:lpstr>Calling Conventions in x86 (REVIEW)</vt:lpstr>
      <vt:lpstr>Calling and Returning in x86</vt:lpstr>
      <vt:lpstr>Calling Conventions in x86</vt:lpstr>
      <vt:lpstr>X86 Calling Conventions:  Inside the Function</vt:lpstr>
      <vt:lpstr>Prologue, Epilogue Shortcuts, and Base Pointer </vt:lpstr>
      <vt:lpstr>Live Examination of Executable</vt:lpstr>
      <vt:lpstr>That’s All I have for now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449 Recitation 5</dc:title>
  <dc:creator>Lu, Gordon</dc:creator>
  <cp:lastModifiedBy>Lu, Gordon</cp:lastModifiedBy>
  <cp:revision>6</cp:revision>
  <dcterms:created xsi:type="dcterms:W3CDTF">2020-09-25T18:19:24Z</dcterms:created>
  <dcterms:modified xsi:type="dcterms:W3CDTF">2020-09-25T20:26:56Z</dcterms:modified>
</cp:coreProperties>
</file>