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63" r:id="rId4"/>
    <p:sldId id="279" r:id="rId5"/>
    <p:sldId id="265" r:id="rId6"/>
    <p:sldId id="266" r:id="rId7"/>
    <p:sldId id="271" r:id="rId8"/>
    <p:sldId id="268" r:id="rId9"/>
    <p:sldId id="269" r:id="rId10"/>
    <p:sldId id="270" r:id="rId11"/>
    <p:sldId id="272" r:id="rId12"/>
    <p:sldId id="273" r:id="rId13"/>
    <p:sldId id="274" r:id="rId14"/>
    <p:sldId id="276" r:id="rId15"/>
    <p:sldId id="277" r:id="rId16"/>
    <p:sldId id="278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, Gordon" initials="LG" lastIdx="1" clrIdx="0">
    <p:extLst>
      <p:ext uri="{19B8F6BF-5375-455C-9EA6-DF929625EA0E}">
        <p15:presenceInfo xmlns:p15="http://schemas.microsoft.com/office/powerpoint/2012/main" userId="Lu, Gord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1-11T16:18:26.830" idx="1">
    <p:pos x="6710" y="812"/>
    <p:text>Okay, it's not actually called this, but hey, it sounds COOL.</p:text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25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75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57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15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7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1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3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6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6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06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481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55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581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185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629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45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7F137F-6803-4E79-B6AB-E4CD8C3A1F7C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50F069-7B27-411A-9AC2-F8057F16A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lu99331.github.io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8075-EF3F-471F-9798-260C0EDEF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4DCB-8D0F-4661-8098-94B98CCB3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27620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9685-2EBD-4F05-A3A9-01F2ECE1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647B0-2D3E-471F-A1BC-5A6E22528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will be holding office hours during the following time:</a:t>
            </a:r>
          </a:p>
          <a:p>
            <a:pPr marL="0" indent="0">
              <a:buNone/>
            </a:pPr>
            <a:r>
              <a:rPr lang="en-US" dirty="0"/>
              <a:t>Friday: 4:00PM – 6:00PM (There’s additional scheduling if you visit the link below)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also find more details on my website: </a:t>
            </a:r>
            <a:r>
              <a:rPr lang="en-US" dirty="0">
                <a:hlinkClick r:id="rId2"/>
              </a:rPr>
              <a:t>https://glu99331.github.io/index.html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Slides and Notes will be posted to help with reviewing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 am willing to help with CS 0447, CS 1501, and CS 1502 as well (I have performed well in all said classes)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(I am more willing to help with subjects in the following order (CS 0449 always coming first): CS 0449, CS 1501, CS 0447, CS 1502).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5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45C0-73FA-4B81-AD69-073C7227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Programming Language Continuum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89531-7683-48BA-AAAA-FEE9E66C8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might be asking yourself: </a:t>
            </a:r>
            <a:r>
              <a:rPr lang="en-US" b="1" dirty="0"/>
              <a:t>Why are we learning C?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Going from left to right: </a:t>
            </a:r>
          </a:p>
          <a:p>
            <a:r>
              <a:rPr lang="en-US" dirty="0"/>
              <a:t>Each hides a further layer of abstraction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C6BE1F-9F72-496B-809C-E231FBA7D920}"/>
              </a:ext>
            </a:extLst>
          </p:cNvPr>
          <p:cNvCxnSpPr>
            <a:cxnSpLocks/>
          </p:cNvCxnSpPr>
          <p:nvPr/>
        </p:nvCxnSpPr>
        <p:spPr>
          <a:xfrm>
            <a:off x="1627632" y="4306824"/>
            <a:ext cx="86319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A1A10B-2C9B-457C-9EB6-0F637998E9FF}"/>
              </a:ext>
            </a:extLst>
          </p:cNvPr>
          <p:cNvSpPr txBox="1"/>
          <p:nvPr/>
        </p:nvSpPr>
        <p:spPr>
          <a:xfrm>
            <a:off x="1295401" y="3847068"/>
            <a:ext cx="1137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Low-Level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85CFA6-8187-4B64-9A74-CA38ED259DE6}"/>
              </a:ext>
            </a:extLst>
          </p:cNvPr>
          <p:cNvSpPr txBox="1"/>
          <p:nvPr/>
        </p:nvSpPr>
        <p:spPr>
          <a:xfrm>
            <a:off x="9585961" y="3882874"/>
            <a:ext cx="1185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High-Level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CFED2-93BA-4B24-9D51-09D438494C45}"/>
              </a:ext>
            </a:extLst>
          </p:cNvPr>
          <p:cNvSpPr txBox="1"/>
          <p:nvPr/>
        </p:nvSpPr>
        <p:spPr>
          <a:xfrm>
            <a:off x="1295401" y="4397249"/>
            <a:ext cx="120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MIPS, x86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34D29-3B4F-44F6-BADC-9D41B83D4ABC}"/>
              </a:ext>
            </a:extLst>
          </p:cNvPr>
          <p:cNvSpPr txBox="1"/>
          <p:nvPr/>
        </p:nvSpPr>
        <p:spPr>
          <a:xfrm>
            <a:off x="5142557" y="4377946"/>
            <a:ext cx="929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C, C++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A9A982-7AE8-4984-9DBD-8C0AAD91B98A}"/>
              </a:ext>
            </a:extLst>
          </p:cNvPr>
          <p:cNvSpPr txBox="1"/>
          <p:nvPr/>
        </p:nvSpPr>
        <p:spPr>
          <a:xfrm>
            <a:off x="9374621" y="4397249"/>
            <a:ext cx="1396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Java, Python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9BC194A-A6C3-413B-B51D-CC69D3D3C75E}"/>
              </a:ext>
            </a:extLst>
          </p:cNvPr>
          <p:cNvSpPr/>
          <p:nvPr/>
        </p:nvSpPr>
        <p:spPr>
          <a:xfrm>
            <a:off x="5435880" y="3847068"/>
            <a:ext cx="354976" cy="3693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B7B31-D734-4C11-8DEF-61AD3EAF43E0}"/>
              </a:ext>
            </a:extLst>
          </p:cNvPr>
          <p:cNvSpPr txBox="1"/>
          <p:nvPr/>
        </p:nvSpPr>
        <p:spPr>
          <a:xfrm>
            <a:off x="4853675" y="3492741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Where we are:</a:t>
            </a:r>
          </a:p>
        </p:txBody>
      </p:sp>
    </p:spTree>
    <p:extLst>
      <p:ext uri="{BB962C8B-B14F-4D97-AF65-F5344CB8AC3E}">
        <p14:creationId xmlns:p14="http://schemas.microsoft.com/office/powerpoint/2010/main" val="159110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1955-D8F3-488C-B1B9-E69A94AF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Aliases on Thoth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BDAD-A5E5-40AD-BBE3-81C786F56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Once you </a:t>
            </a:r>
            <a:r>
              <a:rPr lang="en-US" b="1" dirty="0" err="1"/>
              <a:t>ssh</a:t>
            </a:r>
            <a:r>
              <a:rPr lang="en-US" b="1" dirty="0"/>
              <a:t> </a:t>
            </a:r>
            <a:r>
              <a:rPr lang="en-US" dirty="0"/>
              <a:t>into Thoth, you can set up aliases to reduce the amount of typing you do!</a:t>
            </a:r>
          </a:p>
          <a:p>
            <a:endParaRPr lang="en-US" dirty="0"/>
          </a:p>
          <a:p>
            <a:r>
              <a:rPr lang="en-US" dirty="0"/>
              <a:t>To add an alias, first open the </a:t>
            </a:r>
            <a:r>
              <a:rPr lang="en-US" dirty="0" err="1"/>
              <a:t>bash_source</a:t>
            </a:r>
            <a:r>
              <a:rPr lang="en-US" dirty="0"/>
              <a:t> file like so: </a:t>
            </a:r>
            <a:r>
              <a:rPr lang="en-US" b="1" dirty="0"/>
              <a:t>nano .</a:t>
            </a:r>
            <a:r>
              <a:rPr lang="en-US" b="1" dirty="0" err="1"/>
              <a:t>bash_profile</a:t>
            </a:r>
            <a:endParaRPr lang="en-US" b="1" dirty="0"/>
          </a:p>
          <a:p>
            <a:r>
              <a:rPr lang="en-US" dirty="0"/>
              <a:t>Scroll down to the portion of text that says </a:t>
            </a:r>
            <a:r>
              <a:rPr lang="en-US" b="1" dirty="0"/>
              <a:t>ALIASES</a:t>
            </a:r>
            <a:r>
              <a:rPr lang="en-US" dirty="0"/>
              <a:t>, this might take a little bit to find!</a:t>
            </a:r>
          </a:p>
          <a:p>
            <a:r>
              <a:rPr lang="en-US" dirty="0"/>
              <a:t>Add the aliases you want, like this: </a:t>
            </a:r>
            <a:r>
              <a:rPr lang="en-US" b="1" dirty="0"/>
              <a:t>alias compile=“</a:t>
            </a:r>
            <a:r>
              <a:rPr lang="en-US" b="1" dirty="0" err="1"/>
              <a:t>gcc</a:t>
            </a:r>
            <a:r>
              <a:rPr lang="en-US" b="1" dirty="0"/>
              <a:t> –Wall –</a:t>
            </a:r>
            <a:r>
              <a:rPr lang="en-US" b="1" dirty="0" err="1"/>
              <a:t>Werror</a:t>
            </a:r>
            <a:r>
              <a:rPr lang="en-US" b="1" dirty="0"/>
              <a:t>  --std=c99 -o”</a:t>
            </a:r>
            <a:endParaRPr lang="en-US" dirty="0"/>
          </a:p>
          <a:p>
            <a:r>
              <a:rPr lang="en-US" dirty="0"/>
              <a:t>Now CTRL+O, and then CTRL+X</a:t>
            </a:r>
          </a:p>
          <a:p>
            <a:r>
              <a:rPr lang="en-US" dirty="0"/>
              <a:t>Then refresh the bash environment like so: source ~/.</a:t>
            </a:r>
            <a:r>
              <a:rPr lang="en-US" dirty="0" err="1"/>
              <a:t>bash_profile</a:t>
            </a:r>
            <a:endParaRPr lang="en-US" dirty="0"/>
          </a:p>
          <a:p>
            <a:r>
              <a:rPr lang="en-US" dirty="0"/>
              <a:t>Then try to compile a program like so: compile filename </a:t>
            </a:r>
            <a:r>
              <a:rPr lang="en-US" dirty="0" err="1"/>
              <a:t>filename.c</a:t>
            </a:r>
            <a:endParaRPr lang="en-US" dirty="0"/>
          </a:p>
          <a:p>
            <a:r>
              <a:rPr lang="en-US" dirty="0"/>
              <a:t>YAY! LESS TYPING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32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2B9D-169E-41A9-817C-8A4AAF40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C820C-BE5F-4748-BA2E-7EA2B574B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purpose of this lab is to get you familiar with Bit Manipulations.</a:t>
            </a:r>
          </a:p>
          <a:p>
            <a:endParaRPr lang="en-US" dirty="0"/>
          </a:p>
          <a:p>
            <a:r>
              <a:rPr lang="en-US" dirty="0"/>
              <a:t>I’m </a:t>
            </a:r>
            <a:r>
              <a:rPr lang="en-US" dirty="0" err="1"/>
              <a:t>gonna</a:t>
            </a:r>
            <a:r>
              <a:rPr lang="en-US" dirty="0"/>
              <a:t> hit you up with some hints that’ll make this lab less of a pain in the butt ;) </a:t>
            </a:r>
          </a:p>
          <a:p>
            <a:endParaRPr lang="en-US" dirty="0"/>
          </a:p>
          <a:p>
            <a:r>
              <a:rPr lang="en-US" dirty="0"/>
              <a:t>I’m not </a:t>
            </a:r>
            <a:r>
              <a:rPr lang="en-US" dirty="0" err="1"/>
              <a:t>gonna</a:t>
            </a:r>
            <a:r>
              <a:rPr lang="en-US" dirty="0"/>
              <a:t> be giving you code, but I’ll provide the base to let </a:t>
            </a:r>
            <a:r>
              <a:rPr lang="en-US" dirty="0" err="1"/>
              <a:t>ya</a:t>
            </a:r>
            <a:r>
              <a:rPr lang="en-US" dirty="0"/>
              <a:t> breeze right through this lab!</a:t>
            </a:r>
          </a:p>
        </p:txBody>
      </p:sp>
    </p:spTree>
    <p:extLst>
      <p:ext uri="{BB962C8B-B14F-4D97-AF65-F5344CB8AC3E}">
        <p14:creationId xmlns:p14="http://schemas.microsoft.com/office/powerpoint/2010/main" val="314659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E374-D219-4DB9-A00E-B88F9374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405C0-0486-437E-9D20-38DAD8BE6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was the truth table for XOR again?</a:t>
            </a:r>
          </a:p>
          <a:p>
            <a:pPr marL="0" indent="0">
              <a:buNone/>
            </a:pPr>
            <a:r>
              <a:rPr lang="en-US" dirty="0"/>
              <a:t>Yep.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8B96F-7E95-41AB-B6AE-14806FC0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83" y="3026277"/>
            <a:ext cx="3178390" cy="284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18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E374-D219-4DB9-A00E-B88F9374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Biconditional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405C0-0486-437E-9D20-38DAD8BE6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was the truth table for Biconditional again?</a:t>
            </a:r>
          </a:p>
          <a:p>
            <a:pPr marL="0" indent="0">
              <a:buNone/>
            </a:pPr>
            <a:r>
              <a:rPr lang="en-US" dirty="0"/>
              <a:t>Yep.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B2929-E480-4EBD-8EAD-AFA359BF1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3049012"/>
            <a:ext cx="3872299" cy="255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68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CC78E-3C7B-4B05-9C6E-C6E35EA1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Notice anything?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05C55-4733-482F-BCC9-FBB5AABB3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they have the opposite truth tables!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 did I show you this?</a:t>
            </a:r>
          </a:p>
          <a:p>
            <a:pPr marL="0" indent="0">
              <a:buNone/>
            </a:pPr>
            <a:r>
              <a:rPr lang="en-US" dirty="0"/>
              <a:t>- Cough </a:t>
            </a:r>
            <a:r>
              <a:rPr lang="en-US" dirty="0" err="1"/>
              <a:t>cough</a:t>
            </a:r>
            <a:r>
              <a:rPr lang="en-US" dirty="0"/>
              <a:t>, it’s </a:t>
            </a:r>
            <a:r>
              <a:rPr lang="en-US" dirty="0" err="1"/>
              <a:t>gonna</a:t>
            </a:r>
            <a:r>
              <a:rPr lang="en-US" dirty="0"/>
              <a:t> be helpful for the lab </a:t>
            </a:r>
            <a:r>
              <a:rPr lang="en-US" dirty="0">
                <a:sym typeface="Wingdings" panose="05000000000000000000" pitchFamily="2" charset="2"/>
              </a:rPr>
              <a:t>;)))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580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D938-A552-40BE-BD8F-9191DE35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69665-09FA-4C02-A58C-0CEA59AA8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the Boolean Expression for XOR?</a:t>
            </a:r>
          </a:p>
          <a:p>
            <a:pPr marL="0" indent="0">
              <a:buNone/>
            </a:pPr>
            <a:r>
              <a:rPr lang="en-US" dirty="0"/>
              <a:t>Erm…. I DON’T KNOW!</a:t>
            </a:r>
          </a:p>
          <a:p>
            <a:r>
              <a:rPr lang="en-US" dirty="0"/>
              <a:t>What about the Boolean Expression for the Biconditional?</a:t>
            </a:r>
          </a:p>
          <a:p>
            <a:pPr marL="0" indent="0">
              <a:buNone/>
            </a:pPr>
            <a:r>
              <a:rPr lang="en-US" dirty="0"/>
              <a:t>It’s two implications connected with an AND:</a:t>
            </a:r>
          </a:p>
          <a:p>
            <a:pPr marL="0" indent="0">
              <a:buNone/>
            </a:pPr>
            <a:r>
              <a:rPr lang="en-US" b="1" dirty="0"/>
              <a:t>(~p or q) and (~q or p)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966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D129-DD1C-46E7-B2EA-0B76F607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Equivalent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67145-8B67-4044-93C5-E3F671EF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4400" dirty="0"/>
              <a:t>We want </a:t>
            </a:r>
            <a:r>
              <a:rPr lang="en-US" sz="4400" b="1" dirty="0"/>
              <a:t>XOR</a:t>
            </a:r>
            <a:r>
              <a:rPr lang="en-US" sz="4400" dirty="0"/>
              <a:t> only in terms of </a:t>
            </a:r>
            <a:r>
              <a:rPr lang="en-US" sz="4400" b="1" dirty="0"/>
              <a:t>NOTs</a:t>
            </a:r>
            <a:r>
              <a:rPr lang="en-US" sz="4400" dirty="0"/>
              <a:t> and </a:t>
            </a:r>
            <a:r>
              <a:rPr lang="en-US" sz="4400" b="1" dirty="0"/>
              <a:t>ANDs</a:t>
            </a:r>
          </a:p>
          <a:p>
            <a:r>
              <a:rPr lang="en-US" sz="4400" dirty="0"/>
              <a:t>We know that Biconditional has the opposite truth table</a:t>
            </a:r>
          </a:p>
          <a:p>
            <a:r>
              <a:rPr lang="en-US" sz="4400" dirty="0"/>
              <a:t>We know the Boolean Expression for the Biconditional</a:t>
            </a:r>
          </a:p>
          <a:p>
            <a:pPr marL="0" indent="0">
              <a:buNone/>
            </a:pPr>
            <a:r>
              <a:rPr lang="en-US" sz="4400" dirty="0"/>
              <a:t>Given:</a:t>
            </a:r>
            <a:r>
              <a:rPr lang="en-US" sz="4400" b="1" dirty="0"/>
              <a:t>(~p or q) and (~q or p)</a:t>
            </a:r>
          </a:p>
          <a:p>
            <a:pPr marL="0" indent="0">
              <a:buNone/>
            </a:pPr>
            <a:r>
              <a:rPr lang="en-US" sz="4400" dirty="0"/>
              <a:t>By negating this expression, we get:</a:t>
            </a:r>
          </a:p>
          <a:p>
            <a:pPr marL="0" indent="0">
              <a:buNone/>
            </a:pPr>
            <a:r>
              <a:rPr lang="en-US" sz="4400" b="1" dirty="0"/>
              <a:t>(p and ~q) or (q and ~p)</a:t>
            </a:r>
          </a:p>
          <a:p>
            <a:pPr marL="0" indent="0">
              <a:buNone/>
            </a:pPr>
            <a:r>
              <a:rPr lang="en-US" sz="4400" dirty="0"/>
              <a:t>Notice, that we’re only off by one </a:t>
            </a:r>
            <a:r>
              <a:rPr lang="en-US" sz="4400" b="1" dirty="0"/>
              <a:t>AND</a:t>
            </a:r>
            <a:r>
              <a:rPr lang="en-US" sz="4400" dirty="0"/>
              <a:t>.</a:t>
            </a:r>
          </a:p>
          <a:p>
            <a:pPr>
              <a:buFontTx/>
              <a:buChar char="-"/>
            </a:pPr>
            <a:r>
              <a:rPr lang="en-US" sz="4400" dirty="0"/>
              <a:t>Let </a:t>
            </a:r>
            <a:r>
              <a:rPr lang="en-US" sz="4400" b="1" dirty="0"/>
              <a:t>(p and ~q) = A</a:t>
            </a:r>
            <a:r>
              <a:rPr lang="en-US" sz="4400" dirty="0"/>
              <a:t>, and </a:t>
            </a:r>
            <a:r>
              <a:rPr lang="en-US" sz="4400" b="1" dirty="0"/>
              <a:t>(q and ~p) = B</a:t>
            </a:r>
          </a:p>
          <a:p>
            <a:pPr>
              <a:buFontTx/>
              <a:buChar char="-"/>
            </a:pPr>
            <a:r>
              <a:rPr lang="en-US" sz="4400" dirty="0"/>
              <a:t>Then, we can rewrite the expression as: </a:t>
            </a:r>
            <a:r>
              <a:rPr lang="en-US" sz="4400" b="1" dirty="0"/>
              <a:t>A or B</a:t>
            </a:r>
          </a:p>
          <a:p>
            <a:pPr marL="0" indent="0">
              <a:buNone/>
            </a:pPr>
            <a:r>
              <a:rPr lang="en-US" sz="4400" dirty="0"/>
              <a:t>How do we </a:t>
            </a:r>
            <a:r>
              <a:rPr lang="en-US" sz="4400" b="1" dirty="0"/>
              <a:t>invert</a:t>
            </a:r>
            <a:r>
              <a:rPr lang="en-US" sz="4400" dirty="0"/>
              <a:t> an or statement?</a:t>
            </a:r>
          </a:p>
          <a:p>
            <a:pPr>
              <a:buFontTx/>
              <a:buChar char="-"/>
            </a:pPr>
            <a:r>
              <a:rPr lang="en-US" sz="4400" b="1" dirty="0"/>
              <a:t>DeMorgan’s Law! </a:t>
            </a:r>
          </a:p>
          <a:p>
            <a:pPr marL="0" indent="0">
              <a:buNone/>
            </a:pPr>
            <a:r>
              <a:rPr lang="en-US" sz="4400" b="1" dirty="0"/>
              <a:t>A or B = ~((~A) and (~B))</a:t>
            </a:r>
          </a:p>
          <a:p>
            <a:pPr marL="0" indent="0">
              <a:buNone/>
            </a:pPr>
            <a:r>
              <a:rPr lang="en-US" sz="4400" dirty="0"/>
              <a:t>Now, let’s plug in what A and B are:</a:t>
            </a:r>
          </a:p>
          <a:p>
            <a:pPr marL="0" indent="0">
              <a:buNone/>
            </a:pPr>
            <a:r>
              <a:rPr lang="en-US" sz="4400" b="1" dirty="0"/>
              <a:t>~(~(p and ~q) and ~(q and ~p))</a:t>
            </a:r>
          </a:p>
          <a:p>
            <a:pPr marL="0" indent="0">
              <a:buNone/>
            </a:pPr>
            <a:r>
              <a:rPr lang="en-US" sz="4400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Image result for qed meme">
            <a:extLst>
              <a:ext uri="{FF2B5EF4-FFF2-40B4-BE49-F238E27FC236}">
                <a16:creationId xmlns:a16="http://schemas.microsoft.com/office/drawing/2014/main" id="{099E11EF-743A-4646-AD9A-BF31A6957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111" y="27876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88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DEC7-1C21-44FE-BD87-50E8D2DB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Two’s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500E0-1045-4C78-9CF0-261DE73AA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would the Maximum Two’s Complement Number in </a:t>
            </a:r>
            <a:r>
              <a:rPr lang="en-US" b="1" dirty="0"/>
              <a:t>Binary </a:t>
            </a:r>
            <a:r>
              <a:rPr lang="en-US" dirty="0"/>
              <a:t>look like?</a:t>
            </a:r>
            <a:br>
              <a:rPr lang="en-US" dirty="0"/>
            </a:br>
            <a:r>
              <a:rPr lang="en-US" dirty="0"/>
              <a:t>Yep. Everything is a 1 except for the MSB.</a:t>
            </a:r>
          </a:p>
          <a:p>
            <a:pPr marL="0" indent="0">
              <a:buNone/>
            </a:pPr>
            <a:r>
              <a:rPr lang="en-US" dirty="0"/>
              <a:t>I.e. 0111 1111</a:t>
            </a:r>
          </a:p>
          <a:p>
            <a:r>
              <a:rPr lang="en-US" dirty="0"/>
              <a:t>What would the Minimum Two’s Complement Number in </a:t>
            </a:r>
            <a:r>
              <a:rPr lang="en-US" b="1" dirty="0"/>
              <a:t>Binary </a:t>
            </a:r>
            <a:r>
              <a:rPr lang="en-US" dirty="0"/>
              <a:t>look like?</a:t>
            </a:r>
          </a:p>
          <a:p>
            <a:pPr marL="0" indent="0">
              <a:buNone/>
            </a:pPr>
            <a:r>
              <a:rPr lang="en-US" dirty="0"/>
              <a:t>Yep. Everything is a 0 except for the MSB.</a:t>
            </a:r>
          </a:p>
          <a:p>
            <a:pPr marL="0" indent="0">
              <a:buNone/>
            </a:pPr>
            <a:r>
              <a:rPr lang="en-US" dirty="0"/>
              <a:t>I.e. 1000 0000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8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3D344-A351-4F84-8004-9BD7386F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Shifting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C5BAF-E2AF-4064-8CDC-1CDBF2EEC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Autofit/>
          </a:bodyPr>
          <a:lstStyle/>
          <a:p>
            <a:r>
              <a:rPr lang="en-US" sz="1100" dirty="0"/>
              <a:t>If I want to left shift 1111 1111, all the way to the right, what would that look like?</a:t>
            </a:r>
          </a:p>
          <a:p>
            <a:pPr marL="0" indent="0">
              <a:buNone/>
            </a:pPr>
            <a:r>
              <a:rPr lang="en-US" sz="1100" dirty="0"/>
              <a:t>1) 1111 1111</a:t>
            </a:r>
          </a:p>
          <a:p>
            <a:pPr marL="0" indent="0">
              <a:buNone/>
            </a:pPr>
            <a:r>
              <a:rPr lang="en-US" sz="1100" dirty="0"/>
              <a:t>2) 1111 1110</a:t>
            </a:r>
          </a:p>
          <a:p>
            <a:pPr marL="0" indent="0">
              <a:buNone/>
            </a:pPr>
            <a:r>
              <a:rPr lang="en-US" sz="1100" dirty="0"/>
              <a:t>3) 1111 1100</a:t>
            </a:r>
          </a:p>
          <a:p>
            <a:pPr marL="0" indent="0">
              <a:buNone/>
            </a:pPr>
            <a:r>
              <a:rPr lang="en-US" sz="1100" dirty="0"/>
              <a:t>4) 1111 1000</a:t>
            </a:r>
          </a:p>
          <a:p>
            <a:pPr marL="0" indent="0">
              <a:buNone/>
            </a:pPr>
            <a:r>
              <a:rPr lang="en-US" sz="1100" dirty="0"/>
              <a:t>5) 1111 0000</a:t>
            </a:r>
          </a:p>
          <a:p>
            <a:pPr marL="0" indent="0">
              <a:buNone/>
            </a:pPr>
            <a:r>
              <a:rPr lang="en-US" sz="1100" dirty="0"/>
              <a:t>6) 1110 0000</a:t>
            </a:r>
          </a:p>
          <a:p>
            <a:pPr marL="0" indent="0">
              <a:buNone/>
            </a:pPr>
            <a:r>
              <a:rPr lang="en-US" sz="1100" dirty="0"/>
              <a:t>7) 1100 0000</a:t>
            </a:r>
          </a:p>
          <a:p>
            <a:pPr marL="0" indent="0">
              <a:buNone/>
            </a:pPr>
            <a:r>
              <a:rPr lang="en-US" sz="1100" dirty="0"/>
              <a:t>8) 1000 0000 </a:t>
            </a:r>
          </a:p>
          <a:p>
            <a:pPr marL="0" indent="0">
              <a:buNone/>
            </a:pPr>
            <a:r>
              <a:rPr lang="en-US" sz="1100" dirty="0"/>
              <a:t>Hm… what does this number represent?</a:t>
            </a:r>
          </a:p>
          <a:p>
            <a:pPr marL="0" indent="0">
              <a:buNone/>
            </a:pPr>
            <a:r>
              <a:rPr lang="en-US" sz="1100" dirty="0"/>
              <a:t>- It’s the Smallest Two’s Complement Number!!</a:t>
            </a:r>
          </a:p>
          <a:p>
            <a:pPr marL="0" indent="0">
              <a:buNone/>
            </a:pPr>
            <a:r>
              <a:rPr lang="en-US" sz="1100" dirty="0"/>
              <a:t>How many total shifts did I do?</a:t>
            </a:r>
          </a:p>
          <a:p>
            <a:pPr marL="0" indent="0">
              <a:buNone/>
            </a:pPr>
            <a:r>
              <a:rPr lang="en-US" sz="1100" dirty="0"/>
              <a:t>For n bits, I performed n left shifts!</a:t>
            </a:r>
          </a:p>
        </p:txBody>
      </p:sp>
    </p:spTree>
    <p:extLst>
      <p:ext uri="{BB962C8B-B14F-4D97-AF65-F5344CB8AC3E}">
        <p14:creationId xmlns:p14="http://schemas.microsoft.com/office/powerpoint/2010/main" val="366650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DC55-2C50-44CD-929C-69C1290B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told you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E1A0-4109-49B6-957F-6412902A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most modern computers, memory is represented using </a:t>
            </a:r>
            <a:r>
              <a:rPr lang="en-US" b="1" dirty="0"/>
              <a:t>words</a:t>
            </a:r>
            <a:r>
              <a:rPr lang="en-US" dirty="0"/>
              <a:t>, which are 4 bytes, or 32 bits…</a:t>
            </a:r>
          </a:p>
          <a:p>
            <a:r>
              <a:rPr lang="en-US" dirty="0"/>
              <a:t>If we continually left shift the LSB into the MSB, we will fill all other spaces with 0s.</a:t>
            </a:r>
          </a:p>
          <a:p>
            <a:r>
              <a:rPr lang="en-US" dirty="0"/>
              <a:t>How many spaces are there excluding the MSB position?</a:t>
            </a:r>
          </a:p>
          <a:p>
            <a:pPr marL="0" indent="0">
              <a:buNone/>
            </a:pPr>
            <a:r>
              <a:rPr lang="en-US" dirty="0"/>
              <a:t>31.</a:t>
            </a:r>
          </a:p>
          <a:p>
            <a:r>
              <a:rPr lang="en-US" dirty="0"/>
              <a:t>So, we need to left shift the 1</a:t>
            </a:r>
            <a:r>
              <a:rPr lang="en-US" baseline="30000" dirty="0"/>
              <a:t>st</a:t>
            </a:r>
            <a:r>
              <a:rPr lang="en-US" dirty="0"/>
              <a:t> bit 31 positions. (I.e., 1 &lt;&lt; 31)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603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036F-20A1-49CD-977D-1D7EA866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whether all bits are odd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31D90-7270-4500-A67B-2E620D5C6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generate some sort of test to determine whether all the bits in a given number are odd…</a:t>
            </a:r>
          </a:p>
          <a:p>
            <a:r>
              <a:rPr lang="en-US" dirty="0"/>
              <a:t>We can’t use comparison operators…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773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950F-100D-473A-BE78-4384BA16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for </a:t>
            </a:r>
            <a:r>
              <a:rPr lang="en-US" dirty="0" err="1"/>
              <a:t>allBitsOdd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247BC-098C-429A-B5F2-054A8758F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First, let’s generate a bit mask that has every odd bit as odd.</a:t>
            </a:r>
          </a:p>
          <a:p>
            <a:r>
              <a:rPr lang="en-US" dirty="0"/>
              <a:t>So, let’s divide our 32 bit representation into 4 bytes.</a:t>
            </a:r>
          </a:p>
          <a:p>
            <a:r>
              <a:rPr lang="en-US" dirty="0"/>
              <a:t>So what would the all odd bits look like a byte? </a:t>
            </a:r>
          </a:p>
          <a:p>
            <a:pPr marL="0" indent="0">
              <a:buNone/>
            </a:pPr>
            <a:r>
              <a:rPr lang="en-US" dirty="0"/>
              <a:t>Yep. 1010 1010 (let’s consider 0 as even, it does fulfill even parity: </a:t>
            </a:r>
            <a:r>
              <a:rPr lang="en-US" b="1" dirty="0"/>
              <a:t>0 mod 2 = 0</a:t>
            </a:r>
            <a:r>
              <a:rPr lang="en-US" dirty="0"/>
              <a:t>)</a:t>
            </a:r>
          </a:p>
          <a:p>
            <a:r>
              <a:rPr lang="en-US" dirty="0"/>
              <a:t>What would this value be in </a:t>
            </a:r>
            <a:r>
              <a:rPr lang="en-US" b="1" dirty="0"/>
              <a:t>Hex</a:t>
            </a:r>
            <a:r>
              <a:rPr lang="en-US" dirty="0"/>
              <a:t>? </a:t>
            </a:r>
            <a:r>
              <a:rPr lang="en-US" b="1" dirty="0"/>
              <a:t>0xAA</a:t>
            </a:r>
          </a:p>
          <a:p>
            <a:r>
              <a:rPr lang="en-US" dirty="0"/>
              <a:t>How do we combine two bits? </a:t>
            </a:r>
            <a:r>
              <a:rPr lang="en-US" b="1" dirty="0"/>
              <a:t>Bitwise Or ( | )</a:t>
            </a:r>
          </a:p>
          <a:p>
            <a:r>
              <a:rPr lang="en-US" dirty="0"/>
              <a:t>So, we need to use a combination of logical or, and left shifted variants of this Hex value, </a:t>
            </a:r>
            <a:r>
              <a:rPr lang="en-US" b="1" dirty="0"/>
              <a:t>0xAA</a:t>
            </a:r>
            <a:endParaRPr lang="en-US" dirty="0"/>
          </a:p>
          <a:p>
            <a:r>
              <a:rPr lang="en-US" dirty="0"/>
              <a:t>We want this: 1010 1010 | 1010 1010 | 1010 1010 | 1010 1010 by multiples of 8!</a:t>
            </a:r>
          </a:p>
          <a:p>
            <a:r>
              <a:rPr lang="en-US" dirty="0"/>
              <a:t>We want something like: </a:t>
            </a:r>
            <a:r>
              <a:rPr lang="en-US" b="1" dirty="0"/>
              <a:t>0xAA | 0xAA &lt;&lt; 8 | 0xAA &lt;&lt; 16 | 0xAA &lt;&lt; 24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385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A3F5-BBCF-4669-8A1C-E96737AA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for </a:t>
            </a:r>
            <a:r>
              <a:rPr lang="en-US" dirty="0" err="1"/>
              <a:t>allBitsOdd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59834-EFA7-4326-A630-EE2C9965B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Okay, that’s cool and all, but we still haven’t compared the actual number to it…</a:t>
            </a:r>
          </a:p>
          <a:p>
            <a:r>
              <a:rPr lang="en-US" dirty="0"/>
              <a:t>What logical operator will determine equivalence between two things? </a:t>
            </a:r>
            <a:r>
              <a:rPr lang="en-US" b="1" dirty="0"/>
              <a:t>AND</a:t>
            </a:r>
            <a:endParaRPr lang="en-US" dirty="0"/>
          </a:p>
          <a:p>
            <a:r>
              <a:rPr lang="en-US" dirty="0"/>
              <a:t>So, let’s use the </a:t>
            </a:r>
            <a:r>
              <a:rPr lang="en-US" b="1" dirty="0"/>
              <a:t>Bitwise AND</a:t>
            </a:r>
            <a:r>
              <a:rPr lang="en-US" dirty="0"/>
              <a:t>: x &amp; mask</a:t>
            </a:r>
          </a:p>
          <a:p>
            <a:r>
              <a:rPr lang="en-US" dirty="0"/>
              <a:t>But we want a value that’s either 0 or 1, but </a:t>
            </a:r>
            <a:r>
              <a:rPr lang="en-US" b="1" dirty="0"/>
              <a:t>AND </a:t>
            </a:r>
            <a:r>
              <a:rPr lang="en-US" dirty="0"/>
              <a:t>does not guarantee this.</a:t>
            </a:r>
          </a:p>
          <a:p>
            <a:r>
              <a:rPr lang="en-US" dirty="0"/>
              <a:t>So, we do the following: !(mask XOR (x &amp; mask))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98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C603-B42E-4EEC-83E4-F1B64828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hardest one: floatFloat2Int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A25C7-E8BF-4BCA-8271-6D96F91F0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I’ll leave this one to you guys ;)</a:t>
            </a:r>
          </a:p>
          <a:p>
            <a:r>
              <a:rPr lang="en-US" dirty="0"/>
              <a:t>Who likes IEEE 754?</a:t>
            </a:r>
          </a:p>
          <a:p>
            <a:r>
              <a:rPr lang="en-US" dirty="0"/>
              <a:t>I will provide you some hints:</a:t>
            </a:r>
          </a:p>
          <a:p>
            <a:pPr marL="0" indent="0">
              <a:buNone/>
            </a:pPr>
            <a:r>
              <a:rPr lang="en-US" dirty="0"/>
              <a:t>1) We need to extract the </a:t>
            </a:r>
            <a:r>
              <a:rPr lang="en-US" b="1" dirty="0"/>
              <a:t>sign </a:t>
            </a:r>
            <a:r>
              <a:rPr lang="en-US" dirty="0"/>
              <a:t>bit, </a:t>
            </a:r>
            <a:r>
              <a:rPr lang="en-US" b="1" dirty="0"/>
              <a:t>exponent </a:t>
            </a:r>
            <a:r>
              <a:rPr lang="en-US" dirty="0"/>
              <a:t>bits, and the </a:t>
            </a:r>
            <a:r>
              <a:rPr lang="en-US" b="1" dirty="0"/>
              <a:t>fractional </a:t>
            </a:r>
            <a:r>
              <a:rPr lang="en-US" dirty="0"/>
              <a:t>bits!</a:t>
            </a:r>
          </a:p>
          <a:p>
            <a:pPr marL="0" indent="0">
              <a:buNone/>
            </a:pPr>
            <a:r>
              <a:rPr lang="en-US" dirty="0"/>
              <a:t>2) Sign Bit can be extracted by right shifting 31: num &gt;&gt; 31</a:t>
            </a:r>
          </a:p>
          <a:p>
            <a:pPr marL="0" indent="0">
              <a:buNone/>
            </a:pPr>
            <a:r>
              <a:rPr lang="en-US" dirty="0"/>
              <a:t>3) Exponent Bit can be extracted how? num &gt;&gt; 23 &amp; 0xFF</a:t>
            </a:r>
          </a:p>
          <a:p>
            <a:pPr marL="0" indent="0">
              <a:buNone/>
            </a:pPr>
            <a:r>
              <a:rPr lang="en-US" dirty="0"/>
              <a:t>4) What about the Fractional Bits? </a:t>
            </a:r>
          </a:p>
          <a:p>
            <a:pPr marL="0" indent="0">
              <a:buNone/>
            </a:pPr>
            <a:r>
              <a:rPr lang="en-US" dirty="0"/>
              <a:t>5) Then it’s a bunch of if statements… </a:t>
            </a:r>
          </a:p>
        </p:txBody>
      </p:sp>
    </p:spTree>
    <p:extLst>
      <p:ext uri="{BB962C8B-B14F-4D97-AF65-F5344CB8AC3E}">
        <p14:creationId xmlns:p14="http://schemas.microsoft.com/office/powerpoint/2010/main" val="398036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10707</TotalTime>
  <Words>1185</Words>
  <Application>Microsoft Office PowerPoint</Application>
  <PresentationFormat>Widescreen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Garamond</vt:lpstr>
      <vt:lpstr>Organic</vt:lpstr>
      <vt:lpstr>CS 0449 Recitation 1</vt:lpstr>
      <vt:lpstr>Contact Information</vt:lpstr>
      <vt:lpstr>The Programming Language Continuum</vt:lpstr>
      <vt:lpstr>Setting up Aliases on Thoth</vt:lpstr>
      <vt:lpstr>The Lab</vt:lpstr>
      <vt:lpstr>XOR </vt:lpstr>
      <vt:lpstr>Biconditional </vt:lpstr>
      <vt:lpstr>Notice anything?</vt:lpstr>
      <vt:lpstr>Boolean Expression</vt:lpstr>
      <vt:lpstr>Derivation of Equivalent Expression</vt:lpstr>
      <vt:lpstr>Two’s Complement</vt:lpstr>
      <vt:lpstr>Left Shifting Example</vt:lpstr>
      <vt:lpstr>Why I told you this</vt:lpstr>
      <vt:lpstr>Determining whether all bits are odd</vt:lpstr>
      <vt:lpstr>Procedure for allBitsOdd</vt:lpstr>
      <vt:lpstr>Procedure for allBitsOdd</vt:lpstr>
      <vt:lpstr>The hardest one: floatFloat2Int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1</dc:title>
  <dc:creator>Lu, Gordon</dc:creator>
  <cp:lastModifiedBy>Lu, Gordon</cp:lastModifiedBy>
  <cp:revision>19</cp:revision>
  <dcterms:created xsi:type="dcterms:W3CDTF">2020-01-09T03:56:32Z</dcterms:created>
  <dcterms:modified xsi:type="dcterms:W3CDTF">2020-01-17T05:28:35Z</dcterms:modified>
</cp:coreProperties>
</file>